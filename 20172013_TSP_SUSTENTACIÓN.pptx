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60" r:id="rId2"/>
    <p:sldId id="261" r:id="rId3"/>
    <p:sldId id="263" r:id="rId4"/>
    <p:sldId id="265" r:id="rId5"/>
    <p:sldId id="267" r:id="rId6"/>
    <p:sldId id="269" r:id="rId7"/>
    <p:sldId id="270" r:id="rId8"/>
    <p:sldId id="287" r:id="rId10"/>
    <p:sldId id="291" r:id="rId11"/>
    <p:sldId id="273" r:id="rId14"/>
    <p:sldId id="271" r:id="rId9"/>
    <p:sldId id="289" r:id="rId12"/>
    <p:sldId id="288" r:id="rId13"/>
    <p:sldId id="275" r:id="rId15"/>
    <p:sldId id="292" r:id="rId16"/>
    <p:sldId id="276" r:id="rId17"/>
    <p:sldId id="278" r:id="rId18"/>
    <p:sldId id="280" r:id="rId19"/>
    <p:sldId id="293" r:id="rId28"/>
    <p:sldId id="282" r:id="rId20"/>
    <p:sldId id="284" r:id="rId21"/>
    <p:sldId id="28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58" autoAdjust="0"/>
  </p:normalViewPr>
  <p:slideViewPr>
    <p:cSldViewPr snapToGrid="0">
      <p:cViewPr>
        <p:scale>
          <a:sx n="75" d="100"/>
          <a:sy n="75" d="100"/>
        </p:scale>
        <p:origin x="946"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0.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1:30 (acumulado 2:15 de 17:45)</a:t>
            </a:r>
          </a:p>
          <a:p>
            <a:r>
              <a:t>Empiezo por la problemática, que corresponde a la etapa 1 de la metodología: el desempeño previo.</a:t>
            </a:r>
          </a:p>
          <a:p>
            <a:r>
              <a:t>La flota tiene diez camiones de 400 toneladas con propulsión eléctrica. Su mantenimiento integral está a cargo de una empresa contratista, y el contrato se mide con tres indicadores: disponibilidad física, con meta de 91 %; MTBF, con objetivo de 64,5 horas; y MTTR, con límite de 4 horas. Si no se cumplen, hay penalización.</a:t>
            </a:r>
          </a:p>
          <a:p>
            <a:r>
              <a:t>Entre 2022 y 2024 la flota no cumplió: la disponibilidad quedó entre 90,2 y 90,6 %, y el MTBF entre 57,6 y 60,5 horas. El MTTR sí se mantuvo dentro del límite.</a:t>
            </a:r>
          </a:p>
          <a:p>
            <a:r>
              <a:t>Dentro de esa brecha, la falla más crítica fue la fractura por fatiga del eje palier del motor de tracción: 13 eventos en 36 meses. Cada uno detuvo al camión 59,3 horas en promedio y costó 763 393 dólares en evaluación y reparación mayor del motor. En conjunto, la falla consumía 0,36 % de la disponibilidad de la flota.</a:t>
            </a:r>
          </a:p>
          <a:p>
            <a:r>
              <a:t>Y lo más importante: cada evento tuvo su análisis de falla y su informe metalográfico, pero la fractura siguió apareciendo, incluso en posiciones ya intervenidas.</a:t>
            </a:r>
          </a:p>
          <a:p/>
          <a:p>
            <a:r>
              <a:t>——— APOYO (no leer) ———</a:t>
            </a:r>
          </a:p>
          <a:p>
            <a:r>
              <a:t>Metas contractuales: flota de diez camiones 980E-5 de 400 t con propulsión eléctrica, cuyo mantenimiento integral está a cargo de una empresa contratista especializada. El desempeño del contrato se mide con tres indicadores: disponibilidad física (meta 91,0 %), MTBF (64,5 h) y MTTR (límite 4,0 h); su incumplimiento expone a penalización. Entre 2022 y 2024 la disponibilidad fue de 90,5 %, 90,2 % y 90,6 %, y el MTBF de 57,6 h, 57,6 h y 60,5 h, por debajo de sus objetivos; el MTTR (3,1 h, 3,7 h y 3,1 h) se mantuvo dentro del límite.</a:t>
            </a:r>
          </a:p>
          <a:p/>
          <a:p>
            <a:r>
              <a:t>La falla más crítica: cada evento contó con un análisis de falla (AFA) y con un informe metalográfico externo, pero la falla persistió y reapareció en posiciones ya intervenidas.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0:40 (acumulado 6:50 de 17:45)</a:t>
            </a:r>
          </a:p>
          <a:p>
            <a:r>
              <a:t>Paso 2: la verificación física. En la superficie de fractura se distingue una zona oscura y lisa, de propagación estable, y una zona clara de rotura final, de apenas un 20 % de la sección. El origen está en el diámetro interior, con marcas de trinquete, y la macrografía muestra una discontinuidad tipo grieta en la raíz de la unión. La grieta nació en la raíz de la soldadura y el eje trabajó mucho tiempo con ella antes de romperse.</a:t>
            </a:r>
          </a:p>
          <a:p/>
          <a:p>
            <a:r>
              <a:t>——— APOYO (no leer) ———</a:t>
            </a:r>
          </a:p>
          <a:p>
            <a:r>
              <a:t>Figura H1, lectura de la superficie de fractura del eje F1 (inspección visual, reportes AFA):</a:t>
            </a:r>
          </a:p>
          <a:p>
            <a:r>
              <a:t>1. Sector oscuro y liso, propagación estable: bandas concéntricas al diámetro interior por el avance progresivo de la grieta bajo los ciclos de par; el oscurecimiento es oxidación durante su larga exposición en servicio.</a:t>
            </a:r>
          </a:p>
          <a:p>
            <a:r>
              <a:t>2. Sector claro y granular, rotura final: metal recién expuesto; la sección remanente rompió de forma instantánea cuando la grieta redujo el área resistente.</a:t>
            </a:r>
          </a:p>
          <a:p>
            <a:r>
              <a:t>3. Diámetro interior, localización del origen: perímetro interno de la unión soldada; el AFA sitúa aquí el inicio, con marcas de trinquete de nucleación múltiple sobre la raíz sin fusión.</a:t>
            </a:r>
          </a:p>
          <a:p>
            <a:r>
              <a:t>4. Borde interno deformado, contacto posterior: rebaba y desgarro por el rozamiento entre las caras tras la separación; el motor siguió operando en free wheeling.</a:t>
            </a:r>
          </a:p>
          <a:p/>
          <a:p>
            <a:r>
              <a:t>Metalografía (informe DIESA-AFA2023085189_00): microestructuras a 40× con grieta secundaria junto al punto de iniciación. La nucleación se produce en la raíz de la unión y propaga radialmente hacia el exterior.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0:40 (acumulado 9:25 de 17:45)</a:t>
            </a:r>
          </a:p>
          <a:p>
            <a:r>
              <a:t>Paso 6: descarte de la fabricación. La composición, la dureza y la resistencia del eje son compatibles con la norma del material. Y hay una prueba más fuerte: en los motores reparados se instaló un eje nuevo, con la misma unión soldada, y la fractura volvió en el mismo lugar. Un defecto de pieza o de lote habría desaparecido con la pieza nueva. Queda el diseño, lo que coincide con el factor de seguridad de 0,31.</a:t>
            </a:r>
          </a:p>
          <a:p/>
          <a:p>
            <a:r>
              <a:t>——— APOYO (no leer) ———</a:t>
            </a:r>
          </a:p>
          <a:p>
            <a:r>
              <a:t>Tabla H1 completa: C 0,26 / 0,22; Mn 1,30 máx. / 0,79; P 0,035 / 0,006; S 0,035 / 0,012; Si 0,33 / 0,27; Cr – / 0,06; Ni – / 0,10; Mo – / 0,03; Cu 0,18 mín. / 0,17; V 0,01 mín. / – (norma / muestra).</a:t>
            </a:r>
          </a:p>
          <a:p>
            <a:r>
              <a:t>Ojo: el Cu de la muestra (0,17) queda por debajo del mínimo (0,18) y el V no se reporta; por eso el laboratorio habla de composición 'compatible'.</a:t>
            </a:r>
          </a:p>
          <a:p/>
          <a:p>
            <a:r>
              <a:t>Límite de la evidencia física: la fractografía y los ensayos sitúan el origen en la raíz de la unión, pero no distinguen entre un defecto de ejecución de una pieza y una condición inherente a la unión proyectada. Esa distinción la resuelve el comportamiento del componente tras su reposición.</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0:35 (acumulado 11:05 de 17:45)</a:t>
            </a:r>
          </a:p>
          <a:p>
            <a:r>
              <a:t>Entro al tercer bloque, la decisión de rediseño, con las preguntas 4 y 5, que menciono brevemente. La falla llega sin aviso: 10 de los 13 eventos se detectaron en operación. Se pierden la tracción y el retardo dinámico en el descenso cargado, y el camión queda fuera 59,3 horas. Lo que importa es la clasificación: consecuencia operacional, con implicación de seguridad y efecto contractual. Esa clasificación decide la pregunta 7.</a:t>
            </a:r>
          </a:p>
          <a:p/>
          <a:p>
            <a:r>
              <a:t>——— APOYO (no leer) ———</a:t>
            </a:r>
          </a:p>
          <a:p>
            <a:r>
              <a:t>DISCURSO (~45 s)</a:t>
            </a:r>
          </a:p>
          <a:p>
            <a:r>
              <a:t>Las preguntas 4 y 5 describen qué pasa cuando la falla ocurre y por qué importa. La fractura llega sin aviso: el operador reporta pérdida de propulsión y la rueda queda en giro libre. La posición afectada pierde a la vez tracción y retardo dinámico, justo lo que controla la velocidad de un equipo de 628 toneladas en el descenso cargado. La unidad sale del ciclo de acarreo durante 59,3 horas, porque hay que sustituir el motor completo, y el eje roto sigue girando y daña el tren de engranajes. Por eso la consecuencia es operacional, con implicación de seguridad y efecto contractual, y esa clasificación es la que decide la acción a falta de.</a:t>
            </a:r>
          </a:p>
          <a:p/>
          <a:p>
            <a:r>
              <a:t>APOYO (no leer; para preguntas del jurado)</a:t>
            </a:r>
          </a:p>
          <a:p>
            <a:r>
              <a:t>Informe, 3.4.4 Pregunta 4: efectos de falla.</a:t>
            </a:r>
          </a:p>
          <a:p>
            <a:r>
              <a:t>Evidencia de la ocurrencia: ninguna tarea del programa vigente anticipaba ni detectaba esta falla. Diez de los trece eventos se identificaron en operación; los otros tres (casos 5, 8 y 11 de la Tabla 5) corresponden a retiros en una parada programada. La evaluación en campo verifica que el eje del motor se revoluciona sin transmitir par (desacople entre el rotor y la reducción planetaria).</a:t>
            </a:r>
          </a:p>
          <a:p>
            <a:r>
              <a:t>Seguridad: se pierden a la vez la tracción y el retardo dinámico; el frenado eléctrico se reduce a una sola posición motriz. La exposición se concentra en el descenso cargado por rampa (628 t de peso bruto); el freno de servicio interviene como respaldo.</a:t>
            </a:r>
          </a:p>
          <a:p>
            <a:r>
              <a:t>Operación: tolva descargada en el lugar, traslado fuera del área y 59,3 h fuera de servicio en promedio. No hay reparación en campo: se sustituye el motor de tracción completo por uno de intercambio. La espera por motor de intercambio, equipo de izaje y personal de neumáticos queda registrada como demora de la misma detención.</a:t>
            </a:r>
          </a:p>
          <a:p>
            <a:r>
              <a:t>Daño físico: dentado fracturado y daño en los portadores planetarios; reducción de espesor, fisura y fractura en la placa de acople; desprendimiento de material y pérdida de dureza en el piñón solar; desprendimiento de material en la corona; hierro en las pistas de los rodamientos. Esa contaminación aparece después de la fractura y no la precede.</a:t>
            </a:r>
          </a:p>
          <a:p/>
          <a:p>
            <a:r>
              <a:t>Informe, 3.4.5 Pregunta 5: consecuencias de falla.</a:t>
            </a:r>
          </a:p>
          <a:p>
            <a:r>
              <a:t>Operacional, con implicación de seguridad y con efecto contractual. Ninguna de las trece ocurrencias derivó en daño a personas, pero la norma evalúa la consecuencia potencial, no el resultado observado. No alcanzar las 20 000 h entre reparaciones mayores también es consecuencia directa: cada ocurrencia retira el motor con una fracción de la vida de referencia e interrumpe el ciclo de reparaciones planificado.</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0:55 (acumulado 13:05 de 17:45)</a:t>
            </a:r>
          </a:p>
          <a:p>
            <a:r>
              <a:t>Paso a la etapa 4: la implementación. El rediseño cambia el tipo de junta, de penetración parcial a penetración completa, y aumenta la pared del tubo de 0,75 a 1,00 pulgada, sin cambiar el material. Se elimina el concentrador y el factor de seguridad pasa de 0,31 a 2,23.</a:t>
            </a:r>
          </a:p>
          <a:p>
            <a:r>
              <a:t>Se implementó como cambio controlado: primero los motores con más horas acumuladas; luego la sustitución del motor completo por uno de intercambio con el número de parte mejorado; y un registro del número de parte por posición, para no reponer nunca el obsoleto. El rediseño surgió de las recomendaciones de los propios análisis de falla, y esta operación fue la primera en implementarlo, en 2025.</a:t>
            </a:r>
          </a:p>
          <a:p/>
          <a:p>
            <a:r>
              <a:t>——— APOYO (no leer) ———</a:t>
            </a:r>
          </a:p>
          <a:p>
            <a:r>
              <a:t>La casa matriz adoptó la mejora propuesta en los AFA (modificar el proceso de soldadura y eliminar el concentrador); esta operación fue la primera en implementarla, en 2025.</a:t>
            </a:r>
          </a:p>
          <a:p/>
          <a:p>
            <a:r>
              <a:t>Validación previa con el equipo técnico: con las áreas de confiabilidad, planeamiento y ejecución de mantenimiento, y con el personal de operación: consistencia del diagrama de posibles causas con la experiencia de campo, verificación de que ninguna posible causa relevante quedara sin contrastar y revisión de la evidencia cuantitativa.</a:t>
            </a:r>
          </a:p>
          <a:p/>
          <a:p>
            <a:r>
              <a:t>El tercer mecanismo (control de la mejora instalada) responde de forma directa a la causa latente: impide que el hallazgo técnico vuelva a perderse en la reposición del componente.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0:55 (acumulado 14:00 de 17:45)</a:t>
            </a:r>
          </a:p>
          <a:p>
            <a:r>
              <a:t>Cuarto bloque: la recuperación de los indicadores. Etapa 4, verificación del componente. Desde el último evento, el 14 de diciembre de 2024, la flota acumuló 96 000 horas con el eje rediseñado sin ninguna fractura. Con la tasa anterior se esperaban 6,3 eventos; la probabilidad de observar cero por azar es 0,0018. Por eso se rechaza, con 95 % de confianza, que la falla persista con su frecuencia anterior.</a:t>
            </a:r>
          </a:p>
          <a:p>
            <a:r>
              <a:t>El límite inferior del MTBF de la falla es de 32 046 horas, por encima del TBO de 20 000, y el MTTR del sistema de propulsión baja de 6,2 a 3,3 horas. Pero soy preciso: esto es lo observado, y la verificación sigue abierta.</a:t>
            </a:r>
          </a:p>
          <a:p/>
          <a:p>
            <a:r>
              <a:t>——— APOYO (no leer) ———</a:t>
            </a:r>
          </a:p>
          <a:p>
            <a:r>
              <a:t>Recuperación de los indicadores del modo de falla (antes 2022-2024, después con el P/N mejorado): frecuencia del modo de 4,33 a 0 eventos por año; MTTR del sistema de propulsión de 6,2 a 3,3 h; horas de parada del modo de 315 a 0 h por año; impacto en la disponibilidad de 0,36 a 0 puntos.</a:t>
            </a:r>
          </a:p>
          <a:p>
            <a:r>
              <a:t>MTBF del modo de falla: de 15 231 h a más de 32 046 h (límite inferior al 95 % de confianza).</a:t>
            </a:r>
          </a:p>
          <a:p>
            <a:r>
              <a:t>MTTR del sistema de propulsión: desciende 46 % porque desapareció un modo cuya intervención duraba 59,3 h, cerca de ocho veces el promedio del sistema.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SPEECH · 1:05 (acumulado 16:00 de 17:45)</a:t>
            </a:r>
          </a:p>
          <a:p>
            <a:r>
              <a:t>Etapa 4: verificación de la flota y costo evitado. Es el resultado más fuerte. La disponibilidad pasó de 90,6 % en 2024 a 93,6 % en 2025, frente a una meta de 91 %. El MTBF pasó de 60,5 a 108,4 horas, frente a un objetivo de 64,5. Por primera vez en el período se cumplen ambos compromisos. El MTTR se mantiene en 3,3 horas, dentro del límite: la acción elimina eventos, no acorta las reparaciones que quedan.</a:t>
            </a:r>
          </a:p>
          <a:p>
            <a:r>
              <a:t>Sobre la atribución, soy transparente: en el mismo período se intervino otra falla, la fisura de culatas del motor diésel. El aporte directo del eje palier es de 0,36 puntos de disponibilidad.</a:t>
            </a:r>
          </a:p>
          <a:p>
            <a:r>
              <a:t>El costo evitado es de 3,31 millones de dólares por año: 13 eventos en 36 meses, a 763 393 dólares cada uno.</a:t>
            </a:r>
          </a:p>
          <a:p/>
          <a:p>
            <a:r>
              <a:t>——— APOYO (no leer) ———</a:t>
            </a:r>
          </a:p>
          <a:p>
            <a:r>
              <a:t>El MTTR de flota no mejora, y no debía hacerlo: la acción implementada elimina eventos, no reduce la duración de las intervenciones que subsisten.</a:t>
            </a:r>
          </a:p>
          <a:p/>
          <a:p>
            <a:r>
              <a:t>La concurrencia con la intervención del motor diésel no debilita la verificación: lo que acredita el rediseño es el criterio del nivel del componente.</a:t>
            </a:r>
          </a:p>
          <a:p/>
          <a:p>
            <a:r>
              <a:t>Costo por evento: US$ 763 393 por evaluación y reparación mayor del motor; costo anual del modo US$ 3,31 M frente a US$ 4,30 M de la sustitución cíclica (relación 1,30 : 1). Umbral de indiferencia declarado: US$ 459 mil por reparación mayor programada.</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0:20 (acumulado 0:20 de 17:45)</a:t>
            </a:r>
          </a:p>
          <a:p>
            <a:r>
              <a:t>Buenos días, miembros del jurado. Mi nombre es Samir Cedillo y presento mi trabajo de suficiencia profesional: la recuperación de los indicadores de mantenimiento de la flota 980E-5 de acarreo minero, afectados por la falla del eje palier del sistema de propulsión.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0:25 (acumulado 0:45 de 17:45)</a:t>
            </a:r>
          </a:p>
          <a:p>
            <a:r>
              <a:t>La exposición sigue este orden: primero la problemática, luego los objetivos y la metodología. El desarrollo tiene cuatro bloques: la causa física, el análisis de causa raíz, la decisión de rediseño y, al final, la recuperación de los indicadores con el costo evitado. Cierro con las conclusiones, una por cada objetivo.</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0:50 (acumulado 3:05 de 17:45)</a:t>
            </a:r>
          </a:p>
          <a:p>
            <a:r>
              <a:t>Frente a este problema, mi compromiso se expresa en un objetivo general: recuperar los indicadores de mantenimiento —MTBF, MTTR y disponibilidad— mediante la eliminación de la fractura del eje palier.</a:t>
            </a:r>
          </a:p>
          <a:p>
            <a:r>
              <a:t>Para lograrlo planteé cuatro objetivos específicos. Primero, identificar la falla recurrente y cuantificar su impacto en indicadores y costos. Segundo, determinar las causas latentes de la recurrencia con un análisis de causa raíz. Tercero, implementar el rediseño de la unión soldada, sustentando el plan de acción con la lógica de decisión del RCM. Y cuarto, evaluar la recuperación de los indicadores y el costo evitado. Las conclusiones responderán a estos cuatro objetivos, en este mismo orden.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1:10 (acumulado 4:15 de 17:45)</a:t>
            </a:r>
          </a:p>
          <a:p>
            <a:r>
              <a:t>La metodología tiene cuatro etapas: desempeño previo, focalización, proceso RCM e implementación y verificación.</a:t>
            </a:r>
          </a:p>
          <a:p>
            <a:r>
              <a:t>Quiero precisar algo desde el inicio. El RCM de la norma SAE JA1011, y el análisis de causa raíz dentro de él, no son el método en sí: son la estructura de referencia que usé para ordenar el trabajo. Son marcos pensados para anticipar fallas, y este caso es reactivo: la falla ya había ocurrido trece veces.</a:t>
            </a:r>
          </a:p>
          <a:p>
            <a:r>
              <a:t>En la etapa 3 recorro las siete preguntas de la norma, pero no todas pesan igual. Las preguntas 1, 2, 4 y 5 las menciono brevemente. El tiempo va a la pregunta 3, donde están la causa física y el análisis de causa raíz, y a las preguntas 6 y 7, donde se decide el rediseño. En cada cambio de bloque indicaré en qué etapa y en qué pregunta estoy.</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0:35 (acumulado 4:50 de 17:45)</a:t>
            </a:r>
          </a:p>
          <a:p>
            <a:r>
              <a:t>Paso a la etapa 2: la focalización. En la matriz de criticidad, la fractura del eje palier obtiene frecuencia 5, por los 13 eventos, y consecuencia 4, por la parada, el costo y la disponibilidad perdida. Su detectabilidad es 5: la grieta nace dentro del motor cerrado y no se puede inspeccionar. Queda en criticidad alta, y a ese cuadrante le corresponde eliminar la causa raíz, no inspeccionar más.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0:30 (acumulado 5:20 de 17:45)</a:t>
            </a:r>
          </a:p>
          <a:p>
            <a:r>
              <a:t>Entro a la etapa 3, el proceso RCM, con las preguntas 1 y 2, que son breves. La función del eje es transmitir el par del motor a la rueda durante 20 000 horas entre reparaciones mayores. La falla funcional es evidente: el eje se fractura, deja de transmitir potencia y el camión no avanza. Paso directamente a la pregunta 3.</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0:50 (acumulado 6:10 de 17:45)</a:t>
            </a:r>
          </a:p>
          <a:p>
            <a:r>
              <a:t>Etapa 3, pregunta 3: modos de falla. Aquí empieza el primer bloque del desarrollo, la causa física. Empiezo por ella porque de ella salen todas las demás evaluaciones. Es el paso 1 del análisis de causa raíz: reunir la evidencia.</a:t>
            </a:r>
          </a:p>
          <a:p>
            <a:r>
              <a:t>Los análisis de falla de la contratista confirmaron fatiga, con origen en la raíz de la unión soldada. El laboratorio externo confirmó que la grieta nace en una discontinuidad de esa raíz y que el material cumple la norma. La data del equipo mostró que operaba dentro de sus parámetros. Cada análisis explicó bien el mecanismo, pero ninguno consolidó la recurrencia; ese vacío lo retomo más adelante.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0:40 (acumulado 7:30 de 17:45)</a:t>
            </a:r>
          </a:p>
          <a:p>
            <a:r>
              <a:t>Paso 3: la verificación cuantitativa. Con el par transmitido de 17,81 kilonewton-metro, el esfuerzo cortante nominal en la sección crítica es de 35,7 megapascales y el rango de esfuerzo, de 53,6. El factor de seguridad a la vida planificada resulta 0,31. Un factor menor que uno significa que la unión, tal como estaba diseñada, no podía llegar a las 20 000 horas bajo el par nominal. Con esto cierro la causa física: fatiga que nace en la raíz de una soldadura de penetración parcial.</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0:40 (acumulado 8:10 de 17:45)</a:t>
            </a:r>
          </a:p>
          <a:p>
            <a:r>
              <a:t>Paso al segundo bloque: el análisis de causa raíz. Seguimos en la etapa 3, pregunta 3; es el paso 4: las hipótesis. A partir de la causa física construí el diagrama de Ishikawa con cinco ramas: montaje, fabricación, diseño, mantenimiento y operación. La regla fue una sola: una hipótesis se descarta solo si es incompatible con la evidencia. Quedaron confirmadas dos, ambas en diseño: la raíz sin fusión, como causa determinante, y la sección insuficiente del tubo, como causa contribuyente.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0:35 (acumulado 8:45 de 17:45)</a:t>
            </a:r>
          </a:p>
          <a:p>
            <a:r>
              <a:t>Paso 5: descarte de la operación, con la data del propio equipo. La carga útil media fue de 366,7 toneladas, sin ciclos por encima del 120 %; no hubo exceso de velocidad, y el peso suspendido solo superó la referencia en una unidad. El argumento decisivo es la distribución: una causa operacional se concentraría en ciertas unidades, y la fractura apareció en toda la flota y en un rango amplio de horas.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1:05 (acumulado 10:30 de 17:45)</a:t>
            </a:r>
          </a:p>
          <a:p>
            <a:r>
              <a:t>Paso 7: del mecanismo físico a la causa latente. La pregunta cambia: ya no es por qué se fracturó el eje, sino por qué la organización convivió tres años con una falla de criticidad máxima.</a:t>
            </a:r>
          </a:p>
          <a:p>
            <a:r>
              <a:t>Se fracturó porque la raíz sin fusión concentra el esfuerzo: es el nivel físico. Siguió en servicio porque el componente se recibe con su diseño y no se verifica frente al par real: nivel humano. No se detectó la recurrencia porque cada análisis se hacía por evento y el registro de paradas no codificaba la falla. Y las recomendaciones no se ejecutaron porque no había un proceso con responsable, plazo y cierre.</a:t>
            </a:r>
          </a:p>
          <a:p>
            <a:r>
              <a:t>La causa raíz latente es la ausencia de un mecanismo que convierta el hallazgo de un análisis de falla en un cambio de diseño.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1:05 (acumulado 12:10 de 17:45)</a:t>
            </a:r>
          </a:p>
          <a:p>
            <a:r>
              <a:t>Preguntas 6 y 7. La norma adopta una tarea proactiva solo si es técnicamente factible y si cuesta menos que las consecuencias que evita.</a:t>
            </a:r>
          </a:p>
          <a:p>
            <a:r>
              <a:t>La tarea a condición no es factible: la grieta nace dentro del motor cerrado y no hay acceso de inspección. El reacondicionamiento cíclico tampoco: no elimina el punto débil de la soldadura. La sustitución cíclica sí es factible, cambiando el eje a las 9 547 horas, pero no es conveniente: costaría 4,3 millones de dólares al año frente a 3,31 millones de consecuencias evitadas, una relación de 1,30 a 1.</a:t>
            </a:r>
          </a:p>
          <a:p>
            <a:r>
              <a:t>Sin tarea proactiva aplicable y con una consecuencia operacional con implicación de seguridad, la norma prescribe la acción a falta de: el cambio de diseño. El rediseño no es una preferencia; es el resultado del proceso.</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0:55 (acumulado 14:55 de 17:45)</a:t>
            </a:r>
          </a:p>
          <a:p>
            <a:r>
              <a:t>Lo dejo explícito, para no dar nada por supuesto. Lo que ya ocurrió está medido: cero fracturas en 96 000 horas y metas contractuales cumplidas en 2025.</a:t>
            </a:r>
          </a:p>
          <a:p>
            <a:r>
              <a:t>Lo que la intervención no garantiza por sí sola: instalar el eje nuevo no elimina la falla automáticamente; ningún motor intervenido supera todavía las 24 540 horas, la vida máxima registrada; y el factor de 2,23 es un cálculo que debe confirmar el campo.</a:t>
            </a:r>
          </a:p>
          <a:p>
            <a:r>
              <a:t>Se asegura con el seguimiento del horómetro de cada motor, el control del número de parte y las contramedidas del análisis de causa raíz. El proceso se cierra cuando todos los motores superen las 24 540 horas sin fractura y los indicadores se mantengan en meta.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1:35 (acumulado 17:35 de 17:45)</a:t>
            </a:r>
          </a:p>
          <a:p>
            <a:r>
              <a:t>Paso a las conclusiones. Primero, la conclusión general: se eliminó la fractura del eje palier y la flota recuperó sus indicadores contractuales. La disponibilidad pasó de 90,6 a 93,6 % y el MTBF de 60,5 a 108,4 horas; el MTTR se mantuvo en 3,3 horas, dentro del límite.</a:t>
            </a:r>
          </a:p>
          <a:p>
            <a:r>
              <a:t>Primer objetivo: la falla fue de diseño, en la unión soldada del eje palier. Restó 0,36 % de disponibilidad y costó 3,31 millones de dólares por año en mantenimiento.</a:t>
            </a:r>
          </a:p>
          <a:p>
            <a:r>
              <a:t>Segundo objetivo: se determinaron las causas latentes. No existía un mecanismo que convirtiera los hallazgos de los análisis de falla en un cambio de diseño, y se manifestó en tres causas: análisis por evento, registro de paradas sin codificación de la falla y recomendaciones sin responsable, plazo ni cierre.</a:t>
            </a:r>
          </a:p>
          <a:p>
            <a:r>
              <a:t>Tercer objetivo: se cambió el tipo de junta a penetración completa y se eliminó el concentrador; el factor de seguridad pasó de 0,31 a 2,23. El plan se planteó como acción a falta de del RCM, se priorizó por horómetro y se implementó en 2025 con control del número de parte. En campo: cero fracturas en 96 000 horas.</a:t>
            </a:r>
          </a:p>
          <a:p>
            <a:r>
              <a:t>Cuarto objetivo: el costo evitado es de 3,31 millones de dólares por año.</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SPEECH · 0:10 (acumulado 17:45 de 17:45)</a:t>
            </a:r>
          </a:p>
          <a:p>
            <a:r>
              <a:t>Muchas gracias. Quedo a disposición del jurado para sus preguntas y comentarios.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trada" type="blank">
  <p:cSld name="BLANK">
    <p:spTree>
      <p:nvGrpSpPr>
        <p:cNvPr id="1" name="Shape 14"/>
        <p:cNvGrpSpPr/>
        <p:nvPr/>
      </p:nvGrpSpPr>
      <p:grpSpPr>
        <a:xfrm>
          <a:off x="0" y="0"/>
          <a:ext cx="0" cy="0"/>
          <a:chOff x="0" y="0"/>
          <a:chExt cx="0" cy="0"/>
        </a:xfrm>
      </p:grpSpPr>
      <p:sp>
        <p:nvSpPr>
          <p:cNvPr id="15" name="Google Shape;15;p2"/>
          <p:cNvSpPr/>
          <p:nvPr/>
        </p:nvSpPr>
        <p:spPr>
          <a:xfrm>
            <a:off x="0" y="0"/>
            <a:ext cx="12192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6" name="Google Shape;16;p2"/>
          <p:cNvPicPr preferRelativeResize="0"/>
          <p:nvPr/>
        </p:nvPicPr>
        <p:blipFill rotWithShape="1">
          <a:blip r:embed="rId2">
            <a:alphaModFix/>
          </a:blip>
          <a:srcRect/>
          <a:stretch/>
        </p:blipFill>
        <p:spPr>
          <a:xfrm>
            <a:off x="4195484" y="2571381"/>
            <a:ext cx="4143972" cy="13733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a:stretch/>
        </p:blipFill>
        <p:spPr>
          <a:xfrm>
            <a:off x="4844521" y="5547936"/>
            <a:ext cx="2504546" cy="826405"/>
          </a:xfrm>
          <a:prstGeom prst="rect">
            <a:avLst/>
          </a:prstGeom>
          <a:noFill/>
          <a:ln>
            <a:noFill/>
          </a:ln>
        </p:spPr>
      </p:pic>
      <p:sp>
        <p:nvSpPr>
          <p:cNvPr id="19" name="Google Shape;19;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21"/>
        <p:cNvGrpSpPr/>
        <p:nvPr/>
      </p:nvGrpSpPr>
      <p:grpSpPr>
        <a:xfrm>
          <a:off x="0" y="0"/>
          <a:ext cx="0" cy="0"/>
          <a:chOff x="0" y="0"/>
          <a:chExt cx="0" cy="0"/>
        </a:xfrm>
      </p:grpSpPr>
      <p:grpSp>
        <p:nvGrpSpPr>
          <p:cNvPr id="22" name="Google Shape;22;p4"/>
          <p:cNvGrpSpPr/>
          <p:nvPr/>
        </p:nvGrpSpPr>
        <p:grpSpPr>
          <a:xfrm>
            <a:off x="0" y="5716598"/>
            <a:ext cx="11959674" cy="939388"/>
            <a:chOff x="0" y="5716598"/>
            <a:chExt cx="11959674" cy="939388"/>
          </a:xfrm>
        </p:grpSpPr>
        <p:pic>
          <p:nvPicPr>
            <p:cNvPr id="23" name="Google Shape;23;p4"/>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24" name="Google Shape;24;p4"/>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5" name="Google Shape;2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4"/>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28" name="Google Shape;28;p4"/>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9"/>
        <p:cNvGrpSpPr/>
        <p:nvPr/>
      </p:nvGrpSpPr>
      <p:grpSpPr>
        <a:xfrm>
          <a:off x="0" y="0"/>
          <a:ext cx="0" cy="0"/>
          <a:chOff x="0" y="0"/>
          <a:chExt cx="0" cy="0"/>
        </a:xfrm>
      </p:grpSpPr>
      <p:grpSp>
        <p:nvGrpSpPr>
          <p:cNvPr id="30" name="Google Shape;30;p5"/>
          <p:cNvGrpSpPr/>
          <p:nvPr/>
        </p:nvGrpSpPr>
        <p:grpSpPr>
          <a:xfrm>
            <a:off x="0" y="5716598"/>
            <a:ext cx="11959674" cy="939388"/>
            <a:chOff x="0" y="5716598"/>
            <a:chExt cx="11959674" cy="939388"/>
          </a:xfrm>
        </p:grpSpPr>
        <p:pic>
          <p:nvPicPr>
            <p:cNvPr id="31" name="Google Shape;31;p5"/>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32" name="Google Shape;32;p5"/>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33" name="Google Shape;33;p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 name="Google Shape;35;p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 name="Google Shape;36;p5"/>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37" name="Google Shape;37;p5"/>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8"/>
        <p:cNvGrpSpPr/>
        <p:nvPr/>
      </p:nvGrpSpPr>
      <p:grpSpPr>
        <a:xfrm>
          <a:off x="0" y="0"/>
          <a:ext cx="0" cy="0"/>
          <a:chOff x="0" y="0"/>
          <a:chExt cx="0" cy="0"/>
        </a:xfrm>
      </p:grpSpPr>
      <p:grpSp>
        <p:nvGrpSpPr>
          <p:cNvPr id="39" name="Google Shape;39;p6"/>
          <p:cNvGrpSpPr/>
          <p:nvPr/>
        </p:nvGrpSpPr>
        <p:grpSpPr>
          <a:xfrm>
            <a:off x="0" y="5716598"/>
            <a:ext cx="11959674" cy="939388"/>
            <a:chOff x="0" y="5716598"/>
            <a:chExt cx="11959674" cy="939388"/>
          </a:xfrm>
        </p:grpSpPr>
        <p:pic>
          <p:nvPicPr>
            <p:cNvPr id="40" name="Google Shape;40;p6"/>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41" name="Google Shape;41;p6"/>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46" name="Google Shape;46;p6"/>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grpSp>
        <p:nvGrpSpPr>
          <p:cNvPr id="48" name="Google Shape;48;p7"/>
          <p:cNvGrpSpPr/>
          <p:nvPr/>
        </p:nvGrpSpPr>
        <p:grpSpPr>
          <a:xfrm>
            <a:off x="0" y="5716598"/>
            <a:ext cx="11959674" cy="939388"/>
            <a:chOff x="0" y="5716598"/>
            <a:chExt cx="11959674" cy="939388"/>
          </a:xfrm>
        </p:grpSpPr>
        <p:pic>
          <p:nvPicPr>
            <p:cNvPr id="49" name="Google Shape;49;p7"/>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50" name="Google Shape;50;p7"/>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51" name="Google Shape;5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7"/>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57" name="Google Shape;57;p7"/>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8"/>
        <p:cNvGrpSpPr/>
        <p:nvPr/>
      </p:nvGrpSpPr>
      <p:grpSpPr>
        <a:xfrm>
          <a:off x="0" y="0"/>
          <a:ext cx="0" cy="0"/>
          <a:chOff x="0" y="0"/>
          <a:chExt cx="0" cy="0"/>
        </a:xfrm>
      </p:grpSpPr>
      <p:grpSp>
        <p:nvGrpSpPr>
          <p:cNvPr id="59" name="Google Shape;59;p8"/>
          <p:cNvGrpSpPr/>
          <p:nvPr/>
        </p:nvGrpSpPr>
        <p:grpSpPr>
          <a:xfrm>
            <a:off x="0" y="5716598"/>
            <a:ext cx="11959674" cy="939388"/>
            <a:chOff x="0" y="5716598"/>
            <a:chExt cx="11959674" cy="939388"/>
          </a:xfrm>
        </p:grpSpPr>
        <p:pic>
          <p:nvPicPr>
            <p:cNvPr id="60" name="Google Shape;60;p8"/>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1" name="Google Shape;61;p8"/>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64" name="Google Shape;64;p8"/>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6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grpSp>
        <p:nvGrpSpPr>
          <p:cNvPr id="67" name="Google Shape;67;p10"/>
          <p:cNvGrpSpPr/>
          <p:nvPr/>
        </p:nvGrpSpPr>
        <p:grpSpPr>
          <a:xfrm>
            <a:off x="0" y="5716598"/>
            <a:ext cx="11959674" cy="939388"/>
            <a:chOff x="0" y="5716598"/>
            <a:chExt cx="11959674" cy="939388"/>
          </a:xfrm>
        </p:grpSpPr>
        <p:pic>
          <p:nvPicPr>
            <p:cNvPr id="68" name="Google Shape;68;p10"/>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9" name="Google Shape;69;p10"/>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0" name="Google Shape;7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a:spLocks noGrp="1"/>
          </p:cNvSpPr>
          <p:nvPr>
            <p:ph type="pic" idx="2"/>
          </p:nvPr>
        </p:nvSpPr>
        <p:spPr>
          <a:xfrm>
            <a:off x="5183188" y="987426"/>
            <a:ext cx="6172200" cy="4541308"/>
          </a:xfrm>
          <a:prstGeom prst="rect">
            <a:avLst/>
          </a:prstGeom>
          <a:noFill/>
          <a:ln>
            <a:noFill/>
          </a:ln>
        </p:spPr>
      </p:sp>
      <p:sp>
        <p:nvSpPr>
          <p:cNvPr id="72" name="Google Shape;72;p10"/>
          <p:cNvSpPr txBox="1">
            <a:spLocks noGrp="1"/>
          </p:cNvSpPr>
          <p:nvPr>
            <p:ph type="body" idx="1"/>
          </p:nvPr>
        </p:nvSpPr>
        <p:spPr>
          <a:xfrm>
            <a:off x="839788" y="2057400"/>
            <a:ext cx="3932237" cy="3551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0"/>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74" name="Google Shape;74;p10"/>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5"/>
        <p:cNvGrpSpPr/>
        <p:nvPr/>
      </p:nvGrpSpPr>
      <p:grpSpPr>
        <a:xfrm>
          <a:off x="0" y="0"/>
          <a:ext cx="0" cy="0"/>
          <a:chOff x="0" y="0"/>
          <a:chExt cx="0" cy="0"/>
        </a:xfrm>
      </p:grpSpPr>
      <p:grpSp>
        <p:nvGrpSpPr>
          <p:cNvPr id="76" name="Google Shape;76;p11"/>
          <p:cNvGrpSpPr/>
          <p:nvPr/>
        </p:nvGrpSpPr>
        <p:grpSpPr>
          <a:xfrm>
            <a:off x="0" y="5716598"/>
            <a:ext cx="11959674" cy="939388"/>
            <a:chOff x="0" y="5716598"/>
            <a:chExt cx="11959674" cy="939388"/>
          </a:xfrm>
        </p:grpSpPr>
        <p:pic>
          <p:nvPicPr>
            <p:cNvPr id="77" name="Google Shape;77;p11"/>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78" name="Google Shape;78;p11"/>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9" name="Google Shape;7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1"/>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82" name="Google Shape;82;p11"/>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3"/>
        <p:cNvGrpSpPr/>
        <p:nvPr/>
      </p:nvGrpSpPr>
      <p:grpSpPr>
        <a:xfrm>
          <a:off x="0" y="0"/>
          <a:ext cx="0" cy="0"/>
          <a:chOff x="0" y="0"/>
          <a:chExt cx="0" cy="0"/>
        </a:xfrm>
      </p:grpSpPr>
      <p:grpSp>
        <p:nvGrpSpPr>
          <p:cNvPr id="84" name="Google Shape;84;p12"/>
          <p:cNvGrpSpPr/>
          <p:nvPr/>
        </p:nvGrpSpPr>
        <p:grpSpPr>
          <a:xfrm>
            <a:off x="0" y="5716598"/>
            <a:ext cx="11959674" cy="939388"/>
            <a:chOff x="0" y="5716598"/>
            <a:chExt cx="11959674" cy="939388"/>
          </a:xfrm>
        </p:grpSpPr>
        <p:pic>
          <p:nvPicPr>
            <p:cNvPr id="85" name="Google Shape;85;p12"/>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86" name="Google Shape;86;p12"/>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87" name="Google Shape;87;p12"/>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2"/>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90" name="Google Shape;90;p12"/>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20.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png"/><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2743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 name="TextBox 2"/>
          <p:cNvSpPr txBox="1"/>
          <p:nvPr/>
        </p:nvSpPr>
        <p:spPr>
          <a:xfrm>
            <a:off x="841248" y="786384"/>
            <a:ext cx="10515600" cy="548640"/>
          </a:xfrm>
          <a:prstGeom prst="rect">
            <a:avLst/>
          </a:prstGeom>
          <a:noFill/>
        </p:spPr>
        <p:txBody>
          <a:bodyPr wrap="square" lIns="0" tIns="0" rIns="0" bIns="0" anchor="t">
            <a:spAutoFit/>
          </a:bodyPr>
          <a:lstStyle/>
          <a:p>
            <a:pPr algn="l">
              <a:lnSpc>
                <a:spcPct val="114000"/>
              </a:lnSpc>
              <a:spcBef>
                <a:spcPts val="0"/>
              </a:spcBef>
              <a:spcAft>
                <a:spcPts val="300"/>
              </a:spcAft>
            </a:pPr>
            <a:r>
              <a:rPr lang="es-ES" sz="1300" b="1" i="0" noProof="0" dirty="0">
                <a:solidFill>
                  <a:srgbClr val="042354"/>
                </a:solidFill>
                <a:latin typeface="Arial"/>
              </a:rPr>
              <a:t>PONTIFICIA UNIVERSIDAD CATÓLICA DEL PERÚ</a:t>
            </a:r>
          </a:p>
          <a:p>
            <a:pPr algn="l">
              <a:lnSpc>
                <a:spcPct val="114000"/>
              </a:lnSpc>
              <a:spcBef>
                <a:spcPts val="0"/>
              </a:spcBef>
              <a:spcAft>
                <a:spcPts val="400"/>
              </a:spcAft>
            </a:pPr>
            <a:r>
              <a:rPr lang="es-ES" sz="1300" b="1" i="0" noProof="0" dirty="0">
                <a:solidFill>
                  <a:srgbClr val="4A5568"/>
                </a:solidFill>
                <a:latin typeface="Arial"/>
              </a:rPr>
              <a:t>FACULTAD DE CIENCIAS E INGENIERÍA</a:t>
            </a:r>
          </a:p>
        </p:txBody>
      </p:sp>
      <p:cxnSp>
        <p:nvCxnSpPr>
          <p:cNvPr id="4" name="Connector 3"/>
          <p:cNvCxnSpPr/>
          <p:nvPr/>
        </p:nvCxnSpPr>
        <p:spPr>
          <a:xfrm>
            <a:off x="841248" y="1700784"/>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41248" y="1700784"/>
            <a:ext cx="1463040" cy="0"/>
          </a:xfrm>
          <a:prstGeom prst="line">
            <a:avLst/>
          </a:prstGeom>
          <a:ln w="38100">
            <a:solidFill>
              <a:srgbClr val="C3094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7" y="1956816"/>
            <a:ext cx="10515599" cy="1257973"/>
          </a:xfrm>
          <a:prstGeom prst="rect">
            <a:avLst/>
          </a:prstGeom>
          <a:noFill/>
        </p:spPr>
        <p:txBody>
          <a:bodyPr wrap="square" lIns="0" tIns="0" rIns="0" bIns="0" anchor="t">
            <a:spAutoFit/>
          </a:bodyPr>
          <a:lstStyle/>
          <a:p>
            <a:pPr algn="l">
              <a:lnSpc>
                <a:spcPct val="112000"/>
              </a:lnSpc>
              <a:spcBef>
                <a:spcPts val="0"/>
              </a:spcBef>
              <a:spcAft>
                <a:spcPts val="400"/>
              </a:spcAft>
            </a:pPr>
            <a:r>
              <a:rPr lang="es-ES" sz="2500" b="1" i="0" noProof="0" dirty="0">
                <a:solidFill>
                  <a:srgbClr val="042354"/>
                </a:solidFill>
                <a:latin typeface="Arial"/>
              </a:rPr>
              <a:t>Recuperación de los indicadores de mantenimiento de la flota 980E-5 de acarreo minero debido a la falla del eje palier del sistema de propulsión</a:t>
            </a:r>
          </a:p>
        </p:txBody>
      </p:sp>
      <p:sp>
        <p:nvSpPr>
          <p:cNvPr id="7" name="TextBox 6"/>
          <p:cNvSpPr txBox="1"/>
          <p:nvPr/>
        </p:nvSpPr>
        <p:spPr>
          <a:xfrm>
            <a:off x="841248" y="3803904"/>
            <a:ext cx="827532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ES" sz="1150" b="0" i="0" noProof="0" dirty="0">
                <a:solidFill>
                  <a:srgbClr val="4A5568"/>
                </a:solidFill>
                <a:latin typeface="Arial"/>
              </a:rPr>
              <a:t>Trabajo de suficiencia profesional para obtener el título profesional de Ingeniero Mecánico</a:t>
            </a:r>
          </a:p>
        </p:txBody>
      </p:sp>
      <p:sp>
        <p:nvSpPr>
          <p:cNvPr id="8" name="Rectangle 7"/>
          <p:cNvSpPr/>
          <p:nvPr/>
        </p:nvSpPr>
        <p:spPr>
          <a:xfrm>
            <a:off x="841248"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9" name="TextBox 8"/>
          <p:cNvSpPr txBox="1"/>
          <p:nvPr/>
        </p:nvSpPr>
        <p:spPr>
          <a:xfrm>
            <a:off x="1060704"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7A8494"/>
                </a:solidFill>
                <a:latin typeface="Arial"/>
              </a:rPr>
              <a:t>AUTOR</a:t>
            </a:r>
          </a:p>
          <a:p>
            <a:pPr algn="l">
              <a:lnSpc>
                <a:spcPct val="114000"/>
              </a:lnSpc>
              <a:spcBef>
                <a:spcPts val="0"/>
              </a:spcBef>
              <a:spcAft>
                <a:spcPts val="400"/>
              </a:spcAft>
            </a:pPr>
            <a:r>
              <a:rPr lang="es-ES" sz="1300" b="1" i="0" noProof="0" dirty="0">
                <a:solidFill>
                  <a:srgbClr val="042354"/>
                </a:solidFill>
                <a:latin typeface="Arial"/>
              </a:rPr>
              <a:t>Samir Aldair Cedillo Preciado</a:t>
            </a:r>
          </a:p>
        </p:txBody>
      </p:sp>
      <p:sp>
        <p:nvSpPr>
          <p:cNvPr id="10" name="Rectangle 9"/>
          <p:cNvSpPr/>
          <p:nvPr/>
        </p:nvSpPr>
        <p:spPr>
          <a:xfrm>
            <a:off x="5980176"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1" name="TextBox 10"/>
          <p:cNvSpPr txBox="1"/>
          <p:nvPr/>
        </p:nvSpPr>
        <p:spPr>
          <a:xfrm>
            <a:off x="6199632"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7A8494"/>
                </a:solidFill>
                <a:latin typeface="Arial"/>
              </a:rPr>
              <a:t>ASESOR</a:t>
            </a:r>
          </a:p>
          <a:p>
            <a:pPr algn="l">
              <a:lnSpc>
                <a:spcPct val="114000"/>
              </a:lnSpc>
              <a:spcBef>
                <a:spcPts val="0"/>
              </a:spcBef>
              <a:spcAft>
                <a:spcPts val="400"/>
              </a:spcAft>
            </a:pPr>
            <a:r>
              <a:rPr lang="es-ES" sz="1300" b="1" i="0" noProof="0" dirty="0">
                <a:solidFill>
                  <a:srgbClr val="042354"/>
                </a:solidFill>
                <a:latin typeface="Arial"/>
              </a:rPr>
              <a:t>Ing. Carlos Alberto Juárez </a:t>
            </a:r>
            <a:r>
              <a:rPr lang="es-ES" sz="1300" b="1" i="0" noProof="0" dirty="0" err="1">
                <a:solidFill>
                  <a:srgbClr val="042354"/>
                </a:solidFill>
                <a:latin typeface="Arial"/>
              </a:rPr>
              <a:t>Aparcana</a:t>
            </a:r>
            <a:endParaRPr lang="es-ES" sz="1300" b="1" i="0" noProof="0" dirty="0">
              <a:solidFill>
                <a:srgbClr val="042354"/>
              </a:solidFill>
              <a:latin typeface="Arial"/>
            </a:endParaRPr>
          </a:p>
        </p:txBody>
      </p:sp>
      <p:sp>
        <p:nvSpPr>
          <p:cNvPr id="12" name="TextBox 11"/>
          <p:cNvSpPr txBox="1"/>
          <p:nvPr/>
        </p:nvSpPr>
        <p:spPr>
          <a:xfrm>
            <a:off x="841248" y="5449824"/>
            <a:ext cx="4572000" cy="292608"/>
          </a:xfrm>
          <a:prstGeom prst="rect">
            <a:avLst/>
          </a:prstGeom>
          <a:noFill/>
        </p:spPr>
        <p:txBody>
          <a:bodyPr wrap="square" lIns="0" tIns="0" rIns="0" bIns="0" anchor="t">
            <a:spAutoFit/>
          </a:bodyPr>
          <a:lstStyle/>
          <a:p>
            <a:pPr algn="l">
              <a:lnSpc>
                <a:spcPct val="114000"/>
              </a:lnSpc>
              <a:spcBef>
                <a:spcPts val="0"/>
              </a:spcBef>
              <a:spcAft>
                <a:spcPts val="400"/>
              </a:spcAft>
            </a:pPr>
            <a:r>
              <a:rPr lang="es-ES" sz="1100" b="0" i="0" noProof="0" dirty="0">
                <a:solidFill>
                  <a:srgbClr val="4A5568"/>
                </a:solidFill>
                <a:latin typeface="Arial"/>
              </a:rPr>
              <a:t>Lima, setiembre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Contenido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2</a:t>
            </a:r>
          </a:p>
        </p:txBody>
      </p:sp>
      <p:sp>
        <p:nvSpPr>
          <p:cNvPr id="6" name="Rectangle 5"/>
          <p:cNvSpPr/>
          <p:nvPr/>
        </p:nvSpPr>
        <p:spPr>
          <a:xfrm>
            <a:off x="841248" y="1664208"/>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7" name="Rectangle 6"/>
          <p:cNvSpPr/>
          <p:nvPr/>
        </p:nvSpPr>
        <p:spPr>
          <a:xfrm>
            <a:off x="841248" y="1664208"/>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200" b="1" i="0" noProof="0" dirty="0">
                <a:solidFill>
                  <a:srgbClr val="FFFFFF"/>
                </a:solidFill>
                <a:latin typeface="Arial"/>
              </a:rPr>
              <a:t>01</a:t>
            </a:r>
          </a:p>
        </p:txBody>
      </p:sp>
      <p:sp>
        <p:nvSpPr>
          <p:cNvPr id="8" name="TextBox 7"/>
          <p:cNvSpPr txBox="1"/>
          <p:nvPr/>
        </p:nvSpPr>
        <p:spPr>
          <a:xfrm>
            <a:off x="1536192" y="1795865"/>
            <a:ext cx="9601200" cy="212174"/>
          </a:xfrm>
          <a:prstGeom prst="rect">
            <a:avLst/>
          </a:prstGeom>
          <a:noFill/>
        </p:spPr>
        <p:txBody>
          <a:bodyPr wrap="square" lIns="0" tIns="0" rIns="0" bIns="0" anchor="ctr">
            <a:spAutoFit/>
          </a:bodyPr>
          <a:lstStyle/>
          <a:p>
            <a:pPr algn="l">
              <a:lnSpc>
                <a:spcPct val="106000"/>
              </a:lnSpc>
              <a:spcBef>
                <a:spcPts val="0"/>
              </a:spcBef>
              <a:spcAft>
                <a:spcPts val="400"/>
              </a:spcAft>
            </a:pPr>
            <a:r>
              <a:rPr lang="es-ES" sz="1400" b="0" i="0" noProof="0" dirty="0">
                <a:solidFill>
                  <a:srgbClr val="042354"/>
                </a:solidFill>
                <a:latin typeface="Arial"/>
              </a:rPr>
              <a:t>Problemática</a:t>
            </a:r>
          </a:p>
        </p:txBody>
      </p:sp>
      <p:sp>
        <p:nvSpPr>
          <p:cNvPr id="9" name="Rectangle 8"/>
          <p:cNvSpPr/>
          <p:nvPr/>
        </p:nvSpPr>
        <p:spPr>
          <a:xfrm>
            <a:off x="841248" y="2231136"/>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0" name="Rectangle 9"/>
          <p:cNvSpPr/>
          <p:nvPr/>
        </p:nvSpPr>
        <p:spPr>
          <a:xfrm>
            <a:off x="841248" y="2231136"/>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200" b="1" i="0" noProof="0" dirty="0">
                <a:solidFill>
                  <a:srgbClr val="FFFFFF"/>
                </a:solidFill>
                <a:latin typeface="Arial"/>
              </a:rPr>
              <a:t>02</a:t>
            </a:r>
          </a:p>
        </p:txBody>
      </p:sp>
      <p:sp>
        <p:nvSpPr>
          <p:cNvPr id="11" name="TextBox 10"/>
          <p:cNvSpPr txBox="1"/>
          <p:nvPr/>
        </p:nvSpPr>
        <p:spPr>
          <a:xfrm>
            <a:off x="1536192" y="2249424"/>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ES" sz="1400" b="0" i="0" noProof="0" dirty="0">
                <a:solidFill>
                  <a:srgbClr val="042354"/>
                </a:solidFill>
                <a:latin typeface="Arial"/>
              </a:rPr>
              <a:t>Objetivos</a:t>
            </a:r>
          </a:p>
        </p:txBody>
      </p:sp>
      <p:sp>
        <p:nvSpPr>
          <p:cNvPr id="12" name="Rectangle 11"/>
          <p:cNvSpPr/>
          <p:nvPr/>
        </p:nvSpPr>
        <p:spPr>
          <a:xfrm>
            <a:off x="841248" y="2798064"/>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3" name="Rectangle 12"/>
          <p:cNvSpPr/>
          <p:nvPr/>
        </p:nvSpPr>
        <p:spPr>
          <a:xfrm>
            <a:off x="841248" y="2798064"/>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200" b="1" i="0" noProof="0" dirty="0">
                <a:solidFill>
                  <a:srgbClr val="FFFFFF"/>
                </a:solidFill>
                <a:latin typeface="Arial"/>
              </a:rPr>
              <a:t>03</a:t>
            </a:r>
          </a:p>
        </p:txBody>
      </p:sp>
      <p:sp>
        <p:nvSpPr>
          <p:cNvPr id="14" name="TextBox 13"/>
          <p:cNvSpPr txBox="1"/>
          <p:nvPr/>
        </p:nvSpPr>
        <p:spPr>
          <a:xfrm>
            <a:off x="1536192" y="2816352"/>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ES" sz="1400" b="0" i="0" noProof="0" dirty="0">
                <a:solidFill>
                  <a:srgbClr val="042354"/>
                </a:solidFill>
                <a:latin typeface="Arial"/>
              </a:rPr>
              <a:t>Metodología</a:t>
            </a:r>
          </a:p>
        </p:txBody>
      </p:sp>
      <p:pic>
        <p:nvPicPr>
          <p:cNvPr id="28" name="Imagen 27">
            <a:extLst>
              <a:ext uri="{FF2B5EF4-FFF2-40B4-BE49-F238E27FC236}">
                <a16:creationId xmlns:a16="http://schemas.microsoft.com/office/drawing/2014/main" id="{BEFBA072-71F7-0468-7F36-34B26D25D672}"/>
              </a:ext>
            </a:extLst>
          </p:cNvPr>
          <p:cNvPicPr>
            <a:picLocks noChangeAspect="1"/>
          </p:cNvPicPr>
          <p:nvPr/>
        </p:nvPicPr>
        <p:blipFill>
          <a:blip r:embed="rId2"/>
          <a:stretch>
            <a:fillRect/>
          </a:stretch>
        </p:blipFill>
        <p:spPr>
          <a:xfrm>
            <a:off x="158617" y="5943600"/>
            <a:ext cx="5620013" cy="550672"/>
          </a:xfrm>
          <a:prstGeom prst="rect">
            <a:avLst/>
          </a:prstGeom>
        </p:spPr>
      </p:pic>
      <p:sp>
        <p:nvSpPr>
          <p:cNvPr id="29" name="Fila 04"/>
          <p:cNvSpPr/>
          <p:nvPr/>
        </p:nvSpPr>
        <p:spPr>
          <a:xfrm>
            <a:off x="841248" y="3364992"/>
            <a:ext cx="10515600" cy="1225296"/>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30" name="Num 04"/>
          <p:cNvSpPr/>
          <p:nvPr/>
        </p:nvSpPr>
        <p:spPr>
          <a:xfrm>
            <a:off x="841248" y="3364992"/>
            <a:ext cx="475488" cy="1225296"/>
          </a:xfrm>
          <a:prstGeom prst="rect">
            <a:avLst/>
          </a:prstGeom>
          <a:solidFill>
            <a:srgbClr val="04235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marL="0" indent="0">
              <a:lnSpc>
                <a:spcPct val="100000"/>
              </a:lnSpc>
              <a:spcBef>
                <a:spcPts val="0"/>
              </a:spcBef>
              <a:spcAft>
                <a:spcPts val="0"/>
              </a:spcAft>
              <a:buNone/>
            </a:pPr>
            <a:r>
              <a:rPr lang="es-PE" sz="1200" b="1" i="0" dirty="0">
                <a:solidFill>
                  <a:srgbClr val="FFFFFF"/>
                </a:solidFill>
                <a:latin typeface="Arial"/>
                <a:cs typeface="Arial"/>
              </a:rPr>
              <a:t>04</a:t>
            </a:r>
          </a:p>
        </p:txBody>
      </p:sp>
      <p:sp>
        <p:nvSpPr>
          <p:cNvPr id="31" name="Desarrollo"/>
          <p:cNvSpPr txBox="1"/>
          <p:nvPr/>
        </p:nvSpPr>
        <p:spPr>
          <a:xfrm>
            <a:off x="1536192" y="3456432"/>
            <a:ext cx="5486400" cy="256032"/>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1400" b="0" i="0" dirty="0">
                <a:solidFill>
                  <a:srgbClr val="042354"/>
                </a:solidFill>
                <a:latin typeface="Arial"/>
                <a:cs typeface="Arial"/>
              </a:rPr>
              <a:t>Desarrollo</a:t>
            </a:r>
          </a:p>
        </p:txBody>
      </p:sp>
      <p:sp>
        <p:nvSpPr>
          <p:cNvPr id="32" name="Desarrollo nota"/>
          <p:cNvSpPr txBox="1"/>
          <p:nvPr/>
        </p:nvSpPr>
        <p:spPr>
          <a:xfrm>
            <a:off x="5943600" y="3474720"/>
            <a:ext cx="5266944" cy="237744"/>
          </a:xfrm>
          <a:prstGeom prst="rect">
            <a:avLst/>
          </a:prstGeom>
          <a:noFill/>
          <a:ln>
            <a:noFill/>
          </a:ln>
          <a:effectLst/>
        </p:spPr>
        <p:txBody>
          <a:bodyPr wrap="square" lIns="0" tIns="0" rIns="0" bIns="0" rtlCol="0" anchor="t">
            <a:noAutofit/>
          </a:bodyPr>
          <a:lstStyle/>
          <a:p>
            <a:pPr algn="r" marL="0" indent="0">
              <a:lnSpc>
                <a:spcPct val="100000"/>
              </a:lnSpc>
              <a:spcBef>
                <a:spcPts val="0"/>
              </a:spcBef>
              <a:spcAft>
                <a:spcPts val="0"/>
              </a:spcAft>
              <a:buNone/>
            </a:pPr>
            <a:r>
              <a:rPr lang="es-PE" sz="900" b="0" i="1" dirty="0">
                <a:solidFill>
                  <a:srgbClr val="7A8494"/>
                </a:solidFill>
                <a:latin typeface="Arial"/>
                <a:cs typeface="Arial"/>
              </a:rPr>
              <a:t>orden de la exposición</a:t>
            </a:r>
          </a:p>
        </p:txBody>
      </p:sp>
      <p:sp>
        <p:nvSpPr>
          <p:cNvPr id="33" name="Chip 0"/>
          <p:cNvSpPr/>
          <p:nvPr/>
        </p:nvSpPr>
        <p:spPr>
          <a:xfrm>
            <a:off x="1536192" y="3803904"/>
            <a:ext cx="1517904" cy="676656"/>
          </a:xfrm>
          <a:prstGeom prst="rect">
            <a:avLst/>
          </a:prstGeom>
          <a:solidFill>
            <a:srgbClr val="FFFFFF"/>
          </a:solidFill>
          <a:ln w="9525">
            <a:solidFill>
              <a:srgbClr val="CFD6DF"/>
            </a:solidFill>
          </a:ln>
          <a:effectLst/>
        </p:spPr>
        <p:txBody>
          <a:bodyPr wrap="square" lIns="109728" tIns="36576" rIns="73152" bIns="36576" rtlCol="0" anchor="ctr">
            <a:noAutofit/>
          </a:bodyPr>
          <a:lstStyle/>
          <a:p>
            <a:pPr algn="l" marL="0" indent="0">
              <a:lnSpc>
                <a:spcPct val="100000"/>
              </a:lnSpc>
              <a:spcBef>
                <a:spcPts val="0"/>
              </a:spcBef>
              <a:spcAft>
                <a:spcPts val="150"/>
              </a:spcAft>
              <a:buNone/>
            </a:pPr>
            <a:r>
              <a:rPr lang="es-PE" sz="850" b="1" i="0" dirty="0">
                <a:solidFill>
                  <a:srgbClr val="7A8494"/>
                </a:solidFill>
                <a:latin typeface="Arial"/>
                <a:cs typeface="Arial"/>
              </a:rPr>
              <a:t>ETAPA 2 · P1–P2</a:t>
            </a:r>
          </a:p>
          <a:p>
            <a:pPr algn="l" marL="0" indent="0">
              <a:lnSpc>
                <a:spcPct val="100000"/>
              </a:lnSpc>
              <a:spcBef>
                <a:spcPts val="0"/>
              </a:spcBef>
              <a:spcAft>
                <a:spcPts val="0"/>
              </a:spcAft>
              <a:buNone/>
            </a:pPr>
            <a:r>
              <a:rPr lang="es-PE" sz="950" b="0" i="0" dirty="0">
                <a:solidFill>
                  <a:srgbClr val="7A8494"/>
                </a:solidFill>
                <a:latin typeface="Arial"/>
                <a:cs typeface="Arial"/>
              </a:rPr>
              <a:t>Focalización y función</a:t>
            </a:r>
          </a:p>
        </p:txBody>
      </p:sp>
      <p:sp>
        <p:nvSpPr>
          <p:cNvPr id="34" name="Chev 0"/>
          <p:cNvSpPr txBox="1"/>
          <p:nvPr/>
        </p:nvSpPr>
        <p:spPr>
          <a:xfrm>
            <a:off x="3054096" y="3986784"/>
            <a:ext cx="182880"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400" b="1" i="0" dirty="0">
                <a:solidFill>
                  <a:srgbClr val="7A8494"/>
                </a:solidFill>
                <a:latin typeface="Arial"/>
                <a:cs typeface="Arial"/>
              </a:rPr>
              <a:t>›</a:t>
            </a:r>
          </a:p>
        </p:txBody>
      </p:sp>
      <p:sp>
        <p:nvSpPr>
          <p:cNvPr id="35" name="Chip 1"/>
          <p:cNvSpPr/>
          <p:nvPr/>
        </p:nvSpPr>
        <p:spPr>
          <a:xfrm>
            <a:off x="3236976" y="3803904"/>
            <a:ext cx="1737360" cy="676656"/>
          </a:xfrm>
          <a:prstGeom prst="rect">
            <a:avLst/>
          </a:prstGeom>
          <a:solidFill>
            <a:srgbClr val="FFFFFF"/>
          </a:solidFill>
          <a:ln w="9525">
            <a:solidFill>
              <a:srgbClr val="CFD6DF"/>
            </a:solidFill>
          </a:ln>
          <a:effectLst/>
        </p:spPr>
        <p:txBody>
          <a:bodyPr wrap="square" lIns="109728" tIns="36576" rIns="73152" bIns="36576" rtlCol="0" anchor="ctr">
            <a:noAutofit/>
          </a:bodyPr>
          <a:lstStyle/>
          <a:p>
            <a:pPr algn="l" marL="0" indent="0">
              <a:lnSpc>
                <a:spcPct val="100000"/>
              </a:lnSpc>
              <a:spcBef>
                <a:spcPts val="0"/>
              </a:spcBef>
              <a:spcAft>
                <a:spcPts val="150"/>
              </a:spcAft>
              <a:buNone/>
            </a:pPr>
            <a:r>
              <a:rPr lang="es-PE" sz="1000" b="1" i="0" dirty="0">
                <a:solidFill>
                  <a:srgbClr val="C3094A"/>
                </a:solidFill>
                <a:latin typeface="Arial"/>
                <a:cs typeface="Arial"/>
              </a:rPr>
              <a:t>4.1</a:t>
            </a:r>
          </a:p>
          <a:p>
            <a:pPr algn="l" marL="0" indent="0">
              <a:lnSpc>
                <a:spcPct val="100000"/>
              </a:lnSpc>
              <a:spcBef>
                <a:spcPts val="0"/>
              </a:spcBef>
              <a:spcAft>
                <a:spcPts val="0"/>
              </a:spcAft>
              <a:buNone/>
            </a:pPr>
            <a:r>
              <a:rPr lang="es-PE" sz="1050" b="1" i="0" dirty="0">
                <a:solidFill>
                  <a:srgbClr val="042354"/>
                </a:solidFill>
                <a:latin typeface="Arial"/>
                <a:cs typeface="Arial"/>
              </a:rPr>
              <a:t>Causa física</a:t>
            </a:r>
          </a:p>
        </p:txBody>
      </p:sp>
      <p:sp>
        <p:nvSpPr>
          <p:cNvPr id="36" name="Chev 1"/>
          <p:cNvSpPr txBox="1"/>
          <p:nvPr/>
        </p:nvSpPr>
        <p:spPr>
          <a:xfrm>
            <a:off x="4974336" y="3986784"/>
            <a:ext cx="182880"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400" b="1" i="0" dirty="0">
                <a:solidFill>
                  <a:srgbClr val="7A8494"/>
                </a:solidFill>
                <a:latin typeface="Arial"/>
                <a:cs typeface="Arial"/>
              </a:rPr>
              <a:t>›</a:t>
            </a:r>
          </a:p>
        </p:txBody>
      </p:sp>
      <p:sp>
        <p:nvSpPr>
          <p:cNvPr id="37" name="Chip 2"/>
          <p:cNvSpPr/>
          <p:nvPr/>
        </p:nvSpPr>
        <p:spPr>
          <a:xfrm>
            <a:off x="5157216" y="3803904"/>
            <a:ext cx="1737360" cy="676656"/>
          </a:xfrm>
          <a:prstGeom prst="rect">
            <a:avLst/>
          </a:prstGeom>
          <a:solidFill>
            <a:srgbClr val="FFFFFF"/>
          </a:solidFill>
          <a:ln w="9525">
            <a:solidFill>
              <a:srgbClr val="CFD6DF"/>
            </a:solidFill>
          </a:ln>
          <a:effectLst/>
        </p:spPr>
        <p:txBody>
          <a:bodyPr wrap="square" lIns="109728" tIns="36576" rIns="73152" bIns="36576" rtlCol="0" anchor="ctr">
            <a:noAutofit/>
          </a:bodyPr>
          <a:lstStyle/>
          <a:p>
            <a:pPr algn="l" marL="0" indent="0">
              <a:lnSpc>
                <a:spcPct val="100000"/>
              </a:lnSpc>
              <a:spcBef>
                <a:spcPts val="0"/>
              </a:spcBef>
              <a:spcAft>
                <a:spcPts val="150"/>
              </a:spcAft>
              <a:buNone/>
            </a:pPr>
            <a:r>
              <a:rPr lang="es-PE" sz="1000" b="1" i="0" dirty="0">
                <a:solidFill>
                  <a:srgbClr val="C3094A"/>
                </a:solidFill>
                <a:latin typeface="Arial"/>
                <a:cs typeface="Arial"/>
              </a:rPr>
              <a:t>4.2</a:t>
            </a:r>
          </a:p>
          <a:p>
            <a:pPr algn="l" marL="0" indent="0">
              <a:lnSpc>
                <a:spcPct val="100000"/>
              </a:lnSpc>
              <a:spcBef>
                <a:spcPts val="0"/>
              </a:spcBef>
              <a:spcAft>
                <a:spcPts val="0"/>
              </a:spcAft>
              <a:buNone/>
            </a:pPr>
            <a:r>
              <a:rPr lang="es-PE" sz="1050" b="1" i="0" dirty="0">
                <a:solidFill>
                  <a:srgbClr val="042354"/>
                </a:solidFill>
                <a:latin typeface="Arial"/>
                <a:cs typeface="Arial"/>
              </a:rPr>
              <a:t>Análisis de causa raíz</a:t>
            </a:r>
          </a:p>
        </p:txBody>
      </p:sp>
      <p:sp>
        <p:nvSpPr>
          <p:cNvPr id="38" name="Chev 2"/>
          <p:cNvSpPr txBox="1"/>
          <p:nvPr/>
        </p:nvSpPr>
        <p:spPr>
          <a:xfrm>
            <a:off x="6894576" y="3986784"/>
            <a:ext cx="182880"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400" b="1" i="0" dirty="0">
                <a:solidFill>
                  <a:srgbClr val="7A8494"/>
                </a:solidFill>
                <a:latin typeface="Arial"/>
                <a:cs typeface="Arial"/>
              </a:rPr>
              <a:t>›</a:t>
            </a:r>
          </a:p>
        </p:txBody>
      </p:sp>
      <p:sp>
        <p:nvSpPr>
          <p:cNvPr id="39" name="Chip 3"/>
          <p:cNvSpPr/>
          <p:nvPr/>
        </p:nvSpPr>
        <p:spPr>
          <a:xfrm>
            <a:off x="7077456" y="3803904"/>
            <a:ext cx="1737360" cy="676656"/>
          </a:xfrm>
          <a:prstGeom prst="rect">
            <a:avLst/>
          </a:prstGeom>
          <a:solidFill>
            <a:srgbClr val="FFFFFF"/>
          </a:solidFill>
          <a:ln w="9525">
            <a:solidFill>
              <a:srgbClr val="CFD6DF"/>
            </a:solidFill>
          </a:ln>
          <a:effectLst/>
        </p:spPr>
        <p:txBody>
          <a:bodyPr wrap="square" lIns="109728" tIns="36576" rIns="73152" bIns="36576" rtlCol="0" anchor="ctr">
            <a:noAutofit/>
          </a:bodyPr>
          <a:lstStyle/>
          <a:p>
            <a:pPr algn="l" marL="0" indent="0">
              <a:lnSpc>
                <a:spcPct val="100000"/>
              </a:lnSpc>
              <a:spcBef>
                <a:spcPts val="0"/>
              </a:spcBef>
              <a:spcAft>
                <a:spcPts val="150"/>
              </a:spcAft>
              <a:buNone/>
            </a:pPr>
            <a:r>
              <a:rPr lang="es-PE" sz="1000" b="1" i="0" dirty="0">
                <a:solidFill>
                  <a:srgbClr val="C3094A"/>
                </a:solidFill>
                <a:latin typeface="Arial"/>
                <a:cs typeface="Arial"/>
              </a:rPr>
              <a:t>4.3</a:t>
            </a:r>
          </a:p>
          <a:p>
            <a:pPr algn="l" marL="0" indent="0">
              <a:lnSpc>
                <a:spcPct val="100000"/>
              </a:lnSpc>
              <a:spcBef>
                <a:spcPts val="0"/>
              </a:spcBef>
              <a:spcAft>
                <a:spcPts val="0"/>
              </a:spcAft>
              <a:buNone/>
            </a:pPr>
            <a:r>
              <a:rPr lang="es-PE" sz="1050" b="1" i="0" dirty="0">
                <a:solidFill>
                  <a:srgbClr val="042354"/>
                </a:solidFill>
                <a:latin typeface="Arial"/>
                <a:cs typeface="Arial"/>
              </a:rPr>
              <a:t>Decisión de rediseño</a:t>
            </a:r>
          </a:p>
        </p:txBody>
      </p:sp>
      <p:sp>
        <p:nvSpPr>
          <p:cNvPr id="40" name="Chev 3"/>
          <p:cNvSpPr txBox="1"/>
          <p:nvPr/>
        </p:nvSpPr>
        <p:spPr>
          <a:xfrm>
            <a:off x="8814816" y="3986784"/>
            <a:ext cx="182880"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400" b="1" i="0" dirty="0">
                <a:solidFill>
                  <a:srgbClr val="7A8494"/>
                </a:solidFill>
                <a:latin typeface="Arial"/>
                <a:cs typeface="Arial"/>
              </a:rPr>
              <a:t>›</a:t>
            </a:r>
          </a:p>
        </p:txBody>
      </p:sp>
      <p:sp>
        <p:nvSpPr>
          <p:cNvPr id="41" name="Chip 4"/>
          <p:cNvSpPr/>
          <p:nvPr/>
        </p:nvSpPr>
        <p:spPr>
          <a:xfrm>
            <a:off x="8997696" y="3803904"/>
            <a:ext cx="2103120" cy="676656"/>
          </a:xfrm>
          <a:prstGeom prst="rect">
            <a:avLst/>
          </a:prstGeom>
          <a:solidFill>
            <a:srgbClr val="FFFFFF"/>
          </a:solidFill>
          <a:ln w="9525">
            <a:solidFill>
              <a:srgbClr val="CFD6DF"/>
            </a:solidFill>
          </a:ln>
          <a:effectLst/>
        </p:spPr>
        <p:txBody>
          <a:bodyPr wrap="square" lIns="109728" tIns="36576" rIns="73152" bIns="36576" rtlCol="0" anchor="ctr">
            <a:noAutofit/>
          </a:bodyPr>
          <a:lstStyle/>
          <a:p>
            <a:pPr algn="l" marL="0" indent="0">
              <a:lnSpc>
                <a:spcPct val="100000"/>
              </a:lnSpc>
              <a:spcBef>
                <a:spcPts val="0"/>
              </a:spcBef>
              <a:spcAft>
                <a:spcPts val="150"/>
              </a:spcAft>
              <a:buNone/>
            </a:pPr>
            <a:r>
              <a:rPr lang="es-PE" sz="1000" b="1" i="0" dirty="0">
                <a:solidFill>
                  <a:srgbClr val="C3094A"/>
                </a:solidFill>
                <a:latin typeface="Arial"/>
                <a:cs typeface="Arial"/>
              </a:rPr>
              <a:t>4.4</a:t>
            </a:r>
          </a:p>
          <a:p>
            <a:pPr algn="l" marL="0" indent="0">
              <a:lnSpc>
                <a:spcPct val="100000"/>
              </a:lnSpc>
              <a:spcBef>
                <a:spcPts val="0"/>
              </a:spcBef>
              <a:spcAft>
                <a:spcPts val="0"/>
              </a:spcAft>
              <a:buNone/>
            </a:pPr>
            <a:r>
              <a:rPr lang="es-PE" sz="1050" b="1" i="0" dirty="0">
                <a:solidFill>
                  <a:srgbClr val="042354"/>
                </a:solidFill>
                <a:latin typeface="Arial"/>
                <a:cs typeface="Arial"/>
              </a:rPr>
              <a:t>Recuperación de indicadores y costo evitado</a:t>
            </a:r>
          </a:p>
        </p:txBody>
      </p:sp>
      <p:sp>
        <p:nvSpPr>
          <p:cNvPr id="42" name="Fila 05"/>
          <p:cNvSpPr/>
          <p:nvPr/>
        </p:nvSpPr>
        <p:spPr>
          <a:xfrm>
            <a:off x="841248" y="4681728"/>
            <a:ext cx="10515600" cy="475488"/>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43" name="Num 05"/>
          <p:cNvSpPr/>
          <p:nvPr/>
        </p:nvSpPr>
        <p:spPr>
          <a:xfrm>
            <a:off x="841248" y="4681728"/>
            <a:ext cx="475488" cy="475488"/>
          </a:xfrm>
          <a:prstGeom prst="rect">
            <a:avLst/>
          </a:prstGeom>
          <a:solidFill>
            <a:srgbClr val="04235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marL="0" indent="0">
              <a:lnSpc>
                <a:spcPct val="100000"/>
              </a:lnSpc>
              <a:spcBef>
                <a:spcPts val="0"/>
              </a:spcBef>
              <a:spcAft>
                <a:spcPts val="0"/>
              </a:spcAft>
              <a:buNone/>
            </a:pPr>
            <a:r>
              <a:rPr lang="es-PE" sz="1200" b="1" i="0" dirty="0">
                <a:solidFill>
                  <a:srgbClr val="FFFFFF"/>
                </a:solidFill>
                <a:latin typeface="Arial"/>
                <a:cs typeface="Arial"/>
              </a:rPr>
              <a:t>05</a:t>
            </a:r>
          </a:p>
        </p:txBody>
      </p:sp>
      <p:sp>
        <p:nvSpPr>
          <p:cNvPr id="44" name="Conclusiones"/>
          <p:cNvSpPr txBox="1"/>
          <p:nvPr/>
        </p:nvSpPr>
        <p:spPr>
          <a:xfrm>
            <a:off x="1536192" y="4791456"/>
            <a:ext cx="9601200" cy="256032"/>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1400" b="0" i="0" dirty="0">
                <a:solidFill>
                  <a:srgbClr val="042354"/>
                </a:solidFill>
                <a:latin typeface="Arial"/>
                <a:cs typeface="Arial"/>
              </a:rPr>
              <a:t>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Problemática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3</a:t>
            </a:r>
          </a:p>
        </p:txBody>
      </p:sp>
      <p:pic>
        <p:nvPicPr>
          <p:cNvPr id="18" name="Imagen 17">
            <a:extLst>
              <a:ext uri="{FF2B5EF4-FFF2-40B4-BE49-F238E27FC236}">
                <a16:creationId xmlns:a16="http://schemas.microsoft.com/office/drawing/2014/main" id="{A643B908-DB89-5F79-1550-B4FA95CAADB4}"/>
              </a:ext>
            </a:extLst>
          </p:cNvPr>
          <p:cNvPicPr>
            <a:picLocks noChangeAspect="1"/>
          </p:cNvPicPr>
          <p:nvPr/>
        </p:nvPicPr>
        <p:blipFill>
          <a:blip r:embed="rId3"/>
          <a:stretch>
            <a:fillRect/>
          </a:stretch>
        </p:blipFill>
        <p:spPr>
          <a:xfrm>
            <a:off x="158617" y="5943600"/>
            <a:ext cx="5620013" cy="550672"/>
          </a:xfrm>
          <a:prstGeom prst="rect">
            <a:avLst/>
          </a:prstGeom>
        </p:spPr>
      </p:pic>
      <p:pic>
        <p:nvPicPr>
          <p:cNvPr id="17" name="Imagen 16">
            <a:extLst>
              <a:ext uri="{FF2B5EF4-FFF2-40B4-BE49-F238E27FC236}">
                <a16:creationId xmlns:a16="http://schemas.microsoft.com/office/drawing/2014/main" id="{6816C735-E46E-5BC5-3A1A-FBD4530910F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1248" y="1426464"/>
            <a:ext cx="3353799" cy="3346704"/>
          </a:xfrm>
          <a:prstGeom prst="rect">
            <a:avLst/>
          </a:prstGeom>
          <a:noFill/>
          <a:ln>
            <a:noFill/>
          </a:ln>
        </p:spPr>
      </p:pic>
      <p:sp>
        <p:nvSpPr>
          <p:cNvPr id="19" name="TextBox 18"/>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01 · PROBLEMÁTICA  |  ETAPA 1 · DESEMPEÑO PREVIO</a:t>
            </a:r>
          </a:p>
        </p:txBody>
      </p:sp>
      <p:sp>
        <p:nvSpPr>
          <p:cNvPr id="20" name="TextBox 19"/>
          <p:cNvSpPr txBox="1"/>
          <p:nvPr/>
        </p:nvSpPr>
        <p:spPr>
          <a:xfrm>
            <a:off x="841248" y="4809744"/>
            <a:ext cx="3536679" cy="18288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Indicadores de la flota 2022-2024. Fuente: registro de paradas.</a:t>
            </a:r>
          </a:p>
        </p:txBody>
      </p:sp>
      <p:sp>
        <p:nvSpPr>
          <p:cNvPr id="21" name="TextBox 20"/>
          <p:cNvSpPr txBox="1"/>
          <p:nvPr/>
        </p:nvSpPr>
        <p:spPr>
          <a:xfrm>
            <a:off x="4487655" y="1389888"/>
            <a:ext cx="6869192"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METAS CONTRACTUALES · DIEZ CAMIONES 980E-5 DE 400 t</a:t>
            </a:r>
          </a:p>
        </p:txBody>
      </p:sp>
      <p:sp>
        <p:nvSpPr>
          <p:cNvPr id="22" name="Rectangle 21"/>
          <p:cNvSpPr/>
          <p:nvPr/>
        </p:nvSpPr>
        <p:spPr>
          <a:xfrm>
            <a:off x="4487655"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3" name="Rectangle 22"/>
          <p:cNvSpPr/>
          <p:nvPr/>
        </p:nvSpPr>
        <p:spPr>
          <a:xfrm>
            <a:off x="4487655"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4" name="TextBox 23"/>
          <p:cNvSpPr txBox="1"/>
          <p:nvPr/>
        </p:nvSpPr>
        <p:spPr>
          <a:xfrm>
            <a:off x="4615671" y="1700784"/>
            <a:ext cx="2033698" cy="566928"/>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C3094A"/>
                </a:solidFill>
                <a:latin typeface="Arial"/>
              </a:rPr>
              <a:t>91,0 %</a:t>
            </a:r>
          </a:p>
          <a:p>
            <a:pPr algn="l">
              <a:lnSpc>
                <a:spcPct val="100000"/>
              </a:lnSpc>
              <a:spcBef>
                <a:spcPts val="0"/>
              </a:spcBef>
              <a:spcAft>
                <a:spcPts val="0"/>
              </a:spcAft>
            </a:pPr>
            <a:r>
              <a:rPr lang="es-ES" sz="800" b="0" i="0" noProof="0" dirty="0">
                <a:solidFill>
                  <a:srgbClr val="4A5568"/>
                </a:solidFill>
                <a:latin typeface="Arial"/>
              </a:rPr>
              <a:t>meta de disponibilidad</a:t>
            </a:r>
          </a:p>
        </p:txBody>
      </p:sp>
      <p:sp>
        <p:nvSpPr>
          <p:cNvPr id="25" name="Rectangle 24"/>
          <p:cNvSpPr/>
          <p:nvPr/>
        </p:nvSpPr>
        <p:spPr>
          <a:xfrm>
            <a:off x="6813962"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6" name="Rectangle 25"/>
          <p:cNvSpPr/>
          <p:nvPr/>
        </p:nvSpPr>
        <p:spPr>
          <a:xfrm>
            <a:off x="6813962"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7" name="TextBox 26"/>
          <p:cNvSpPr txBox="1"/>
          <p:nvPr/>
        </p:nvSpPr>
        <p:spPr>
          <a:xfrm>
            <a:off x="6941978" y="1700784"/>
            <a:ext cx="2033698" cy="566928"/>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C3094A"/>
                </a:solidFill>
                <a:latin typeface="Arial"/>
              </a:rPr>
              <a:t>64,5 h</a:t>
            </a:r>
          </a:p>
          <a:p>
            <a:pPr algn="l">
              <a:lnSpc>
                <a:spcPct val="100000"/>
              </a:lnSpc>
              <a:spcBef>
                <a:spcPts val="0"/>
              </a:spcBef>
              <a:spcAft>
                <a:spcPts val="0"/>
              </a:spcAft>
            </a:pPr>
            <a:r>
              <a:rPr lang="es-ES" sz="800" b="0" i="0" noProof="0" dirty="0">
                <a:solidFill>
                  <a:srgbClr val="4A5568"/>
                </a:solidFill>
                <a:latin typeface="Arial"/>
              </a:rPr>
              <a:t>objetivo de MTBF</a:t>
            </a:r>
          </a:p>
        </p:txBody>
      </p:sp>
      <p:sp>
        <p:nvSpPr>
          <p:cNvPr id="28" name="Rectangle 27"/>
          <p:cNvSpPr/>
          <p:nvPr/>
        </p:nvSpPr>
        <p:spPr>
          <a:xfrm>
            <a:off x="9140269" y="1664208"/>
            <a:ext cx="2216578" cy="60350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9" name="Rectangle 28"/>
          <p:cNvSpPr/>
          <p:nvPr/>
        </p:nvSpPr>
        <p:spPr>
          <a:xfrm>
            <a:off x="9140269" y="1664208"/>
            <a:ext cx="2216578"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0" name="TextBox 29"/>
          <p:cNvSpPr txBox="1"/>
          <p:nvPr/>
        </p:nvSpPr>
        <p:spPr>
          <a:xfrm>
            <a:off x="9268285" y="1700784"/>
            <a:ext cx="2033698" cy="566928"/>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C3094A"/>
                </a:solidFill>
                <a:latin typeface="Arial"/>
              </a:rPr>
              <a:t>4,0 h</a:t>
            </a:r>
          </a:p>
          <a:p>
            <a:pPr algn="l">
              <a:lnSpc>
                <a:spcPct val="100000"/>
              </a:lnSpc>
              <a:spcBef>
                <a:spcPts val="0"/>
              </a:spcBef>
              <a:spcAft>
                <a:spcPts val="0"/>
              </a:spcAft>
            </a:pPr>
            <a:r>
              <a:rPr lang="es-ES" sz="800" b="0" i="0" noProof="0" dirty="0">
                <a:solidFill>
                  <a:srgbClr val="4A5568"/>
                </a:solidFill>
                <a:latin typeface="Arial"/>
              </a:rPr>
              <a:t>límite de MTTR</a:t>
            </a:r>
          </a:p>
        </p:txBody>
      </p:sp>
      <p:sp>
        <p:nvSpPr>
          <p:cNvPr id="31" name="TextBox 30"/>
          <p:cNvSpPr txBox="1"/>
          <p:nvPr/>
        </p:nvSpPr>
        <p:spPr>
          <a:xfrm>
            <a:off x="4487655" y="2414016"/>
            <a:ext cx="6869192"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LA FALLA MÁS CRÍTICA · FRACTURA POR FATIGA DEL EJE PALIER</a:t>
            </a:r>
          </a:p>
        </p:txBody>
      </p:sp>
      <p:pic>
        <p:nvPicPr>
          <p:cNvPr id="32" name="Picture 31" descr="image.png"/>
          <p:cNvPicPr>
            <a:picLocks noChangeAspect="1"/>
          </p:cNvPicPr>
          <p:nvPr/>
        </p:nvPicPr>
        <p:blipFill>
          <a:blip r:embed="rId5"/>
          <a:stretch>
            <a:fillRect/>
          </a:stretch>
        </p:blipFill>
        <p:spPr>
          <a:xfrm>
            <a:off x="5041891" y="2688336"/>
            <a:ext cx="5760720" cy="1418088"/>
          </a:xfrm>
          <a:prstGeom prst="rect">
            <a:avLst/>
          </a:prstGeom>
        </p:spPr>
      </p:pic>
      <p:sp>
        <p:nvSpPr>
          <p:cNvPr id="33" name="TextBox 32"/>
          <p:cNvSpPr txBox="1"/>
          <p:nvPr/>
        </p:nvSpPr>
        <p:spPr>
          <a:xfrm>
            <a:off x="5041891" y="4133856"/>
            <a:ext cx="5760720" cy="136384"/>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Eje palier fracturado. Informe DIESA</a:t>
            </a:r>
          </a:p>
        </p:txBody>
      </p:sp>
      <p:sp>
        <p:nvSpPr>
          <p:cNvPr id="34" name="Rectangle 33"/>
          <p:cNvSpPr/>
          <p:nvPr/>
        </p:nvSpPr>
        <p:spPr>
          <a:xfrm>
            <a:off x="4487655"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5" name="Rectangle 34"/>
          <p:cNvSpPr/>
          <p:nvPr/>
        </p:nvSpPr>
        <p:spPr>
          <a:xfrm>
            <a:off x="4487655"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6" name="TextBox 35"/>
          <p:cNvSpPr txBox="1"/>
          <p:nvPr/>
        </p:nvSpPr>
        <p:spPr>
          <a:xfrm>
            <a:off x="4597383" y="4408176"/>
            <a:ext cx="1484126" cy="575303"/>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042354"/>
                </a:solidFill>
                <a:latin typeface="Arial"/>
              </a:rPr>
              <a:t>13</a:t>
            </a:r>
          </a:p>
          <a:p>
            <a:pPr algn="l">
              <a:lnSpc>
                <a:spcPct val="100000"/>
              </a:lnSpc>
              <a:spcBef>
                <a:spcPts val="0"/>
              </a:spcBef>
              <a:spcAft>
                <a:spcPts val="0"/>
              </a:spcAft>
            </a:pPr>
            <a:r>
              <a:rPr lang="es-ES" sz="800" b="0" i="0" noProof="0" dirty="0">
                <a:solidFill>
                  <a:srgbClr val="4A5568"/>
                </a:solidFill>
                <a:latin typeface="Arial"/>
              </a:rPr>
              <a:t>eventos en 36 meses</a:t>
            </a:r>
          </a:p>
        </p:txBody>
      </p:sp>
      <p:sp>
        <p:nvSpPr>
          <p:cNvPr id="37" name="Rectangle 36"/>
          <p:cNvSpPr/>
          <p:nvPr/>
        </p:nvSpPr>
        <p:spPr>
          <a:xfrm>
            <a:off x="6227813"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8" name="Rectangle 37"/>
          <p:cNvSpPr/>
          <p:nvPr/>
        </p:nvSpPr>
        <p:spPr>
          <a:xfrm>
            <a:off x="6227813"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9" name="TextBox 38"/>
          <p:cNvSpPr txBox="1"/>
          <p:nvPr/>
        </p:nvSpPr>
        <p:spPr>
          <a:xfrm>
            <a:off x="6337541" y="4408176"/>
            <a:ext cx="1484126" cy="575303"/>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042354"/>
                </a:solidFill>
                <a:latin typeface="Arial"/>
              </a:rPr>
              <a:t>59,3 h</a:t>
            </a:r>
          </a:p>
          <a:p>
            <a:pPr algn="l">
              <a:lnSpc>
                <a:spcPct val="100000"/>
              </a:lnSpc>
              <a:spcBef>
                <a:spcPts val="0"/>
              </a:spcBef>
              <a:spcAft>
                <a:spcPts val="0"/>
              </a:spcAft>
            </a:pPr>
            <a:r>
              <a:rPr lang="es-ES" sz="800" b="0" i="0" noProof="0" dirty="0">
                <a:solidFill>
                  <a:srgbClr val="4A5568"/>
                </a:solidFill>
                <a:latin typeface="Arial"/>
              </a:rPr>
              <a:t>de detención por evento</a:t>
            </a:r>
          </a:p>
        </p:txBody>
      </p:sp>
      <p:sp>
        <p:nvSpPr>
          <p:cNvPr id="40" name="Rectangle 39"/>
          <p:cNvSpPr/>
          <p:nvPr/>
        </p:nvSpPr>
        <p:spPr>
          <a:xfrm>
            <a:off x="7967971"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Rectangle 40"/>
          <p:cNvSpPr/>
          <p:nvPr/>
        </p:nvSpPr>
        <p:spPr>
          <a:xfrm>
            <a:off x="7967971"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2" name="TextBox 41"/>
          <p:cNvSpPr txBox="1"/>
          <p:nvPr/>
        </p:nvSpPr>
        <p:spPr>
          <a:xfrm>
            <a:off x="8077699" y="4408176"/>
            <a:ext cx="1484126" cy="575303"/>
          </a:xfrm>
          <a:prstGeom prst="rect">
            <a:avLst/>
          </a:prstGeom>
          <a:noFill/>
        </p:spPr>
        <p:txBody>
          <a:bodyPr wrap="square" lIns="0" tIns="0" rIns="0" bIns="0" anchor="ctr">
            <a:spAutoFit/>
          </a:bodyPr>
          <a:lstStyle/>
          <a:p>
            <a:pPr algn="l">
              <a:lnSpc>
                <a:spcPct val="100000"/>
              </a:lnSpc>
              <a:spcBef>
                <a:spcPts val="0"/>
              </a:spcBef>
              <a:spcAft>
                <a:spcPts val="100"/>
              </a:spcAft>
            </a:pPr>
            <a:r>
              <a:rPr lang="es-ES" sz="1300" b="1" i="0" noProof="0" dirty="0">
                <a:solidFill>
                  <a:srgbClr val="042354"/>
                </a:solidFill>
                <a:latin typeface="Arial"/>
              </a:rPr>
              <a:t>US$ 763 393</a:t>
            </a:r>
          </a:p>
          <a:p>
            <a:pPr algn="l">
              <a:lnSpc>
                <a:spcPct val="100000"/>
              </a:lnSpc>
              <a:spcBef>
                <a:spcPts val="0"/>
              </a:spcBef>
              <a:spcAft>
                <a:spcPts val="0"/>
              </a:spcAft>
            </a:pPr>
            <a:r>
              <a:rPr lang="es-ES" sz="800" b="0" i="0" noProof="0" dirty="0">
                <a:solidFill>
                  <a:srgbClr val="4A5568"/>
                </a:solidFill>
                <a:latin typeface="Arial"/>
              </a:rPr>
              <a:t>por evento: evaluación y reparación mayor</a:t>
            </a:r>
          </a:p>
        </p:txBody>
      </p:sp>
      <p:sp>
        <p:nvSpPr>
          <p:cNvPr id="43" name="Rectangle 42"/>
          <p:cNvSpPr/>
          <p:nvPr/>
        </p:nvSpPr>
        <p:spPr>
          <a:xfrm>
            <a:off x="9708129" y="4371600"/>
            <a:ext cx="1648718" cy="611879"/>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4" name="Rectangle 43"/>
          <p:cNvSpPr/>
          <p:nvPr/>
        </p:nvSpPr>
        <p:spPr>
          <a:xfrm>
            <a:off x="9708129" y="4371600"/>
            <a:ext cx="1648718" cy="3657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5" name="TextBox 44"/>
          <p:cNvSpPr txBox="1"/>
          <p:nvPr/>
        </p:nvSpPr>
        <p:spPr>
          <a:xfrm>
            <a:off x="9817857" y="4408176"/>
            <a:ext cx="1484126" cy="575303"/>
          </a:xfrm>
          <a:prstGeom prst="rect">
            <a:avLst/>
          </a:prstGeom>
          <a:noFill/>
        </p:spPr>
        <p:txBody>
          <a:bodyPr wrap="square" lIns="0" tIns="0" rIns="0" bIns="0" anchor="ctr">
            <a:spAutoFit/>
          </a:bodyPr>
          <a:lstStyle/>
          <a:p>
            <a:pPr algn="l">
              <a:lnSpc>
                <a:spcPct val="100000"/>
              </a:lnSpc>
              <a:spcBef>
                <a:spcPts val="0"/>
              </a:spcBef>
              <a:spcAft>
                <a:spcPts val="100"/>
              </a:spcAft>
            </a:pPr>
            <a:r>
              <a:rPr lang="es-ES" sz="1500" b="1" i="0" noProof="0" dirty="0">
                <a:solidFill>
                  <a:srgbClr val="042354"/>
                </a:solidFill>
                <a:latin typeface="Arial"/>
              </a:rPr>
              <a:t>0,36 %</a:t>
            </a:r>
          </a:p>
          <a:p>
            <a:pPr algn="l">
              <a:lnSpc>
                <a:spcPct val="100000"/>
              </a:lnSpc>
              <a:spcBef>
                <a:spcPts val="0"/>
              </a:spcBef>
              <a:spcAft>
                <a:spcPts val="0"/>
              </a:spcAft>
            </a:pPr>
            <a:r>
              <a:rPr lang="es-ES" sz="800" b="0" i="0" noProof="0" dirty="0">
                <a:solidFill>
                  <a:srgbClr val="4A5568"/>
                </a:solidFill>
                <a:latin typeface="Arial"/>
              </a:rPr>
              <a:t>de disponibilidad de flota</a:t>
            </a:r>
          </a:p>
        </p:txBody>
      </p:sp>
      <p:sp>
        <p:nvSpPr>
          <p:cNvPr id="46" name="Rectangle 45"/>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7" name="TextBox 46"/>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La brecha contractual se debe a la frecuencia de fallas y a reparaciones largas; la más crítica, la fractura del eje palier, ocurría entre 7 000 y 17 000 h, frente a un TBO de 20 000 h.</a:t>
            </a:r>
          </a:p>
        </p:txBody>
      </p:sp>
      <p:sp>
        <p:nvSpPr>
          <p:cNvPr id="48"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49" name="Tracker E1"/>
          <p:cNvSpPr/>
          <p:nvPr/>
        </p:nvSpPr>
        <p:spPr>
          <a:xfrm>
            <a:off x="133502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1</a:t>
            </a:r>
          </a:p>
        </p:txBody>
      </p:sp>
      <p:sp>
        <p:nvSpPr>
          <p:cNvPr id="50"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1"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52"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3"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54"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55"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6"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57"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8"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59"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60"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61"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01 · PROBLEMÁTICA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Objetivos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4</a:t>
            </a:r>
          </a:p>
        </p:txBody>
      </p:sp>
      <p:sp>
        <p:nvSpPr>
          <p:cNvPr id="6" name="Rectangle 5"/>
          <p:cNvSpPr/>
          <p:nvPr/>
        </p:nvSpPr>
        <p:spPr>
          <a:xfrm>
            <a:off x="841248" y="1463040"/>
            <a:ext cx="10515600" cy="98755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7" name="TextBox 6"/>
          <p:cNvSpPr txBox="1"/>
          <p:nvPr/>
        </p:nvSpPr>
        <p:spPr>
          <a:xfrm>
            <a:off x="1078992" y="1647244"/>
            <a:ext cx="10040112" cy="619144"/>
          </a:xfrm>
          <a:prstGeom prst="rect">
            <a:avLst/>
          </a:prstGeom>
          <a:noFill/>
        </p:spPr>
        <p:txBody>
          <a:bodyPr wrap="square" lIns="0" tIns="0" rIns="0" bIns="0" anchor="ctr">
            <a:spAutoFit/>
          </a:bodyPr>
          <a:lstStyle/>
          <a:p>
            <a:pPr algn="l">
              <a:lnSpc>
                <a:spcPct val="114000"/>
              </a:lnSpc>
              <a:spcBef>
                <a:spcPts val="0"/>
              </a:spcBef>
              <a:spcAft>
                <a:spcPts val="400"/>
              </a:spcAft>
            </a:pPr>
            <a:r>
              <a:rPr lang="es-ES" sz="900" b="1" i="0" noProof="0" dirty="0">
                <a:solidFill>
                  <a:srgbClr val="8FE4C6"/>
                </a:solidFill>
                <a:latin typeface="Arial"/>
              </a:rPr>
              <a:t>OBJETIVO GENERAL</a:t>
            </a:r>
          </a:p>
          <a:p>
            <a:pPr algn="l">
              <a:lnSpc>
                <a:spcPct val="116000"/>
              </a:lnSpc>
              <a:spcBef>
                <a:spcPts val="0"/>
              </a:spcBef>
              <a:spcAft>
                <a:spcPts val="400"/>
              </a:spcAft>
            </a:pPr>
            <a:r>
              <a:rPr lang="es-ES" sz="1200" b="0" i="0" noProof="0" dirty="0">
                <a:solidFill>
                  <a:srgbClr val="FFFFFF"/>
                </a:solidFill>
                <a:latin typeface="Arial"/>
              </a:rPr>
              <a:t>Recuperar los indicadores de mantenimiento </a:t>
            </a:r>
            <a:r>
              <a:rPr lang="es-ES" sz="1200" noProof="0" dirty="0">
                <a:solidFill>
                  <a:srgbClr val="FFFFFF"/>
                </a:solidFill>
              </a:rPr>
              <a:t>(</a:t>
            </a:r>
            <a:r>
              <a:rPr lang="es-ES" sz="1200" b="0" i="0" noProof="0" dirty="0">
                <a:solidFill>
                  <a:srgbClr val="FFFFFF"/>
                </a:solidFill>
                <a:latin typeface="Arial"/>
              </a:rPr>
              <a:t>MTBF, MTTR y disponibilidad</a:t>
            </a:r>
            <a:r>
              <a:rPr lang="es-ES" sz="1200" noProof="0" dirty="0">
                <a:solidFill>
                  <a:srgbClr val="FFFFFF"/>
                </a:solidFill>
              </a:rPr>
              <a:t>) </a:t>
            </a:r>
            <a:r>
              <a:rPr lang="es-ES" sz="1200" b="0" i="0" noProof="0" dirty="0">
                <a:solidFill>
                  <a:srgbClr val="FFFFFF"/>
                </a:solidFill>
                <a:latin typeface="Arial"/>
              </a:rPr>
              <a:t>del motor de tracción de los camiones mineros 980E-5 mediante la eliminación de la fractura del eje palier del sistema de propulsión.</a:t>
            </a:r>
          </a:p>
        </p:txBody>
      </p:sp>
      <p:sp>
        <p:nvSpPr>
          <p:cNvPr id="8" name="Rectangle 7"/>
          <p:cNvSpPr/>
          <p:nvPr/>
        </p:nvSpPr>
        <p:spPr>
          <a:xfrm>
            <a:off x="841248" y="2670048"/>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9" name="Rectangle 8"/>
          <p:cNvSpPr/>
          <p:nvPr/>
        </p:nvSpPr>
        <p:spPr>
          <a:xfrm>
            <a:off x="841248" y="2670048"/>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0" name="TextBox 9"/>
          <p:cNvSpPr txBox="1"/>
          <p:nvPr/>
        </p:nvSpPr>
        <p:spPr>
          <a:xfrm>
            <a:off x="1078992" y="2752344"/>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350" b="1" i="0" noProof="0" dirty="0">
                <a:solidFill>
                  <a:srgbClr val="C3094A"/>
                </a:solidFill>
                <a:latin typeface="Arial"/>
              </a:rPr>
              <a:t>OE1</a:t>
            </a:r>
          </a:p>
        </p:txBody>
      </p:sp>
      <p:sp>
        <p:nvSpPr>
          <p:cNvPr id="11" name="TextBox 10"/>
          <p:cNvSpPr txBox="1"/>
          <p:nvPr/>
        </p:nvSpPr>
        <p:spPr>
          <a:xfrm>
            <a:off x="1810512" y="2752344"/>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ES" sz="1150" b="0" i="0" noProof="0" dirty="0">
                <a:solidFill>
                  <a:srgbClr val="191919"/>
                </a:solidFill>
                <a:latin typeface="Arial"/>
              </a:rPr>
              <a:t>Identificar la falla recurrente y cuantificar su impacto sobre los indicadores del motor de tracción y sobre los costos de mantenimiento de la flota.</a:t>
            </a:r>
          </a:p>
        </p:txBody>
      </p:sp>
      <p:sp>
        <p:nvSpPr>
          <p:cNvPr id="12" name="Rectangle 11"/>
          <p:cNvSpPr/>
          <p:nvPr/>
        </p:nvSpPr>
        <p:spPr>
          <a:xfrm>
            <a:off x="841248" y="3438144"/>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3" name="Rectangle 12"/>
          <p:cNvSpPr/>
          <p:nvPr/>
        </p:nvSpPr>
        <p:spPr>
          <a:xfrm>
            <a:off x="841248" y="3438144"/>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4" name="TextBox 13"/>
          <p:cNvSpPr txBox="1"/>
          <p:nvPr/>
        </p:nvSpPr>
        <p:spPr>
          <a:xfrm>
            <a:off x="1078992" y="3520439"/>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350" b="1" i="0" noProof="0" dirty="0">
                <a:solidFill>
                  <a:srgbClr val="C3094A"/>
                </a:solidFill>
                <a:latin typeface="Arial"/>
              </a:rPr>
              <a:t>OE2</a:t>
            </a:r>
          </a:p>
        </p:txBody>
      </p:sp>
      <p:sp>
        <p:nvSpPr>
          <p:cNvPr id="15" name="TextBox 14"/>
          <p:cNvSpPr txBox="1"/>
          <p:nvPr/>
        </p:nvSpPr>
        <p:spPr>
          <a:xfrm>
            <a:off x="1810512" y="3520439"/>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ES" sz="1150" b="0" i="0" noProof="0" dirty="0">
                <a:solidFill>
                  <a:srgbClr val="191919"/>
                </a:solidFill>
                <a:latin typeface="Arial"/>
              </a:rPr>
              <a:t>Determinar las causas latentes de la recurrencia mediante un análisis de causa raíz que evalúe los procesos y procedimientos involucrados.</a:t>
            </a:r>
          </a:p>
        </p:txBody>
      </p:sp>
      <p:sp>
        <p:nvSpPr>
          <p:cNvPr id="16" name="Rectangle 15"/>
          <p:cNvSpPr/>
          <p:nvPr/>
        </p:nvSpPr>
        <p:spPr>
          <a:xfrm>
            <a:off x="841248" y="4206240"/>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7" name="Rectangle 16"/>
          <p:cNvSpPr/>
          <p:nvPr/>
        </p:nvSpPr>
        <p:spPr>
          <a:xfrm>
            <a:off x="841248" y="4206240"/>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8" name="TextBox 17"/>
          <p:cNvSpPr txBox="1"/>
          <p:nvPr/>
        </p:nvSpPr>
        <p:spPr>
          <a:xfrm>
            <a:off x="1078992" y="4288536"/>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350" b="1" i="0" noProof="0" dirty="0">
                <a:solidFill>
                  <a:srgbClr val="C3094A"/>
                </a:solidFill>
                <a:latin typeface="Arial"/>
              </a:rPr>
              <a:t>OE3</a:t>
            </a:r>
          </a:p>
        </p:txBody>
      </p:sp>
      <p:sp>
        <p:nvSpPr>
          <p:cNvPr id="19" name="TextBox 18"/>
          <p:cNvSpPr txBox="1"/>
          <p:nvPr/>
        </p:nvSpPr>
        <p:spPr>
          <a:xfrm>
            <a:off x="1810512" y="4288536"/>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ES" sz="1150" b="0" i="0" noProof="0" dirty="0">
                <a:solidFill>
                  <a:srgbClr val="191919"/>
                </a:solidFill>
                <a:latin typeface="Arial"/>
              </a:rPr>
              <a:t>Implementar el rediseño de la unión soldada, sustentando el plan de acción con la lógica de decisión del RCM, que ante la ausencia de tarea factible deriva en un cambio de diseño.</a:t>
            </a:r>
          </a:p>
        </p:txBody>
      </p:sp>
      <p:sp>
        <p:nvSpPr>
          <p:cNvPr id="20" name="Rectangle 19"/>
          <p:cNvSpPr/>
          <p:nvPr/>
        </p:nvSpPr>
        <p:spPr>
          <a:xfrm>
            <a:off x="841248" y="4974336"/>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1" name="Rectangle 20"/>
          <p:cNvSpPr/>
          <p:nvPr/>
        </p:nvSpPr>
        <p:spPr>
          <a:xfrm>
            <a:off x="841248" y="4974336"/>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2" name="TextBox 21"/>
          <p:cNvSpPr txBox="1"/>
          <p:nvPr/>
        </p:nvSpPr>
        <p:spPr>
          <a:xfrm>
            <a:off x="1078992" y="5056631"/>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350" b="1" i="0" noProof="0" dirty="0">
                <a:solidFill>
                  <a:srgbClr val="C3094A"/>
                </a:solidFill>
                <a:latin typeface="Arial"/>
              </a:rPr>
              <a:t>OE4</a:t>
            </a:r>
          </a:p>
        </p:txBody>
      </p:sp>
      <p:sp>
        <p:nvSpPr>
          <p:cNvPr id="23" name="TextBox 22"/>
          <p:cNvSpPr txBox="1"/>
          <p:nvPr/>
        </p:nvSpPr>
        <p:spPr>
          <a:xfrm>
            <a:off x="1810512" y="5056631"/>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ES" sz="1150" b="0" i="0" noProof="0" dirty="0">
                <a:solidFill>
                  <a:srgbClr val="191919"/>
                </a:solidFill>
                <a:latin typeface="Arial"/>
              </a:rPr>
              <a:t>Evaluar la recuperación de los indicadores y el costo evitado, comparando el desempeño de la flota antes y después de la implementación.</a:t>
            </a:r>
          </a:p>
        </p:txBody>
      </p:sp>
      <p:pic>
        <p:nvPicPr>
          <p:cNvPr id="24" name="Imagen 23">
            <a:extLst>
              <a:ext uri="{FF2B5EF4-FFF2-40B4-BE49-F238E27FC236}">
                <a16:creationId xmlns:a16="http://schemas.microsoft.com/office/drawing/2014/main" id="{8EF53863-1501-1C64-0C61-476944C7B044}"/>
              </a:ext>
            </a:extLst>
          </p:cNvPr>
          <p:cNvPicPr>
            <a:picLocks noChangeAspect="1"/>
          </p:cNvPicPr>
          <p:nvPr/>
        </p:nvPicPr>
        <p:blipFill>
          <a:blip r:embed="rId2"/>
          <a:stretch>
            <a:fillRect/>
          </a:stretch>
        </p:blipFill>
        <p:spPr>
          <a:xfrm>
            <a:off x="158617" y="5943600"/>
            <a:ext cx="5620013" cy="550672"/>
          </a:xfrm>
          <a:prstGeom prst="rect">
            <a:avLst/>
          </a:prstGeom>
        </p:spPr>
      </p:pic>
      <p:sp>
        <p:nvSpPr>
          <p:cNvPr id="25" name="TextBox 24"/>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02 · OBJETIVOS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noProof="0" dirty="0">
                <a:solidFill>
                  <a:srgbClr val="042354"/>
                </a:solidFill>
              </a:rPr>
              <a:t>Metodología y estructura del desarrollo</a:t>
            </a:r>
            <a:endParaRPr lang="es-ES" sz="2200" b="1" i="0" noProof="0" dirty="0">
              <a:solidFill>
                <a:srgbClr val="042354"/>
              </a:solidFill>
              <a:latin typeface="Arial"/>
            </a:endParaRP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5</a:t>
            </a:r>
          </a:p>
        </p:txBody>
      </p:sp>
      <p:sp>
        <p:nvSpPr>
          <p:cNvPr id="6" name="Rectangle 5"/>
          <p:cNvSpPr/>
          <p:nvPr/>
        </p:nvSpPr>
        <p:spPr>
          <a:xfrm>
            <a:off x="84124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7" name="Rectangle 6"/>
          <p:cNvSpPr/>
          <p:nvPr/>
        </p:nvSpPr>
        <p:spPr>
          <a:xfrm>
            <a:off x="84124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8" name="TextBox 7"/>
          <p:cNvSpPr txBox="1"/>
          <p:nvPr/>
        </p:nvSpPr>
        <p:spPr>
          <a:xfrm>
            <a:off x="102412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C3094A"/>
                </a:solidFill>
                <a:latin typeface="Arial"/>
              </a:rPr>
              <a:t>ETAPA 1</a:t>
            </a:r>
          </a:p>
          <a:p>
            <a:pPr algn="l">
              <a:lnSpc>
                <a:spcPct val="106000"/>
              </a:lnSpc>
              <a:spcBef>
                <a:spcPts val="0"/>
              </a:spcBef>
              <a:spcAft>
                <a:spcPts val="400"/>
              </a:spcAft>
            </a:pPr>
            <a:r>
              <a:rPr lang="es-ES" sz="1200" b="1" i="0" noProof="0" dirty="0">
                <a:solidFill>
                  <a:srgbClr val="042354"/>
                </a:solidFill>
                <a:latin typeface="Arial"/>
              </a:rPr>
              <a:t>Desempeño previo</a:t>
            </a:r>
          </a:p>
          <a:p>
            <a:pPr algn="l">
              <a:lnSpc>
                <a:spcPct val="112000"/>
              </a:lnSpc>
              <a:spcBef>
                <a:spcPts val="0"/>
              </a:spcBef>
              <a:spcAft>
                <a:spcPts val="400"/>
              </a:spcAft>
            </a:pPr>
            <a:r>
              <a:rPr lang="es-ES" sz="950" b="0" i="0" noProof="0" dirty="0">
                <a:solidFill>
                  <a:srgbClr val="4A5568"/>
                </a:solidFill>
                <a:latin typeface="Arial"/>
              </a:rPr>
              <a:t>Cálculo de indicadores
y desviación contractual</a:t>
            </a:r>
          </a:p>
        </p:txBody>
      </p:sp>
      <p:sp>
        <p:nvSpPr>
          <p:cNvPr id="9" name="TextBox 8"/>
          <p:cNvSpPr txBox="1"/>
          <p:nvPr/>
        </p:nvSpPr>
        <p:spPr>
          <a:xfrm>
            <a:off x="325526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ES" sz="1600" b="1" i="0" noProof="0" dirty="0">
                <a:solidFill>
                  <a:srgbClr val="7A8494"/>
                </a:solidFill>
                <a:latin typeface="Arial"/>
              </a:rPr>
              <a:t>›</a:t>
            </a:r>
          </a:p>
        </p:txBody>
      </p:sp>
      <p:sp>
        <p:nvSpPr>
          <p:cNvPr id="10" name="Rectangle 9"/>
          <p:cNvSpPr/>
          <p:nvPr/>
        </p:nvSpPr>
        <p:spPr>
          <a:xfrm>
            <a:off x="353872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1" name="Rectangle 10"/>
          <p:cNvSpPr/>
          <p:nvPr/>
        </p:nvSpPr>
        <p:spPr>
          <a:xfrm>
            <a:off x="353872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2" name="TextBox 11"/>
          <p:cNvSpPr txBox="1"/>
          <p:nvPr/>
        </p:nvSpPr>
        <p:spPr>
          <a:xfrm>
            <a:off x="372160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C3094A"/>
                </a:solidFill>
                <a:latin typeface="Arial"/>
              </a:rPr>
              <a:t>ETAPA 2</a:t>
            </a:r>
          </a:p>
          <a:p>
            <a:pPr algn="l">
              <a:lnSpc>
                <a:spcPct val="106000"/>
              </a:lnSpc>
              <a:spcBef>
                <a:spcPts val="0"/>
              </a:spcBef>
              <a:spcAft>
                <a:spcPts val="400"/>
              </a:spcAft>
            </a:pPr>
            <a:r>
              <a:rPr lang="es-ES" sz="1200" b="1" i="0" noProof="0" dirty="0">
                <a:solidFill>
                  <a:srgbClr val="042354"/>
                </a:solidFill>
                <a:latin typeface="Arial"/>
              </a:rPr>
              <a:t>Focalización</a:t>
            </a:r>
          </a:p>
          <a:p>
            <a:pPr algn="l">
              <a:lnSpc>
                <a:spcPct val="112000"/>
              </a:lnSpc>
              <a:spcBef>
                <a:spcPts val="0"/>
              </a:spcBef>
              <a:spcAft>
                <a:spcPts val="400"/>
              </a:spcAft>
            </a:pPr>
            <a:r>
              <a:rPr lang="es-ES" sz="950" b="0" i="0" noProof="0" dirty="0">
                <a:solidFill>
                  <a:srgbClr val="4A5568"/>
                </a:solidFill>
                <a:latin typeface="Arial"/>
              </a:rPr>
              <a:t>Matriz de criticidad y
delimitación del activo</a:t>
            </a:r>
          </a:p>
        </p:txBody>
      </p:sp>
      <p:sp>
        <p:nvSpPr>
          <p:cNvPr id="13" name="TextBox 12"/>
          <p:cNvSpPr txBox="1"/>
          <p:nvPr/>
        </p:nvSpPr>
        <p:spPr>
          <a:xfrm>
            <a:off x="595274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ES" sz="1600" b="1" i="0" noProof="0" dirty="0">
                <a:solidFill>
                  <a:srgbClr val="7A8494"/>
                </a:solidFill>
                <a:latin typeface="Arial"/>
              </a:rPr>
              <a:t>›</a:t>
            </a:r>
          </a:p>
        </p:txBody>
      </p:sp>
      <p:sp>
        <p:nvSpPr>
          <p:cNvPr id="14" name="Rectangle 13"/>
          <p:cNvSpPr/>
          <p:nvPr/>
        </p:nvSpPr>
        <p:spPr>
          <a:xfrm>
            <a:off x="623620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5" name="Rectangle 14"/>
          <p:cNvSpPr/>
          <p:nvPr/>
        </p:nvSpPr>
        <p:spPr>
          <a:xfrm>
            <a:off x="623620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6" name="TextBox 15"/>
          <p:cNvSpPr txBox="1"/>
          <p:nvPr/>
        </p:nvSpPr>
        <p:spPr>
          <a:xfrm>
            <a:off x="641908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C3094A"/>
                </a:solidFill>
                <a:latin typeface="Arial"/>
              </a:rPr>
              <a:t>ETAPA 3</a:t>
            </a:r>
          </a:p>
          <a:p>
            <a:pPr algn="l">
              <a:lnSpc>
                <a:spcPct val="106000"/>
              </a:lnSpc>
              <a:spcBef>
                <a:spcPts val="0"/>
              </a:spcBef>
              <a:spcAft>
                <a:spcPts val="400"/>
              </a:spcAft>
            </a:pPr>
            <a:r>
              <a:rPr lang="es-ES" sz="1200" b="1" i="0" noProof="0" dirty="0">
                <a:solidFill>
                  <a:srgbClr val="042354"/>
                </a:solidFill>
                <a:latin typeface="Arial"/>
              </a:rPr>
              <a:t>Proceso RCM</a:t>
            </a:r>
          </a:p>
          <a:p>
            <a:pPr algn="l">
              <a:lnSpc>
                <a:spcPct val="112000"/>
              </a:lnSpc>
              <a:spcBef>
                <a:spcPts val="0"/>
              </a:spcBef>
              <a:spcAft>
                <a:spcPts val="400"/>
              </a:spcAft>
            </a:pPr>
            <a:r>
              <a:rPr lang="es-ES" sz="950" b="0" i="0" noProof="0" dirty="0">
                <a:solidFill>
                  <a:srgbClr val="4A5568"/>
                </a:solidFill>
                <a:latin typeface="Arial"/>
              </a:rPr>
              <a:t>Las siete preguntas de
la SAE JA1011 en secuencia</a:t>
            </a:r>
          </a:p>
        </p:txBody>
      </p:sp>
      <p:sp>
        <p:nvSpPr>
          <p:cNvPr id="17" name="TextBox 16"/>
          <p:cNvSpPr txBox="1"/>
          <p:nvPr/>
        </p:nvSpPr>
        <p:spPr>
          <a:xfrm>
            <a:off x="865022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ES" sz="1600" b="1" i="0" noProof="0" dirty="0">
                <a:solidFill>
                  <a:srgbClr val="7A8494"/>
                </a:solidFill>
                <a:latin typeface="Arial"/>
              </a:rPr>
              <a:t>›</a:t>
            </a:r>
          </a:p>
        </p:txBody>
      </p:sp>
      <p:sp>
        <p:nvSpPr>
          <p:cNvPr id="18" name="Rectangle 17"/>
          <p:cNvSpPr/>
          <p:nvPr/>
        </p:nvSpPr>
        <p:spPr>
          <a:xfrm>
            <a:off x="893368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9" name="Rectangle 18"/>
          <p:cNvSpPr/>
          <p:nvPr/>
        </p:nvSpPr>
        <p:spPr>
          <a:xfrm>
            <a:off x="893368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0" name="TextBox 19"/>
          <p:cNvSpPr txBox="1"/>
          <p:nvPr/>
        </p:nvSpPr>
        <p:spPr>
          <a:xfrm>
            <a:off x="9116567"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ES" sz="850" b="1" i="0" noProof="0" dirty="0">
                <a:solidFill>
                  <a:srgbClr val="C3094A"/>
                </a:solidFill>
                <a:latin typeface="Arial"/>
              </a:rPr>
              <a:t>ETAPA 4</a:t>
            </a:r>
          </a:p>
          <a:p>
            <a:pPr algn="l">
              <a:lnSpc>
                <a:spcPct val="106000"/>
              </a:lnSpc>
              <a:spcBef>
                <a:spcPts val="0"/>
              </a:spcBef>
              <a:spcAft>
                <a:spcPts val="400"/>
              </a:spcAft>
            </a:pPr>
            <a:r>
              <a:rPr lang="es-ES" sz="1200" b="1" i="0" noProof="0" dirty="0">
                <a:solidFill>
                  <a:srgbClr val="042354"/>
                </a:solidFill>
                <a:latin typeface="Arial"/>
              </a:rPr>
              <a:t>Implementación
y verificación</a:t>
            </a:r>
          </a:p>
          <a:p>
            <a:pPr algn="l">
              <a:lnSpc>
                <a:spcPct val="112000"/>
              </a:lnSpc>
              <a:spcBef>
                <a:spcPts val="0"/>
              </a:spcBef>
              <a:spcAft>
                <a:spcPts val="400"/>
              </a:spcAft>
            </a:pPr>
            <a:r>
              <a:rPr lang="es-ES" sz="950" b="0" i="0" noProof="0" dirty="0">
                <a:solidFill>
                  <a:srgbClr val="4A5568"/>
                </a:solidFill>
                <a:latin typeface="Arial"/>
              </a:rPr>
              <a:t>Validación, control de
cambio y verificación</a:t>
            </a:r>
          </a:p>
        </p:txBody>
      </p:sp>
      <p:sp>
        <p:nvSpPr>
          <p:cNvPr id="21" name="TextBox 20"/>
          <p:cNvSpPr txBox="1"/>
          <p:nvPr/>
        </p:nvSpPr>
        <p:spPr>
          <a:xfrm>
            <a:off x="841248" y="3044952"/>
            <a:ext cx="10515600" cy="152799"/>
          </a:xfrm>
          <a:prstGeom prst="rect">
            <a:avLst/>
          </a:prstGeom>
          <a:noFill/>
        </p:spPr>
        <p:txBody>
          <a:bodyPr wrap="square" lIns="0" tIns="0" rIns="0" bIns="0" anchor="t">
            <a:spAutoFit/>
          </a:bodyPr>
          <a:lstStyle/>
          <a:p>
            <a:pPr algn="l">
              <a:lnSpc>
                <a:spcPct val="114000"/>
              </a:lnSpc>
              <a:spcBef>
                <a:spcPts val="0"/>
              </a:spcBef>
              <a:spcAft>
                <a:spcPts val="400"/>
              </a:spcAft>
            </a:pPr>
            <a:r>
              <a:rPr lang="es-ES" sz="950" b="1" i="0" noProof="0" dirty="0">
                <a:solidFill>
                  <a:srgbClr val="4A5568"/>
                </a:solidFill>
                <a:latin typeface="Arial"/>
              </a:rPr>
              <a:t>ETAPA 3 · LAS SIETE PREGUNTAS DE LA SAE JA1011 · EL ANÁLISIS SE CONCENTRA EN LAS PREGUNTAS 3, 6 Y 7</a:t>
            </a:r>
          </a:p>
        </p:txBody>
      </p:sp>
      <p:cxnSp>
        <p:nvCxnSpPr>
          <p:cNvPr id="22" name="Connector 21"/>
          <p:cNvCxnSpPr/>
          <p:nvPr/>
        </p:nvCxnSpPr>
        <p:spPr>
          <a:xfrm>
            <a:off x="841248" y="327355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4124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4" name="TextBox 23"/>
          <p:cNvSpPr txBox="1"/>
          <p:nvPr/>
        </p:nvSpPr>
        <p:spPr>
          <a:xfrm>
            <a:off x="95097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2841DD"/>
                </a:solidFill>
                <a:latin typeface="Arial"/>
              </a:rPr>
              <a:t>1</a:t>
            </a:r>
          </a:p>
          <a:p>
            <a:pPr algn="l">
              <a:lnSpc>
                <a:spcPct val="112000"/>
              </a:lnSpc>
              <a:spcBef>
                <a:spcPts val="0"/>
              </a:spcBef>
              <a:spcAft>
                <a:spcPts val="400"/>
              </a:spcAft>
            </a:pPr>
            <a:r>
              <a:rPr lang="es-ES" sz="900" b="0" i="0" noProof="0" dirty="0">
                <a:solidFill>
                  <a:srgbClr val="191919"/>
                </a:solidFill>
                <a:latin typeface="Arial"/>
              </a:rPr>
              <a:t>Funciones y estándares de desempeño</a:t>
            </a:r>
          </a:p>
        </p:txBody>
      </p:sp>
      <p:sp>
        <p:nvSpPr>
          <p:cNvPr id="25" name="Rectangle 24"/>
          <p:cNvSpPr/>
          <p:nvPr/>
        </p:nvSpPr>
        <p:spPr>
          <a:xfrm>
            <a:off x="2357845"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6" name="TextBox 25"/>
          <p:cNvSpPr txBox="1"/>
          <p:nvPr/>
        </p:nvSpPr>
        <p:spPr>
          <a:xfrm>
            <a:off x="2467573"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2841DD"/>
                </a:solidFill>
                <a:latin typeface="Arial"/>
              </a:rPr>
              <a:t>2</a:t>
            </a:r>
          </a:p>
          <a:p>
            <a:pPr algn="l">
              <a:lnSpc>
                <a:spcPct val="112000"/>
              </a:lnSpc>
              <a:spcBef>
                <a:spcPts val="0"/>
              </a:spcBef>
              <a:spcAft>
                <a:spcPts val="400"/>
              </a:spcAft>
            </a:pPr>
            <a:r>
              <a:rPr lang="es-ES" sz="900" b="0" i="0" noProof="0" dirty="0">
                <a:solidFill>
                  <a:srgbClr val="191919"/>
                </a:solidFill>
                <a:latin typeface="Arial"/>
              </a:rPr>
              <a:t>Fallas funcionales</a:t>
            </a:r>
          </a:p>
        </p:txBody>
      </p:sp>
      <p:sp>
        <p:nvSpPr>
          <p:cNvPr id="27" name="Rectangle 26"/>
          <p:cNvSpPr/>
          <p:nvPr/>
        </p:nvSpPr>
        <p:spPr>
          <a:xfrm>
            <a:off x="3874443"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8" name="TextBox 27"/>
          <p:cNvSpPr txBox="1"/>
          <p:nvPr/>
        </p:nvSpPr>
        <p:spPr>
          <a:xfrm>
            <a:off x="3984171" y="3547872"/>
            <a:ext cx="1196557" cy="484492"/>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FFFFFF"/>
                </a:solidFill>
                <a:latin typeface="Arial"/>
              </a:rPr>
              <a:t>3</a:t>
            </a:r>
          </a:p>
          <a:p>
            <a:pPr algn="l">
              <a:lnSpc>
                <a:spcPct val="112000"/>
              </a:lnSpc>
              <a:spcBef>
                <a:spcPts val="0"/>
              </a:spcBef>
              <a:spcAft>
                <a:spcPts val="400"/>
              </a:spcAft>
            </a:pPr>
            <a:r>
              <a:rPr lang="es-ES" sz="900" b="0" i="0" noProof="0" dirty="0">
                <a:solidFill>
                  <a:srgbClr val="FFFFFF"/>
                </a:solidFill>
                <a:latin typeface="Arial"/>
              </a:rPr>
              <a:t>Modos de falla</a:t>
            </a:r>
          </a:p>
        </p:txBody>
      </p:sp>
      <p:sp>
        <p:nvSpPr>
          <p:cNvPr id="29" name="Rectangle 28"/>
          <p:cNvSpPr/>
          <p:nvPr/>
        </p:nvSpPr>
        <p:spPr>
          <a:xfrm>
            <a:off x="5391041"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0" name="TextBox 29"/>
          <p:cNvSpPr txBox="1"/>
          <p:nvPr/>
        </p:nvSpPr>
        <p:spPr>
          <a:xfrm>
            <a:off x="5500769"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2841DD"/>
                </a:solidFill>
                <a:latin typeface="Arial"/>
              </a:rPr>
              <a:t>4</a:t>
            </a:r>
          </a:p>
          <a:p>
            <a:pPr algn="l">
              <a:lnSpc>
                <a:spcPct val="112000"/>
              </a:lnSpc>
              <a:spcBef>
                <a:spcPts val="0"/>
              </a:spcBef>
              <a:spcAft>
                <a:spcPts val="400"/>
              </a:spcAft>
            </a:pPr>
            <a:r>
              <a:rPr lang="es-ES" sz="900" b="0" i="0" noProof="0" dirty="0">
                <a:solidFill>
                  <a:srgbClr val="191919"/>
                </a:solidFill>
                <a:latin typeface="Arial"/>
              </a:rPr>
              <a:t>Efectos de falla</a:t>
            </a:r>
          </a:p>
        </p:txBody>
      </p:sp>
      <p:sp>
        <p:nvSpPr>
          <p:cNvPr id="31" name="Rectangle 30"/>
          <p:cNvSpPr/>
          <p:nvPr/>
        </p:nvSpPr>
        <p:spPr>
          <a:xfrm>
            <a:off x="690763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2" name="TextBox 31"/>
          <p:cNvSpPr txBox="1"/>
          <p:nvPr/>
        </p:nvSpPr>
        <p:spPr>
          <a:xfrm>
            <a:off x="701736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2841DD"/>
                </a:solidFill>
                <a:latin typeface="Arial"/>
              </a:rPr>
              <a:t>5</a:t>
            </a:r>
          </a:p>
          <a:p>
            <a:pPr algn="l">
              <a:lnSpc>
                <a:spcPct val="112000"/>
              </a:lnSpc>
              <a:spcBef>
                <a:spcPts val="0"/>
              </a:spcBef>
              <a:spcAft>
                <a:spcPts val="400"/>
              </a:spcAft>
            </a:pPr>
            <a:r>
              <a:rPr lang="es-ES" sz="900" b="0" i="0" noProof="0" dirty="0">
                <a:solidFill>
                  <a:srgbClr val="191919"/>
                </a:solidFill>
                <a:latin typeface="Arial"/>
              </a:rPr>
              <a:t>Consecuencias de falla</a:t>
            </a:r>
          </a:p>
        </p:txBody>
      </p:sp>
      <p:sp>
        <p:nvSpPr>
          <p:cNvPr id="33" name="Rectangle 32"/>
          <p:cNvSpPr/>
          <p:nvPr/>
        </p:nvSpPr>
        <p:spPr>
          <a:xfrm>
            <a:off x="8424236"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4" name="TextBox 33"/>
          <p:cNvSpPr txBox="1"/>
          <p:nvPr/>
        </p:nvSpPr>
        <p:spPr>
          <a:xfrm>
            <a:off x="8533964"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FFFFFF"/>
                </a:solidFill>
                <a:latin typeface="Arial"/>
              </a:rPr>
              <a:t>6</a:t>
            </a:r>
          </a:p>
          <a:p>
            <a:pPr algn="l">
              <a:lnSpc>
                <a:spcPct val="112000"/>
              </a:lnSpc>
              <a:spcBef>
                <a:spcPts val="0"/>
              </a:spcBef>
              <a:spcAft>
                <a:spcPts val="400"/>
              </a:spcAft>
            </a:pPr>
            <a:r>
              <a:rPr lang="es-ES" sz="900" b="0" i="0" noProof="0" dirty="0">
                <a:solidFill>
                  <a:srgbClr val="FFFFFF"/>
                </a:solidFill>
                <a:latin typeface="Arial"/>
              </a:rPr>
              <a:t>Evaluación de tareas proactivas</a:t>
            </a:r>
          </a:p>
        </p:txBody>
      </p:sp>
      <p:sp>
        <p:nvSpPr>
          <p:cNvPr id="35" name="Rectangle 34"/>
          <p:cNvSpPr/>
          <p:nvPr/>
        </p:nvSpPr>
        <p:spPr>
          <a:xfrm>
            <a:off x="9940834"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6" name="TextBox 35"/>
          <p:cNvSpPr txBox="1"/>
          <p:nvPr/>
        </p:nvSpPr>
        <p:spPr>
          <a:xfrm>
            <a:off x="10050562"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ES" sz="1900" b="1" i="0" noProof="0" dirty="0">
                <a:solidFill>
                  <a:srgbClr val="FFFFFF"/>
                </a:solidFill>
                <a:latin typeface="Arial"/>
              </a:rPr>
              <a:t>7</a:t>
            </a:r>
          </a:p>
          <a:p>
            <a:pPr algn="l">
              <a:lnSpc>
                <a:spcPct val="112000"/>
              </a:lnSpc>
              <a:spcBef>
                <a:spcPts val="0"/>
              </a:spcBef>
              <a:spcAft>
                <a:spcPts val="400"/>
              </a:spcAft>
            </a:pPr>
            <a:r>
              <a:rPr lang="es-ES" sz="900" b="0" i="0" noProof="0" dirty="0">
                <a:solidFill>
                  <a:srgbClr val="FFFFFF"/>
                </a:solidFill>
                <a:latin typeface="Arial"/>
              </a:rPr>
              <a:t>Acción "a falta de"</a:t>
            </a:r>
          </a:p>
        </p:txBody>
      </p:sp>
      <p:pic>
        <p:nvPicPr>
          <p:cNvPr id="40" name="Imagen 39">
            <a:extLst>
              <a:ext uri="{FF2B5EF4-FFF2-40B4-BE49-F238E27FC236}">
                <a16:creationId xmlns:a16="http://schemas.microsoft.com/office/drawing/2014/main" id="{2AE72ACE-7D04-ABDF-37DD-CAAA251FF1F1}"/>
              </a:ext>
            </a:extLst>
          </p:cNvPr>
          <p:cNvPicPr>
            <a:picLocks noChangeAspect="1"/>
          </p:cNvPicPr>
          <p:nvPr/>
        </p:nvPicPr>
        <p:blipFill>
          <a:blip r:embed="rId2"/>
          <a:stretch>
            <a:fillRect/>
          </a:stretch>
        </p:blipFill>
        <p:spPr>
          <a:xfrm>
            <a:off x="158617" y="5943600"/>
            <a:ext cx="5620013" cy="550672"/>
          </a:xfrm>
          <a:prstGeom prst="rect">
            <a:avLst/>
          </a:prstGeom>
        </p:spPr>
      </p:pic>
      <p:sp>
        <p:nvSpPr>
          <p:cNvPr id="41" name="TextBox 40"/>
          <p:cNvSpPr txBox="1"/>
          <p:nvPr/>
        </p:nvSpPr>
        <p:spPr>
          <a:xfrm>
            <a:off x="841248" y="128016"/>
            <a:ext cx="73152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03 · METODOLOGÍA</a:t>
            </a:r>
          </a:p>
        </p:txBody>
      </p:sp>
      <p:sp>
        <p:nvSpPr>
          <p:cNvPr id="42" name="Etapa tag 1"/>
          <p:cNvSpPr txBox="1"/>
          <p:nvPr/>
        </p:nvSpPr>
        <p:spPr>
          <a:xfrm>
            <a:off x="841248" y="2788920"/>
            <a:ext cx="269748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C3094A"/>
                </a:solidFill>
                <a:latin typeface="Arial"/>
                <a:cs typeface="Arial"/>
              </a:rPr>
              <a:t>→ 01 Problemática</a:t>
            </a:r>
          </a:p>
        </p:txBody>
      </p:sp>
      <p:sp>
        <p:nvSpPr>
          <p:cNvPr id="43" name="Etapa tag 2"/>
          <p:cNvSpPr txBox="1"/>
          <p:nvPr/>
        </p:nvSpPr>
        <p:spPr>
          <a:xfrm>
            <a:off x="3538728" y="2788920"/>
            <a:ext cx="269748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C3094A"/>
                </a:solidFill>
                <a:latin typeface="Arial"/>
                <a:cs typeface="Arial"/>
              </a:rPr>
              <a:t>→ 04 Desarrollo: focalización</a:t>
            </a:r>
          </a:p>
        </p:txBody>
      </p:sp>
      <p:sp>
        <p:nvSpPr>
          <p:cNvPr id="44" name="Etapa tag 3"/>
          <p:cNvSpPr txBox="1"/>
          <p:nvPr/>
        </p:nvSpPr>
        <p:spPr>
          <a:xfrm>
            <a:off x="6236208" y="2788920"/>
            <a:ext cx="269748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C3094A"/>
                </a:solidFill>
                <a:latin typeface="Arial"/>
                <a:cs typeface="Arial"/>
              </a:rPr>
              <a:t>→ 4.1 Causa física · 4.2 ACR · 4.3 Rediseño</a:t>
            </a:r>
          </a:p>
        </p:txBody>
      </p:sp>
      <p:sp>
        <p:nvSpPr>
          <p:cNvPr id="45" name="Etapa tag 4"/>
          <p:cNvSpPr txBox="1"/>
          <p:nvPr/>
        </p:nvSpPr>
        <p:spPr>
          <a:xfrm>
            <a:off x="8933688" y="2788920"/>
            <a:ext cx="269748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C3094A"/>
                </a:solidFill>
                <a:latin typeface="Arial"/>
                <a:cs typeface="Arial"/>
              </a:rPr>
              <a:t>→ 4.4 Recuperación y costo evitado</a:t>
            </a:r>
          </a:p>
        </p:txBody>
      </p:sp>
      <p:sp>
        <p:nvSpPr>
          <p:cNvPr id="46" name="Pregunta tag 1"/>
          <p:cNvSpPr txBox="1"/>
          <p:nvPr/>
        </p:nvSpPr>
        <p:spPr>
          <a:xfrm>
            <a:off x="950976"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7A8494"/>
                </a:solidFill>
                <a:latin typeface="Arial"/>
                <a:cs typeface="Arial"/>
              </a:rPr>
              <a:t>Breve</a:t>
            </a:r>
          </a:p>
        </p:txBody>
      </p:sp>
      <p:sp>
        <p:nvSpPr>
          <p:cNvPr id="47" name="Pregunta tag 2"/>
          <p:cNvSpPr txBox="1"/>
          <p:nvPr/>
        </p:nvSpPr>
        <p:spPr>
          <a:xfrm>
            <a:off x="2468880"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7A8494"/>
                </a:solidFill>
                <a:latin typeface="Arial"/>
                <a:cs typeface="Arial"/>
              </a:rPr>
              <a:t>Breve</a:t>
            </a:r>
          </a:p>
        </p:txBody>
      </p:sp>
      <p:sp>
        <p:nvSpPr>
          <p:cNvPr id="48" name="Pregunta tag 3"/>
          <p:cNvSpPr txBox="1"/>
          <p:nvPr/>
        </p:nvSpPr>
        <p:spPr>
          <a:xfrm>
            <a:off x="3986784" y="4343400"/>
            <a:ext cx="1234440" cy="36576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16C78E"/>
                </a:solidFill>
                <a:latin typeface="Arial"/>
                <a:cs typeface="Arial"/>
              </a:rPr>
              <a:t>4.1 Causa física</a:t>
            </a:r>
          </a:p>
          <a:p>
            <a:pPr algn="l" marL="0" indent="0">
              <a:lnSpc>
                <a:spcPct val="100000"/>
              </a:lnSpc>
              <a:spcBef>
                <a:spcPts val="0"/>
              </a:spcBef>
              <a:spcAft>
                <a:spcPts val="0"/>
              </a:spcAft>
              <a:buNone/>
            </a:pPr>
            <a:r>
              <a:rPr lang="es-PE" sz="850" b="1" i="0" dirty="0">
                <a:solidFill>
                  <a:srgbClr val="16C78E"/>
                </a:solidFill>
                <a:latin typeface="Arial"/>
                <a:cs typeface="Arial"/>
              </a:rPr>
              <a:t>4.2 ACR</a:t>
            </a:r>
          </a:p>
        </p:txBody>
      </p:sp>
      <p:sp>
        <p:nvSpPr>
          <p:cNvPr id="49" name="Pregunta tag 4"/>
          <p:cNvSpPr txBox="1"/>
          <p:nvPr/>
        </p:nvSpPr>
        <p:spPr>
          <a:xfrm>
            <a:off x="5504688"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7A8494"/>
                </a:solidFill>
                <a:latin typeface="Arial"/>
                <a:cs typeface="Arial"/>
              </a:rPr>
              <a:t>Breve</a:t>
            </a:r>
          </a:p>
        </p:txBody>
      </p:sp>
      <p:sp>
        <p:nvSpPr>
          <p:cNvPr id="50" name="Pregunta tag 5"/>
          <p:cNvSpPr txBox="1"/>
          <p:nvPr/>
        </p:nvSpPr>
        <p:spPr>
          <a:xfrm>
            <a:off x="7013448"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7A8494"/>
                </a:solidFill>
                <a:latin typeface="Arial"/>
                <a:cs typeface="Arial"/>
              </a:rPr>
              <a:t>Breve · sustenta P7</a:t>
            </a:r>
          </a:p>
        </p:txBody>
      </p:sp>
      <p:sp>
        <p:nvSpPr>
          <p:cNvPr id="51" name="Pregunta tag 6"/>
          <p:cNvSpPr txBox="1"/>
          <p:nvPr/>
        </p:nvSpPr>
        <p:spPr>
          <a:xfrm>
            <a:off x="8531352"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16C78E"/>
                </a:solidFill>
                <a:latin typeface="Arial"/>
                <a:cs typeface="Arial"/>
              </a:rPr>
              <a:t>4.3 Decisión</a:t>
            </a:r>
          </a:p>
        </p:txBody>
      </p:sp>
      <p:sp>
        <p:nvSpPr>
          <p:cNvPr id="52" name="Pregunta tag 7"/>
          <p:cNvSpPr txBox="1"/>
          <p:nvPr/>
        </p:nvSpPr>
        <p:spPr>
          <a:xfrm>
            <a:off x="10049256" y="4498848"/>
            <a:ext cx="1234440" cy="18288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850" b="1" i="0" dirty="0">
                <a:solidFill>
                  <a:srgbClr val="16C78E"/>
                </a:solidFill>
                <a:latin typeface="Arial"/>
                <a:cs typeface="Arial"/>
              </a:rPr>
              <a:t>4.3 Rediseño</a:t>
            </a:r>
          </a:p>
        </p:txBody>
      </p:sp>
      <p:sp>
        <p:nvSpPr>
          <p:cNvPr id="53" name="Enfasis barra"/>
          <p:cNvSpPr/>
          <p:nvPr/>
        </p:nvSpPr>
        <p:spPr>
          <a:xfrm>
            <a:off x="841248" y="4937760"/>
            <a:ext cx="45720" cy="585216"/>
          </a:xfrm>
          <a:prstGeom prst="rect">
            <a:avLst/>
          </a:prstGeom>
          <a:solidFill>
            <a:srgbClr val="C3094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54" name="Enfasis"/>
          <p:cNvSpPr txBox="1"/>
          <p:nvPr/>
        </p:nvSpPr>
        <p:spPr>
          <a:xfrm>
            <a:off x="1024128" y="4919472"/>
            <a:ext cx="10277856" cy="640080"/>
          </a:xfrm>
          <a:prstGeom prst="rect">
            <a:avLst/>
          </a:prstGeom>
          <a:noFill/>
          <a:ln>
            <a:noFill/>
          </a:ln>
          <a:effectLst/>
        </p:spPr>
        <p:txBody>
          <a:bodyPr wrap="square" lIns="0" tIns="0" rIns="0" bIns="0" rtlCol="0" anchor="t">
            <a:noAutofit/>
          </a:bodyPr>
          <a:lstStyle/>
          <a:p>
            <a:pPr algn="l" marL="0" indent="0">
              <a:lnSpc>
                <a:spcPct val="114000"/>
              </a:lnSpc>
              <a:spcBef>
                <a:spcPts val="0"/>
              </a:spcBef>
              <a:spcAft>
                <a:spcPts val="0"/>
              </a:spcAft>
              <a:buNone/>
            </a:pPr>
            <a:r>
              <a:rPr lang="es-PE" sz="1100" b="0" i="0" dirty="0">
                <a:solidFill>
                  <a:srgbClr val="042354"/>
                </a:solidFill>
                <a:latin typeface="Arial"/>
                <a:cs typeface="Arial"/>
              </a:rPr>
              <a:t>El RCM (SAE JA1011) —y el ACR dentro de la pregunta 3— es la </a:t>
            </a:r>
            <a:r>
              <a:rPr lang="es-PE" sz="1100" b="1" i="0" dirty="0">
                <a:solidFill>
                  <a:srgbClr val="042354"/>
                </a:solidFill>
                <a:latin typeface="Arial"/>
                <a:cs typeface="Arial"/>
              </a:rPr>
              <a:t>estructura de referencia que ordena el trabajo, no el método en sí</a:t>
            </a:r>
            <a:r>
              <a:rPr lang="es-PE" sz="1100" b="0" i="0" dirty="0">
                <a:solidFill>
                  <a:srgbClr val="042354"/>
                </a:solidFill>
                <a:latin typeface="Arial"/>
                <a:cs typeface="Arial"/>
              </a:rPr>
              <a:t>: son marcos pensados para anticipar fallas y este caso es reactivo, una falla recurrente que ya había ocurrido.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Focalización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6</a:t>
            </a:r>
          </a:p>
        </p:txBody>
      </p:sp>
      <p:pic>
        <p:nvPicPr>
          <p:cNvPr id="6" name="Picture 5" descr="pu_g2_criticidad.png"/>
          <p:cNvPicPr>
            <a:picLocks noChangeAspect="1"/>
          </p:cNvPicPr>
          <p:nvPr/>
        </p:nvPicPr>
        <p:blipFill>
          <a:blip r:embed="rId2"/>
          <a:stretch>
            <a:fillRect/>
          </a:stretch>
        </p:blipFill>
        <p:spPr>
          <a:xfrm>
            <a:off x="521208" y="1225296"/>
            <a:ext cx="6492240" cy="3460806"/>
          </a:xfrm>
          <a:prstGeom prst="rect">
            <a:avLst/>
          </a:prstGeom>
        </p:spPr>
      </p:pic>
      <p:sp>
        <p:nvSpPr>
          <p:cNvPr id="7" name="TextBox 6"/>
          <p:cNvSpPr txBox="1"/>
          <p:nvPr/>
        </p:nvSpPr>
        <p:spPr>
          <a:xfrm>
            <a:off x="6492240" y="1481328"/>
            <a:ext cx="486460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ES" sz="950" b="1" i="0" noProof="0" dirty="0">
                <a:solidFill>
                  <a:srgbClr val="4A5568"/>
                </a:solidFill>
                <a:latin typeface="Arial"/>
              </a:rPr>
              <a:t>CALIFICACIÓN DE CRITICIDAD</a:t>
            </a:r>
          </a:p>
        </p:txBody>
      </p:sp>
      <p:sp>
        <p:nvSpPr>
          <p:cNvPr id="8" name="Rectangle 7"/>
          <p:cNvSpPr/>
          <p:nvPr/>
        </p:nvSpPr>
        <p:spPr>
          <a:xfrm>
            <a:off x="6492240" y="1810512"/>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F</a:t>
            </a:r>
          </a:p>
        </p:txBody>
      </p:sp>
      <p:sp>
        <p:nvSpPr>
          <p:cNvPr id="9" name="Rectangle 8"/>
          <p:cNvSpPr/>
          <p:nvPr/>
        </p:nvSpPr>
        <p:spPr>
          <a:xfrm>
            <a:off x="6830568" y="1810512"/>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C3094A"/>
                </a:solidFill>
                <a:latin typeface="Arial"/>
              </a:rPr>
              <a:t>5</a:t>
            </a:r>
          </a:p>
        </p:txBody>
      </p:sp>
      <p:sp>
        <p:nvSpPr>
          <p:cNvPr id="10" name="TextBox 9"/>
          <p:cNvSpPr txBox="1"/>
          <p:nvPr/>
        </p:nvSpPr>
        <p:spPr>
          <a:xfrm>
            <a:off x="7242048" y="1819656"/>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13 eventos en 36 meses en la flota (4,33 por año)</a:t>
            </a:r>
          </a:p>
        </p:txBody>
      </p:sp>
      <p:sp>
        <p:nvSpPr>
          <p:cNvPr id="11" name="Rectangle 10"/>
          <p:cNvSpPr/>
          <p:nvPr/>
        </p:nvSpPr>
        <p:spPr>
          <a:xfrm>
            <a:off x="6492240" y="2240280"/>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S</a:t>
            </a:r>
          </a:p>
        </p:txBody>
      </p:sp>
      <p:sp>
        <p:nvSpPr>
          <p:cNvPr id="12" name="Rectangle 11"/>
          <p:cNvSpPr/>
          <p:nvPr/>
        </p:nvSpPr>
        <p:spPr>
          <a:xfrm>
            <a:off x="6830568" y="2240280"/>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C3094A"/>
                </a:solidFill>
                <a:latin typeface="Arial"/>
              </a:rPr>
              <a:t>4</a:t>
            </a:r>
          </a:p>
        </p:txBody>
      </p:sp>
      <p:sp>
        <p:nvSpPr>
          <p:cNvPr id="13" name="TextBox 12"/>
          <p:cNvSpPr txBox="1"/>
          <p:nvPr/>
        </p:nvSpPr>
        <p:spPr>
          <a:xfrm>
            <a:off x="7242048" y="2322631"/>
            <a:ext cx="4114800" cy="146194"/>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pérdida de tracción en rampa</a:t>
            </a:r>
          </a:p>
        </p:txBody>
      </p:sp>
      <p:sp>
        <p:nvSpPr>
          <p:cNvPr id="14" name="Rectangle 13"/>
          <p:cNvSpPr/>
          <p:nvPr/>
        </p:nvSpPr>
        <p:spPr>
          <a:xfrm>
            <a:off x="6492240" y="2670048"/>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O</a:t>
            </a:r>
          </a:p>
        </p:txBody>
      </p:sp>
      <p:sp>
        <p:nvSpPr>
          <p:cNvPr id="15" name="Rectangle 14"/>
          <p:cNvSpPr/>
          <p:nvPr/>
        </p:nvSpPr>
        <p:spPr>
          <a:xfrm>
            <a:off x="6830568" y="2670048"/>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C3094A"/>
                </a:solidFill>
                <a:latin typeface="Arial"/>
              </a:rPr>
              <a:t>4</a:t>
            </a:r>
          </a:p>
        </p:txBody>
      </p:sp>
      <p:sp>
        <p:nvSpPr>
          <p:cNvPr id="16" name="TextBox 15"/>
          <p:cNvSpPr txBox="1"/>
          <p:nvPr/>
        </p:nvSpPr>
        <p:spPr>
          <a:xfrm>
            <a:off x="7242048" y="2679191"/>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MTTR de 59,3 h, rango de 25,7 h a 94,2 h</a:t>
            </a:r>
          </a:p>
        </p:txBody>
      </p:sp>
      <p:sp>
        <p:nvSpPr>
          <p:cNvPr id="17" name="Rectangle 16"/>
          <p:cNvSpPr/>
          <p:nvPr/>
        </p:nvSpPr>
        <p:spPr>
          <a:xfrm>
            <a:off x="6492240" y="3099815"/>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C</a:t>
            </a:r>
          </a:p>
        </p:txBody>
      </p:sp>
      <p:sp>
        <p:nvSpPr>
          <p:cNvPr id="18" name="Rectangle 17"/>
          <p:cNvSpPr/>
          <p:nvPr/>
        </p:nvSpPr>
        <p:spPr>
          <a:xfrm>
            <a:off x="6830568" y="3099815"/>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C3094A"/>
                </a:solidFill>
                <a:latin typeface="Arial"/>
              </a:rPr>
              <a:t>4</a:t>
            </a:r>
          </a:p>
        </p:txBody>
      </p:sp>
      <p:sp>
        <p:nvSpPr>
          <p:cNvPr id="19" name="TextBox 18"/>
          <p:cNvSpPr txBox="1"/>
          <p:nvPr/>
        </p:nvSpPr>
        <p:spPr>
          <a:xfrm>
            <a:off x="7242048" y="3108959"/>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US$ 763 393 por evento; 35 días de reparación</a:t>
            </a:r>
          </a:p>
        </p:txBody>
      </p:sp>
      <p:sp>
        <p:nvSpPr>
          <p:cNvPr id="20" name="Rectangle 19"/>
          <p:cNvSpPr/>
          <p:nvPr/>
        </p:nvSpPr>
        <p:spPr>
          <a:xfrm>
            <a:off x="6492240" y="3529583"/>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K</a:t>
            </a:r>
          </a:p>
        </p:txBody>
      </p:sp>
      <p:sp>
        <p:nvSpPr>
          <p:cNvPr id="21" name="Rectangle 20"/>
          <p:cNvSpPr/>
          <p:nvPr/>
        </p:nvSpPr>
        <p:spPr>
          <a:xfrm>
            <a:off x="6830568" y="3529583"/>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C3094A"/>
                </a:solidFill>
                <a:latin typeface="Arial"/>
              </a:rPr>
              <a:t>4</a:t>
            </a:r>
          </a:p>
        </p:txBody>
      </p:sp>
      <p:sp>
        <p:nvSpPr>
          <p:cNvPr id="22" name="TextBox 21"/>
          <p:cNvSpPr txBox="1"/>
          <p:nvPr/>
        </p:nvSpPr>
        <p:spPr>
          <a:xfrm>
            <a:off x="7242048" y="3538727"/>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315 h anuales = 0,36 % de disponibilidad de flota</a:t>
            </a:r>
          </a:p>
        </p:txBody>
      </p:sp>
      <p:sp>
        <p:nvSpPr>
          <p:cNvPr id="23" name="Rectangle 22"/>
          <p:cNvSpPr/>
          <p:nvPr/>
        </p:nvSpPr>
        <p:spPr>
          <a:xfrm>
            <a:off x="6492240" y="3959351"/>
            <a:ext cx="292608" cy="29260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FFFFFF"/>
                </a:solidFill>
                <a:latin typeface="Arial"/>
              </a:rPr>
              <a:t>D</a:t>
            </a:r>
          </a:p>
        </p:txBody>
      </p:sp>
      <p:sp>
        <p:nvSpPr>
          <p:cNvPr id="24" name="Rectangle 23"/>
          <p:cNvSpPr/>
          <p:nvPr/>
        </p:nvSpPr>
        <p:spPr>
          <a:xfrm>
            <a:off x="6830568" y="3959351"/>
            <a:ext cx="292608" cy="2926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2841DD"/>
                </a:solidFill>
                <a:latin typeface="Arial"/>
              </a:rPr>
              <a:t>5</a:t>
            </a:r>
          </a:p>
        </p:txBody>
      </p:sp>
      <p:sp>
        <p:nvSpPr>
          <p:cNvPr id="25" name="TextBox 24"/>
          <p:cNvSpPr txBox="1"/>
          <p:nvPr/>
        </p:nvSpPr>
        <p:spPr>
          <a:xfrm>
            <a:off x="7242048" y="3968495"/>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ES" sz="950" b="0" i="0" noProof="0" dirty="0">
                <a:solidFill>
                  <a:srgbClr val="191919"/>
                </a:solidFill>
                <a:latin typeface="Arial"/>
              </a:rPr>
              <a:t>La grieta nuclea dentro del motor cerrado: sin acceso de inspección</a:t>
            </a:r>
          </a:p>
        </p:txBody>
      </p:sp>
      <p:sp>
        <p:nvSpPr>
          <p:cNvPr id="26" name="TextBox 25"/>
          <p:cNvSpPr txBox="1"/>
          <p:nvPr/>
        </p:nvSpPr>
        <p:spPr>
          <a:xfrm>
            <a:off x="841248" y="4864608"/>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ES" sz="900" b="0" i="0" noProof="0" dirty="0">
                <a:solidFill>
                  <a:srgbClr val="7A8494"/>
                </a:solidFill>
                <a:latin typeface="Arial"/>
              </a:rPr>
              <a:t>Consecuencia consolidada C = </a:t>
            </a:r>
            <a:r>
              <a:rPr lang="es-ES" sz="900" b="0" i="0" noProof="0" dirty="0" err="1">
                <a:solidFill>
                  <a:srgbClr val="7A8494"/>
                </a:solidFill>
                <a:latin typeface="Arial"/>
              </a:rPr>
              <a:t>máx</a:t>
            </a:r>
            <a:r>
              <a:rPr lang="es-ES" sz="900" b="0" i="0" noProof="0" dirty="0">
                <a:solidFill>
                  <a:srgbClr val="7A8494"/>
                </a:solidFill>
                <a:latin typeface="Arial"/>
              </a:rPr>
              <a:t> (S, O, Co, K) = 4 con F = 5; la detectabilidad D = 5 promueve la celda. Rúbrica de puntuación: Anexo C.</a:t>
            </a:r>
          </a:p>
        </p:txBody>
      </p:sp>
      <p:sp>
        <p:nvSpPr>
          <p:cNvPr id="27" name="Rectangle 26"/>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8" name="TextBox 27"/>
          <p:cNvSpPr txBox="1"/>
          <p:nvPr/>
        </p:nvSpPr>
        <p:spPr>
          <a:xfrm>
            <a:off x="1024128" y="5157216"/>
            <a:ext cx="10277856" cy="184859"/>
          </a:xfrm>
          <a:prstGeom prst="rect">
            <a:avLst/>
          </a:prstGeom>
          <a:noFill/>
        </p:spPr>
        <p:txBody>
          <a:bodyPr wrap="square" lIns="0" tIns="0" rIns="0" bIns="0" anchor="t">
            <a:spAutoFit/>
          </a:bodyPr>
          <a:lstStyle/>
          <a:p>
            <a:pPr algn="l">
              <a:lnSpc>
                <a:spcPct val="114000"/>
              </a:lnSpc>
              <a:spcBef>
                <a:spcPts val="0"/>
              </a:spcBef>
              <a:spcAft>
                <a:spcPts val="400"/>
              </a:spcAft>
            </a:pPr>
            <a:r>
              <a:rPr lang="es-ES" sz="1150" b="1" i="0" noProof="0" dirty="0">
                <a:solidFill>
                  <a:srgbClr val="042354"/>
                </a:solidFill>
                <a:latin typeface="Arial"/>
              </a:rPr>
              <a:t>La acción que corresponde al cuadrante de criticidad alta es la eliminación de la causa raíz, no un incremento de inspecciones.</a:t>
            </a:r>
          </a:p>
        </p:txBody>
      </p:sp>
      <p:pic>
        <p:nvPicPr>
          <p:cNvPr id="29" name="Imagen 28">
            <a:extLst>
              <a:ext uri="{FF2B5EF4-FFF2-40B4-BE49-F238E27FC236}">
                <a16:creationId xmlns:a16="http://schemas.microsoft.com/office/drawing/2014/main" id="{7F28D03E-FF13-C06C-BD6E-328D1E5C69BD}"/>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0" name="TextBox 29"/>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04 · DESARROLLO  |  ETAPA 2 · FOCALIZACIÓN</a:t>
            </a:r>
          </a:p>
        </p:txBody>
      </p:sp>
      <p:sp>
        <p:nvSpPr>
          <p:cNvPr id="31"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2"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3" name="Tracker E2"/>
          <p:cNvSpPr/>
          <p:nvPr/>
        </p:nvSpPr>
        <p:spPr>
          <a:xfrm>
            <a:off x="160934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2</a:t>
            </a:r>
          </a:p>
        </p:txBody>
      </p:sp>
      <p:sp>
        <p:nvSpPr>
          <p:cNvPr id="34"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35"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36"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37"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8"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9"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40"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1"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2"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43"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44"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04 · DESARROLLO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Preguntas 1 y 2: función y falla funcional</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7</a:t>
            </a:r>
          </a:p>
        </p:txBody>
      </p:sp>
      <p:pic>
        <p:nvPicPr>
          <p:cNvPr id="6" name="Picture 5" descr="motor_corte.png"/>
          <p:cNvPicPr>
            <a:picLocks noChangeAspect="1"/>
          </p:cNvPicPr>
          <p:nvPr/>
        </p:nvPicPr>
        <p:blipFill>
          <a:blip r:embed="rId2"/>
          <a:stretch>
            <a:fillRect/>
          </a:stretch>
        </p:blipFill>
        <p:spPr>
          <a:xfrm>
            <a:off x="624839" y="1362844"/>
            <a:ext cx="7004958" cy="3940289"/>
          </a:xfrm>
          <a:prstGeom prst="rect">
            <a:avLst/>
          </a:prstGeom>
        </p:spPr>
      </p:pic>
      <p:sp>
        <p:nvSpPr>
          <p:cNvPr id="7" name="TextBox 6"/>
          <p:cNvSpPr txBox="1"/>
          <p:nvPr/>
        </p:nvSpPr>
        <p:spPr>
          <a:xfrm>
            <a:off x="624839" y="5418790"/>
            <a:ext cx="6035040" cy="136384"/>
          </a:xfrm>
          <a:prstGeom prst="rect">
            <a:avLst/>
          </a:prstGeom>
          <a:noFill/>
        </p:spPr>
        <p:txBody>
          <a:bodyPr wrap="square" lIns="0" tIns="0" rIns="0" bIns="0" anchor="t">
            <a:spAutoFit/>
          </a:bodyPr>
          <a:lstStyle/>
          <a:p>
            <a:pPr algn="l">
              <a:lnSpc>
                <a:spcPct val="106000"/>
              </a:lnSpc>
              <a:spcBef>
                <a:spcPts val="0"/>
              </a:spcBef>
              <a:spcAft>
                <a:spcPts val="400"/>
              </a:spcAft>
            </a:pPr>
            <a:r>
              <a:rPr lang="es-ES" sz="900" b="0" i="0" noProof="0" dirty="0">
                <a:solidFill>
                  <a:srgbClr val="7A8494"/>
                </a:solidFill>
                <a:latin typeface="Arial"/>
              </a:rPr>
              <a:t>Configuración del tren de potencia del motor de tracción.</a:t>
            </a:r>
          </a:p>
        </p:txBody>
      </p:sp>
      <p:sp>
        <p:nvSpPr>
          <p:cNvPr id="8" name="Rectangle 7"/>
          <p:cNvSpPr/>
          <p:nvPr/>
        </p:nvSpPr>
        <p:spPr>
          <a:xfrm>
            <a:off x="7794390" y="1528571"/>
            <a:ext cx="4224528" cy="14264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9" name="Rectangle 8"/>
          <p:cNvSpPr/>
          <p:nvPr/>
        </p:nvSpPr>
        <p:spPr>
          <a:xfrm>
            <a:off x="7794390" y="1528571"/>
            <a:ext cx="45720" cy="142646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0" name="TextBox 9"/>
          <p:cNvSpPr txBox="1"/>
          <p:nvPr/>
        </p:nvSpPr>
        <p:spPr>
          <a:xfrm>
            <a:off x="8013845" y="1656587"/>
            <a:ext cx="3840480" cy="1188720"/>
          </a:xfrm>
          <a:prstGeom prst="rect">
            <a:avLst/>
          </a:prstGeom>
          <a:noFill/>
        </p:spPr>
        <p:txBody>
          <a:bodyPr wrap="square" lIns="0" tIns="0" rIns="0" bIns="0" anchor="t">
            <a:spAutoFit/>
          </a:bodyPr>
          <a:lstStyle/>
          <a:p>
            <a:pPr algn="l">
              <a:lnSpc>
                <a:spcPct val="114000"/>
              </a:lnSpc>
              <a:spcBef>
                <a:spcPts val="0"/>
              </a:spcBef>
              <a:spcAft>
                <a:spcPts val="500"/>
              </a:spcAft>
            </a:pPr>
            <a:r>
              <a:rPr lang="es-ES" sz="900" b="1" i="0" noProof="0" dirty="0">
                <a:solidFill>
                  <a:srgbClr val="C3094A"/>
                </a:solidFill>
                <a:latin typeface="Arial"/>
              </a:rPr>
              <a:t>P1 · FUNCIÓN Y ESTÁNDAR</a:t>
            </a:r>
          </a:p>
          <a:p>
            <a:pPr algn="l">
              <a:lnSpc>
                <a:spcPct val="116000"/>
              </a:lnSpc>
              <a:spcBef>
                <a:spcPts val="0"/>
              </a:spcBef>
              <a:spcAft>
                <a:spcPts val="400"/>
              </a:spcAft>
            </a:pPr>
            <a:r>
              <a:rPr lang="es-ES" sz="1050" b="0" i="0" noProof="0" dirty="0">
                <a:solidFill>
                  <a:srgbClr val="191919"/>
                </a:solidFill>
                <a:latin typeface="Arial"/>
              </a:rPr>
              <a:t>Transmitir el par del motor eléctrico a la rueda (reducción 35 : 1), con tracción y retardo dinámico, durante 20 000 h entre reparaciones mayores.</a:t>
            </a:r>
          </a:p>
        </p:txBody>
      </p:sp>
      <p:sp>
        <p:nvSpPr>
          <p:cNvPr id="11" name="Rectangle 10"/>
          <p:cNvSpPr/>
          <p:nvPr/>
        </p:nvSpPr>
        <p:spPr>
          <a:xfrm>
            <a:off x="7794390" y="3083051"/>
            <a:ext cx="4224528" cy="11308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2" name="Rectangle 11"/>
          <p:cNvSpPr/>
          <p:nvPr/>
        </p:nvSpPr>
        <p:spPr>
          <a:xfrm>
            <a:off x="7794390" y="3083051"/>
            <a:ext cx="45720" cy="113080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3" name="TextBox 12"/>
          <p:cNvSpPr txBox="1"/>
          <p:nvPr/>
        </p:nvSpPr>
        <p:spPr>
          <a:xfrm>
            <a:off x="8013845" y="3211067"/>
            <a:ext cx="3840480" cy="768095"/>
          </a:xfrm>
          <a:prstGeom prst="rect">
            <a:avLst/>
          </a:prstGeom>
          <a:noFill/>
        </p:spPr>
        <p:txBody>
          <a:bodyPr wrap="square" lIns="0" tIns="0" rIns="0" bIns="0" anchor="t">
            <a:spAutoFit/>
          </a:bodyPr>
          <a:lstStyle/>
          <a:p>
            <a:pPr algn="l">
              <a:lnSpc>
                <a:spcPct val="114000"/>
              </a:lnSpc>
              <a:spcBef>
                <a:spcPts val="0"/>
              </a:spcBef>
              <a:spcAft>
                <a:spcPts val="500"/>
              </a:spcAft>
            </a:pPr>
            <a:r>
              <a:rPr lang="es-ES" sz="900" b="1" i="0" noProof="0" dirty="0">
                <a:solidFill>
                  <a:srgbClr val="2841DD"/>
                </a:solidFill>
                <a:latin typeface="Arial"/>
              </a:rPr>
              <a:t>P2 · FALLA FUNCIONAL</a:t>
            </a:r>
          </a:p>
          <a:p>
            <a:pPr algn="l">
              <a:lnSpc>
                <a:spcPct val="116000"/>
              </a:lnSpc>
              <a:spcBef>
                <a:spcPts val="0"/>
              </a:spcBef>
              <a:spcAft>
                <a:spcPts val="500"/>
              </a:spcAft>
            </a:pPr>
            <a:r>
              <a:rPr lang="es-ES" sz="1050" b="0" i="0" noProof="0" dirty="0">
                <a:solidFill>
                  <a:srgbClr val="191919"/>
                </a:solidFill>
                <a:latin typeface="Arial"/>
              </a:rPr>
              <a:t>El eje palier se fractura y el motor deja de transmitir par: la rueda queda libre y el camión pierde tracción.</a:t>
            </a:r>
          </a:p>
        </p:txBody>
      </p:sp>
      <p:pic>
        <p:nvPicPr>
          <p:cNvPr id="16" name="Imagen 15">
            <a:extLst>
              <a:ext uri="{FF2B5EF4-FFF2-40B4-BE49-F238E27FC236}">
                <a16:creationId xmlns:a16="http://schemas.microsoft.com/office/drawing/2014/main" id="{A3C54E0C-0788-60C3-25DF-AA398C6E594F}"/>
              </a:ext>
            </a:extLst>
          </p:cNvPr>
          <p:cNvPicPr>
            <a:picLocks noChangeAspect="1"/>
          </p:cNvPicPr>
          <p:nvPr/>
        </p:nvPicPr>
        <p:blipFill>
          <a:blip r:embed="rId3"/>
          <a:stretch>
            <a:fillRect/>
          </a:stretch>
        </p:blipFill>
        <p:spPr>
          <a:xfrm>
            <a:off x="158617" y="5943600"/>
            <a:ext cx="5620013" cy="550672"/>
          </a:xfrm>
          <a:prstGeom prst="rect">
            <a:avLst/>
          </a:prstGeom>
        </p:spPr>
      </p:pic>
      <p:sp>
        <p:nvSpPr>
          <p:cNvPr id="17" name="TextBox 16"/>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04 · DESARROLLO  |  ETAPA 3 (RCM) · PREGUNTAS 1 Y 2</a:t>
            </a:r>
          </a:p>
        </p:txBody>
      </p:sp>
      <p:sp>
        <p:nvSpPr>
          <p:cNvPr id="18" name="Foco"/>
          <p:cNvSpPr/>
          <p:nvPr/>
        </p:nvSpPr>
        <p:spPr>
          <a:xfrm>
            <a:off x="7790688" y="4407408"/>
            <a:ext cx="4224528" cy="896112"/>
          </a:xfrm>
          <a:prstGeom prst="rect">
            <a:avLst/>
          </a:prstGeom>
          <a:solidFill>
            <a:srgbClr val="042354"/>
          </a:solidFill>
          <a:ln>
            <a:noFill/>
          </a:ln>
        </p:spPr>
        <p:style>
          <a:lnRef idx="1">
            <a:schemeClr val="accent1"/>
          </a:lnRef>
          <a:fillRef idx="3">
            <a:schemeClr val="accent1"/>
          </a:fillRef>
          <a:effectRef idx="2">
            <a:schemeClr val="accent1"/>
          </a:effectRef>
          <a:fontRef idx="minor">
            <a:schemeClr val="lt1"/>
          </a:fontRef>
        </p:style>
        <p:txBody>
          <a:bodyPr wrap="square" lIns="201168" tIns="73152" rIns="164592" bIns="73152" rtlCol="0" anchor="ctr">
            <a:noAutofit/>
          </a:bodyPr>
          <a:lstStyle/>
          <a:p>
            <a:pPr algn="l" marL="0" indent="0">
              <a:lnSpc>
                <a:spcPct val="112000"/>
              </a:lnSpc>
              <a:spcBef>
                <a:spcPts val="0"/>
              </a:spcBef>
              <a:spcAft>
                <a:spcPts val="0"/>
              </a:spcAft>
              <a:buNone/>
            </a:pPr>
            <a:r>
              <a:rPr lang="es-PE" sz="1100" b="0" i="0" dirty="0">
                <a:solidFill>
                  <a:srgbClr val="FFFFFF"/>
                </a:solidFill>
                <a:latin typeface="Arial"/>
                <a:cs typeface="Arial"/>
              </a:rPr>
              <a:t>La falla funcional es evidente. El análisis se concentra en la </a:t>
            </a:r>
            <a:r>
              <a:rPr lang="es-PE" sz="1100" b="1" i="0" dirty="0">
                <a:solidFill>
                  <a:srgbClr val="FFFFFF"/>
                </a:solidFill>
                <a:latin typeface="Arial"/>
                <a:cs typeface="Arial"/>
              </a:rPr>
              <a:t>pregunta 3</a:t>
            </a:r>
            <a:r>
              <a:rPr lang="es-PE" sz="1100" b="0" i="0" dirty="0">
                <a:solidFill>
                  <a:srgbClr val="FFFFFF"/>
                </a:solidFill>
                <a:latin typeface="Arial"/>
                <a:cs typeface="Arial"/>
              </a:rPr>
              <a:t> (causa) y en las </a:t>
            </a:r>
            <a:r>
              <a:rPr lang="es-PE" sz="1100" b="1" i="0" dirty="0">
                <a:solidFill>
                  <a:srgbClr val="FFFFFF"/>
                </a:solidFill>
                <a:latin typeface="Arial"/>
                <a:cs typeface="Arial"/>
              </a:rPr>
              <a:t>preguntas 6 y 7</a:t>
            </a:r>
            <a:r>
              <a:rPr lang="es-PE" sz="1100" b="0" i="0" dirty="0">
                <a:solidFill>
                  <a:srgbClr val="FFFFFF"/>
                </a:solidFill>
                <a:latin typeface="Arial"/>
                <a:cs typeface="Arial"/>
              </a:rPr>
              <a:t> (decisión).</a:t>
            </a:r>
          </a:p>
        </p:txBody>
      </p:sp>
      <p:sp>
        <p:nvSpPr>
          <p:cNvPr id="19"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20"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21"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22"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23"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24"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25" name="Tracker P1"/>
          <p:cNvSpPr/>
          <p:nvPr/>
        </p:nvSpPr>
        <p:spPr>
          <a:xfrm>
            <a:off x="376732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1</a:t>
            </a:r>
          </a:p>
        </p:txBody>
      </p:sp>
      <p:sp>
        <p:nvSpPr>
          <p:cNvPr id="26" name="Tracker P2"/>
          <p:cNvSpPr/>
          <p:nvPr/>
        </p:nvSpPr>
        <p:spPr>
          <a:xfrm>
            <a:off x="404164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2</a:t>
            </a:r>
          </a:p>
        </p:txBody>
      </p:sp>
      <p:sp>
        <p:nvSpPr>
          <p:cNvPr id="27"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28"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29"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30"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31"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32"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04 · DESARROLLO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Causa física: lo que aportó cada análisis de falla (AFA)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8</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1024128" y="1389888"/>
            <a:ext cx="2331720" cy="228600"/>
          </a:xfrm>
          <a:prstGeom prst="rect">
            <a:avLst/>
          </a:prstGeom>
          <a:noFill/>
        </p:spPr>
        <p:txBody>
          <a:bodyPr wrap="square" lIns="0" tIns="0" rIns="0" bIns="0" anchor="t">
            <a:spAutoFit/>
          </a:bodyPr>
          <a:lstStyle/>
          <a:p>
            <a:pPr algn="l">
              <a:lnSpc>
                <a:spcPct val="110000"/>
              </a:lnSpc>
              <a:spcBef>
                <a:spcPts val="0"/>
              </a:spcBef>
              <a:spcAft>
                <a:spcPts val="300"/>
              </a:spcAft>
            </a:pPr>
            <a:r>
              <a:rPr lang="es-ES" sz="900" b="1" i="0" noProof="0" dirty="0">
                <a:solidFill>
                  <a:srgbClr val="4A5568"/>
                </a:solidFill>
                <a:latin typeface="Arial"/>
              </a:rPr>
              <a:t>REPORTE</a:t>
            </a:r>
          </a:p>
        </p:txBody>
      </p:sp>
      <p:sp>
        <p:nvSpPr>
          <p:cNvPr id="37" name="TextBox 36"/>
          <p:cNvSpPr txBox="1"/>
          <p:nvPr/>
        </p:nvSpPr>
        <p:spPr>
          <a:xfrm>
            <a:off x="3355848" y="1389888"/>
            <a:ext cx="2606040" cy="228600"/>
          </a:xfrm>
          <a:prstGeom prst="rect">
            <a:avLst/>
          </a:prstGeom>
          <a:noFill/>
        </p:spPr>
        <p:txBody>
          <a:bodyPr wrap="square" lIns="0" tIns="0" rIns="0" bIns="0" anchor="t">
            <a:spAutoFit/>
          </a:bodyPr>
          <a:lstStyle/>
          <a:p>
            <a:pPr algn="l">
              <a:lnSpc>
                <a:spcPct val="110000"/>
              </a:lnSpc>
              <a:spcBef>
                <a:spcPts val="0"/>
              </a:spcBef>
              <a:spcAft>
                <a:spcPts val="300"/>
              </a:spcAft>
            </a:pPr>
            <a:r>
              <a:rPr lang="es-ES" sz="900" b="1" i="0" noProof="0" dirty="0">
                <a:solidFill>
                  <a:srgbClr val="4A5568"/>
                </a:solidFill>
                <a:latin typeface="Arial"/>
              </a:rPr>
              <a:t>QUÉ ANALIZÓ</a:t>
            </a:r>
          </a:p>
        </p:txBody>
      </p:sp>
      <p:sp>
        <p:nvSpPr>
          <p:cNvPr id="38" name="TextBox 37"/>
          <p:cNvSpPr txBox="1"/>
          <p:nvPr/>
        </p:nvSpPr>
        <p:spPr>
          <a:xfrm>
            <a:off x="6144768" y="1389888"/>
            <a:ext cx="3657600" cy="228600"/>
          </a:xfrm>
          <a:prstGeom prst="rect">
            <a:avLst/>
          </a:prstGeom>
          <a:noFill/>
        </p:spPr>
        <p:txBody>
          <a:bodyPr wrap="square" lIns="0" tIns="0" rIns="0" bIns="0" anchor="t">
            <a:spAutoFit/>
          </a:bodyPr>
          <a:lstStyle/>
          <a:p>
            <a:pPr algn="l">
              <a:lnSpc>
                <a:spcPct val="110000"/>
              </a:lnSpc>
              <a:spcBef>
                <a:spcPts val="0"/>
              </a:spcBef>
              <a:spcAft>
                <a:spcPts val="300"/>
              </a:spcAft>
            </a:pPr>
            <a:r>
              <a:rPr lang="es-ES" sz="900" b="1" i="0" noProof="0" dirty="0">
                <a:solidFill>
                  <a:srgbClr val="4A5568"/>
                </a:solidFill>
                <a:latin typeface="Arial"/>
              </a:rPr>
              <a:t>APORTE PRINCIPAL</a:t>
            </a:r>
          </a:p>
        </p:txBody>
      </p:sp>
      <p:sp>
        <p:nvSpPr>
          <p:cNvPr id="39" name="TextBox 38"/>
          <p:cNvSpPr txBox="1"/>
          <p:nvPr/>
        </p:nvSpPr>
        <p:spPr>
          <a:xfrm>
            <a:off x="9985248" y="1389888"/>
            <a:ext cx="1371600" cy="228600"/>
          </a:xfrm>
          <a:prstGeom prst="rect">
            <a:avLst/>
          </a:prstGeom>
          <a:noFill/>
        </p:spPr>
        <p:txBody>
          <a:bodyPr wrap="square" lIns="0" tIns="0" rIns="0" bIns="0" anchor="t">
            <a:spAutoFit/>
          </a:bodyPr>
          <a:lstStyle/>
          <a:p>
            <a:pPr algn="l">
              <a:lnSpc>
                <a:spcPct val="110000"/>
              </a:lnSpc>
              <a:spcBef>
                <a:spcPts val="0"/>
              </a:spcBef>
              <a:spcAft>
                <a:spcPts val="300"/>
              </a:spcAft>
            </a:pPr>
            <a:r>
              <a:rPr lang="es-ES" sz="900" b="1" i="0" noProof="0" dirty="0">
                <a:solidFill>
                  <a:srgbClr val="4A5568"/>
                </a:solidFill>
                <a:latin typeface="Arial"/>
              </a:rPr>
              <a:t>RESULTADO</a:t>
            </a:r>
          </a:p>
        </p:txBody>
      </p:sp>
      <p:sp>
        <p:nvSpPr>
          <p:cNvPr id="40" name="Rectangle 39"/>
          <p:cNvSpPr/>
          <p:nvPr/>
        </p:nvSpPr>
        <p:spPr>
          <a:xfrm>
            <a:off x="841248" y="1664208"/>
            <a:ext cx="10515600" cy="78638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Rectangle 40"/>
          <p:cNvSpPr/>
          <p:nvPr/>
        </p:nvSpPr>
        <p:spPr>
          <a:xfrm>
            <a:off x="841248" y="1664208"/>
            <a:ext cx="45720" cy="7863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2" name="TextBox 41"/>
          <p:cNvSpPr txBox="1"/>
          <p:nvPr/>
        </p:nvSpPr>
        <p:spPr>
          <a:xfrm>
            <a:off x="1024128" y="1773936"/>
            <a:ext cx="2194560" cy="467820"/>
          </a:xfrm>
          <a:prstGeom prst="rect">
            <a:avLst/>
          </a:prstGeom>
          <a:noFill/>
        </p:spPr>
        <p:txBody>
          <a:bodyPr wrap="square" lIns="0" tIns="0" rIns="0" bIns="0" anchor="t">
            <a:spAutoFit/>
          </a:bodyPr>
          <a:lstStyle/>
          <a:p>
            <a:pPr algn="l">
              <a:lnSpc>
                <a:spcPct val="100000"/>
              </a:lnSpc>
              <a:spcBef>
                <a:spcPts val="0"/>
              </a:spcBef>
              <a:spcAft>
                <a:spcPts val="200"/>
              </a:spcAft>
            </a:pPr>
            <a:r>
              <a:rPr lang="es-ES" sz="1150" b="1" i="0" noProof="0" dirty="0" err="1">
                <a:solidFill>
                  <a:srgbClr val="C3094A"/>
                </a:solidFill>
                <a:latin typeface="Arial"/>
              </a:rPr>
              <a:t>Análisis de falla</a:t>
            </a:r>
          </a:p>
          <a:p>
            <a:pPr algn="l">
              <a:lnSpc>
                <a:spcPct val="105000"/>
              </a:lnSpc>
              <a:spcBef>
                <a:spcPts val="0"/>
              </a:spcBef>
              <a:spcAft>
                <a:spcPts val="0"/>
              </a:spcAft>
            </a:pPr>
            <a:r>
              <a:rPr lang="es-ES" sz="850" b="0" i="0" noProof="0" dirty="0">
                <a:solidFill>
                  <a:srgbClr val="4A5568"/>
                </a:solidFill>
                <a:latin typeface="Arial"/>
              </a:rPr>
              <a:t>Inspección visual de la empresa contratista (portadas en el Anexo E)</a:t>
            </a:r>
          </a:p>
        </p:txBody>
      </p:sp>
      <p:sp>
        <p:nvSpPr>
          <p:cNvPr id="43" name="TextBox 42"/>
          <p:cNvSpPr txBox="1"/>
          <p:nvPr/>
        </p:nvSpPr>
        <p:spPr>
          <a:xfrm>
            <a:off x="3355848" y="1664208"/>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lang="es-ES" sz="950" b="0" i="0" noProof="0" dirty="0">
                <a:solidFill>
                  <a:srgbClr val="4A5568"/>
                </a:solidFill>
                <a:latin typeface="Arial"/>
              </a:rPr>
              <a:t>Superficie de fractura de cada evento</a:t>
            </a:r>
          </a:p>
        </p:txBody>
      </p:sp>
      <p:sp>
        <p:nvSpPr>
          <p:cNvPr id="44" name="TextBox 43"/>
          <p:cNvSpPr txBox="1"/>
          <p:nvPr/>
        </p:nvSpPr>
        <p:spPr>
          <a:xfrm>
            <a:off x="6144768" y="1892002"/>
            <a:ext cx="3657600" cy="330796"/>
          </a:xfrm>
          <a:prstGeom prst="rect">
            <a:avLst/>
          </a:prstGeom>
          <a:noFill/>
        </p:spPr>
        <p:txBody>
          <a:bodyPr wrap="square" lIns="0" tIns="0" rIns="0" bIns="0" anchor="ctr">
            <a:spAutoFit/>
          </a:bodyPr>
          <a:lstStyle/>
          <a:p>
            <a:pPr algn="l">
              <a:lnSpc>
                <a:spcPct val="112000"/>
              </a:lnSpc>
              <a:spcBef>
                <a:spcPts val="0"/>
              </a:spcBef>
              <a:spcAft>
                <a:spcPts val="0"/>
              </a:spcAft>
            </a:pPr>
            <a:r>
              <a:rPr lang="es-ES" sz="1000" b="0" i="0" noProof="0" dirty="0">
                <a:solidFill>
                  <a:srgbClr val="191919"/>
                </a:solidFill>
                <a:latin typeface="Arial"/>
              </a:rPr>
              <a:t>Origen en el diámetro interior, en la raíz de la unión soldada; trinquete, marcas de playa y rotura final reducida.</a:t>
            </a:r>
          </a:p>
        </p:txBody>
      </p:sp>
      <p:sp>
        <p:nvSpPr>
          <p:cNvPr id="45" name="Rectangle 44"/>
          <p:cNvSpPr/>
          <p:nvPr/>
        </p:nvSpPr>
        <p:spPr>
          <a:xfrm>
            <a:off x="9985248" y="1819656"/>
            <a:ext cx="1225296" cy="47548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6" name="TextBox 45"/>
          <p:cNvSpPr txBox="1"/>
          <p:nvPr/>
        </p:nvSpPr>
        <p:spPr>
          <a:xfrm>
            <a:off x="9985248" y="1819656"/>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lang="es-ES" sz="800" b="1" i="0" noProof="0" dirty="0">
                <a:solidFill>
                  <a:srgbClr val="FFFFFF"/>
                </a:solidFill>
                <a:latin typeface="Arial"/>
              </a:rPr>
              <a:t>CONFIRMA</a:t>
            </a:r>
          </a:p>
          <a:p>
            <a:pPr algn="ctr">
              <a:lnSpc>
                <a:spcPct val="100000"/>
              </a:lnSpc>
              <a:spcBef>
                <a:spcPts val="0"/>
              </a:spcBef>
              <a:spcAft>
                <a:spcPts val="0"/>
              </a:spcAft>
            </a:pPr>
            <a:r>
              <a:rPr lang="es-ES" sz="800" b="1" i="0" noProof="0" dirty="0">
                <a:solidFill>
                  <a:srgbClr val="FFFFFF"/>
                </a:solidFill>
                <a:latin typeface="Arial"/>
              </a:rPr>
              <a:t>FATIGA</a:t>
            </a:r>
          </a:p>
        </p:txBody>
      </p:sp>
      <p:sp>
        <p:nvSpPr>
          <p:cNvPr id="47" name="Rectangle 46"/>
          <p:cNvSpPr/>
          <p:nvPr/>
        </p:nvSpPr>
        <p:spPr>
          <a:xfrm>
            <a:off x="841248" y="2523744"/>
            <a:ext cx="10515600" cy="78638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8" name="Rectangle 47"/>
          <p:cNvSpPr/>
          <p:nvPr/>
        </p:nvSpPr>
        <p:spPr>
          <a:xfrm>
            <a:off x="841248" y="2523744"/>
            <a:ext cx="45720" cy="7863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9" name="TextBox 48"/>
          <p:cNvSpPr txBox="1"/>
          <p:nvPr/>
        </p:nvSpPr>
        <p:spPr>
          <a:xfrm>
            <a:off x="1024128" y="2633472"/>
            <a:ext cx="2194560" cy="333425"/>
          </a:xfrm>
          <a:prstGeom prst="rect">
            <a:avLst/>
          </a:prstGeom>
          <a:noFill/>
        </p:spPr>
        <p:txBody>
          <a:bodyPr wrap="square" lIns="0" tIns="0" rIns="0" bIns="0" anchor="t">
            <a:spAutoFit/>
          </a:bodyPr>
          <a:lstStyle/>
          <a:p>
            <a:pPr algn="l">
              <a:lnSpc>
                <a:spcPct val="100000"/>
              </a:lnSpc>
              <a:spcBef>
                <a:spcPts val="0"/>
              </a:spcBef>
              <a:spcAft>
                <a:spcPts val="200"/>
              </a:spcAft>
            </a:pPr>
            <a:r>
              <a:rPr lang="es-ES" sz="1150" b="1" i="0" noProof="0" dirty="0">
                <a:solidFill>
                  <a:srgbClr val="042354"/>
                </a:solidFill>
                <a:latin typeface="Arial"/>
              </a:rPr>
              <a:t>DIESA</a:t>
            </a:r>
          </a:p>
          <a:p>
            <a:pPr algn="l">
              <a:lnSpc>
                <a:spcPct val="100000"/>
              </a:lnSpc>
              <a:spcBef>
                <a:spcPts val="0"/>
              </a:spcBef>
              <a:spcAft>
                <a:spcPts val="200"/>
              </a:spcAft>
            </a:pPr>
            <a:r>
              <a:rPr lang="es-ES" sz="850" b="0" i="0" noProof="0" dirty="0">
                <a:solidFill>
                  <a:srgbClr val="4A5568"/>
                </a:solidFill>
                <a:latin typeface="Arial"/>
              </a:rPr>
              <a:t>Laboratorio externo</a:t>
            </a:r>
          </a:p>
        </p:txBody>
      </p:sp>
      <p:sp>
        <p:nvSpPr>
          <p:cNvPr id="50" name="TextBox 49"/>
          <p:cNvSpPr txBox="1"/>
          <p:nvPr/>
        </p:nvSpPr>
        <p:spPr>
          <a:xfrm>
            <a:off x="3355848" y="2523744"/>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lang="es-ES" sz="950" b="0" i="0" noProof="0" dirty="0">
                <a:solidFill>
                  <a:srgbClr val="4A5568"/>
                </a:solidFill>
                <a:latin typeface="Arial"/>
              </a:rPr>
              <a:t>Metalografía, composición química, dureza y tracción del eje</a:t>
            </a:r>
          </a:p>
        </p:txBody>
      </p:sp>
      <p:sp>
        <p:nvSpPr>
          <p:cNvPr id="51" name="TextBox 50"/>
          <p:cNvSpPr txBox="1"/>
          <p:nvPr/>
        </p:nvSpPr>
        <p:spPr>
          <a:xfrm>
            <a:off x="6144768" y="2523744"/>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lang="es-ES" sz="1000" b="0" i="0" noProof="0" dirty="0">
                <a:solidFill>
                  <a:srgbClr val="191919"/>
                </a:solidFill>
                <a:latin typeface="Arial"/>
              </a:rPr>
              <a:t>La grieta nuclea en una discontinuidad de la raíz. Material conforme a ASTM A618 Gr. III: 212 HBW, 619 MPa y 717 MPa.</a:t>
            </a:r>
          </a:p>
        </p:txBody>
      </p:sp>
      <p:sp>
        <p:nvSpPr>
          <p:cNvPr id="52" name="Rectangle 51"/>
          <p:cNvSpPr/>
          <p:nvPr/>
        </p:nvSpPr>
        <p:spPr>
          <a:xfrm>
            <a:off x="9985248" y="2679191"/>
            <a:ext cx="1225296"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3" name="TextBox 52"/>
          <p:cNvSpPr txBox="1"/>
          <p:nvPr/>
        </p:nvSpPr>
        <p:spPr>
          <a:xfrm>
            <a:off x="9985248" y="2679191"/>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lang="es-ES" sz="800" b="1" i="0" noProof="0" dirty="0">
                <a:solidFill>
                  <a:srgbClr val="FFFFFF"/>
                </a:solidFill>
                <a:latin typeface="Arial"/>
              </a:rPr>
              <a:t>DESCARTA</a:t>
            </a:r>
          </a:p>
          <a:p>
            <a:pPr algn="ctr">
              <a:lnSpc>
                <a:spcPct val="100000"/>
              </a:lnSpc>
              <a:spcBef>
                <a:spcPts val="0"/>
              </a:spcBef>
              <a:spcAft>
                <a:spcPts val="0"/>
              </a:spcAft>
            </a:pPr>
            <a:r>
              <a:rPr lang="es-ES" sz="800" b="1" i="0" noProof="0" dirty="0">
                <a:solidFill>
                  <a:srgbClr val="FFFFFF"/>
                </a:solidFill>
                <a:latin typeface="Arial"/>
              </a:rPr>
              <a:t>MATERIAL (F1)</a:t>
            </a:r>
          </a:p>
        </p:txBody>
      </p:sp>
      <p:sp>
        <p:nvSpPr>
          <p:cNvPr id="54" name="Rectangle 53"/>
          <p:cNvSpPr/>
          <p:nvPr/>
        </p:nvSpPr>
        <p:spPr>
          <a:xfrm>
            <a:off x="841248" y="3383279"/>
            <a:ext cx="10515600" cy="78638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5" name="Rectangle 54"/>
          <p:cNvSpPr/>
          <p:nvPr/>
        </p:nvSpPr>
        <p:spPr>
          <a:xfrm>
            <a:off x="841248" y="3383279"/>
            <a:ext cx="45720" cy="7863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6" name="TextBox 55"/>
          <p:cNvSpPr txBox="1"/>
          <p:nvPr/>
        </p:nvSpPr>
        <p:spPr>
          <a:xfrm>
            <a:off x="1024128" y="3493008"/>
            <a:ext cx="2194560" cy="176972"/>
          </a:xfrm>
          <a:prstGeom prst="rect">
            <a:avLst/>
          </a:prstGeom>
          <a:noFill/>
        </p:spPr>
        <p:txBody>
          <a:bodyPr wrap="square" lIns="0" tIns="0" rIns="0" bIns="0" anchor="t">
            <a:spAutoFit/>
          </a:bodyPr>
          <a:lstStyle/>
          <a:p>
            <a:pPr algn="l">
              <a:lnSpc>
                <a:spcPct val="100000"/>
              </a:lnSpc>
              <a:spcBef>
                <a:spcPts val="0"/>
              </a:spcBef>
              <a:spcAft>
                <a:spcPts val="200"/>
              </a:spcAft>
            </a:pPr>
            <a:r>
              <a:rPr lang="es-ES" sz="1150" b="1" i="0" noProof="0" dirty="0">
                <a:solidFill>
                  <a:srgbClr val="042354"/>
                </a:solidFill>
                <a:latin typeface="Arial"/>
              </a:rPr>
              <a:t>Data del equipo</a:t>
            </a:r>
          </a:p>
        </p:txBody>
      </p:sp>
      <p:sp>
        <p:nvSpPr>
          <p:cNvPr id="57" name="TextBox 56"/>
          <p:cNvSpPr txBox="1"/>
          <p:nvPr/>
        </p:nvSpPr>
        <p:spPr>
          <a:xfrm>
            <a:off x="3355848" y="3621877"/>
            <a:ext cx="2606040" cy="309187"/>
          </a:xfrm>
          <a:prstGeom prst="rect">
            <a:avLst/>
          </a:prstGeom>
          <a:noFill/>
        </p:spPr>
        <p:txBody>
          <a:bodyPr wrap="square" lIns="0" tIns="0" rIns="0" bIns="0" anchor="ctr">
            <a:spAutoFit/>
          </a:bodyPr>
          <a:lstStyle/>
          <a:p>
            <a:pPr algn="l">
              <a:lnSpc>
                <a:spcPct val="110000"/>
              </a:lnSpc>
              <a:spcBef>
                <a:spcPts val="0"/>
              </a:spcBef>
              <a:spcAft>
                <a:spcPts val="0"/>
              </a:spcAft>
            </a:pPr>
            <a:r>
              <a:rPr lang="es-ES" sz="950" b="0" i="0" noProof="0" dirty="0">
                <a:solidFill>
                  <a:srgbClr val="4A5568"/>
                </a:solidFill>
                <a:latin typeface="Arial"/>
              </a:rPr>
              <a:t>Carga útil, velocidad, peso suspendido y grado efectivo</a:t>
            </a:r>
          </a:p>
        </p:txBody>
      </p:sp>
      <p:sp>
        <p:nvSpPr>
          <p:cNvPr id="58" name="TextBox 57"/>
          <p:cNvSpPr txBox="1"/>
          <p:nvPr/>
        </p:nvSpPr>
        <p:spPr>
          <a:xfrm>
            <a:off x="6144768" y="3383279"/>
            <a:ext cx="3657600" cy="786384"/>
          </a:xfrm>
          <a:prstGeom prst="rect">
            <a:avLst/>
          </a:prstGeom>
          <a:noFill/>
        </p:spPr>
        <p:txBody>
          <a:bodyPr wrap="square" lIns="0" tIns="0" rIns="0" bIns="0" anchor="ctr">
            <a:spAutoFit/>
          </a:bodyPr>
          <a:lstStyle/>
          <a:p>
            <a:pPr algn="l">
              <a:lnSpc>
                <a:spcPct val="112000"/>
              </a:lnSpc>
              <a:spcBef>
                <a:spcPts val="0"/>
              </a:spcBef>
              <a:spcAft>
                <a:spcPts val="0"/>
              </a:spcAft>
            </a:pPr>
            <a:r>
              <a:rPr lang="es-ES" sz="1000" b="0" i="0" noProof="0" dirty="0">
                <a:solidFill>
                  <a:srgbClr val="191919"/>
                </a:solidFill>
                <a:latin typeface="Arial"/>
              </a:rPr>
              <a:t>Operación dentro de parámetros: 366,7 t de carga útil media, sin ciclos sobre el 120 %, sin </a:t>
            </a:r>
            <a:r>
              <a:rPr lang="es-ES" sz="1000" b="0" i="0" noProof="0" dirty="0" err="1">
                <a:solidFill>
                  <a:srgbClr val="191919"/>
                </a:solidFill>
                <a:latin typeface="Arial"/>
              </a:rPr>
              <a:t>sobrevelocidad</a:t>
            </a:r>
            <a:r>
              <a:rPr lang="es-ES" sz="1000" b="0" i="0" noProof="0" dirty="0">
                <a:solidFill>
                  <a:srgbClr val="191919"/>
                </a:solidFill>
                <a:latin typeface="Arial"/>
              </a:rPr>
              <a:t> y menos de 800 t de peso suspendido.</a:t>
            </a:r>
          </a:p>
        </p:txBody>
      </p:sp>
      <p:sp>
        <p:nvSpPr>
          <p:cNvPr id="59" name="Rectangle 58"/>
          <p:cNvSpPr/>
          <p:nvPr/>
        </p:nvSpPr>
        <p:spPr>
          <a:xfrm>
            <a:off x="9985248" y="3538727"/>
            <a:ext cx="1225296"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0" name="TextBox 59"/>
          <p:cNvSpPr txBox="1"/>
          <p:nvPr/>
        </p:nvSpPr>
        <p:spPr>
          <a:xfrm>
            <a:off x="9985248" y="3538727"/>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lang="es-ES" sz="800" b="1" i="0" noProof="0" dirty="0">
                <a:solidFill>
                  <a:srgbClr val="FFFFFF"/>
                </a:solidFill>
                <a:latin typeface="Arial"/>
              </a:rPr>
              <a:t>DESCARTA</a:t>
            </a:r>
          </a:p>
          <a:p>
            <a:pPr algn="ctr">
              <a:lnSpc>
                <a:spcPct val="100000"/>
              </a:lnSpc>
              <a:spcBef>
                <a:spcPts val="0"/>
              </a:spcBef>
              <a:spcAft>
                <a:spcPts val="0"/>
              </a:spcAft>
            </a:pPr>
            <a:r>
              <a:rPr lang="es-ES" sz="800" b="1" i="0" noProof="0" dirty="0">
                <a:solidFill>
                  <a:srgbClr val="FFFFFF"/>
                </a:solidFill>
                <a:latin typeface="Arial"/>
              </a:rPr>
              <a:t>OPERACIÓN</a:t>
            </a:r>
          </a:p>
        </p:txBody>
      </p:sp>
      <p:sp>
        <p:nvSpPr>
          <p:cNvPr id="61" name="Rectangle 60"/>
          <p:cNvSpPr/>
          <p:nvPr/>
        </p:nvSpPr>
        <p:spPr>
          <a:xfrm>
            <a:off x="841248" y="4242816"/>
            <a:ext cx="10515600" cy="7863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2" name="Rectangle 61"/>
          <p:cNvSpPr/>
          <p:nvPr/>
        </p:nvSpPr>
        <p:spPr>
          <a:xfrm>
            <a:off x="841248" y="4242816"/>
            <a:ext cx="45720" cy="78638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3" name="TextBox 62"/>
          <p:cNvSpPr txBox="1"/>
          <p:nvPr/>
        </p:nvSpPr>
        <p:spPr>
          <a:xfrm>
            <a:off x="1024128" y="4352544"/>
            <a:ext cx="2194560" cy="603503"/>
          </a:xfrm>
          <a:prstGeom prst="rect">
            <a:avLst/>
          </a:prstGeom>
          <a:noFill/>
        </p:spPr>
        <p:txBody>
          <a:bodyPr wrap="square" lIns="0" tIns="0" rIns="0" bIns="0" anchor="t">
            <a:spAutoFit/>
          </a:bodyPr>
          <a:lstStyle/>
          <a:p>
            <a:pPr algn="l">
              <a:lnSpc>
                <a:spcPct val="100000"/>
              </a:lnSpc>
              <a:spcBef>
                <a:spcPts val="0"/>
              </a:spcBef>
              <a:spcAft>
                <a:spcPts val="200"/>
              </a:spcAft>
            </a:pPr>
            <a:r>
              <a:rPr lang="es-ES" sz="1150" b="1" i="0" noProof="0" dirty="0">
                <a:solidFill>
                  <a:srgbClr val="2841DD"/>
                </a:solidFill>
                <a:latin typeface="Arial"/>
              </a:rPr>
              <a:t>Recomendación común</a:t>
            </a:r>
          </a:p>
          <a:p>
            <a:pPr algn="l">
              <a:lnSpc>
                <a:spcPct val="105000"/>
              </a:lnSpc>
              <a:spcBef>
                <a:spcPts val="0"/>
              </a:spcBef>
              <a:spcAft>
                <a:spcPts val="0"/>
              </a:spcAft>
            </a:pPr>
            <a:r>
              <a:rPr lang="es-ES" sz="850" b="0" i="0" noProof="0" dirty="0">
                <a:solidFill>
                  <a:srgbClr val="4A5568"/>
                </a:solidFill>
                <a:latin typeface="Arial"/>
              </a:rPr>
              <a:t>De los propios AFA</a:t>
            </a:r>
          </a:p>
        </p:txBody>
      </p:sp>
      <p:sp>
        <p:nvSpPr>
          <p:cNvPr id="64" name="TextBox 63"/>
          <p:cNvSpPr txBox="1"/>
          <p:nvPr/>
        </p:nvSpPr>
        <p:spPr>
          <a:xfrm>
            <a:off x="3355848" y="4242816"/>
            <a:ext cx="2606040" cy="786384"/>
          </a:xfrm>
          <a:prstGeom prst="rect">
            <a:avLst/>
          </a:prstGeom>
          <a:noFill/>
        </p:spPr>
        <p:txBody>
          <a:bodyPr wrap="square" lIns="0" tIns="0" rIns="0" bIns="0" anchor="ctr">
            <a:spAutoFit/>
          </a:bodyPr>
          <a:lstStyle/>
          <a:p>
            <a:pPr algn="l">
              <a:lnSpc>
                <a:spcPct val="110000"/>
              </a:lnSpc>
              <a:spcBef>
                <a:spcPts val="0"/>
              </a:spcBef>
              <a:spcAft>
                <a:spcPts val="0"/>
              </a:spcAft>
            </a:pPr>
            <a:r>
              <a:rPr lang="es-ES" sz="950" b="0" i="0" noProof="0" dirty="0">
                <a:solidFill>
                  <a:srgbClr val="4A5568"/>
                </a:solidFill>
                <a:latin typeface="Arial"/>
              </a:rPr>
              <a:t>Acción propuesta al cierre de los análisis</a:t>
            </a:r>
          </a:p>
        </p:txBody>
      </p:sp>
      <p:sp>
        <p:nvSpPr>
          <p:cNvPr id="65" name="TextBox 64"/>
          <p:cNvSpPr txBox="1"/>
          <p:nvPr/>
        </p:nvSpPr>
        <p:spPr>
          <a:xfrm>
            <a:off x="6144768" y="4470610"/>
            <a:ext cx="3657600" cy="330796"/>
          </a:xfrm>
          <a:prstGeom prst="rect">
            <a:avLst/>
          </a:prstGeom>
          <a:noFill/>
        </p:spPr>
        <p:txBody>
          <a:bodyPr wrap="square" lIns="0" tIns="0" rIns="0" bIns="0" anchor="ctr">
            <a:spAutoFit/>
          </a:bodyPr>
          <a:lstStyle/>
          <a:p>
            <a:pPr algn="l">
              <a:lnSpc>
                <a:spcPct val="112000"/>
              </a:lnSpc>
              <a:spcBef>
                <a:spcPts val="0"/>
              </a:spcBef>
              <a:spcAft>
                <a:spcPts val="0"/>
              </a:spcAft>
            </a:pPr>
            <a:r>
              <a:rPr lang="es-ES" sz="1000" b="0" i="0" noProof="0" dirty="0">
                <a:solidFill>
                  <a:srgbClr val="191919"/>
                </a:solidFill>
                <a:latin typeface="Arial"/>
              </a:rPr>
              <a:t>Modificar el proceso de soldadura y eliminar el concentrador (a cargo del fabricante).</a:t>
            </a:r>
          </a:p>
        </p:txBody>
      </p:sp>
      <p:sp>
        <p:nvSpPr>
          <p:cNvPr id="66" name="Rectangle 65"/>
          <p:cNvSpPr/>
          <p:nvPr/>
        </p:nvSpPr>
        <p:spPr>
          <a:xfrm>
            <a:off x="9985248" y="4398264"/>
            <a:ext cx="1225296" cy="47548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7" name="TextBox 66"/>
          <p:cNvSpPr txBox="1"/>
          <p:nvPr/>
        </p:nvSpPr>
        <p:spPr>
          <a:xfrm>
            <a:off x="9985248" y="4398264"/>
            <a:ext cx="1225296" cy="475488"/>
          </a:xfrm>
          <a:prstGeom prst="rect">
            <a:avLst/>
          </a:prstGeom>
          <a:noFill/>
        </p:spPr>
        <p:txBody>
          <a:bodyPr wrap="square" lIns="0" tIns="0" rIns="0" bIns="0" anchor="ctr">
            <a:spAutoFit/>
          </a:bodyPr>
          <a:lstStyle/>
          <a:p>
            <a:pPr algn="ctr">
              <a:lnSpc>
                <a:spcPct val="100000"/>
              </a:lnSpc>
              <a:spcBef>
                <a:spcPts val="0"/>
              </a:spcBef>
              <a:spcAft>
                <a:spcPts val="0"/>
              </a:spcAft>
            </a:pPr>
            <a:r>
              <a:rPr lang="es-ES" sz="800" b="1" i="0" noProof="0" dirty="0">
                <a:solidFill>
                  <a:srgbClr val="FFFFFF"/>
                </a:solidFill>
                <a:latin typeface="Arial"/>
              </a:rPr>
              <a:t>ORIGEN DEL</a:t>
            </a:r>
          </a:p>
          <a:p>
            <a:pPr algn="ctr">
              <a:lnSpc>
                <a:spcPct val="100000"/>
              </a:lnSpc>
              <a:spcBef>
                <a:spcPts val="0"/>
              </a:spcBef>
              <a:spcAft>
                <a:spcPts val="0"/>
              </a:spcAft>
            </a:pPr>
            <a:r>
              <a:rPr lang="es-ES" sz="800" b="1" i="0" noProof="0" dirty="0">
                <a:solidFill>
                  <a:srgbClr val="FFFFFF"/>
                </a:solidFill>
                <a:latin typeface="Arial"/>
              </a:rPr>
              <a:t>REDISEÑO</a:t>
            </a:r>
          </a:p>
        </p:txBody>
      </p:sp>
      <p:sp>
        <p:nvSpPr>
          <p:cNvPr id="68" name="Rectangle 6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9" name="TextBox 68"/>
          <p:cNvSpPr txBox="1"/>
          <p:nvPr/>
        </p:nvSpPr>
        <p:spPr>
          <a:xfrm>
            <a:off x="1024128" y="5157216"/>
            <a:ext cx="10277856" cy="184859"/>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Cada AFA resolvió bien el mecanismo de falla, pero ninguno consolidó la recurrencia: ese vacío es la causa latente que se retoma en el análisis de causa raíz (4.2).</a:t>
            </a:r>
          </a:p>
        </p:txBody>
      </p:sp>
      <p:sp>
        <p:nvSpPr>
          <p:cNvPr id="70" name="TextBox 69"/>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4.1 · CAUSA FÍSICA  |  ETAPA 3 (RCM) · PREGUNTA 3: MODOS DE FALLA · ACR PASO 1 DE 7</a:t>
            </a:r>
          </a:p>
        </p:txBody>
      </p:sp>
      <p:sp>
        <p:nvSpPr>
          <p:cNvPr id="71"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72"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3"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4"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75"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76"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77"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8"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9"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80"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81"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82"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83"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84"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4.1 CAUSA FÍSICA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Verificación de la causa física: fractura y metalografía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9</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3"/>
          <a:stretch>
            <a:fillRect/>
          </a:stretch>
        </p:blipFill>
        <p:spPr>
          <a:xfrm>
            <a:off x="158617" y="5943600"/>
            <a:ext cx="5620013" cy="550672"/>
          </a:xfrm>
          <a:prstGeom prst="rect">
            <a:avLst/>
          </a:prstGeom>
        </p:spPr>
      </p:pic>
      <p:pic>
        <p:nvPicPr>
          <p:cNvPr id="36" name="Picture 35" descr="image.png"/>
          <p:cNvPicPr>
            <a:picLocks noChangeAspect="1"/>
          </p:cNvPicPr>
          <p:nvPr/>
        </p:nvPicPr>
        <p:blipFill>
          <a:blip r:embed="rId4"/>
          <a:stretch>
            <a:fillRect/>
          </a:stretch>
        </p:blipFill>
        <p:spPr>
          <a:xfrm>
            <a:off x="841248" y="1481328"/>
            <a:ext cx="2634438" cy="2743200"/>
          </a:xfrm>
          <a:prstGeom prst="rect">
            <a:avLst/>
          </a:prstGeom>
        </p:spPr>
      </p:pic>
      <p:sp>
        <p:nvSpPr>
          <p:cNvPr id="37" name="TextBox 36"/>
          <p:cNvSpPr txBox="1"/>
          <p:nvPr/>
        </p:nvSpPr>
        <p:spPr>
          <a:xfrm>
            <a:off x="841248" y="4297680"/>
            <a:ext cx="2634438" cy="54864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Figura H1 · Eje F1 en campo: (1) propagación estable, (2) rotura final, (3) origen en el diámetro interior, (4) borde deformado por free </a:t>
            </a:r>
            <a:r>
              <a:rPr lang="es-ES" sz="900" b="0" i="0" noProof="0" dirty="0" err="1">
                <a:solidFill>
                  <a:srgbClr val="7A8494"/>
                </a:solidFill>
                <a:latin typeface="Arial"/>
              </a:rPr>
              <a:t>wheeling</a:t>
            </a:r>
            <a:r>
              <a:rPr lang="es-ES" sz="900" b="0" i="0" noProof="0" dirty="0">
                <a:solidFill>
                  <a:srgbClr val="7A8494"/>
                </a:solidFill>
                <a:latin typeface="Arial"/>
              </a:rPr>
              <a:t>.</a:t>
            </a:r>
          </a:p>
        </p:txBody>
      </p:sp>
      <p:pic>
        <p:nvPicPr>
          <p:cNvPr id="38" name="Picture 37" descr="image.png"/>
          <p:cNvPicPr>
            <a:picLocks noChangeAspect="1"/>
          </p:cNvPicPr>
          <p:nvPr/>
        </p:nvPicPr>
        <p:blipFill>
          <a:blip r:embed="rId5"/>
          <a:stretch>
            <a:fillRect/>
          </a:stretch>
        </p:blipFill>
        <p:spPr>
          <a:xfrm>
            <a:off x="3628315" y="1481328"/>
            <a:ext cx="3909447" cy="2743200"/>
          </a:xfrm>
          <a:prstGeom prst="rect">
            <a:avLst/>
          </a:prstGeom>
        </p:spPr>
      </p:pic>
      <p:sp>
        <p:nvSpPr>
          <p:cNvPr id="39" name="TextBox 38"/>
          <p:cNvSpPr txBox="1"/>
          <p:nvPr/>
        </p:nvSpPr>
        <p:spPr>
          <a:xfrm>
            <a:off x="3628315" y="4297680"/>
            <a:ext cx="3909447" cy="54864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err="1">
                <a:solidFill>
                  <a:srgbClr val="7A8494"/>
                </a:solidFill>
                <a:latin typeface="Arial"/>
              </a:rPr>
              <a:t>Fractografía</a:t>
            </a:r>
            <a:r>
              <a:rPr lang="es-ES" sz="900" b="0" i="0" noProof="0" dirty="0">
                <a:solidFill>
                  <a:srgbClr val="7A8494"/>
                </a:solidFill>
                <a:latin typeface="Arial"/>
              </a:rPr>
              <a:t>: marcas de trinquete en el diámetro menor, zona de propagación estable y área de fractura final de ~20 %.</a:t>
            </a:r>
          </a:p>
        </p:txBody>
      </p:sp>
      <p:pic>
        <p:nvPicPr>
          <p:cNvPr id="40" name="Picture 39" descr="image.png"/>
          <p:cNvPicPr>
            <a:picLocks noChangeAspect="1"/>
          </p:cNvPicPr>
          <p:nvPr/>
        </p:nvPicPr>
        <p:blipFill>
          <a:blip r:embed="rId6"/>
          <a:stretch>
            <a:fillRect/>
          </a:stretch>
        </p:blipFill>
        <p:spPr>
          <a:xfrm>
            <a:off x="7690391" y="1481328"/>
            <a:ext cx="3666456" cy="2743200"/>
          </a:xfrm>
          <a:prstGeom prst="rect">
            <a:avLst/>
          </a:prstGeom>
        </p:spPr>
      </p:pic>
      <p:sp>
        <p:nvSpPr>
          <p:cNvPr id="41" name="TextBox 40"/>
          <p:cNvSpPr txBox="1"/>
          <p:nvPr/>
        </p:nvSpPr>
        <p:spPr>
          <a:xfrm>
            <a:off x="7690391" y="4297680"/>
            <a:ext cx="3666456" cy="54864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Macrografía: discontinuidad tipo grieta en la raíz de la unión, punto de iniciación y zonas MS / ZAC / MB. Informe DIESA-AFA2023085189_00.</a:t>
            </a:r>
          </a:p>
        </p:txBody>
      </p:sp>
      <p:sp>
        <p:nvSpPr>
          <p:cNvPr id="42" name="Rectangle 41"/>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3" name="TextBox 42"/>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La grieta nuclea en la raíz de la unión soldada, y la rotura final reducida indica que el componente operó largo tiempo con la discontinuidad en propagación.</a:t>
            </a:r>
          </a:p>
        </p:txBody>
      </p:sp>
      <p:sp>
        <p:nvSpPr>
          <p:cNvPr id="44" name="TextBox 43"/>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4.1 · CAUSA FÍSICA  |  ETAPA 3 (RCM) · PREGUNTA 3: MODOS DE FALLA · ACR PASO 2 DE 7</a:t>
            </a:r>
          </a:p>
        </p:txBody>
      </p:sp>
      <p:sp>
        <p:nvSpPr>
          <p:cNvPr id="45"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46"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7"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8"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49"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0"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51"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52"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3"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54"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5"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56"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57"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58"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4.1 CAUSA FÍSICA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Verificación de la causa física por resistencia de materiales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10</a:t>
            </a:r>
          </a:p>
        </p:txBody>
      </p:sp>
      <p:pic>
        <p:nvPicPr>
          <p:cNvPr id="6" name="Picture 5" descr="concentracion.png"/>
          <p:cNvPicPr>
            <a:picLocks noChangeAspect="1"/>
          </p:cNvPicPr>
          <p:nvPr/>
        </p:nvPicPr>
        <p:blipFill>
          <a:blip r:embed="rId2"/>
          <a:stretch>
            <a:fillRect/>
          </a:stretch>
        </p:blipFill>
        <p:spPr>
          <a:xfrm>
            <a:off x="1092160" y="1463039"/>
            <a:ext cx="4573095" cy="2651760"/>
          </a:xfrm>
          <a:prstGeom prst="rect">
            <a:avLst/>
          </a:prstGeom>
        </p:spPr>
      </p:pic>
      <p:sp>
        <p:nvSpPr>
          <p:cNvPr id="7" name="TextBox 6"/>
          <p:cNvSpPr txBox="1"/>
          <p:nvPr/>
        </p:nvSpPr>
        <p:spPr>
          <a:xfrm>
            <a:off x="1102379" y="4247510"/>
            <a:ext cx="5074920" cy="283219"/>
          </a:xfrm>
          <a:prstGeom prst="rect">
            <a:avLst/>
          </a:prstGeom>
          <a:noFill/>
        </p:spPr>
        <p:txBody>
          <a:bodyPr wrap="square" lIns="0" tIns="0" rIns="0" bIns="0" anchor="t">
            <a:spAutoFit/>
          </a:bodyPr>
          <a:lstStyle/>
          <a:p>
            <a:pPr algn="l">
              <a:lnSpc>
                <a:spcPct val="106000"/>
              </a:lnSpc>
              <a:spcBef>
                <a:spcPts val="0"/>
              </a:spcBef>
              <a:spcAft>
                <a:spcPts val="400"/>
              </a:spcAft>
            </a:pPr>
            <a:r>
              <a:rPr lang="es-ES" sz="900" b="0" i="0" noProof="0" dirty="0">
                <a:solidFill>
                  <a:srgbClr val="7A8494"/>
                </a:solidFill>
                <a:latin typeface="Arial"/>
              </a:rPr>
              <a:t>Eje palier sometido a momento </a:t>
            </a:r>
            <a:r>
              <a:rPr lang="es-ES" sz="900" b="0" i="0" noProof="0" dirty="0" err="1">
                <a:solidFill>
                  <a:srgbClr val="7A8494"/>
                </a:solidFill>
                <a:latin typeface="Arial"/>
              </a:rPr>
              <a:t>torsor</a:t>
            </a:r>
            <a:r>
              <a:rPr lang="es-ES" sz="900" b="0" i="0" noProof="0" dirty="0">
                <a:solidFill>
                  <a:srgbClr val="7A8494"/>
                </a:solidFill>
                <a:latin typeface="Arial"/>
              </a:rPr>
              <a:t>: el vértice V del cambio de sección interno actúa como concentrador de esfuerzos. Informe AFA - DIESA</a:t>
            </a:r>
          </a:p>
        </p:txBody>
      </p:sp>
      <p:sp>
        <p:nvSpPr>
          <p:cNvPr id="8" name="TextBox 7"/>
          <p:cNvSpPr txBox="1"/>
          <p:nvPr/>
        </p:nvSpPr>
        <p:spPr>
          <a:xfrm>
            <a:off x="6355080" y="1481328"/>
            <a:ext cx="5001768" cy="152799"/>
          </a:xfrm>
          <a:prstGeom prst="rect">
            <a:avLst/>
          </a:prstGeom>
          <a:noFill/>
        </p:spPr>
        <p:txBody>
          <a:bodyPr wrap="square" lIns="0" tIns="0" rIns="0" bIns="0" anchor="t">
            <a:spAutoFit/>
          </a:bodyPr>
          <a:lstStyle/>
          <a:p>
            <a:pPr algn="l">
              <a:lnSpc>
                <a:spcPct val="114000"/>
              </a:lnSpc>
              <a:spcBef>
                <a:spcPts val="0"/>
              </a:spcBef>
              <a:spcAft>
                <a:spcPts val="400"/>
              </a:spcAft>
            </a:pPr>
            <a:r>
              <a:rPr lang="es-ES" sz="950" b="1" i="0" noProof="0" dirty="0">
                <a:solidFill>
                  <a:srgbClr val="4A5568"/>
                </a:solidFill>
                <a:latin typeface="Arial"/>
              </a:rPr>
              <a:t>CADENA DE CÁLCULO </a:t>
            </a:r>
            <a:r>
              <a:rPr lang="es-ES" sz="950" b="1" dirty="0">
                <a:solidFill>
                  <a:srgbClr val="4A5568"/>
                </a:solidFill>
              </a:rPr>
              <a:t> DE COMPONENTE </a:t>
            </a:r>
            <a:r>
              <a:rPr lang="es-ES" sz="950" b="1" i="0" noProof="0" dirty="0">
                <a:solidFill>
                  <a:srgbClr val="4A5568"/>
                </a:solidFill>
                <a:latin typeface="Arial"/>
              </a:rPr>
              <a:t>OBSOLETO</a:t>
            </a:r>
          </a:p>
        </p:txBody>
      </p:sp>
      <p:sp>
        <p:nvSpPr>
          <p:cNvPr id="9" name="Rectangle 8"/>
          <p:cNvSpPr/>
          <p:nvPr/>
        </p:nvSpPr>
        <p:spPr>
          <a:xfrm>
            <a:off x="6355080" y="1810512"/>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0" name="Rectangle 9"/>
          <p:cNvSpPr/>
          <p:nvPr/>
        </p:nvSpPr>
        <p:spPr>
          <a:xfrm>
            <a:off x="6355080" y="1810512"/>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4A5568"/>
                </a:solidFill>
                <a:latin typeface="Arial"/>
              </a:rPr>
              <a:t>1</a:t>
            </a:r>
          </a:p>
        </p:txBody>
      </p:sp>
      <p:sp>
        <p:nvSpPr>
          <p:cNvPr id="11" name="TextBox 10"/>
          <p:cNvSpPr txBox="1"/>
          <p:nvPr/>
        </p:nvSpPr>
        <p:spPr>
          <a:xfrm>
            <a:off x="6839712" y="1828800"/>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ES" sz="1000" b="0" i="0" noProof="0" dirty="0">
                <a:solidFill>
                  <a:srgbClr val="191919"/>
                </a:solidFill>
                <a:latin typeface="Arial"/>
              </a:rPr>
              <a:t>Par transmitido en la posición</a:t>
            </a:r>
          </a:p>
        </p:txBody>
      </p:sp>
      <p:sp>
        <p:nvSpPr>
          <p:cNvPr id="12" name="TextBox 11"/>
          <p:cNvSpPr txBox="1"/>
          <p:nvPr/>
        </p:nvSpPr>
        <p:spPr>
          <a:xfrm>
            <a:off x="9802368" y="1828800"/>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ES" sz="1100" b="1" i="0" noProof="0" dirty="0">
                <a:solidFill>
                  <a:srgbClr val="191919"/>
                </a:solidFill>
                <a:latin typeface="Arial"/>
              </a:rPr>
              <a:t>17,81 </a:t>
            </a:r>
            <a:r>
              <a:rPr lang="es-ES" sz="1100" b="1" i="0" noProof="0" dirty="0" err="1">
                <a:solidFill>
                  <a:srgbClr val="191919"/>
                </a:solidFill>
                <a:latin typeface="Arial"/>
              </a:rPr>
              <a:t>kN·m</a:t>
            </a:r>
            <a:endParaRPr lang="es-ES" sz="1100" b="1" i="0" noProof="0" dirty="0">
              <a:solidFill>
                <a:srgbClr val="191919"/>
              </a:solidFill>
              <a:latin typeface="Arial"/>
            </a:endParaRPr>
          </a:p>
        </p:txBody>
      </p:sp>
      <p:sp>
        <p:nvSpPr>
          <p:cNvPr id="13" name="Rectangle 12"/>
          <p:cNvSpPr/>
          <p:nvPr/>
        </p:nvSpPr>
        <p:spPr>
          <a:xfrm>
            <a:off x="6355080" y="2340864"/>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4" name="Rectangle 13"/>
          <p:cNvSpPr/>
          <p:nvPr/>
        </p:nvSpPr>
        <p:spPr>
          <a:xfrm>
            <a:off x="6355080" y="2340864"/>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4A5568"/>
                </a:solidFill>
                <a:latin typeface="Arial"/>
              </a:rPr>
              <a:t>2</a:t>
            </a:r>
          </a:p>
        </p:txBody>
      </p:sp>
      <p:sp>
        <p:nvSpPr>
          <p:cNvPr id="15" name="TextBox 14"/>
          <p:cNvSpPr txBox="1"/>
          <p:nvPr/>
        </p:nvSpPr>
        <p:spPr>
          <a:xfrm>
            <a:off x="6839712" y="2359152"/>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ES" sz="1000" b="0" i="0" noProof="0" dirty="0">
                <a:solidFill>
                  <a:srgbClr val="191919"/>
                </a:solidFill>
                <a:latin typeface="Arial"/>
              </a:rPr>
              <a:t>Esfuerzo cortante nominal en la sección crítica</a:t>
            </a:r>
          </a:p>
        </p:txBody>
      </p:sp>
      <p:sp>
        <p:nvSpPr>
          <p:cNvPr id="16" name="TextBox 15"/>
          <p:cNvSpPr txBox="1"/>
          <p:nvPr/>
        </p:nvSpPr>
        <p:spPr>
          <a:xfrm>
            <a:off x="9802368" y="2359152"/>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ES" sz="1100" b="1" i="0" noProof="0" dirty="0">
                <a:solidFill>
                  <a:srgbClr val="191919"/>
                </a:solidFill>
                <a:latin typeface="Arial"/>
              </a:rPr>
              <a:t>35,7 MPa</a:t>
            </a:r>
          </a:p>
        </p:txBody>
      </p:sp>
      <p:sp>
        <p:nvSpPr>
          <p:cNvPr id="17" name="Rectangle 16"/>
          <p:cNvSpPr/>
          <p:nvPr/>
        </p:nvSpPr>
        <p:spPr>
          <a:xfrm>
            <a:off x="6355080" y="2871216"/>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8" name="Rectangle 17"/>
          <p:cNvSpPr/>
          <p:nvPr/>
        </p:nvSpPr>
        <p:spPr>
          <a:xfrm>
            <a:off x="6355080" y="2871216"/>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i="0" noProof="0" dirty="0">
                <a:solidFill>
                  <a:srgbClr val="4A5568"/>
                </a:solidFill>
                <a:latin typeface="Arial"/>
              </a:rPr>
              <a:t>3</a:t>
            </a:r>
          </a:p>
        </p:txBody>
      </p:sp>
      <p:sp>
        <p:nvSpPr>
          <p:cNvPr id="19" name="TextBox 18"/>
          <p:cNvSpPr txBox="1"/>
          <p:nvPr/>
        </p:nvSpPr>
        <p:spPr>
          <a:xfrm>
            <a:off x="6839712" y="2889504"/>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ES" sz="1000" b="0" i="0" noProof="0" dirty="0">
                <a:solidFill>
                  <a:srgbClr val="191919"/>
                </a:solidFill>
                <a:latin typeface="Arial"/>
              </a:rPr>
              <a:t>Rango de esfuerzo aplicado</a:t>
            </a:r>
          </a:p>
        </p:txBody>
      </p:sp>
      <p:sp>
        <p:nvSpPr>
          <p:cNvPr id="20" name="TextBox 19"/>
          <p:cNvSpPr txBox="1"/>
          <p:nvPr/>
        </p:nvSpPr>
        <p:spPr>
          <a:xfrm>
            <a:off x="9802368" y="2889504"/>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ES" sz="1100" b="1" i="0" noProof="0" dirty="0">
                <a:solidFill>
                  <a:srgbClr val="191919"/>
                </a:solidFill>
                <a:latin typeface="Arial"/>
              </a:rPr>
              <a:t>53,6 MPa</a:t>
            </a:r>
          </a:p>
        </p:txBody>
      </p:sp>
      <p:sp>
        <p:nvSpPr>
          <p:cNvPr id="25" name="Rectangle 24"/>
          <p:cNvSpPr/>
          <p:nvPr/>
        </p:nvSpPr>
        <p:spPr>
          <a:xfrm>
            <a:off x="6355080" y="3529584"/>
            <a:ext cx="5001768" cy="457200"/>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6" name="Rectangle 25"/>
          <p:cNvSpPr/>
          <p:nvPr/>
        </p:nvSpPr>
        <p:spPr>
          <a:xfrm>
            <a:off x="6355080" y="3529584"/>
            <a:ext cx="36576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1000" b="1" noProof="0" dirty="0">
                <a:solidFill>
                  <a:srgbClr val="FFFFFF"/>
                </a:solidFill>
                <a:latin typeface="Arial"/>
              </a:rPr>
              <a:t>4</a:t>
            </a:r>
            <a:endParaRPr lang="es-ES" sz="1000" b="1" i="0" noProof="0" dirty="0">
              <a:solidFill>
                <a:srgbClr val="FFFFFF"/>
              </a:solidFill>
              <a:latin typeface="Arial"/>
            </a:endParaRPr>
          </a:p>
        </p:txBody>
      </p:sp>
      <p:sp>
        <p:nvSpPr>
          <p:cNvPr id="27" name="TextBox 26"/>
          <p:cNvSpPr txBox="1"/>
          <p:nvPr/>
        </p:nvSpPr>
        <p:spPr>
          <a:xfrm>
            <a:off x="6839712" y="3547871"/>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ES" sz="1000" b="0" i="0" noProof="0" dirty="0">
                <a:solidFill>
                  <a:srgbClr val="191919"/>
                </a:solidFill>
                <a:latin typeface="Arial"/>
              </a:rPr>
              <a:t>Factor de seguridad a la vida planificada</a:t>
            </a:r>
          </a:p>
        </p:txBody>
      </p:sp>
      <p:sp>
        <p:nvSpPr>
          <p:cNvPr id="28" name="TextBox 27"/>
          <p:cNvSpPr txBox="1"/>
          <p:nvPr/>
        </p:nvSpPr>
        <p:spPr>
          <a:xfrm>
            <a:off x="9802368" y="3547871"/>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ES" sz="1250" b="1" i="0" noProof="0" dirty="0">
                <a:solidFill>
                  <a:srgbClr val="C3094A"/>
                </a:solidFill>
                <a:latin typeface="Arial"/>
              </a:rPr>
              <a:t>0,31</a:t>
            </a:r>
          </a:p>
        </p:txBody>
      </p:sp>
      <p:sp>
        <p:nvSpPr>
          <p:cNvPr id="29" name="TextBox 28"/>
          <p:cNvSpPr txBox="1"/>
          <p:nvPr/>
        </p:nvSpPr>
        <p:spPr>
          <a:xfrm>
            <a:off x="6355080" y="4095880"/>
            <a:ext cx="5001768" cy="274320"/>
          </a:xfrm>
          <a:prstGeom prst="rect">
            <a:avLst/>
          </a:prstGeom>
          <a:noFill/>
        </p:spPr>
        <p:txBody>
          <a:bodyPr wrap="square" lIns="0" tIns="0" rIns="0" bIns="0" anchor="t">
            <a:spAutoFit/>
          </a:bodyPr>
          <a:lstStyle/>
          <a:p>
            <a:pPr algn="l">
              <a:lnSpc>
                <a:spcPct val="106000"/>
              </a:lnSpc>
              <a:spcBef>
                <a:spcPts val="0"/>
              </a:spcBef>
              <a:spcAft>
                <a:spcPts val="400"/>
              </a:spcAft>
            </a:pPr>
            <a:r>
              <a:rPr lang="es-ES" sz="900" b="0" i="0" noProof="0" dirty="0">
                <a:solidFill>
                  <a:srgbClr val="7A8494"/>
                </a:solidFill>
                <a:latin typeface="Arial"/>
              </a:rPr>
              <a:t>Cadena analítica completa: Anexo D.</a:t>
            </a:r>
          </a:p>
        </p:txBody>
      </p:sp>
      <p:sp>
        <p:nvSpPr>
          <p:cNvPr id="30" name="Rectangle 29"/>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1" name="TextBox 30"/>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ES" sz="1150" b="1" i="0" noProof="0" dirty="0">
                <a:solidFill>
                  <a:srgbClr val="042354"/>
                </a:solidFill>
                <a:latin typeface="Arial"/>
              </a:rPr>
              <a:t>Un factor de seguridad de 0,31, inferior a la unidad, significa que la unión, tal como estaba diseñada, no podía alcanzar la vida planificada bajo el par nominal.</a:t>
            </a:r>
          </a:p>
        </p:txBody>
      </p:sp>
      <p:pic>
        <p:nvPicPr>
          <p:cNvPr id="32" name="Imagen 31">
            <a:extLst>
              <a:ext uri="{FF2B5EF4-FFF2-40B4-BE49-F238E27FC236}">
                <a16:creationId xmlns:a16="http://schemas.microsoft.com/office/drawing/2014/main" id="{6A5E642A-A9B0-605B-6CD0-A636BC332064}"/>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3" name="TextBox 32"/>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4.1 · CAUSA FÍSICA  |  ETAPA 3 (RCM) · PREGUNTA 3: MODOS DE FALLA · ACR PASO 3 DE 7</a:t>
            </a:r>
          </a:p>
        </p:txBody>
      </p:sp>
      <p:sp>
        <p:nvSpPr>
          <p:cNvPr id="34"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5"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6"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7"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38"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39"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0"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1"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2"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43"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4"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5"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46"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47"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4.1 CAUSA FÍSICA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Análisis de causa raíz: hipótesis sometidas a verificación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11</a:t>
            </a:r>
          </a:p>
        </p:txBody>
      </p:sp>
      <p:sp>
        <p:nvSpPr>
          <p:cNvPr id="21" name="TextBox 20"/>
          <p:cNvSpPr txBox="1"/>
          <p:nvPr/>
        </p:nvSpPr>
        <p:spPr>
          <a:xfrm>
            <a:off x="8568158" y="1379325"/>
            <a:ext cx="3474720" cy="274320"/>
          </a:xfrm>
          <a:prstGeom prst="rect">
            <a:avLst/>
          </a:prstGeom>
          <a:noFill/>
        </p:spPr>
        <p:txBody>
          <a:bodyPr wrap="square" lIns="0" tIns="0" rIns="0" bIns="0" anchor="t">
            <a:spAutoFit/>
          </a:bodyPr>
          <a:lstStyle/>
          <a:p>
            <a:pPr algn="l">
              <a:lnSpc>
                <a:spcPct val="114000"/>
              </a:lnSpc>
              <a:spcBef>
                <a:spcPts val="0"/>
              </a:spcBef>
              <a:spcAft>
                <a:spcPts val="400"/>
              </a:spcAft>
            </a:pPr>
            <a:r>
              <a:rPr lang="es-ES" sz="950" b="1" i="0" noProof="0" dirty="0">
                <a:solidFill>
                  <a:srgbClr val="4A5568"/>
                </a:solidFill>
                <a:latin typeface="Arial"/>
              </a:rPr>
              <a:t>LAS DOS HIPÓTESIS CONFIRMADAS</a:t>
            </a:r>
          </a:p>
        </p:txBody>
      </p:sp>
      <p:sp>
        <p:nvSpPr>
          <p:cNvPr id="23" name="Rectangle 22"/>
          <p:cNvSpPr/>
          <p:nvPr/>
        </p:nvSpPr>
        <p:spPr>
          <a:xfrm>
            <a:off x="8516343" y="1866177"/>
            <a:ext cx="3474489" cy="87782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4" name="Rectangle 23"/>
          <p:cNvSpPr/>
          <p:nvPr/>
        </p:nvSpPr>
        <p:spPr>
          <a:xfrm>
            <a:off x="8530592" y="1872654"/>
            <a:ext cx="45720" cy="87782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5" name="TextBox 24"/>
          <p:cNvSpPr txBox="1"/>
          <p:nvPr/>
        </p:nvSpPr>
        <p:spPr>
          <a:xfrm>
            <a:off x="8625727" y="2009791"/>
            <a:ext cx="685800" cy="554895"/>
          </a:xfrm>
          <a:prstGeom prst="rect">
            <a:avLst/>
          </a:prstGeom>
          <a:noFill/>
        </p:spPr>
        <p:txBody>
          <a:bodyPr wrap="square" lIns="0" tIns="0" rIns="0" bIns="0" anchor="t">
            <a:spAutoFit/>
          </a:bodyPr>
          <a:lstStyle/>
          <a:p>
            <a:pPr algn="l">
              <a:lnSpc>
                <a:spcPct val="95000"/>
              </a:lnSpc>
              <a:spcBef>
                <a:spcPts val="0"/>
              </a:spcBef>
              <a:spcAft>
                <a:spcPts val="200"/>
              </a:spcAft>
            </a:pPr>
            <a:r>
              <a:rPr lang="es-ES" sz="1700" b="1" i="0" noProof="0" dirty="0">
                <a:solidFill>
                  <a:srgbClr val="C3094A"/>
                </a:solidFill>
                <a:latin typeface="Arial"/>
              </a:rPr>
              <a:t>D1</a:t>
            </a:r>
          </a:p>
          <a:p>
            <a:pPr algn="l">
              <a:lnSpc>
                <a:spcPct val="105000"/>
              </a:lnSpc>
              <a:spcBef>
                <a:spcPts val="0"/>
              </a:spcBef>
              <a:spcAft>
                <a:spcPts val="400"/>
              </a:spcAft>
            </a:pPr>
            <a:r>
              <a:rPr lang="es-ES" sz="900" b="0" i="0" noProof="0" dirty="0">
                <a:solidFill>
                  <a:srgbClr val="4A5568"/>
                </a:solidFill>
                <a:latin typeface="Arial"/>
              </a:rPr>
              <a:t>Causa determinante</a:t>
            </a:r>
          </a:p>
        </p:txBody>
      </p:sp>
      <p:sp>
        <p:nvSpPr>
          <p:cNvPr id="26" name="TextBox 25"/>
          <p:cNvSpPr txBox="1"/>
          <p:nvPr/>
        </p:nvSpPr>
        <p:spPr>
          <a:xfrm>
            <a:off x="9595335" y="1894163"/>
            <a:ext cx="2285769" cy="803490"/>
          </a:xfrm>
          <a:prstGeom prst="rect">
            <a:avLst/>
          </a:prstGeom>
          <a:noFill/>
        </p:spPr>
        <p:txBody>
          <a:bodyPr wrap="square" lIns="0" tIns="0" rIns="0" bIns="0" anchor="ctr">
            <a:spAutoFit/>
          </a:bodyPr>
          <a:lstStyle/>
          <a:p>
            <a:pPr algn="just">
              <a:lnSpc>
                <a:spcPct val="116000"/>
              </a:lnSpc>
              <a:spcBef>
                <a:spcPts val="0"/>
              </a:spcBef>
              <a:spcAft>
                <a:spcPts val="400"/>
              </a:spcAft>
            </a:pPr>
            <a:r>
              <a:rPr lang="es-ES" sz="1150" b="0" i="0" noProof="0" dirty="0">
                <a:solidFill>
                  <a:srgbClr val="191919"/>
                </a:solidFill>
                <a:latin typeface="Arial"/>
              </a:rPr>
              <a:t>La unión soldada de penetración parcial deja una raíz sin fusión que actúa como concentrador de esfuerzos.</a:t>
            </a:r>
          </a:p>
        </p:txBody>
      </p:sp>
      <p:sp>
        <p:nvSpPr>
          <p:cNvPr id="28" name="Rectangle 27"/>
          <p:cNvSpPr/>
          <p:nvPr/>
        </p:nvSpPr>
        <p:spPr>
          <a:xfrm>
            <a:off x="8522438" y="3030132"/>
            <a:ext cx="3474490" cy="87782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9" name="Rectangle 28"/>
          <p:cNvSpPr/>
          <p:nvPr/>
        </p:nvSpPr>
        <p:spPr>
          <a:xfrm>
            <a:off x="8524470" y="3036609"/>
            <a:ext cx="45720" cy="87782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0" name="TextBox 29"/>
          <p:cNvSpPr txBox="1"/>
          <p:nvPr/>
        </p:nvSpPr>
        <p:spPr>
          <a:xfrm>
            <a:off x="8698599" y="3209719"/>
            <a:ext cx="959728" cy="554895"/>
          </a:xfrm>
          <a:prstGeom prst="rect">
            <a:avLst/>
          </a:prstGeom>
          <a:noFill/>
        </p:spPr>
        <p:txBody>
          <a:bodyPr wrap="square" lIns="0" tIns="0" rIns="0" bIns="0" anchor="t">
            <a:spAutoFit/>
          </a:bodyPr>
          <a:lstStyle/>
          <a:p>
            <a:pPr algn="l">
              <a:lnSpc>
                <a:spcPct val="95000"/>
              </a:lnSpc>
              <a:spcBef>
                <a:spcPts val="0"/>
              </a:spcBef>
              <a:spcAft>
                <a:spcPts val="200"/>
              </a:spcAft>
            </a:pPr>
            <a:r>
              <a:rPr lang="es-ES" sz="1700" b="1" i="0" noProof="0" dirty="0">
                <a:solidFill>
                  <a:srgbClr val="2841DD"/>
                </a:solidFill>
                <a:latin typeface="Arial"/>
              </a:rPr>
              <a:t>D2</a:t>
            </a:r>
          </a:p>
          <a:p>
            <a:pPr algn="l">
              <a:lnSpc>
                <a:spcPct val="105000"/>
              </a:lnSpc>
              <a:spcBef>
                <a:spcPts val="0"/>
              </a:spcBef>
              <a:spcAft>
                <a:spcPts val="400"/>
              </a:spcAft>
            </a:pPr>
            <a:r>
              <a:rPr lang="es-ES" sz="900" b="0" i="0" noProof="0" dirty="0">
                <a:solidFill>
                  <a:srgbClr val="4A5568"/>
                </a:solidFill>
                <a:latin typeface="Arial"/>
              </a:rPr>
              <a:t>Causa contribuyente</a:t>
            </a:r>
          </a:p>
        </p:txBody>
      </p:sp>
      <p:sp>
        <p:nvSpPr>
          <p:cNvPr id="31" name="TextBox 30"/>
          <p:cNvSpPr txBox="1"/>
          <p:nvPr/>
        </p:nvSpPr>
        <p:spPr>
          <a:xfrm>
            <a:off x="9656295" y="3028569"/>
            <a:ext cx="2334537" cy="803490"/>
          </a:xfrm>
          <a:prstGeom prst="rect">
            <a:avLst/>
          </a:prstGeom>
          <a:noFill/>
        </p:spPr>
        <p:txBody>
          <a:bodyPr wrap="square" lIns="0" tIns="0" rIns="0" bIns="0" anchor="ctr">
            <a:spAutoFit/>
          </a:bodyPr>
          <a:lstStyle/>
          <a:p>
            <a:pPr algn="l">
              <a:lnSpc>
                <a:spcPct val="116000"/>
              </a:lnSpc>
              <a:spcBef>
                <a:spcPts val="0"/>
              </a:spcBef>
              <a:spcAft>
                <a:spcPts val="400"/>
              </a:spcAft>
            </a:pPr>
            <a:r>
              <a:rPr lang="es-ES" sz="1150" b="0" i="0" noProof="0" dirty="0">
                <a:solidFill>
                  <a:srgbClr val="191919"/>
                </a:solidFill>
                <a:latin typeface="Arial"/>
              </a:rPr>
              <a:t>La sección resistente del tubo es insuficiente para el par nominal transmitido; su corrección recupera el margen por vía geométrica.</a:t>
            </a:r>
          </a:p>
        </p:txBody>
      </p:sp>
      <p:sp>
        <p:nvSpPr>
          <p:cNvPr id="33" name="Rectangle 32"/>
          <p:cNvSpPr/>
          <p:nvPr/>
        </p:nvSpPr>
        <p:spPr>
          <a:xfrm>
            <a:off x="8516343" y="4194085"/>
            <a:ext cx="53847" cy="99174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4" name="TextBox 33"/>
          <p:cNvSpPr txBox="1"/>
          <p:nvPr/>
        </p:nvSpPr>
        <p:spPr>
          <a:xfrm>
            <a:off x="8625727" y="4216800"/>
            <a:ext cx="3436848" cy="588303"/>
          </a:xfrm>
          <a:prstGeom prst="rect">
            <a:avLst/>
          </a:prstGeom>
          <a:noFill/>
        </p:spPr>
        <p:txBody>
          <a:bodyPr wrap="square" lIns="0" tIns="0" rIns="0" bIns="0" anchor="t">
            <a:spAutoFit/>
          </a:bodyPr>
          <a:lstStyle/>
          <a:p>
            <a:pPr algn="l">
              <a:lnSpc>
                <a:spcPct val="114000"/>
              </a:lnSpc>
              <a:spcBef>
                <a:spcPts val="0"/>
              </a:spcBef>
              <a:spcAft>
                <a:spcPts val="400"/>
              </a:spcAft>
            </a:pPr>
            <a:r>
              <a:rPr lang="es-ES" sz="1150" b="1" i="0" noProof="0" dirty="0">
                <a:solidFill>
                  <a:srgbClr val="042354"/>
                </a:solidFill>
                <a:latin typeface="Arial"/>
              </a:rPr>
              <a:t>A partir de la causa física, una hipótesis se descartó solo cuando resultó incompatible con la evidencia. Las dos confirmadas están en la rama de diseño.</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4.2 · ANÁLISIS DE CAUSA RAÍZ  |  ETAPA 3 (RCM) · PREGUNTA 3: MODOS DE FALLA · ACR PASO 4 DE 7</a:t>
            </a:r>
          </a:p>
        </p:txBody>
      </p:sp>
      <p:pic>
        <p:nvPicPr>
          <p:cNvPr id="37" name="Imagen 36">
            <a:extLst>
              <a:ext uri="{FF2B5EF4-FFF2-40B4-BE49-F238E27FC236}">
                <a16:creationId xmlns:a16="http://schemas.microsoft.com/office/drawing/2014/main" id="{13F4D859-4A0C-730F-88FA-FEE53810373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472" y="1451206"/>
            <a:ext cx="7606128" cy="4208925"/>
          </a:xfrm>
          <a:prstGeom prst="rect">
            <a:avLst/>
          </a:prstGeom>
          <a:noFill/>
          <a:ln>
            <a:noFill/>
          </a:ln>
        </p:spPr>
      </p:pic>
      <p:sp>
        <p:nvSpPr>
          <p:cNvPr id="38"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9"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0"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1"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42"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3"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4"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5"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6"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47"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8"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9"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50"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51"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4.2 ANÁLISIS DE CAUSA RAÍZ</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Descarte de la operación: la data del propio equipo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12</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6" name="TextBox 35"/>
          <p:cNvSpPr txBox="1"/>
          <p:nvPr/>
        </p:nvSpPr>
        <p:spPr>
          <a:xfrm>
            <a:off x="841248" y="1389888"/>
            <a:ext cx="667512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FIGURA H2 · CM403 · REPORTE AFA 01-23040 · OS 100244324, SECCIÓN 6</a:t>
            </a:r>
          </a:p>
        </p:txBody>
      </p:sp>
      <p:pic>
        <p:nvPicPr>
          <p:cNvPr id="37" name="Picture 36" descr="fig_h2_cm403.png"/>
          <p:cNvPicPr>
            <a:picLocks noChangeAspect="1"/>
          </p:cNvPicPr>
          <p:nvPr/>
        </p:nvPicPr>
        <p:blipFill>
          <a:blip r:embed="rId3"/>
          <a:stretch>
            <a:fillRect/>
          </a:stretch>
        </p:blipFill>
        <p:spPr>
          <a:xfrm>
            <a:off x="841248" y="1700784"/>
            <a:ext cx="6675120" cy="3134960"/>
          </a:xfrm>
          <a:prstGeom prst="rect">
            <a:avLst/>
          </a:prstGeom>
        </p:spPr>
      </p:pic>
      <p:sp>
        <p:nvSpPr>
          <p:cNvPr id="38" name="TextBox 37"/>
          <p:cNvSpPr txBox="1"/>
          <p:nvPr/>
        </p:nvSpPr>
        <p:spPr>
          <a:xfrm>
            <a:off x="841248" y="4890608"/>
            <a:ext cx="6675120" cy="27432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Izq.: carga útil, velocidad y peso suspendido. Der.: grado efectivo mensual, may-2022 a abr-2023.</a:t>
            </a:r>
          </a:p>
        </p:txBody>
      </p:sp>
      <p:sp>
        <p:nvSpPr>
          <p:cNvPr id="39" name="TextBox 38"/>
          <p:cNvSpPr txBox="1"/>
          <p:nvPr/>
        </p:nvSpPr>
        <p:spPr>
          <a:xfrm>
            <a:off x="7699248" y="1389888"/>
            <a:ext cx="365760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LAS CUATRO HIPÓTESIS DE OPERACIÓN</a:t>
            </a:r>
          </a:p>
        </p:txBody>
      </p:sp>
      <p:sp>
        <p:nvSpPr>
          <p:cNvPr id="40" name="Rectangle 39"/>
          <p:cNvSpPr/>
          <p:nvPr/>
        </p:nvSpPr>
        <p:spPr>
          <a:xfrm>
            <a:off x="7699248" y="1700784"/>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Rectangle 40"/>
          <p:cNvSpPr/>
          <p:nvPr/>
        </p:nvSpPr>
        <p:spPr>
          <a:xfrm>
            <a:off x="7699248" y="1700784"/>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2" name="TextBox 41"/>
          <p:cNvSpPr txBox="1"/>
          <p:nvPr/>
        </p:nvSpPr>
        <p:spPr>
          <a:xfrm>
            <a:off x="7845552" y="1828800"/>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850" b="1" i="0" noProof="0" dirty="0">
                <a:solidFill>
                  <a:srgbClr val="4A5568"/>
                </a:solidFill>
                <a:latin typeface="Arial"/>
              </a:rPr>
              <a:t>CARGA ÚTIL (PLM)</a:t>
            </a:r>
          </a:p>
        </p:txBody>
      </p:sp>
      <p:sp>
        <p:nvSpPr>
          <p:cNvPr id="43" name="Rectangle 42"/>
          <p:cNvSpPr/>
          <p:nvPr/>
        </p:nvSpPr>
        <p:spPr>
          <a:xfrm>
            <a:off x="10332720" y="1810512"/>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4" name="TextBox 43"/>
          <p:cNvSpPr txBox="1"/>
          <p:nvPr/>
        </p:nvSpPr>
        <p:spPr>
          <a:xfrm>
            <a:off x="10332720" y="1810512"/>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lang="es-ES" sz="700" b="1" i="0" noProof="0" dirty="0">
                <a:solidFill>
                  <a:srgbClr val="FFFFFF"/>
                </a:solidFill>
                <a:latin typeface="Arial"/>
              </a:rPr>
              <a:t>DESCARTADA</a:t>
            </a:r>
          </a:p>
        </p:txBody>
      </p:sp>
      <p:sp>
        <p:nvSpPr>
          <p:cNvPr id="45" name="TextBox 44"/>
          <p:cNvSpPr txBox="1"/>
          <p:nvPr/>
        </p:nvSpPr>
        <p:spPr>
          <a:xfrm>
            <a:off x="7845552" y="2066544"/>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lang="es-ES" sz="950" b="0" i="0" noProof="0" dirty="0">
                <a:solidFill>
                  <a:srgbClr val="191919"/>
                </a:solidFill>
                <a:latin typeface="Arial"/>
              </a:rPr>
              <a:t>366,7 t de media y 0 % de ciclos sobre el 120 %. Unidades con falla: 352,1 a 366,7 t.</a:t>
            </a:r>
          </a:p>
        </p:txBody>
      </p:sp>
      <p:sp>
        <p:nvSpPr>
          <p:cNvPr id="46" name="Rectangle 45"/>
          <p:cNvSpPr/>
          <p:nvPr/>
        </p:nvSpPr>
        <p:spPr>
          <a:xfrm>
            <a:off x="7699248" y="2510028"/>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7" name="Rectangle 46"/>
          <p:cNvSpPr/>
          <p:nvPr/>
        </p:nvSpPr>
        <p:spPr>
          <a:xfrm>
            <a:off x="7699248" y="2510028"/>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8" name="TextBox 47"/>
          <p:cNvSpPr txBox="1"/>
          <p:nvPr/>
        </p:nvSpPr>
        <p:spPr>
          <a:xfrm>
            <a:off x="7845552" y="2638044"/>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850" b="1" i="0" noProof="0" dirty="0">
                <a:solidFill>
                  <a:srgbClr val="4A5568"/>
                </a:solidFill>
                <a:latin typeface="Arial"/>
              </a:rPr>
              <a:t>VELOCIDAD</a:t>
            </a:r>
          </a:p>
        </p:txBody>
      </p:sp>
      <p:sp>
        <p:nvSpPr>
          <p:cNvPr id="49" name="Rectangle 48"/>
          <p:cNvSpPr/>
          <p:nvPr/>
        </p:nvSpPr>
        <p:spPr>
          <a:xfrm>
            <a:off x="10332720" y="2619756"/>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0" name="TextBox 49"/>
          <p:cNvSpPr txBox="1"/>
          <p:nvPr/>
        </p:nvSpPr>
        <p:spPr>
          <a:xfrm>
            <a:off x="10332720" y="2619756"/>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lang="es-ES" sz="700" b="1" i="0" noProof="0" dirty="0">
                <a:solidFill>
                  <a:srgbClr val="FFFFFF"/>
                </a:solidFill>
                <a:latin typeface="Arial"/>
              </a:rPr>
              <a:t>DESCARTADA</a:t>
            </a:r>
          </a:p>
        </p:txBody>
      </p:sp>
      <p:sp>
        <p:nvSpPr>
          <p:cNvPr id="51" name="TextBox 50"/>
          <p:cNvSpPr txBox="1"/>
          <p:nvPr/>
        </p:nvSpPr>
        <p:spPr>
          <a:xfrm>
            <a:off x="7845552" y="2875788"/>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lang="es-ES" sz="950" b="0" i="0" noProof="0" dirty="0">
                <a:solidFill>
                  <a:srgbClr val="191919"/>
                </a:solidFill>
                <a:latin typeface="Arial"/>
              </a:rPr>
              <a:t>Los registros de operación no muestran exceso de velocidad.</a:t>
            </a:r>
          </a:p>
        </p:txBody>
      </p:sp>
      <p:sp>
        <p:nvSpPr>
          <p:cNvPr id="52" name="Rectangle 51"/>
          <p:cNvSpPr/>
          <p:nvPr/>
        </p:nvSpPr>
        <p:spPr>
          <a:xfrm>
            <a:off x="7699248" y="3319272"/>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3" name="Rectangle 52"/>
          <p:cNvSpPr/>
          <p:nvPr/>
        </p:nvSpPr>
        <p:spPr>
          <a:xfrm>
            <a:off x="7699248" y="3319272"/>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4" name="TextBox 53"/>
          <p:cNvSpPr txBox="1"/>
          <p:nvPr/>
        </p:nvSpPr>
        <p:spPr>
          <a:xfrm>
            <a:off x="7845552" y="3447288"/>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850" b="1" i="0" noProof="0" dirty="0">
                <a:solidFill>
                  <a:srgbClr val="4A5568"/>
                </a:solidFill>
                <a:latin typeface="Arial"/>
              </a:rPr>
              <a:t>PESO SUSPENDIDO</a:t>
            </a:r>
          </a:p>
        </p:txBody>
      </p:sp>
      <p:sp>
        <p:nvSpPr>
          <p:cNvPr id="55" name="Rectangle 54"/>
          <p:cNvSpPr/>
          <p:nvPr/>
        </p:nvSpPr>
        <p:spPr>
          <a:xfrm>
            <a:off x="10332720" y="3429000"/>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6" name="TextBox 55"/>
          <p:cNvSpPr txBox="1"/>
          <p:nvPr/>
        </p:nvSpPr>
        <p:spPr>
          <a:xfrm>
            <a:off x="10332720" y="3429000"/>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lang="es-ES" sz="700" b="1" i="0" noProof="0" dirty="0">
                <a:solidFill>
                  <a:srgbClr val="FFFFFF"/>
                </a:solidFill>
                <a:latin typeface="Arial"/>
              </a:rPr>
              <a:t>DESCARTADA</a:t>
            </a:r>
          </a:p>
        </p:txBody>
      </p:sp>
      <p:sp>
        <p:nvSpPr>
          <p:cNvPr id="57" name="TextBox 56"/>
          <p:cNvSpPr txBox="1"/>
          <p:nvPr/>
        </p:nvSpPr>
        <p:spPr>
          <a:xfrm>
            <a:off x="7845552" y="3685032"/>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lang="es-ES" sz="950" b="0" i="0" noProof="0" dirty="0">
                <a:solidFill>
                  <a:srgbClr val="191919"/>
                </a:solidFill>
                <a:latin typeface="Arial"/>
              </a:rPr>
              <a:t>Menos de 800 t en el CM403; solo el CM409 supera ese valor.</a:t>
            </a:r>
          </a:p>
        </p:txBody>
      </p:sp>
      <p:sp>
        <p:nvSpPr>
          <p:cNvPr id="58" name="Rectangle 57"/>
          <p:cNvSpPr/>
          <p:nvPr/>
        </p:nvSpPr>
        <p:spPr>
          <a:xfrm>
            <a:off x="7699248" y="4128515"/>
            <a:ext cx="3657600" cy="71780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9" name="Rectangle 58"/>
          <p:cNvSpPr/>
          <p:nvPr/>
        </p:nvSpPr>
        <p:spPr>
          <a:xfrm>
            <a:off x="7699248" y="4128515"/>
            <a:ext cx="3657600"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0" name="TextBox 59"/>
          <p:cNvSpPr txBox="1"/>
          <p:nvPr/>
        </p:nvSpPr>
        <p:spPr>
          <a:xfrm>
            <a:off x="7845552" y="4256531"/>
            <a:ext cx="22860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850" b="1" i="0" noProof="0" dirty="0">
                <a:solidFill>
                  <a:srgbClr val="4A5568"/>
                </a:solidFill>
                <a:latin typeface="Arial"/>
              </a:rPr>
              <a:t>GRADO EFECTIVO (EG)</a:t>
            </a:r>
          </a:p>
        </p:txBody>
      </p:sp>
      <p:sp>
        <p:nvSpPr>
          <p:cNvPr id="61" name="Rectangle 60"/>
          <p:cNvSpPr/>
          <p:nvPr/>
        </p:nvSpPr>
        <p:spPr>
          <a:xfrm>
            <a:off x="10332720" y="4238244"/>
            <a:ext cx="896112" cy="219456"/>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2" name="TextBox 61"/>
          <p:cNvSpPr txBox="1"/>
          <p:nvPr/>
        </p:nvSpPr>
        <p:spPr>
          <a:xfrm>
            <a:off x="10332720" y="4238244"/>
            <a:ext cx="896112" cy="219456"/>
          </a:xfrm>
          <a:prstGeom prst="rect">
            <a:avLst/>
          </a:prstGeom>
          <a:noFill/>
        </p:spPr>
        <p:txBody>
          <a:bodyPr wrap="square" lIns="0" tIns="0" rIns="0" bIns="0" anchor="ctr">
            <a:spAutoFit/>
          </a:bodyPr>
          <a:lstStyle/>
          <a:p>
            <a:pPr algn="ctr">
              <a:lnSpc>
                <a:spcPct val="100000"/>
              </a:lnSpc>
              <a:spcBef>
                <a:spcPts val="0"/>
              </a:spcBef>
              <a:spcAft>
                <a:spcPts val="0"/>
              </a:spcAft>
            </a:pPr>
            <a:r>
              <a:rPr lang="es-ES" sz="700" b="1" i="0" noProof="0" dirty="0">
                <a:solidFill>
                  <a:srgbClr val="FFFFFF"/>
                </a:solidFill>
                <a:latin typeface="Arial"/>
              </a:rPr>
              <a:t>DESCARTADA</a:t>
            </a:r>
          </a:p>
        </p:txBody>
      </p:sp>
      <p:sp>
        <p:nvSpPr>
          <p:cNvPr id="63" name="TextBox 62"/>
          <p:cNvSpPr txBox="1"/>
          <p:nvPr/>
        </p:nvSpPr>
        <p:spPr>
          <a:xfrm>
            <a:off x="7845552" y="4494276"/>
            <a:ext cx="3383280" cy="315468"/>
          </a:xfrm>
          <a:prstGeom prst="rect">
            <a:avLst/>
          </a:prstGeom>
          <a:noFill/>
        </p:spPr>
        <p:txBody>
          <a:bodyPr wrap="square" lIns="0" tIns="0" rIns="0" bIns="0" anchor="t">
            <a:spAutoFit/>
          </a:bodyPr>
          <a:lstStyle/>
          <a:p>
            <a:pPr algn="l">
              <a:lnSpc>
                <a:spcPct val="108000"/>
              </a:lnSpc>
              <a:spcBef>
                <a:spcPts val="0"/>
              </a:spcBef>
              <a:spcAft>
                <a:spcPts val="0"/>
              </a:spcAft>
            </a:pPr>
            <a:r>
              <a:rPr lang="es-ES" sz="950" b="0" i="0" noProof="0" dirty="0">
                <a:solidFill>
                  <a:srgbClr val="191919"/>
                </a:solidFill>
                <a:latin typeface="Arial"/>
              </a:rPr>
              <a:t>Promedio del CM403 menor que el de comparación; el CM410 tiene la menor exposición.</a:t>
            </a:r>
          </a:p>
        </p:txBody>
      </p:sp>
      <p:sp>
        <p:nvSpPr>
          <p:cNvPr id="64" name="Rectangle 6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5" name="TextBox 6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El argumento decisivo es la distribución: una causa operacional se concentraría en las unidades con la desviación, y la fractura es transversal a la flota y a un rango amplio de horas.</a:t>
            </a:r>
          </a:p>
        </p:txBody>
      </p:sp>
      <p:sp>
        <p:nvSpPr>
          <p:cNvPr id="66" name="TextBox 65"/>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4.2 · ANÁLISIS DE CAUSA RAÍZ  |  ETAPA 3 (RCM) · PREGUNTA 3: MODOS DE FALLA · ACR PASO 5 DE 7</a:t>
            </a:r>
          </a:p>
        </p:txBody>
      </p:sp>
      <p:sp>
        <p:nvSpPr>
          <p:cNvPr id="67"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68"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69"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0"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71"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72"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73"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4"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5"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76"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77"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78"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79"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80"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4.2 ANÁLISIS DE CAUSA RAÍZ</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Descarte de la fabricación: material conforme y recurrencia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13</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6" name="TextBox 35"/>
          <p:cNvSpPr txBox="1"/>
          <p:nvPr/>
        </p:nvSpPr>
        <p:spPr>
          <a:xfrm>
            <a:off x="841248" y="1389888"/>
            <a:ext cx="512064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F1 · MATERIAL NO CONFORME · TABLA H1 (% EN MASA)</a:t>
            </a:r>
          </a:p>
        </p:txBody>
      </p:sp>
      <p:graphicFrame>
        <p:nvGraphicFramePr>
          <p:cNvPr id="37" name="Table 36"/>
          <p:cNvGraphicFramePr>
            <a:graphicFrameLocks noGrp="1"/>
          </p:cNvGraphicFramePr>
          <p:nvPr>
            <p:extLst>
              <p:ext uri="{D42A27DB-BD31-4B8C-83A1-F6EECF244321}">
                <p14:modId xmlns:p14="http://schemas.microsoft.com/office/powerpoint/2010/main" val="4190388936"/>
              </p:ext>
            </p:extLst>
          </p:nvPr>
        </p:nvGraphicFramePr>
        <p:xfrm>
          <a:off x="841248" y="1700784"/>
          <a:ext cx="5120640" cy="932688"/>
        </p:xfrm>
        <a:graphic>
          <a:graphicData uri="http://schemas.openxmlformats.org/drawingml/2006/table">
            <a:tbl>
              <a:tblPr firstRow="1">
                <a:tableStyleId>{2D5ABB26-0587-4C30-8999-92F81FD0307C}</a:tableStyleId>
              </a:tblPr>
              <a:tblGrid>
                <a:gridCol w="1188720">
                  <a:extLst>
                    <a:ext uri="{9D8B030D-6E8A-4147-A177-3AD203B41FA5}">
                      <a16:colId xmlns:a16="http://schemas.microsoft.com/office/drawing/2014/main" val="20000"/>
                    </a:ext>
                  </a:extLst>
                </a:gridCol>
                <a:gridCol w="393192">
                  <a:extLst>
                    <a:ext uri="{9D8B030D-6E8A-4147-A177-3AD203B41FA5}">
                      <a16:colId xmlns:a16="http://schemas.microsoft.com/office/drawing/2014/main" val="20001"/>
                    </a:ext>
                  </a:extLst>
                </a:gridCol>
                <a:gridCol w="393192">
                  <a:extLst>
                    <a:ext uri="{9D8B030D-6E8A-4147-A177-3AD203B41FA5}">
                      <a16:colId xmlns:a16="http://schemas.microsoft.com/office/drawing/2014/main" val="20002"/>
                    </a:ext>
                  </a:extLst>
                </a:gridCol>
                <a:gridCol w="393192">
                  <a:extLst>
                    <a:ext uri="{9D8B030D-6E8A-4147-A177-3AD203B41FA5}">
                      <a16:colId xmlns:a16="http://schemas.microsoft.com/office/drawing/2014/main" val="20003"/>
                    </a:ext>
                  </a:extLst>
                </a:gridCol>
                <a:gridCol w="393192">
                  <a:extLst>
                    <a:ext uri="{9D8B030D-6E8A-4147-A177-3AD203B41FA5}">
                      <a16:colId xmlns:a16="http://schemas.microsoft.com/office/drawing/2014/main" val="20004"/>
                    </a:ext>
                  </a:extLst>
                </a:gridCol>
                <a:gridCol w="393192">
                  <a:extLst>
                    <a:ext uri="{9D8B030D-6E8A-4147-A177-3AD203B41FA5}">
                      <a16:colId xmlns:a16="http://schemas.microsoft.com/office/drawing/2014/main" val="20005"/>
                    </a:ext>
                  </a:extLst>
                </a:gridCol>
                <a:gridCol w="393192">
                  <a:extLst>
                    <a:ext uri="{9D8B030D-6E8A-4147-A177-3AD203B41FA5}">
                      <a16:colId xmlns:a16="http://schemas.microsoft.com/office/drawing/2014/main" val="20006"/>
                    </a:ext>
                  </a:extLst>
                </a:gridCol>
                <a:gridCol w="393192">
                  <a:extLst>
                    <a:ext uri="{9D8B030D-6E8A-4147-A177-3AD203B41FA5}">
                      <a16:colId xmlns:a16="http://schemas.microsoft.com/office/drawing/2014/main" val="20007"/>
                    </a:ext>
                  </a:extLst>
                </a:gridCol>
                <a:gridCol w="393192">
                  <a:extLst>
                    <a:ext uri="{9D8B030D-6E8A-4147-A177-3AD203B41FA5}">
                      <a16:colId xmlns:a16="http://schemas.microsoft.com/office/drawing/2014/main" val="20008"/>
                    </a:ext>
                  </a:extLst>
                </a:gridCol>
                <a:gridCol w="393192">
                  <a:extLst>
                    <a:ext uri="{9D8B030D-6E8A-4147-A177-3AD203B41FA5}">
                      <a16:colId xmlns:a16="http://schemas.microsoft.com/office/drawing/2014/main" val="20009"/>
                    </a:ext>
                  </a:extLst>
                </a:gridCol>
                <a:gridCol w="393192">
                  <a:extLst>
                    <a:ext uri="{9D8B030D-6E8A-4147-A177-3AD203B41FA5}">
                      <a16:colId xmlns:a16="http://schemas.microsoft.com/office/drawing/2014/main" val="20010"/>
                    </a:ext>
                  </a:extLst>
                </a:gridCol>
              </a:tblGrid>
              <a:tr h="310896">
                <a:tc>
                  <a:txBody>
                    <a:bodyPr/>
                    <a:lstStyle/>
                    <a:p>
                      <a:pPr algn="l"/>
                      <a:endParaRPr lang="es-ES" noProof="0" dirty="0"/>
                    </a:p>
                  </a:txBody>
                  <a:tcPr marL="73152" marR="7315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C</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Mn</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P</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S</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Si</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Cr</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Ni</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Mo</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Cu</a:t>
                      </a:r>
                    </a:p>
                  </a:txBody>
                  <a:tcPr marL="27432" marR="27432" marT="18288" marB="18288" anchor="ctr">
                    <a:lnL w="0">
                      <a:noFill/>
                    </a:lnL>
                    <a:lnR w="0">
                      <a:noFill/>
                    </a:lnR>
                    <a:lnT w="0">
                      <a:noFill/>
                    </a:lnT>
                    <a:lnB w="6350">
                      <a:solidFill>
                        <a:srgbClr val="CFD6DF"/>
                      </a:solidFill>
                    </a:lnB>
                    <a:solidFill>
                      <a:srgbClr val="042354"/>
                    </a:solidFill>
                  </a:tcPr>
                </a:tc>
                <a:tc>
                  <a:txBody>
                    <a:bodyPr/>
                    <a:lstStyle/>
                    <a:p>
                      <a:pPr algn="ctr"/>
                      <a:r>
                        <a:rPr lang="es-ES" sz="850" b="1" noProof="0" dirty="0">
                          <a:solidFill>
                            <a:srgbClr val="FFFFFF"/>
                          </a:solidFill>
                          <a:latin typeface="Arial"/>
                        </a:rPr>
                        <a:t>V</a:t>
                      </a:r>
                    </a:p>
                  </a:txBody>
                  <a:tcPr marL="27432" marR="27432" marT="18288" marB="18288" anchor="ctr">
                    <a:lnL w="0">
                      <a:noFill/>
                    </a:lnL>
                    <a:lnR w="0">
                      <a:noFill/>
                    </a:lnR>
                    <a:lnT w="0">
                      <a:noFill/>
                    </a:lnT>
                    <a:lnB w="6350">
                      <a:solidFill>
                        <a:srgbClr val="CFD6DF"/>
                      </a:solidFill>
                    </a:lnB>
                    <a:solidFill>
                      <a:srgbClr val="042354"/>
                    </a:solidFill>
                  </a:tcPr>
                </a:tc>
                <a:extLst>
                  <a:ext uri="{0D108BD9-81ED-4DB2-BD59-A6C34878D82A}">
                    <a16:rowId xmlns:a16="http://schemas.microsoft.com/office/drawing/2014/main" val="10000"/>
                  </a:ext>
                </a:extLst>
              </a:tr>
              <a:tr h="310896">
                <a:tc>
                  <a:txBody>
                    <a:bodyPr/>
                    <a:lstStyle/>
                    <a:p>
                      <a:pPr algn="l"/>
                      <a:r>
                        <a:rPr lang="es-ES" sz="850" b="1" noProof="0" dirty="0">
                          <a:solidFill>
                            <a:srgbClr val="042354"/>
                          </a:solidFill>
                          <a:latin typeface="Arial"/>
                        </a:rPr>
                        <a:t>ASTM A618 Gr. III</a:t>
                      </a:r>
                    </a:p>
                  </a:txBody>
                  <a:tcPr marL="73152" marR="7315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0,26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 1,30</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0,035</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0,035</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0,33</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 0,18</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tc>
                  <a:txBody>
                    <a:bodyPr/>
                    <a:lstStyle/>
                    <a:p>
                      <a:pPr algn="ctr"/>
                      <a:r>
                        <a:rPr lang="es-ES" sz="850" b="0" noProof="0" dirty="0">
                          <a:solidFill>
                            <a:srgbClr val="191919"/>
                          </a:solidFill>
                          <a:latin typeface="Arial"/>
                        </a:rPr>
                        <a:t>≥ 0,01</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4F6F8"/>
                    </a:solidFill>
                  </a:tcPr>
                </a:tc>
                <a:extLst>
                  <a:ext uri="{0D108BD9-81ED-4DB2-BD59-A6C34878D82A}">
                    <a16:rowId xmlns:a16="http://schemas.microsoft.com/office/drawing/2014/main" val="10001"/>
                  </a:ext>
                </a:extLst>
              </a:tr>
              <a:tr h="310896">
                <a:tc>
                  <a:txBody>
                    <a:bodyPr/>
                    <a:lstStyle/>
                    <a:p>
                      <a:pPr algn="l"/>
                      <a:r>
                        <a:rPr lang="es-ES" sz="850" b="1" noProof="0" dirty="0">
                          <a:solidFill>
                            <a:srgbClr val="042354"/>
                          </a:solidFill>
                          <a:latin typeface="Arial"/>
                        </a:rPr>
                        <a:t>Muestra del eje</a:t>
                      </a:r>
                    </a:p>
                  </a:txBody>
                  <a:tcPr marL="73152" marR="7315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0,22</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0,79</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0,006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0,012</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0,27</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0,06</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0,10</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0,03</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0,17</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tc>
                  <a:txBody>
                    <a:bodyPr/>
                    <a:lstStyle/>
                    <a:p>
                      <a:pPr algn="ctr"/>
                      <a:r>
                        <a:rPr lang="es-ES" sz="850" b="0" noProof="0" dirty="0">
                          <a:solidFill>
                            <a:srgbClr val="C3094A"/>
                          </a:solidFill>
                          <a:latin typeface="Arial"/>
                        </a:rPr>
                        <a:t>–</a:t>
                      </a:r>
                    </a:p>
                  </a:txBody>
                  <a:tcPr marL="27432" marR="27432" marT="18288" marB="18288" anchor="ctr">
                    <a:lnL w="0">
                      <a:noFill/>
                    </a:lnL>
                    <a:lnR w="0">
                      <a:noFill/>
                    </a:lnR>
                    <a:lnT w="6350" cap="flat" cmpd="sng" algn="ctr">
                      <a:solidFill>
                        <a:srgbClr val="CFD6DF"/>
                      </a:solidFill>
                      <a:prstDash val="solid"/>
                      <a:round/>
                      <a:headEnd type="none" w="med" len="med"/>
                      <a:tailEnd type="none" w="med" len="med"/>
                    </a:lnT>
                    <a:lnB w="6350">
                      <a:solidFill>
                        <a:srgbClr val="CFD6DF"/>
                      </a:solidFill>
                    </a:lnB>
                    <a:solidFill>
                      <a:srgbClr val="FAECF0"/>
                    </a:solidFill>
                  </a:tcPr>
                </a:tc>
                <a:extLst>
                  <a:ext uri="{0D108BD9-81ED-4DB2-BD59-A6C34878D82A}">
                    <a16:rowId xmlns:a16="http://schemas.microsoft.com/office/drawing/2014/main" val="10002"/>
                  </a:ext>
                </a:extLst>
              </a:tr>
            </a:tbl>
          </a:graphicData>
        </a:graphic>
      </p:graphicFrame>
      <p:sp>
        <p:nvSpPr>
          <p:cNvPr id="38" name="TextBox 37"/>
          <p:cNvSpPr txBox="1"/>
          <p:nvPr/>
        </p:nvSpPr>
        <p:spPr>
          <a:xfrm>
            <a:off x="841248" y="2688336"/>
            <a:ext cx="5120640" cy="136384"/>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Fuente: informe DIESA</a:t>
            </a:r>
            <a:r>
              <a:rPr lang="es-ES" sz="900" noProof="0" dirty="0">
                <a:solidFill>
                  <a:srgbClr val="7A8494"/>
                </a:solidFill>
              </a:rPr>
              <a:t> -</a:t>
            </a:r>
            <a:r>
              <a:rPr lang="es-ES" sz="900" b="0" i="0" noProof="0" dirty="0">
                <a:solidFill>
                  <a:srgbClr val="7A8494"/>
                </a:solidFill>
                <a:latin typeface="Arial"/>
              </a:rPr>
              <a:t> laboratorio externo.</a:t>
            </a:r>
          </a:p>
        </p:txBody>
      </p:sp>
      <p:sp>
        <p:nvSpPr>
          <p:cNvPr id="39" name="Rectangle 38"/>
          <p:cNvSpPr/>
          <p:nvPr/>
        </p:nvSpPr>
        <p:spPr>
          <a:xfrm>
            <a:off x="8412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0" name="Rectangle 39"/>
          <p:cNvSpPr/>
          <p:nvPr/>
        </p:nvSpPr>
        <p:spPr>
          <a:xfrm>
            <a:off x="8412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TextBox 40"/>
          <p:cNvSpPr txBox="1"/>
          <p:nvPr/>
        </p:nvSpPr>
        <p:spPr>
          <a:xfrm>
            <a:off x="969264"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lang="es-ES" sz="1800" b="1" i="0" noProof="0" dirty="0">
                <a:solidFill>
                  <a:srgbClr val="C3094A"/>
                </a:solidFill>
                <a:latin typeface="Arial"/>
              </a:rPr>
              <a:t>212 HBW</a:t>
            </a:r>
          </a:p>
          <a:p>
            <a:pPr algn="l">
              <a:lnSpc>
                <a:spcPct val="105000"/>
              </a:lnSpc>
              <a:spcBef>
                <a:spcPts val="0"/>
              </a:spcBef>
              <a:spcAft>
                <a:spcPts val="0"/>
              </a:spcAft>
            </a:pPr>
            <a:r>
              <a:rPr lang="es-ES" sz="900" b="0" i="0" noProof="0" dirty="0">
                <a:solidFill>
                  <a:srgbClr val="4A5568"/>
                </a:solidFill>
                <a:latin typeface="Arial"/>
              </a:rPr>
              <a:t>Dureza</a:t>
            </a:r>
          </a:p>
        </p:txBody>
      </p:sp>
      <p:sp>
        <p:nvSpPr>
          <p:cNvPr id="42" name="Rectangle 41"/>
          <p:cNvSpPr/>
          <p:nvPr/>
        </p:nvSpPr>
        <p:spPr>
          <a:xfrm>
            <a:off x="25938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3" name="Rectangle 42"/>
          <p:cNvSpPr/>
          <p:nvPr/>
        </p:nvSpPr>
        <p:spPr>
          <a:xfrm>
            <a:off x="25938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4" name="TextBox 43"/>
          <p:cNvSpPr txBox="1"/>
          <p:nvPr/>
        </p:nvSpPr>
        <p:spPr>
          <a:xfrm>
            <a:off x="2721864"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lang="es-ES" sz="1800" b="1" i="0" noProof="0" dirty="0">
                <a:solidFill>
                  <a:srgbClr val="C3094A"/>
                </a:solidFill>
                <a:latin typeface="Arial"/>
              </a:rPr>
              <a:t>619 MPa</a:t>
            </a:r>
          </a:p>
          <a:p>
            <a:pPr algn="l">
              <a:lnSpc>
                <a:spcPct val="105000"/>
              </a:lnSpc>
              <a:spcBef>
                <a:spcPts val="0"/>
              </a:spcBef>
              <a:spcAft>
                <a:spcPts val="0"/>
              </a:spcAft>
            </a:pPr>
            <a:r>
              <a:rPr lang="es-ES" sz="900" b="0" i="0" noProof="0" dirty="0">
                <a:solidFill>
                  <a:srgbClr val="4A5568"/>
                </a:solidFill>
                <a:latin typeface="Arial"/>
              </a:rPr>
              <a:t>Esfuerzo de fluencia</a:t>
            </a:r>
          </a:p>
        </p:txBody>
      </p:sp>
      <p:sp>
        <p:nvSpPr>
          <p:cNvPr id="45" name="Rectangle 44"/>
          <p:cNvSpPr/>
          <p:nvPr/>
        </p:nvSpPr>
        <p:spPr>
          <a:xfrm>
            <a:off x="4346448" y="2999232"/>
            <a:ext cx="1615440" cy="93268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6" name="Rectangle 45"/>
          <p:cNvSpPr/>
          <p:nvPr/>
        </p:nvSpPr>
        <p:spPr>
          <a:xfrm>
            <a:off x="4346448" y="2999232"/>
            <a:ext cx="161544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7" name="TextBox 46"/>
          <p:cNvSpPr txBox="1"/>
          <p:nvPr/>
        </p:nvSpPr>
        <p:spPr>
          <a:xfrm>
            <a:off x="4474463" y="3182112"/>
            <a:ext cx="1432560" cy="704088"/>
          </a:xfrm>
          <a:prstGeom prst="rect">
            <a:avLst/>
          </a:prstGeom>
          <a:noFill/>
        </p:spPr>
        <p:txBody>
          <a:bodyPr wrap="square" lIns="0" tIns="0" rIns="0" bIns="0" anchor="t">
            <a:spAutoFit/>
          </a:bodyPr>
          <a:lstStyle/>
          <a:p>
            <a:pPr algn="l">
              <a:lnSpc>
                <a:spcPct val="100000"/>
              </a:lnSpc>
              <a:spcBef>
                <a:spcPts val="0"/>
              </a:spcBef>
              <a:spcAft>
                <a:spcPts val="400"/>
              </a:spcAft>
            </a:pPr>
            <a:r>
              <a:rPr lang="es-ES" sz="1800" b="1" i="0" noProof="0" dirty="0">
                <a:solidFill>
                  <a:srgbClr val="C3094A"/>
                </a:solidFill>
                <a:latin typeface="Arial"/>
              </a:rPr>
              <a:t>717 MPa</a:t>
            </a:r>
          </a:p>
          <a:p>
            <a:pPr algn="l">
              <a:lnSpc>
                <a:spcPct val="105000"/>
              </a:lnSpc>
              <a:spcBef>
                <a:spcPts val="0"/>
              </a:spcBef>
              <a:spcAft>
                <a:spcPts val="0"/>
              </a:spcAft>
            </a:pPr>
            <a:r>
              <a:rPr lang="es-ES" sz="900" b="0" i="0" noProof="0" dirty="0">
                <a:solidFill>
                  <a:srgbClr val="4A5568"/>
                </a:solidFill>
                <a:latin typeface="Arial"/>
              </a:rPr>
              <a:t>Resistencia a la tracción</a:t>
            </a:r>
          </a:p>
        </p:txBody>
      </p:sp>
      <p:sp>
        <p:nvSpPr>
          <p:cNvPr id="48" name="Rectangle 47"/>
          <p:cNvSpPr/>
          <p:nvPr/>
        </p:nvSpPr>
        <p:spPr>
          <a:xfrm>
            <a:off x="841248" y="4059936"/>
            <a:ext cx="5120640" cy="87782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9" name="Rectangle 48"/>
          <p:cNvSpPr/>
          <p:nvPr/>
        </p:nvSpPr>
        <p:spPr>
          <a:xfrm>
            <a:off x="841248" y="4059936"/>
            <a:ext cx="45720" cy="877824"/>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0" name="TextBox 49"/>
          <p:cNvSpPr txBox="1"/>
          <p:nvPr/>
        </p:nvSpPr>
        <p:spPr>
          <a:xfrm>
            <a:off x="1042416" y="4059936"/>
            <a:ext cx="4791455" cy="877824"/>
          </a:xfrm>
          <a:prstGeom prst="rect">
            <a:avLst/>
          </a:prstGeom>
          <a:noFill/>
        </p:spPr>
        <p:txBody>
          <a:bodyPr wrap="square" lIns="0" tIns="0" rIns="0" bIns="0" anchor="ctr">
            <a:spAutoFit/>
          </a:bodyPr>
          <a:lstStyle/>
          <a:p>
            <a:pPr algn="l">
              <a:lnSpc>
                <a:spcPct val="110000"/>
              </a:lnSpc>
              <a:spcBef>
                <a:spcPts val="0"/>
              </a:spcBef>
              <a:spcAft>
                <a:spcPts val="0"/>
              </a:spcAft>
            </a:pPr>
            <a:r>
              <a:rPr lang="es-ES" sz="1000" b="0" i="0" noProof="0" dirty="0">
                <a:solidFill>
                  <a:srgbClr val="191919"/>
                </a:solidFill>
                <a:latin typeface="Arial"/>
              </a:rPr>
              <a:t>Composición compatible con ASTM A618 Gr. III.  </a:t>
            </a:r>
            <a:r>
              <a:rPr lang="es-ES" sz="1000" b="1" i="0" noProof="0" dirty="0">
                <a:solidFill>
                  <a:srgbClr val="C3094A"/>
                </a:solidFill>
                <a:latin typeface="Arial"/>
              </a:rPr>
              <a:t>F1 DESCARTADA</a:t>
            </a:r>
          </a:p>
        </p:txBody>
      </p:sp>
      <p:sp>
        <p:nvSpPr>
          <p:cNvPr id="51" name="TextBox 50"/>
          <p:cNvSpPr txBox="1"/>
          <p:nvPr/>
        </p:nvSpPr>
        <p:spPr>
          <a:xfrm>
            <a:off x="6236208" y="1389888"/>
            <a:ext cx="512064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F2 · F3 · DEFECTO DE PIEZA O DE LOTE</a:t>
            </a:r>
          </a:p>
        </p:txBody>
      </p:sp>
      <p:sp>
        <p:nvSpPr>
          <p:cNvPr id="52" name="Rectangle 51"/>
          <p:cNvSpPr/>
          <p:nvPr/>
        </p:nvSpPr>
        <p:spPr>
          <a:xfrm>
            <a:off x="6236208" y="1700784"/>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3" name="Rectangle 52"/>
          <p:cNvSpPr/>
          <p:nvPr/>
        </p:nvSpPr>
        <p:spPr>
          <a:xfrm>
            <a:off x="6236208" y="1700784"/>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4" name="TextBox 53"/>
          <p:cNvSpPr txBox="1"/>
          <p:nvPr/>
        </p:nvSpPr>
        <p:spPr>
          <a:xfrm>
            <a:off x="6236208" y="1700784"/>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042354"/>
                </a:solidFill>
                <a:latin typeface="Arial"/>
              </a:rPr>
              <a:t>1</a:t>
            </a:r>
          </a:p>
        </p:txBody>
      </p:sp>
      <p:sp>
        <p:nvSpPr>
          <p:cNvPr id="55" name="TextBox 54"/>
          <p:cNvSpPr txBox="1"/>
          <p:nvPr/>
        </p:nvSpPr>
        <p:spPr>
          <a:xfrm>
            <a:off x="6748272" y="1820604"/>
            <a:ext cx="4480559" cy="473591"/>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REPOSICIÓN</a:t>
            </a:r>
          </a:p>
          <a:p>
            <a:pPr algn="l">
              <a:lnSpc>
                <a:spcPct val="108000"/>
              </a:lnSpc>
              <a:spcBef>
                <a:spcPts val="0"/>
              </a:spcBef>
              <a:spcAft>
                <a:spcPts val="0"/>
              </a:spcAft>
            </a:pPr>
            <a:r>
              <a:rPr lang="es-ES" sz="950" b="0" i="0" noProof="0" dirty="0">
                <a:solidFill>
                  <a:srgbClr val="191919"/>
                </a:solidFill>
                <a:latin typeface="Arial"/>
              </a:rPr>
              <a:t>En los motores reparados se instaló un eje nuevo, con las mismas características y misma unión soldada.</a:t>
            </a:r>
          </a:p>
        </p:txBody>
      </p:sp>
      <p:sp>
        <p:nvSpPr>
          <p:cNvPr id="56" name="Rectangle 55"/>
          <p:cNvSpPr/>
          <p:nvPr/>
        </p:nvSpPr>
        <p:spPr>
          <a:xfrm>
            <a:off x="6236208" y="2487168"/>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7" name="Rectangle 56"/>
          <p:cNvSpPr/>
          <p:nvPr/>
        </p:nvSpPr>
        <p:spPr>
          <a:xfrm>
            <a:off x="6236208" y="2487168"/>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8" name="TextBox 57"/>
          <p:cNvSpPr txBox="1"/>
          <p:nvPr/>
        </p:nvSpPr>
        <p:spPr>
          <a:xfrm>
            <a:off x="6236208" y="2487168"/>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042354"/>
                </a:solidFill>
                <a:latin typeface="Arial"/>
              </a:rPr>
              <a:t>2</a:t>
            </a:r>
          </a:p>
        </p:txBody>
      </p:sp>
      <p:sp>
        <p:nvSpPr>
          <p:cNvPr id="59" name="TextBox 58"/>
          <p:cNvSpPr txBox="1"/>
          <p:nvPr/>
        </p:nvSpPr>
        <p:spPr>
          <a:xfrm>
            <a:off x="6748272" y="2487168"/>
            <a:ext cx="4480559" cy="713232"/>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RECURRENCIA</a:t>
            </a:r>
          </a:p>
          <a:p>
            <a:pPr algn="l">
              <a:lnSpc>
                <a:spcPct val="108000"/>
              </a:lnSpc>
              <a:spcBef>
                <a:spcPts val="0"/>
              </a:spcBef>
              <a:spcAft>
                <a:spcPts val="0"/>
              </a:spcAft>
            </a:pPr>
            <a:r>
              <a:rPr lang="es-ES" sz="950" b="0" i="0" noProof="0" dirty="0">
                <a:solidFill>
                  <a:srgbClr val="191919"/>
                </a:solidFill>
                <a:latin typeface="Arial"/>
              </a:rPr>
              <a:t>Tras un número de horas comparable, la fractura reapareció en la misma ubicación y con el mismo patrón.</a:t>
            </a:r>
          </a:p>
        </p:txBody>
      </p:sp>
      <p:sp>
        <p:nvSpPr>
          <p:cNvPr id="60" name="Rectangle 59"/>
          <p:cNvSpPr/>
          <p:nvPr/>
        </p:nvSpPr>
        <p:spPr>
          <a:xfrm>
            <a:off x="6236208" y="3273552"/>
            <a:ext cx="5120640" cy="71323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1" name="Rectangle 60"/>
          <p:cNvSpPr/>
          <p:nvPr/>
        </p:nvSpPr>
        <p:spPr>
          <a:xfrm>
            <a:off x="6236208" y="3273552"/>
            <a:ext cx="384048" cy="71323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2" name="TextBox 61"/>
          <p:cNvSpPr txBox="1"/>
          <p:nvPr/>
        </p:nvSpPr>
        <p:spPr>
          <a:xfrm>
            <a:off x="6236208" y="3273552"/>
            <a:ext cx="384048" cy="713232"/>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042354"/>
                </a:solidFill>
                <a:latin typeface="Arial"/>
              </a:rPr>
              <a:t>3</a:t>
            </a:r>
          </a:p>
        </p:txBody>
      </p:sp>
      <p:sp>
        <p:nvSpPr>
          <p:cNvPr id="63" name="TextBox 62"/>
          <p:cNvSpPr txBox="1"/>
          <p:nvPr/>
        </p:nvSpPr>
        <p:spPr>
          <a:xfrm>
            <a:off x="6748272" y="3273552"/>
            <a:ext cx="4480559" cy="713232"/>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REFUTACIÓN</a:t>
            </a:r>
          </a:p>
          <a:p>
            <a:pPr algn="l">
              <a:lnSpc>
                <a:spcPct val="108000"/>
              </a:lnSpc>
              <a:spcBef>
                <a:spcPts val="0"/>
              </a:spcBef>
              <a:spcAft>
                <a:spcPts val="0"/>
              </a:spcAft>
            </a:pPr>
            <a:r>
              <a:rPr lang="es-ES" sz="950" b="0" i="0" noProof="0" dirty="0">
                <a:solidFill>
                  <a:srgbClr val="191919"/>
                </a:solidFill>
                <a:latin typeface="Arial"/>
              </a:rPr>
              <a:t>Un defecto de pieza o de lote se habría eliminado con la pieza nueva: F2 y F3 quedan refutadas.</a:t>
            </a:r>
          </a:p>
        </p:txBody>
      </p:sp>
      <p:sp>
        <p:nvSpPr>
          <p:cNvPr id="64" name="Rectangle 63"/>
          <p:cNvSpPr/>
          <p:nvPr/>
        </p:nvSpPr>
        <p:spPr>
          <a:xfrm>
            <a:off x="6236208" y="4059936"/>
            <a:ext cx="5120640" cy="87782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5" name="Rectangle 64"/>
          <p:cNvSpPr/>
          <p:nvPr/>
        </p:nvSpPr>
        <p:spPr>
          <a:xfrm>
            <a:off x="6236208" y="4059936"/>
            <a:ext cx="384048" cy="87782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6" name="TextBox 65"/>
          <p:cNvSpPr txBox="1"/>
          <p:nvPr/>
        </p:nvSpPr>
        <p:spPr>
          <a:xfrm>
            <a:off x="6236208" y="4059936"/>
            <a:ext cx="384048" cy="877824"/>
          </a:xfrm>
          <a:prstGeom prst="rect">
            <a:avLst/>
          </a:prstGeom>
          <a:noFill/>
        </p:spPr>
        <p:txBody>
          <a:bodyPr wrap="square" lIns="0" tIns="0" rIns="0" bIns="0" anchor="ctr">
            <a:spAutoFit/>
          </a:bodyPr>
          <a:lstStyle/>
          <a:p>
            <a:pPr algn="ctr">
              <a:lnSpc>
                <a:spcPct val="110000"/>
              </a:lnSpc>
              <a:spcBef>
                <a:spcPts val="0"/>
              </a:spcBef>
              <a:spcAft>
                <a:spcPts val="0"/>
              </a:spcAft>
            </a:pPr>
            <a:r>
              <a:rPr lang="es-ES" sz="1500" b="1" i="0" noProof="0" dirty="0">
                <a:solidFill>
                  <a:srgbClr val="FFFFFF"/>
                </a:solidFill>
                <a:latin typeface="Arial"/>
              </a:rPr>
              <a:t>›</a:t>
            </a:r>
          </a:p>
        </p:txBody>
      </p:sp>
      <p:sp>
        <p:nvSpPr>
          <p:cNvPr id="67" name="TextBox 66"/>
          <p:cNvSpPr txBox="1"/>
          <p:nvPr/>
        </p:nvSpPr>
        <p:spPr>
          <a:xfrm>
            <a:off x="6748272" y="4059936"/>
            <a:ext cx="4480559" cy="877824"/>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C3094A"/>
                </a:solidFill>
                <a:latin typeface="Arial"/>
              </a:rPr>
              <a:t>CAUSA EN EL DISEÑO</a:t>
            </a:r>
          </a:p>
          <a:p>
            <a:pPr algn="l">
              <a:lnSpc>
                <a:spcPct val="108000"/>
              </a:lnSpc>
              <a:spcBef>
                <a:spcPts val="0"/>
              </a:spcBef>
              <a:spcAft>
                <a:spcPts val="0"/>
              </a:spcAft>
            </a:pPr>
            <a:r>
              <a:rPr lang="es-ES" sz="1000" b="1" i="0" noProof="0" dirty="0">
                <a:solidFill>
                  <a:srgbClr val="042354"/>
                </a:solidFill>
                <a:latin typeface="Arial"/>
              </a:rPr>
              <a:t>La única condición común a todas las unidades es la geometría de la unión soldada.</a:t>
            </a:r>
          </a:p>
        </p:txBody>
      </p:sp>
      <p:sp>
        <p:nvSpPr>
          <p:cNvPr id="68" name="Rectangle 6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9" name="TextBox 6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Descartados el material, la operación y la fabricación, la causa queda en el diseño por eliminación, lo que coincide con el FS = 0,31 calculado para la causa física (4.1).</a:t>
            </a:r>
          </a:p>
        </p:txBody>
      </p:sp>
      <p:sp>
        <p:nvSpPr>
          <p:cNvPr id="70" name="TextBox 69"/>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4.2 · ANÁLISIS DE CAUSA RAÍZ  |  ETAPA 3 (RCM) · PREGUNTA 3: MODOS DE FALLA · ACR PASO 6 DE 7</a:t>
            </a:r>
          </a:p>
        </p:txBody>
      </p:sp>
      <p:sp>
        <p:nvSpPr>
          <p:cNvPr id="71"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72"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3"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4"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75"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76"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77"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8"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9"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80"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81"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82"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83"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84"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4.2 ANÁLISIS DE CAUSA RAÍZ</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Del mecanismo físico a la causa latente</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14</a:t>
            </a:r>
          </a:p>
        </p:txBody>
      </p:sp>
      <p:sp>
        <p:nvSpPr>
          <p:cNvPr id="6" name="TextBox 5"/>
          <p:cNvSpPr txBox="1"/>
          <p:nvPr/>
        </p:nvSpPr>
        <p:spPr>
          <a:xfrm>
            <a:off x="841248" y="1426464"/>
            <a:ext cx="10515600" cy="292608"/>
          </a:xfrm>
          <a:prstGeom prst="rect">
            <a:avLst/>
          </a:prstGeom>
          <a:noFill/>
        </p:spPr>
        <p:txBody>
          <a:bodyPr wrap="square" lIns="0" tIns="0" rIns="0" bIns="0" anchor="t">
            <a:spAutoFit/>
          </a:bodyPr>
          <a:lstStyle/>
          <a:p>
            <a:pPr algn="l">
              <a:lnSpc>
                <a:spcPct val="110000"/>
              </a:lnSpc>
              <a:spcBef>
                <a:spcPts val="0"/>
              </a:spcBef>
              <a:spcAft>
                <a:spcPts val="400"/>
              </a:spcAft>
            </a:pPr>
            <a:r>
              <a:rPr lang="es-ES" sz="1200" b="0" i="1" noProof="0" dirty="0">
                <a:solidFill>
                  <a:srgbClr val="4A5568"/>
                </a:solidFill>
                <a:latin typeface="Arial"/>
              </a:rPr>
              <a:t>¿Por qué la organización convivió tres años con un modo de falla de criticidad máxima?</a:t>
            </a:r>
          </a:p>
        </p:txBody>
      </p:sp>
      <p:sp>
        <p:nvSpPr>
          <p:cNvPr id="7" name="Rectangle 6"/>
          <p:cNvSpPr/>
          <p:nvPr/>
        </p:nvSpPr>
        <p:spPr>
          <a:xfrm>
            <a:off x="841248" y="1828800"/>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8" name="Rectangle 7"/>
          <p:cNvSpPr/>
          <p:nvPr/>
        </p:nvSpPr>
        <p:spPr>
          <a:xfrm>
            <a:off x="841248" y="1828800"/>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9" name="TextBox 8"/>
          <p:cNvSpPr txBox="1"/>
          <p:nvPr/>
        </p:nvSpPr>
        <p:spPr>
          <a:xfrm>
            <a:off x="1060704" y="1938528"/>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500" b="1" i="0" noProof="0" dirty="0">
                <a:solidFill>
                  <a:srgbClr val="7A8494"/>
                </a:solidFill>
                <a:latin typeface="Arial"/>
              </a:rPr>
              <a:t>1</a:t>
            </a:r>
          </a:p>
        </p:txBody>
      </p:sp>
      <p:sp>
        <p:nvSpPr>
          <p:cNvPr id="10" name="TextBox 9"/>
          <p:cNvSpPr txBox="1"/>
          <p:nvPr/>
        </p:nvSpPr>
        <p:spPr>
          <a:xfrm>
            <a:off x="1444752" y="1920240"/>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042354"/>
                </a:solidFill>
                <a:latin typeface="Arial"/>
              </a:rPr>
              <a:t>¿Por qué se fracturó el eje palier?</a:t>
            </a:r>
          </a:p>
          <a:p>
            <a:pPr algn="l">
              <a:lnSpc>
                <a:spcPct val="110000"/>
              </a:lnSpc>
              <a:spcBef>
                <a:spcPts val="0"/>
              </a:spcBef>
              <a:spcAft>
                <a:spcPts val="400"/>
              </a:spcAft>
            </a:pPr>
            <a:r>
              <a:rPr lang="es-ES" sz="950" b="0" i="0" noProof="0" dirty="0">
                <a:solidFill>
                  <a:srgbClr val="4A5568"/>
                </a:solidFill>
                <a:latin typeface="Arial"/>
              </a:rPr>
              <a:t>La raíz sin fusión concentra el esfuerzo y nuclea una grieta de fatiga bajo el par nominal.</a:t>
            </a:r>
          </a:p>
        </p:txBody>
      </p:sp>
      <p:sp>
        <p:nvSpPr>
          <p:cNvPr id="11" name="TextBox 10"/>
          <p:cNvSpPr txBox="1"/>
          <p:nvPr/>
        </p:nvSpPr>
        <p:spPr>
          <a:xfrm>
            <a:off x="5733288" y="1920240"/>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ES" sz="1000" b="0" i="0" noProof="0" dirty="0">
                <a:solidFill>
                  <a:srgbClr val="191919"/>
                </a:solidFill>
                <a:latin typeface="Arial"/>
              </a:rPr>
              <a:t>› Rediseño de la unión: penetración completa y mayor sección resistente.</a:t>
            </a:r>
          </a:p>
        </p:txBody>
      </p:sp>
      <p:sp>
        <p:nvSpPr>
          <p:cNvPr id="12" name="Rectangle 11"/>
          <p:cNvSpPr/>
          <p:nvPr/>
        </p:nvSpPr>
        <p:spPr>
          <a:xfrm>
            <a:off x="9756648" y="2048256"/>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850" b="1" i="0" noProof="0" dirty="0">
                <a:solidFill>
                  <a:srgbClr val="4A5568"/>
                </a:solidFill>
                <a:latin typeface="Arial"/>
              </a:rPr>
              <a:t>FÍSICO</a:t>
            </a:r>
          </a:p>
        </p:txBody>
      </p:sp>
      <p:sp>
        <p:nvSpPr>
          <p:cNvPr id="13" name="Rectangle 12"/>
          <p:cNvSpPr/>
          <p:nvPr/>
        </p:nvSpPr>
        <p:spPr>
          <a:xfrm>
            <a:off x="841248" y="2670048"/>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4" name="Rectangle 13"/>
          <p:cNvSpPr/>
          <p:nvPr/>
        </p:nvSpPr>
        <p:spPr>
          <a:xfrm>
            <a:off x="841248" y="2670048"/>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5" name="TextBox 14"/>
          <p:cNvSpPr txBox="1"/>
          <p:nvPr/>
        </p:nvSpPr>
        <p:spPr>
          <a:xfrm>
            <a:off x="1060704" y="2779776"/>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500" b="1" i="0" noProof="0" dirty="0">
                <a:solidFill>
                  <a:srgbClr val="7A8494"/>
                </a:solidFill>
                <a:latin typeface="Arial"/>
              </a:rPr>
              <a:t>2</a:t>
            </a:r>
          </a:p>
        </p:txBody>
      </p:sp>
      <p:sp>
        <p:nvSpPr>
          <p:cNvPr id="16" name="TextBox 15"/>
          <p:cNvSpPr txBox="1"/>
          <p:nvPr/>
        </p:nvSpPr>
        <p:spPr>
          <a:xfrm>
            <a:off x="1444752" y="2761488"/>
            <a:ext cx="4069080" cy="703141"/>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042354"/>
                </a:solidFill>
                <a:latin typeface="Arial"/>
              </a:rPr>
              <a:t>¿Por qué siguió en servicio una unión insuficiente?</a:t>
            </a:r>
          </a:p>
          <a:p>
            <a:pPr algn="l">
              <a:lnSpc>
                <a:spcPct val="110000"/>
              </a:lnSpc>
              <a:spcBef>
                <a:spcPts val="0"/>
              </a:spcBef>
              <a:spcAft>
                <a:spcPts val="400"/>
              </a:spcAft>
            </a:pPr>
            <a:r>
              <a:rPr lang="es-ES" sz="950" b="0" i="0" noProof="0" dirty="0">
                <a:solidFill>
                  <a:srgbClr val="4A5568"/>
                </a:solidFill>
                <a:latin typeface="Arial"/>
              </a:rPr>
              <a:t>El componente se recibe con el diseño predeterminado y no se verifica frente al par real.</a:t>
            </a:r>
          </a:p>
        </p:txBody>
      </p:sp>
      <p:sp>
        <p:nvSpPr>
          <p:cNvPr id="17" name="TextBox 16"/>
          <p:cNvSpPr txBox="1"/>
          <p:nvPr/>
        </p:nvSpPr>
        <p:spPr>
          <a:xfrm>
            <a:off x="5733288" y="2871216"/>
            <a:ext cx="3794760" cy="365760"/>
          </a:xfrm>
          <a:prstGeom prst="rect">
            <a:avLst/>
          </a:prstGeom>
          <a:noFill/>
        </p:spPr>
        <p:txBody>
          <a:bodyPr wrap="square" lIns="0" tIns="0" rIns="0" bIns="0" anchor="ctr">
            <a:spAutoFit/>
          </a:bodyPr>
          <a:lstStyle/>
          <a:p>
            <a:pPr algn="l">
              <a:lnSpc>
                <a:spcPct val="114000"/>
              </a:lnSpc>
              <a:spcBef>
                <a:spcPts val="0"/>
              </a:spcBef>
              <a:spcAft>
                <a:spcPts val="400"/>
              </a:spcAft>
            </a:pPr>
            <a:r>
              <a:rPr lang="es-ES" sz="1000" b="0" i="0" noProof="0" dirty="0">
                <a:solidFill>
                  <a:srgbClr val="191919"/>
                </a:solidFill>
                <a:latin typeface="Arial"/>
              </a:rPr>
              <a:t>› Verificar la resistencia a fatiga del diseño frente al par nominal antes de aceptar el componente.</a:t>
            </a:r>
          </a:p>
        </p:txBody>
      </p:sp>
      <p:sp>
        <p:nvSpPr>
          <p:cNvPr id="18" name="Rectangle 17"/>
          <p:cNvSpPr/>
          <p:nvPr/>
        </p:nvSpPr>
        <p:spPr>
          <a:xfrm>
            <a:off x="9756648" y="2889504"/>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850" b="1" i="0" noProof="0" dirty="0">
                <a:solidFill>
                  <a:srgbClr val="4A5568"/>
                </a:solidFill>
                <a:latin typeface="Arial"/>
              </a:rPr>
              <a:t>HUMANO</a:t>
            </a:r>
          </a:p>
        </p:txBody>
      </p:sp>
      <p:sp>
        <p:nvSpPr>
          <p:cNvPr id="19" name="Rectangle 18"/>
          <p:cNvSpPr/>
          <p:nvPr/>
        </p:nvSpPr>
        <p:spPr>
          <a:xfrm>
            <a:off x="841248" y="3511296"/>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0" name="Rectangle 19"/>
          <p:cNvSpPr/>
          <p:nvPr/>
        </p:nvSpPr>
        <p:spPr>
          <a:xfrm>
            <a:off x="841248" y="3511296"/>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1" name="TextBox 20"/>
          <p:cNvSpPr txBox="1"/>
          <p:nvPr/>
        </p:nvSpPr>
        <p:spPr>
          <a:xfrm>
            <a:off x="1060704" y="3621024"/>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500" b="1" i="0" noProof="0" dirty="0">
                <a:solidFill>
                  <a:srgbClr val="C3094A"/>
                </a:solidFill>
                <a:latin typeface="Arial"/>
              </a:rPr>
              <a:t>3</a:t>
            </a:r>
          </a:p>
        </p:txBody>
      </p:sp>
      <p:sp>
        <p:nvSpPr>
          <p:cNvPr id="22" name="TextBox 21"/>
          <p:cNvSpPr txBox="1"/>
          <p:nvPr/>
        </p:nvSpPr>
        <p:spPr>
          <a:xfrm>
            <a:off x="1444752" y="3602736"/>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042354"/>
                </a:solidFill>
                <a:latin typeface="Arial"/>
              </a:rPr>
              <a:t>¿Por qué no se detectó que la falla era recurrente?</a:t>
            </a:r>
          </a:p>
          <a:p>
            <a:pPr algn="l">
              <a:lnSpc>
                <a:spcPct val="110000"/>
              </a:lnSpc>
              <a:spcBef>
                <a:spcPts val="0"/>
              </a:spcBef>
              <a:spcAft>
                <a:spcPts val="400"/>
              </a:spcAft>
            </a:pPr>
            <a:r>
              <a:rPr lang="es-ES" sz="950" b="0" i="0" noProof="0" dirty="0">
                <a:solidFill>
                  <a:srgbClr val="4A5568"/>
                </a:solidFill>
                <a:latin typeface="Arial"/>
              </a:rPr>
              <a:t>Cada análisis se hizo por evento y el registro de paradas no codificaba la falla: el patrón no se veía ni se medía.</a:t>
            </a:r>
          </a:p>
        </p:txBody>
      </p:sp>
      <p:sp>
        <p:nvSpPr>
          <p:cNvPr id="23" name="TextBox 22"/>
          <p:cNvSpPr txBox="1"/>
          <p:nvPr/>
        </p:nvSpPr>
        <p:spPr>
          <a:xfrm>
            <a:off x="5733288" y="3736397"/>
            <a:ext cx="3794760" cy="336182"/>
          </a:xfrm>
          <a:prstGeom prst="rect">
            <a:avLst/>
          </a:prstGeom>
          <a:noFill/>
        </p:spPr>
        <p:txBody>
          <a:bodyPr wrap="square" lIns="0" tIns="0" rIns="0" bIns="0" anchor="ctr">
            <a:spAutoFit/>
          </a:bodyPr>
          <a:lstStyle/>
          <a:p>
            <a:pPr algn="l">
              <a:lnSpc>
                <a:spcPct val="114000"/>
              </a:lnSpc>
              <a:spcBef>
                <a:spcPts val="0"/>
              </a:spcBef>
              <a:spcAft>
                <a:spcPts val="400"/>
              </a:spcAft>
            </a:pPr>
            <a:r>
              <a:rPr lang="es-ES" sz="1000" b="0" i="0" noProof="0" dirty="0">
                <a:solidFill>
                  <a:srgbClr val="191919"/>
                </a:solidFill>
                <a:latin typeface="Arial"/>
              </a:rPr>
              <a:t>› Consolidar los análisis por modo de falla y codificar la falla en el registro de paradas.</a:t>
            </a:r>
          </a:p>
        </p:txBody>
      </p:sp>
      <p:sp>
        <p:nvSpPr>
          <p:cNvPr id="24" name="Rectangle 23"/>
          <p:cNvSpPr/>
          <p:nvPr/>
        </p:nvSpPr>
        <p:spPr>
          <a:xfrm>
            <a:off x="9756648" y="3730752"/>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850" b="1" i="0" noProof="0" dirty="0">
                <a:solidFill>
                  <a:srgbClr val="FFFFFF"/>
                </a:solidFill>
                <a:latin typeface="Arial"/>
              </a:rPr>
              <a:t>LATENTE</a:t>
            </a:r>
          </a:p>
        </p:txBody>
      </p:sp>
      <p:sp>
        <p:nvSpPr>
          <p:cNvPr id="25" name="Rectangle 24"/>
          <p:cNvSpPr/>
          <p:nvPr/>
        </p:nvSpPr>
        <p:spPr>
          <a:xfrm>
            <a:off x="841248" y="4352544"/>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6" name="Rectangle 25"/>
          <p:cNvSpPr/>
          <p:nvPr/>
        </p:nvSpPr>
        <p:spPr>
          <a:xfrm>
            <a:off x="841248" y="4352544"/>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27" name="TextBox 26"/>
          <p:cNvSpPr txBox="1"/>
          <p:nvPr/>
        </p:nvSpPr>
        <p:spPr>
          <a:xfrm>
            <a:off x="1060704" y="4462272"/>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ES" sz="1500" b="1" i="0" noProof="0" dirty="0">
                <a:solidFill>
                  <a:srgbClr val="C3094A"/>
                </a:solidFill>
                <a:latin typeface="Arial"/>
              </a:rPr>
              <a:t>4</a:t>
            </a:r>
          </a:p>
        </p:txBody>
      </p:sp>
      <p:sp>
        <p:nvSpPr>
          <p:cNvPr id="28" name="TextBox 27"/>
          <p:cNvSpPr txBox="1"/>
          <p:nvPr/>
        </p:nvSpPr>
        <p:spPr>
          <a:xfrm>
            <a:off x="1444752" y="4443983"/>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042354"/>
                </a:solidFill>
                <a:latin typeface="Arial"/>
              </a:rPr>
              <a:t>¿Por qué las recomendaciones de los análisis no se ejecutaron?</a:t>
            </a:r>
          </a:p>
          <a:p>
            <a:pPr algn="l">
              <a:lnSpc>
                <a:spcPct val="110000"/>
              </a:lnSpc>
              <a:spcBef>
                <a:spcPts val="0"/>
              </a:spcBef>
              <a:spcAft>
                <a:spcPts val="400"/>
              </a:spcAft>
            </a:pPr>
            <a:r>
              <a:rPr lang="es-ES" sz="950" b="0" i="0" noProof="0" dirty="0">
                <a:solidFill>
                  <a:srgbClr val="4A5568"/>
                </a:solidFill>
                <a:latin typeface="Arial"/>
              </a:rPr>
              <a:t>No existía un proceso que asignara responsable, plazo ni cierre verificado.</a:t>
            </a:r>
          </a:p>
        </p:txBody>
      </p:sp>
      <p:sp>
        <p:nvSpPr>
          <p:cNvPr id="29" name="TextBox 28"/>
          <p:cNvSpPr txBox="1"/>
          <p:nvPr/>
        </p:nvSpPr>
        <p:spPr>
          <a:xfrm>
            <a:off x="5733288" y="4443983"/>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ES" sz="1000" b="0" i="0" noProof="0" dirty="0">
                <a:solidFill>
                  <a:srgbClr val="191919"/>
                </a:solidFill>
                <a:latin typeface="Arial"/>
              </a:rPr>
              <a:t>› Proceso de gestión de hallazgos con responsable, plazo y cierre verificado.</a:t>
            </a:r>
          </a:p>
        </p:txBody>
      </p:sp>
      <p:sp>
        <p:nvSpPr>
          <p:cNvPr id="30" name="Rectangle 29"/>
          <p:cNvSpPr/>
          <p:nvPr/>
        </p:nvSpPr>
        <p:spPr>
          <a:xfrm>
            <a:off x="9756648" y="4572000"/>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ES" sz="850" b="1" i="0" noProof="0" dirty="0">
                <a:solidFill>
                  <a:srgbClr val="FFFFFF"/>
                </a:solidFill>
                <a:latin typeface="Arial"/>
              </a:rPr>
              <a:t>LATENTE</a:t>
            </a:r>
          </a:p>
        </p:txBody>
      </p:sp>
      <p:sp>
        <p:nvSpPr>
          <p:cNvPr id="31" name="Rectangle 30"/>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2" name="TextBox 31"/>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ES" sz="1150" b="1" i="0" noProof="0" dirty="0">
                <a:solidFill>
                  <a:srgbClr val="042354"/>
                </a:solidFill>
                <a:latin typeface="Arial"/>
              </a:rPr>
              <a:t>Causa raíz latente: la ausencia de un mecanismo que convierta el hallazgo de un análisis de falla en un cambio del diseño del componente.</a:t>
            </a:r>
          </a:p>
        </p:txBody>
      </p:sp>
      <p:pic>
        <p:nvPicPr>
          <p:cNvPr id="33" name="Imagen 32">
            <a:extLst>
              <a:ext uri="{FF2B5EF4-FFF2-40B4-BE49-F238E27FC236}">
                <a16:creationId xmlns:a16="http://schemas.microsoft.com/office/drawing/2014/main" id="{6A70E9B0-85ED-7947-5ABB-9FE744523619}"/>
              </a:ext>
            </a:extLst>
          </p:cNvPr>
          <p:cNvPicPr>
            <a:picLocks noChangeAspect="1"/>
          </p:cNvPicPr>
          <p:nvPr/>
        </p:nvPicPr>
        <p:blipFill>
          <a:blip r:embed="rId2"/>
          <a:stretch>
            <a:fillRect/>
          </a:stretch>
        </p:blipFill>
        <p:spPr>
          <a:xfrm>
            <a:off x="158617" y="5943600"/>
            <a:ext cx="5620013" cy="550672"/>
          </a:xfrm>
          <a:prstGeom prst="rect">
            <a:avLst/>
          </a:prstGeom>
        </p:spPr>
      </p:pic>
      <p:sp>
        <p:nvSpPr>
          <p:cNvPr id="34" name="TextBox 33"/>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4.2 · ANÁLISIS DE CAUSA RAÍZ  |  ETAPA 3 (RCM) · PREGUNTA 3: MODOS DE FALLA · ACR PASO 7 DE 7</a:t>
            </a:r>
          </a:p>
        </p:txBody>
      </p:sp>
      <p:sp>
        <p:nvSpPr>
          <p:cNvPr id="35"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6"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7"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8"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39"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0"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1"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2"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3" name="Tracker P3"/>
          <p:cNvSpPr/>
          <p:nvPr/>
        </p:nvSpPr>
        <p:spPr>
          <a:xfrm>
            <a:off x="431596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44"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5"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6"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47"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48"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4.2 ANÁLISIS DE CAUSA RAÍZ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Preguntas 4 y 5: efectos y consecuencias de la falla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15</a:t>
            </a:r>
          </a:p>
        </p:txBody>
      </p:sp>
      <p:pic>
        <p:nvPicPr>
          <p:cNvPr id="33" name="Imagen 32">
            <a:extLst>
              <a:ext uri="{FF2B5EF4-FFF2-40B4-BE49-F238E27FC236}">
                <a16:creationId xmlns:a16="http://schemas.microsoft.com/office/drawing/2014/main" id="{6A70E9B0-85ED-7947-5ABB-9FE744523619}"/>
              </a:ext>
            </a:extLst>
          </p:cNvPr>
          <p:cNvPicPr>
            <a:picLocks noChangeAspect="1"/>
          </p:cNvPicPr>
          <p:nvPr/>
        </p:nvPicPr>
        <p:blipFill>
          <a:blip r:embed="rId3"/>
          <a:stretch>
            <a:fillRect/>
          </a:stretch>
        </p:blipFill>
        <p:spPr>
          <a:xfrm>
            <a:off x="158617" y="5943600"/>
            <a:ext cx="5620013" cy="550672"/>
          </a:xfrm>
          <a:prstGeom prst="rect">
            <a:avLst/>
          </a:prstGeom>
        </p:spPr>
      </p:pic>
      <p:sp>
        <p:nvSpPr>
          <p:cNvPr id="34" name="TextBox 33"/>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4.3 · DECISIÓN DE REDISEÑO  |  ETAPA 3 (RCM) · PREGUNTAS 4 Y 5</a:t>
            </a:r>
          </a:p>
        </p:txBody>
      </p:sp>
      <p:sp>
        <p:nvSpPr>
          <p:cNvPr id="35" name="TextBox 34"/>
          <p:cNvSpPr txBox="1"/>
          <p:nvPr/>
        </p:nvSpPr>
        <p:spPr>
          <a:xfrm>
            <a:off x="841248" y="1389888"/>
            <a:ext cx="635508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P4 · EFECTOS: QUÉ SUCEDE CUANDO OCURRE LA FALLA</a:t>
            </a:r>
          </a:p>
        </p:txBody>
      </p:sp>
      <p:sp>
        <p:nvSpPr>
          <p:cNvPr id="36" name="Rectangle 35"/>
          <p:cNvSpPr/>
          <p:nvPr/>
        </p:nvSpPr>
        <p:spPr>
          <a:xfrm>
            <a:off x="841248" y="1682496"/>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7" name="Oval 36"/>
          <p:cNvSpPr/>
          <p:nvPr/>
        </p:nvSpPr>
        <p:spPr>
          <a:xfrm>
            <a:off x="987552" y="1883664"/>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8" name="TextBox 37"/>
          <p:cNvSpPr txBox="1"/>
          <p:nvPr/>
        </p:nvSpPr>
        <p:spPr>
          <a:xfrm>
            <a:off x="987552" y="1883664"/>
            <a:ext cx="365760" cy="365760"/>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FFFFFF"/>
                </a:solidFill>
                <a:latin typeface="Arial"/>
              </a:rPr>
              <a:t>1</a:t>
            </a:r>
          </a:p>
        </p:txBody>
      </p:sp>
      <p:sp>
        <p:nvSpPr>
          <p:cNvPr id="39" name="TextBox 38"/>
          <p:cNvSpPr txBox="1"/>
          <p:nvPr/>
        </p:nvSpPr>
        <p:spPr>
          <a:xfrm>
            <a:off x="1517904" y="1682496"/>
            <a:ext cx="5532120" cy="768096"/>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SIN AVISO</a:t>
            </a:r>
          </a:p>
          <a:p>
            <a:pPr algn="l">
              <a:lnSpc>
                <a:spcPct val="108000"/>
              </a:lnSpc>
              <a:spcBef>
                <a:spcPts val="0"/>
              </a:spcBef>
              <a:spcAft>
                <a:spcPts val="0"/>
              </a:spcAft>
            </a:pPr>
            <a:r>
              <a:rPr lang="es-ES" sz="950" b="0" i="0" noProof="0" dirty="0">
                <a:solidFill>
                  <a:srgbClr val="191919"/>
                </a:solidFill>
                <a:latin typeface="Arial"/>
              </a:rPr>
              <a:t>Ninguna tarea vigente la anticipa: 10 de los 13 eventos se detectaron en operación.</a:t>
            </a:r>
          </a:p>
        </p:txBody>
      </p:sp>
      <p:sp>
        <p:nvSpPr>
          <p:cNvPr id="40" name="Rectangle 39"/>
          <p:cNvSpPr/>
          <p:nvPr/>
        </p:nvSpPr>
        <p:spPr>
          <a:xfrm>
            <a:off x="841248" y="2523744"/>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Oval 40"/>
          <p:cNvSpPr/>
          <p:nvPr/>
        </p:nvSpPr>
        <p:spPr>
          <a:xfrm>
            <a:off x="987552" y="2724911"/>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2" name="TextBox 41"/>
          <p:cNvSpPr txBox="1"/>
          <p:nvPr/>
        </p:nvSpPr>
        <p:spPr>
          <a:xfrm>
            <a:off x="987552" y="2724911"/>
            <a:ext cx="365760" cy="365760"/>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FFFFFF"/>
                </a:solidFill>
                <a:latin typeface="Arial"/>
              </a:rPr>
              <a:t>2</a:t>
            </a:r>
          </a:p>
        </p:txBody>
      </p:sp>
      <p:sp>
        <p:nvSpPr>
          <p:cNvPr id="43" name="TextBox 42"/>
          <p:cNvSpPr txBox="1"/>
          <p:nvPr/>
        </p:nvSpPr>
        <p:spPr>
          <a:xfrm>
            <a:off x="1517904" y="2523744"/>
            <a:ext cx="5532120" cy="768096"/>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SEGURIDAD</a:t>
            </a:r>
          </a:p>
          <a:p>
            <a:pPr algn="l">
              <a:lnSpc>
                <a:spcPct val="108000"/>
              </a:lnSpc>
              <a:spcBef>
                <a:spcPts val="0"/>
              </a:spcBef>
              <a:spcAft>
                <a:spcPts val="0"/>
              </a:spcAft>
            </a:pPr>
            <a:r>
              <a:rPr lang="es-ES" sz="950" b="0" i="0" noProof="0" dirty="0">
                <a:solidFill>
                  <a:srgbClr val="191919"/>
                </a:solidFill>
                <a:latin typeface="Arial"/>
              </a:rPr>
              <a:t>Se pierden la tracción y el retardo dinámico en el descenso cargado (628 t).</a:t>
            </a:r>
          </a:p>
        </p:txBody>
      </p:sp>
      <p:sp>
        <p:nvSpPr>
          <p:cNvPr id="44" name="Rectangle 43"/>
          <p:cNvSpPr/>
          <p:nvPr/>
        </p:nvSpPr>
        <p:spPr>
          <a:xfrm>
            <a:off x="841248" y="3364991"/>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5" name="Oval 44"/>
          <p:cNvSpPr/>
          <p:nvPr/>
        </p:nvSpPr>
        <p:spPr>
          <a:xfrm>
            <a:off x="987552" y="3566159"/>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6" name="TextBox 45"/>
          <p:cNvSpPr txBox="1"/>
          <p:nvPr/>
        </p:nvSpPr>
        <p:spPr>
          <a:xfrm>
            <a:off x="987552" y="3566159"/>
            <a:ext cx="365760" cy="365760"/>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FFFFFF"/>
                </a:solidFill>
                <a:latin typeface="Arial"/>
              </a:rPr>
              <a:t>3</a:t>
            </a:r>
          </a:p>
        </p:txBody>
      </p:sp>
      <p:sp>
        <p:nvSpPr>
          <p:cNvPr id="47" name="TextBox 46"/>
          <p:cNvSpPr txBox="1"/>
          <p:nvPr/>
        </p:nvSpPr>
        <p:spPr>
          <a:xfrm>
            <a:off x="1517904" y="3364991"/>
            <a:ext cx="5532120" cy="768096"/>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OPERACIÓN</a:t>
            </a:r>
          </a:p>
          <a:p>
            <a:pPr algn="l">
              <a:lnSpc>
                <a:spcPct val="108000"/>
              </a:lnSpc>
              <a:spcBef>
                <a:spcPts val="0"/>
              </a:spcBef>
              <a:spcAft>
                <a:spcPts val="0"/>
              </a:spcAft>
            </a:pPr>
            <a:r>
              <a:rPr lang="es-ES" sz="950" b="0" i="0" noProof="0" dirty="0">
                <a:solidFill>
                  <a:srgbClr val="191919"/>
                </a:solidFill>
                <a:latin typeface="Arial"/>
              </a:rPr>
              <a:t>59,3 h fuera de servicio: se sustituye el motor de tracción completo.</a:t>
            </a:r>
          </a:p>
        </p:txBody>
      </p:sp>
      <p:sp>
        <p:nvSpPr>
          <p:cNvPr id="48" name="Rectangle 47"/>
          <p:cNvSpPr/>
          <p:nvPr/>
        </p:nvSpPr>
        <p:spPr>
          <a:xfrm>
            <a:off x="841248" y="4206240"/>
            <a:ext cx="635508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9" name="Oval 48"/>
          <p:cNvSpPr/>
          <p:nvPr/>
        </p:nvSpPr>
        <p:spPr>
          <a:xfrm>
            <a:off x="987552" y="4407407"/>
            <a:ext cx="365760" cy="365760"/>
          </a:xfrm>
          <a:prstGeom prst="ellipse">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0" name="TextBox 49"/>
          <p:cNvSpPr txBox="1"/>
          <p:nvPr/>
        </p:nvSpPr>
        <p:spPr>
          <a:xfrm>
            <a:off x="987552" y="4407407"/>
            <a:ext cx="365760" cy="365760"/>
          </a:xfrm>
          <a:prstGeom prst="rect">
            <a:avLst/>
          </a:prstGeom>
          <a:noFill/>
        </p:spPr>
        <p:txBody>
          <a:bodyPr wrap="square" lIns="0" tIns="0" rIns="0" bIns="0" anchor="ctr">
            <a:spAutoFit/>
          </a:bodyPr>
          <a:lstStyle/>
          <a:p>
            <a:pPr algn="ctr">
              <a:lnSpc>
                <a:spcPct val="110000"/>
              </a:lnSpc>
              <a:spcBef>
                <a:spcPts val="0"/>
              </a:spcBef>
              <a:spcAft>
                <a:spcPts val="0"/>
              </a:spcAft>
            </a:pPr>
            <a:r>
              <a:rPr lang="es-ES" sz="1200" b="1" i="0" noProof="0" dirty="0">
                <a:solidFill>
                  <a:srgbClr val="FFFFFF"/>
                </a:solidFill>
                <a:latin typeface="Arial"/>
              </a:rPr>
              <a:t>4</a:t>
            </a:r>
          </a:p>
        </p:txBody>
      </p:sp>
      <p:sp>
        <p:nvSpPr>
          <p:cNvPr id="51" name="TextBox 50"/>
          <p:cNvSpPr txBox="1"/>
          <p:nvPr/>
        </p:nvSpPr>
        <p:spPr>
          <a:xfrm>
            <a:off x="1517904" y="4206240"/>
            <a:ext cx="5532120" cy="768096"/>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4A5568"/>
                </a:solidFill>
                <a:latin typeface="Arial"/>
              </a:rPr>
              <a:t>DAÑO FÍSICO</a:t>
            </a:r>
          </a:p>
          <a:p>
            <a:pPr algn="l">
              <a:lnSpc>
                <a:spcPct val="108000"/>
              </a:lnSpc>
              <a:spcBef>
                <a:spcPts val="0"/>
              </a:spcBef>
              <a:spcAft>
                <a:spcPts val="0"/>
              </a:spcAft>
            </a:pPr>
            <a:r>
              <a:rPr lang="es-ES" sz="950" b="0" i="0" noProof="0" dirty="0">
                <a:solidFill>
                  <a:srgbClr val="191919"/>
                </a:solidFill>
                <a:latin typeface="Arial"/>
              </a:rPr>
              <a:t>El eje roto sigue girando y daña el tren planetario y los rodamientos.</a:t>
            </a:r>
          </a:p>
        </p:txBody>
      </p:sp>
      <p:sp>
        <p:nvSpPr>
          <p:cNvPr id="52" name="TextBox 51"/>
          <p:cNvSpPr txBox="1"/>
          <p:nvPr/>
        </p:nvSpPr>
        <p:spPr>
          <a:xfrm>
            <a:off x="7470648" y="1389888"/>
            <a:ext cx="388620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P5 · CONSECUENCIAS (SAE JA1011)</a:t>
            </a:r>
          </a:p>
        </p:txBody>
      </p:sp>
      <p:sp>
        <p:nvSpPr>
          <p:cNvPr id="53" name="Rectangle 52"/>
          <p:cNvSpPr/>
          <p:nvPr/>
        </p:nvSpPr>
        <p:spPr>
          <a:xfrm>
            <a:off x="7470648" y="1682496"/>
            <a:ext cx="3886200" cy="65836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4" name="TextBox 53"/>
          <p:cNvSpPr txBox="1"/>
          <p:nvPr/>
        </p:nvSpPr>
        <p:spPr>
          <a:xfrm>
            <a:off x="7635240" y="1682496"/>
            <a:ext cx="3611880" cy="658368"/>
          </a:xfrm>
          <a:prstGeom prst="rect">
            <a:avLst/>
          </a:prstGeom>
          <a:noFill/>
        </p:spPr>
        <p:txBody>
          <a:bodyPr wrap="square" lIns="0" tIns="0" rIns="0" bIns="0" anchor="ctr">
            <a:spAutoFit/>
          </a:bodyPr>
          <a:lstStyle/>
          <a:p>
            <a:pPr algn="l">
              <a:lnSpc>
                <a:spcPct val="110000"/>
              </a:lnSpc>
              <a:spcBef>
                <a:spcPts val="0"/>
              </a:spcBef>
              <a:spcAft>
                <a:spcPts val="200"/>
              </a:spcAft>
            </a:pPr>
            <a:r>
              <a:rPr lang="es-ES" sz="800" b="1" i="0" noProof="0" dirty="0">
                <a:solidFill>
                  <a:srgbClr val="9FB3D9"/>
                </a:solidFill>
                <a:latin typeface="Arial"/>
              </a:rPr>
              <a:t>CLASIFICACIÓN</a:t>
            </a:r>
          </a:p>
          <a:p>
            <a:pPr algn="l">
              <a:lnSpc>
                <a:spcPct val="105000"/>
              </a:lnSpc>
              <a:spcBef>
                <a:spcPts val="0"/>
              </a:spcBef>
              <a:spcAft>
                <a:spcPts val="0"/>
              </a:spcAft>
            </a:pPr>
            <a:r>
              <a:rPr lang="es-ES" sz="1050" b="1" i="0" noProof="0" dirty="0">
                <a:solidFill>
                  <a:srgbClr val="FFFFFF"/>
                </a:solidFill>
                <a:latin typeface="Arial"/>
              </a:rPr>
              <a:t>Operacional, con implicación de seguridad y efecto contractual</a:t>
            </a:r>
          </a:p>
        </p:txBody>
      </p:sp>
      <p:sp>
        <p:nvSpPr>
          <p:cNvPr id="55" name="Rectangle 54"/>
          <p:cNvSpPr/>
          <p:nvPr/>
        </p:nvSpPr>
        <p:spPr>
          <a:xfrm>
            <a:off x="7470648" y="2414016"/>
            <a:ext cx="3886200" cy="80467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6" name="Rectangle 55"/>
          <p:cNvSpPr/>
          <p:nvPr/>
        </p:nvSpPr>
        <p:spPr>
          <a:xfrm>
            <a:off x="7470648" y="2414016"/>
            <a:ext cx="45720" cy="804672"/>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7" name="TextBox 56"/>
          <p:cNvSpPr txBox="1"/>
          <p:nvPr/>
        </p:nvSpPr>
        <p:spPr>
          <a:xfrm>
            <a:off x="7635240" y="2414016"/>
            <a:ext cx="3611880" cy="804672"/>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C3094A"/>
                </a:solidFill>
                <a:latin typeface="Arial"/>
              </a:rPr>
              <a:t>OPERACIONAL</a:t>
            </a:r>
          </a:p>
          <a:p>
            <a:pPr algn="l">
              <a:lnSpc>
                <a:spcPct val="106000"/>
              </a:lnSpc>
              <a:spcBef>
                <a:spcPts val="0"/>
              </a:spcBef>
              <a:spcAft>
                <a:spcPts val="0"/>
              </a:spcAft>
            </a:pPr>
            <a:r>
              <a:rPr lang="es-ES" sz="900" b="0" i="0" noProof="0" dirty="0">
                <a:solidFill>
                  <a:srgbClr val="191919"/>
                </a:solidFill>
                <a:latin typeface="Arial"/>
              </a:rPr>
              <a:t>59,3 h por evento, reparación mayor del motor y retiro antes de las 20 000 h de TBO.</a:t>
            </a:r>
          </a:p>
        </p:txBody>
      </p:sp>
      <p:sp>
        <p:nvSpPr>
          <p:cNvPr id="58" name="Rectangle 57"/>
          <p:cNvSpPr/>
          <p:nvPr/>
        </p:nvSpPr>
        <p:spPr>
          <a:xfrm>
            <a:off x="7470648" y="3291840"/>
            <a:ext cx="3886200" cy="804672"/>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59" name="Rectangle 58"/>
          <p:cNvSpPr/>
          <p:nvPr/>
        </p:nvSpPr>
        <p:spPr>
          <a:xfrm>
            <a:off x="7470648" y="3291840"/>
            <a:ext cx="45720" cy="804672"/>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0" name="TextBox 59"/>
          <p:cNvSpPr txBox="1"/>
          <p:nvPr/>
        </p:nvSpPr>
        <p:spPr>
          <a:xfrm>
            <a:off x="7635240" y="3291840"/>
            <a:ext cx="3611880" cy="804672"/>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042354"/>
                </a:solidFill>
                <a:latin typeface="Arial"/>
              </a:rPr>
              <a:t>IMPLICACIÓN DE SEGURIDAD</a:t>
            </a:r>
          </a:p>
          <a:p>
            <a:pPr algn="l">
              <a:lnSpc>
                <a:spcPct val="106000"/>
              </a:lnSpc>
              <a:spcBef>
                <a:spcPts val="0"/>
              </a:spcBef>
              <a:spcAft>
                <a:spcPts val="0"/>
              </a:spcAft>
            </a:pPr>
            <a:r>
              <a:rPr lang="es-ES" sz="900" b="0" i="0" noProof="0" dirty="0">
                <a:solidFill>
                  <a:srgbClr val="191919"/>
                </a:solidFill>
                <a:latin typeface="Arial"/>
              </a:rPr>
              <a:t>Compromete el control de velocidad en descenso. Sin daños a personas en 13 eventos, pero la norma evalúa la consecuencia potencial.</a:t>
            </a:r>
          </a:p>
        </p:txBody>
      </p:sp>
      <p:sp>
        <p:nvSpPr>
          <p:cNvPr id="61" name="Rectangle 60"/>
          <p:cNvSpPr/>
          <p:nvPr/>
        </p:nvSpPr>
        <p:spPr>
          <a:xfrm>
            <a:off x="7470648" y="4169664"/>
            <a:ext cx="3886200" cy="80467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2" name="Rectangle 61"/>
          <p:cNvSpPr/>
          <p:nvPr/>
        </p:nvSpPr>
        <p:spPr>
          <a:xfrm>
            <a:off x="7470648" y="4169664"/>
            <a:ext cx="45720" cy="80467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3" name="TextBox 62"/>
          <p:cNvSpPr txBox="1"/>
          <p:nvPr/>
        </p:nvSpPr>
        <p:spPr>
          <a:xfrm>
            <a:off x="7635240" y="4169664"/>
            <a:ext cx="3611880" cy="804672"/>
          </a:xfrm>
          <a:prstGeom prst="rect">
            <a:avLst/>
          </a:prstGeom>
          <a:noFill/>
        </p:spPr>
        <p:txBody>
          <a:bodyPr wrap="square" lIns="0" tIns="0" rIns="0" bIns="0" anchor="ctr">
            <a:spAutoFit/>
          </a:bodyPr>
          <a:lstStyle/>
          <a:p>
            <a:pPr algn="l">
              <a:lnSpc>
                <a:spcPct val="110000"/>
              </a:lnSpc>
              <a:spcBef>
                <a:spcPts val="0"/>
              </a:spcBef>
              <a:spcAft>
                <a:spcPts val="200"/>
              </a:spcAft>
            </a:pPr>
            <a:r>
              <a:rPr lang="es-ES" sz="850" b="1" i="0" noProof="0" dirty="0">
                <a:solidFill>
                  <a:srgbClr val="2841DD"/>
                </a:solidFill>
                <a:latin typeface="Arial"/>
              </a:rPr>
              <a:t>EFECTO CONTRACTUAL</a:t>
            </a:r>
          </a:p>
          <a:p>
            <a:pPr algn="l">
              <a:lnSpc>
                <a:spcPct val="106000"/>
              </a:lnSpc>
              <a:spcBef>
                <a:spcPts val="0"/>
              </a:spcBef>
              <a:spcAft>
                <a:spcPts val="0"/>
              </a:spcAft>
            </a:pPr>
            <a:r>
              <a:rPr lang="es-ES" sz="900" b="0" i="0" noProof="0" dirty="0">
                <a:solidFill>
                  <a:srgbClr val="191919"/>
                </a:solidFill>
                <a:latin typeface="Arial"/>
              </a:rPr>
              <a:t>Las horas fuera de servicio erosionan la disponibilidad y el MTBF comprometidos.</a:t>
            </a:r>
          </a:p>
        </p:txBody>
      </p:sp>
      <p:sp>
        <p:nvSpPr>
          <p:cNvPr id="64" name="Rectangle 6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65" name="TextBox 6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La clasificación es determinante: sin tarea proactiva aplicable, una consecuencia operacional con implicación de seguridad lleva la norma a prescribir el rediseño.</a:t>
            </a:r>
          </a:p>
        </p:txBody>
      </p:sp>
      <p:sp>
        <p:nvSpPr>
          <p:cNvPr id="66"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67"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68"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69"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70"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71"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72"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73"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74"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75" name="Tracker P4"/>
          <p:cNvSpPr/>
          <p:nvPr/>
        </p:nvSpPr>
        <p:spPr>
          <a:xfrm>
            <a:off x="459028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4</a:t>
            </a:r>
          </a:p>
        </p:txBody>
      </p:sp>
      <p:sp>
        <p:nvSpPr>
          <p:cNvPr id="76" name="Tracker P5"/>
          <p:cNvSpPr/>
          <p:nvPr/>
        </p:nvSpPr>
        <p:spPr>
          <a:xfrm>
            <a:off x="486460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5</a:t>
            </a:r>
          </a:p>
        </p:txBody>
      </p:sp>
      <p:sp>
        <p:nvSpPr>
          <p:cNvPr id="77"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78"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79"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4.3 DECISIÓN DE REDISEÑO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Preguntas 6 y 7: ninguna tarea proactiva cumple ambos criterios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16</a:t>
            </a:r>
          </a:p>
        </p:txBody>
      </p:sp>
      <p:sp>
        <p:nvSpPr>
          <p:cNvPr id="6" name="TextBox 5"/>
          <p:cNvSpPr txBox="1"/>
          <p:nvPr/>
        </p:nvSpPr>
        <p:spPr>
          <a:xfrm>
            <a:off x="841248" y="1444752"/>
            <a:ext cx="10515600" cy="457200"/>
          </a:xfrm>
          <a:prstGeom prst="rect">
            <a:avLst/>
          </a:prstGeom>
          <a:noFill/>
        </p:spPr>
        <p:txBody>
          <a:bodyPr wrap="square" lIns="0" tIns="0" rIns="0" bIns="0" anchor="t">
            <a:spAutoFit/>
          </a:bodyPr>
          <a:lstStyle/>
          <a:p>
            <a:pPr algn="l">
              <a:lnSpc>
                <a:spcPct val="116000"/>
              </a:lnSpc>
              <a:spcBef>
                <a:spcPts val="0"/>
              </a:spcBef>
              <a:spcAft>
                <a:spcPts val="400"/>
              </a:spcAft>
            </a:pPr>
            <a:r>
              <a:rPr lang="es-ES" sz="1200" b="0" i="0" noProof="0" dirty="0">
                <a:solidFill>
                  <a:srgbClr val="4A5568"/>
                </a:solidFill>
                <a:latin typeface="Arial"/>
              </a:rPr>
              <a:t>Una tarea proactiva se adopta solo si es técnicamente factible y si el costo de ejecutarla es menor que el de las consecuencias que evita.</a:t>
            </a:r>
          </a:p>
        </p:txBody>
      </p:sp>
      <p:sp>
        <p:nvSpPr>
          <p:cNvPr id="8" name="Rectangle 7"/>
          <p:cNvSpPr/>
          <p:nvPr/>
        </p:nvSpPr>
        <p:spPr>
          <a:xfrm>
            <a:off x="841248" y="4352544"/>
            <a:ext cx="10515600" cy="80467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9" name="Rectangle 8"/>
          <p:cNvSpPr/>
          <p:nvPr/>
        </p:nvSpPr>
        <p:spPr>
          <a:xfrm>
            <a:off x="841248" y="4352544"/>
            <a:ext cx="45720" cy="80467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10" name="TextBox 9"/>
          <p:cNvSpPr txBox="1"/>
          <p:nvPr/>
        </p:nvSpPr>
        <p:spPr>
          <a:xfrm>
            <a:off x="1078992" y="4462272"/>
            <a:ext cx="10040112" cy="603504"/>
          </a:xfrm>
          <a:prstGeom prst="rect">
            <a:avLst/>
          </a:prstGeom>
          <a:noFill/>
        </p:spPr>
        <p:txBody>
          <a:bodyPr wrap="square" lIns="0" tIns="0" rIns="0" bIns="0" anchor="t">
            <a:spAutoFit/>
          </a:bodyPr>
          <a:lstStyle/>
          <a:p>
            <a:pPr algn="l">
              <a:lnSpc>
                <a:spcPct val="114000"/>
              </a:lnSpc>
              <a:spcBef>
                <a:spcPts val="0"/>
              </a:spcBef>
              <a:spcAft>
                <a:spcPts val="400"/>
              </a:spcAft>
            </a:pPr>
            <a:r>
              <a:rPr lang="es-ES" sz="1200" b="1" i="0" noProof="0" dirty="0">
                <a:solidFill>
                  <a:srgbClr val="2841DD"/>
                </a:solidFill>
                <a:latin typeface="Arial"/>
              </a:rPr>
              <a:t>El rediseño es el resultado del proceso RCM.</a:t>
            </a:r>
          </a:p>
          <a:p>
            <a:pPr algn="l">
              <a:lnSpc>
                <a:spcPct val="114000"/>
              </a:lnSpc>
              <a:spcBef>
                <a:spcPts val="0"/>
              </a:spcBef>
              <a:spcAft>
                <a:spcPts val="400"/>
              </a:spcAft>
            </a:pPr>
            <a:r>
              <a:rPr lang="es-ES" sz="1000" b="0" i="0" noProof="0" dirty="0">
                <a:solidFill>
                  <a:srgbClr val="191919"/>
                </a:solidFill>
                <a:latin typeface="Arial"/>
              </a:rPr>
              <a:t>Se siguió la secuencia completa, incluso el cambio de componente (la tarea disponible) y la comprobación de que la falla volvió a presentarse; se llegó al rediseño solo después de agotar y documentar las demás alternativas.</a:t>
            </a:r>
          </a:p>
        </p:txBody>
      </p:sp>
      <p:sp>
        <p:nvSpPr>
          <p:cNvPr id="11" name="TextBox 10"/>
          <p:cNvSpPr txBox="1"/>
          <p:nvPr/>
        </p:nvSpPr>
        <p:spPr>
          <a:xfrm>
            <a:off x="841248" y="5303520"/>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ES" sz="900" b="0" i="0" noProof="0" dirty="0">
                <a:solidFill>
                  <a:srgbClr val="7A8494"/>
                </a:solidFill>
                <a:latin typeface="Arial"/>
              </a:rPr>
              <a:t>Umbral de indiferencia declarado: si el costo de una reparación mayor programada bajara de US$ 459 mil, la sustitución cíclica sí sería conveniente.</a:t>
            </a:r>
          </a:p>
        </p:txBody>
      </p:sp>
      <p:pic>
        <p:nvPicPr>
          <p:cNvPr id="12" name="Imagen 11">
            <a:extLst>
              <a:ext uri="{FF2B5EF4-FFF2-40B4-BE49-F238E27FC236}">
                <a16:creationId xmlns:a16="http://schemas.microsoft.com/office/drawing/2014/main" id="{01F7DA6E-4097-00ED-42AE-00EE20CCF02C}"/>
              </a:ext>
            </a:extLst>
          </p:cNvPr>
          <p:cNvPicPr>
            <a:picLocks noChangeAspect="1"/>
          </p:cNvPicPr>
          <p:nvPr/>
        </p:nvPicPr>
        <p:blipFill>
          <a:blip r:embed="rId3"/>
          <a:stretch>
            <a:fillRect/>
          </a:stretch>
        </p:blipFill>
        <p:spPr>
          <a:xfrm>
            <a:off x="158617" y="5943600"/>
            <a:ext cx="5620013" cy="550672"/>
          </a:xfrm>
          <a:prstGeom prst="rect">
            <a:avLst/>
          </a:prstGeom>
        </p:spPr>
      </p:pic>
      <p:sp>
        <p:nvSpPr>
          <p:cNvPr id="13" name="TextBox 12"/>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4.3 · DECISIÓN DE REDISEÑO  |  ETAPA 3 (RCM) · PREGUNTAS 6 Y 7</a:t>
            </a:r>
          </a:p>
        </p:txBody>
      </p:sp>
      <p:sp>
        <p:nvSpPr>
          <p:cNvPr id="14" name="P6 label"/>
          <p:cNvSpPr txBox="1"/>
          <p:nvPr/>
        </p:nvSpPr>
        <p:spPr>
          <a:xfrm>
            <a:off x="841248" y="1938528"/>
            <a:ext cx="7662672"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50" b="1" i="0" dirty="0">
                <a:solidFill>
                  <a:srgbClr val="4A5568"/>
                </a:solidFill>
                <a:latin typeface="Arial"/>
                <a:cs typeface="Arial"/>
              </a:rPr>
              <a:t>P6 · EVALUACIÓN DE LAS TAREAS PROACTIVAS: ¿FACTIBLE Y CONVENIENTE?</a:t>
            </a:r>
          </a:p>
        </p:txBody>
      </p:sp>
      <p:sp>
        <p:nvSpPr>
          <p:cNvPr id="15" name="P7 label"/>
          <p:cNvSpPr txBox="1"/>
          <p:nvPr/>
        </p:nvSpPr>
        <p:spPr>
          <a:xfrm>
            <a:off x="8796528" y="1938528"/>
            <a:ext cx="2560320"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50" b="1" i="0" dirty="0">
                <a:solidFill>
                  <a:srgbClr val="4A5568"/>
                </a:solidFill>
                <a:latin typeface="Arial"/>
                <a:cs typeface="Arial"/>
              </a:rPr>
              <a:t>P7 · ACCIÓN "A FALTA DE"</a:t>
            </a:r>
          </a:p>
        </p:txBody>
      </p:sp>
      <p:sp>
        <p:nvSpPr>
          <p:cNvPr id="16" name="Tarea 0"/>
          <p:cNvSpPr/>
          <p:nvPr/>
        </p:nvSpPr>
        <p:spPr>
          <a:xfrm>
            <a:off x="841248" y="2212848"/>
            <a:ext cx="2395728" cy="1938528"/>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17" name="Tarea 0 borde"/>
          <p:cNvSpPr/>
          <p:nvPr/>
        </p:nvSpPr>
        <p:spPr>
          <a:xfrm>
            <a:off x="841248" y="2212848"/>
            <a:ext cx="2395728" cy="45720"/>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18" name="Tarea 0 txt"/>
          <p:cNvSpPr txBox="1"/>
          <p:nvPr/>
        </p:nvSpPr>
        <p:spPr>
          <a:xfrm>
            <a:off x="969264" y="2359152"/>
            <a:ext cx="2139696" cy="137160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1150" b="1" i="0" dirty="0">
                <a:solidFill>
                  <a:srgbClr val="042354"/>
                </a:solidFill>
                <a:latin typeface="Arial"/>
                <a:cs typeface="Arial"/>
              </a:rPr>
              <a:t>Tarea a condición</a:t>
            </a:r>
          </a:p>
          <a:p>
            <a:pPr algn="l" marL="0" indent="0">
              <a:lnSpc>
                <a:spcPct val="100000"/>
              </a:lnSpc>
              <a:spcBef>
                <a:spcPts val="0"/>
              </a:spcBef>
              <a:spcAft>
                <a:spcPts val="200"/>
              </a:spcAft>
              <a:buNone/>
            </a:pPr>
            <a:r>
              <a:rPr lang="es-PE" sz="950" b="1" i="0" dirty="0">
                <a:solidFill>
                  <a:srgbClr val="4A5568"/>
                </a:solidFill>
                <a:latin typeface="Arial"/>
                <a:cs typeface="Arial"/>
              </a:rPr>
              <a:t>No factible</a:t>
            </a:r>
          </a:p>
          <a:p>
            <a:pPr algn="l" marL="0" indent="0">
              <a:lnSpc>
                <a:spcPct val="112000"/>
              </a:lnSpc>
              <a:spcBef>
                <a:spcPts val="0"/>
              </a:spcBef>
              <a:spcAft>
                <a:spcPts val="0"/>
              </a:spcAft>
              <a:buNone/>
            </a:pPr>
            <a:r>
              <a:rPr lang="es-PE" sz="1000" b="0" i="0" dirty="0">
                <a:solidFill>
                  <a:srgbClr val="4A5568"/>
                </a:solidFill>
                <a:latin typeface="Arial"/>
                <a:cs typeface="Arial"/>
              </a:rPr>
              <a:t>La grieta nace en la raíz de la unión, dentro del motor cerrado: no hay acceso de inspección.</a:t>
            </a:r>
          </a:p>
        </p:txBody>
      </p:sp>
      <p:sp>
        <p:nvSpPr>
          <p:cNvPr id="19" name="Tarea 0 res"/>
          <p:cNvSpPr txBox="1"/>
          <p:nvPr/>
        </p:nvSpPr>
        <p:spPr>
          <a:xfrm>
            <a:off x="969264" y="3822192"/>
            <a:ext cx="2139696"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1000" b="1" i="0" dirty="0">
                <a:solidFill>
                  <a:srgbClr val="C3094A"/>
                </a:solidFill>
                <a:latin typeface="Arial"/>
                <a:cs typeface="Arial"/>
              </a:rPr>
              <a:t>DESCARTADA</a:t>
            </a:r>
          </a:p>
        </p:txBody>
      </p:sp>
      <p:sp>
        <p:nvSpPr>
          <p:cNvPr id="20" name="Chev 0"/>
          <p:cNvSpPr txBox="1"/>
          <p:nvPr/>
        </p:nvSpPr>
        <p:spPr>
          <a:xfrm>
            <a:off x="3236976" y="3035808"/>
            <a:ext cx="237744"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600" b="1" i="0" dirty="0">
                <a:solidFill>
                  <a:srgbClr val="7A8494"/>
                </a:solidFill>
                <a:latin typeface="Arial"/>
                <a:cs typeface="Arial"/>
              </a:rPr>
              <a:t>›</a:t>
            </a:r>
          </a:p>
        </p:txBody>
      </p:sp>
      <p:sp>
        <p:nvSpPr>
          <p:cNvPr id="21" name="Tarea 1"/>
          <p:cNvSpPr/>
          <p:nvPr/>
        </p:nvSpPr>
        <p:spPr>
          <a:xfrm>
            <a:off x="3474720" y="2212848"/>
            <a:ext cx="2395728" cy="1938528"/>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22" name="Tarea 1 borde"/>
          <p:cNvSpPr/>
          <p:nvPr/>
        </p:nvSpPr>
        <p:spPr>
          <a:xfrm>
            <a:off x="3474720" y="2212848"/>
            <a:ext cx="2395728" cy="45720"/>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23" name="Tarea 1 txt"/>
          <p:cNvSpPr txBox="1"/>
          <p:nvPr/>
        </p:nvSpPr>
        <p:spPr>
          <a:xfrm>
            <a:off x="3602736" y="2359152"/>
            <a:ext cx="2139696" cy="137160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1150" b="1" i="0" dirty="0">
                <a:solidFill>
                  <a:srgbClr val="042354"/>
                </a:solidFill>
                <a:latin typeface="Arial"/>
                <a:cs typeface="Arial"/>
              </a:rPr>
              <a:t>Reacondicionamiento cíclico</a:t>
            </a:r>
          </a:p>
          <a:p>
            <a:pPr algn="l" marL="0" indent="0">
              <a:lnSpc>
                <a:spcPct val="100000"/>
              </a:lnSpc>
              <a:spcBef>
                <a:spcPts val="0"/>
              </a:spcBef>
              <a:spcAft>
                <a:spcPts val="200"/>
              </a:spcAft>
              <a:buNone/>
            </a:pPr>
            <a:r>
              <a:rPr lang="es-PE" sz="950" b="1" i="0" dirty="0">
                <a:solidFill>
                  <a:srgbClr val="4A5568"/>
                </a:solidFill>
                <a:latin typeface="Arial"/>
                <a:cs typeface="Arial"/>
              </a:rPr>
              <a:t>No factible</a:t>
            </a:r>
          </a:p>
          <a:p>
            <a:pPr algn="l" marL="0" indent="0">
              <a:lnSpc>
                <a:spcPct val="112000"/>
              </a:lnSpc>
              <a:spcBef>
                <a:spcPts val="0"/>
              </a:spcBef>
              <a:spcAft>
                <a:spcPts val="0"/>
              </a:spcAft>
              <a:buNone/>
            </a:pPr>
            <a:r>
              <a:rPr lang="es-PE" sz="1000" b="0" i="0" dirty="0">
                <a:solidFill>
                  <a:srgbClr val="4A5568"/>
                </a:solidFill>
                <a:latin typeface="Arial"/>
                <a:cs typeface="Arial"/>
              </a:rPr>
              <a:t>Reacondicionar el eje no elimina el punto débil de la soldadura.</a:t>
            </a:r>
          </a:p>
        </p:txBody>
      </p:sp>
      <p:sp>
        <p:nvSpPr>
          <p:cNvPr id="24" name="Tarea 1 res"/>
          <p:cNvSpPr txBox="1"/>
          <p:nvPr/>
        </p:nvSpPr>
        <p:spPr>
          <a:xfrm>
            <a:off x="3602736" y="3822192"/>
            <a:ext cx="2139696"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1000" b="1" i="0" dirty="0">
                <a:solidFill>
                  <a:srgbClr val="C3094A"/>
                </a:solidFill>
                <a:latin typeface="Arial"/>
                <a:cs typeface="Arial"/>
              </a:rPr>
              <a:t>DESCARTADA</a:t>
            </a:r>
          </a:p>
        </p:txBody>
      </p:sp>
      <p:sp>
        <p:nvSpPr>
          <p:cNvPr id="25" name="Chev 1"/>
          <p:cNvSpPr txBox="1"/>
          <p:nvPr/>
        </p:nvSpPr>
        <p:spPr>
          <a:xfrm>
            <a:off x="5870448" y="3035808"/>
            <a:ext cx="237744"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600" b="1" i="0" dirty="0">
                <a:solidFill>
                  <a:srgbClr val="7A8494"/>
                </a:solidFill>
                <a:latin typeface="Arial"/>
                <a:cs typeface="Arial"/>
              </a:rPr>
              <a:t>›</a:t>
            </a:r>
          </a:p>
        </p:txBody>
      </p:sp>
      <p:sp>
        <p:nvSpPr>
          <p:cNvPr id="26" name="Tarea 2"/>
          <p:cNvSpPr/>
          <p:nvPr/>
        </p:nvSpPr>
        <p:spPr>
          <a:xfrm>
            <a:off x="6108192" y="2212848"/>
            <a:ext cx="2395728" cy="1938528"/>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27" name="Tarea 2 borde"/>
          <p:cNvSpPr/>
          <p:nvPr/>
        </p:nvSpPr>
        <p:spPr>
          <a:xfrm>
            <a:off x="6108192" y="2212848"/>
            <a:ext cx="2395728" cy="45720"/>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28" name="Tarea 2 txt"/>
          <p:cNvSpPr txBox="1"/>
          <p:nvPr/>
        </p:nvSpPr>
        <p:spPr>
          <a:xfrm>
            <a:off x="6236208" y="2359152"/>
            <a:ext cx="2139696" cy="137160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1150" b="1" i="0" dirty="0">
                <a:solidFill>
                  <a:srgbClr val="042354"/>
                </a:solidFill>
                <a:latin typeface="Arial"/>
                <a:cs typeface="Arial"/>
              </a:rPr>
              <a:t>Sustitución cíclica</a:t>
            </a:r>
          </a:p>
          <a:p>
            <a:pPr algn="l" marL="0" indent="0">
              <a:lnSpc>
                <a:spcPct val="100000"/>
              </a:lnSpc>
              <a:spcBef>
                <a:spcPts val="0"/>
              </a:spcBef>
              <a:spcAft>
                <a:spcPts val="200"/>
              </a:spcAft>
              <a:buNone/>
            </a:pPr>
            <a:r>
              <a:rPr lang="es-PE" sz="950" b="1" i="0" dirty="0">
                <a:solidFill>
                  <a:srgbClr val="4A5568"/>
                </a:solidFill>
                <a:latin typeface="Arial"/>
                <a:cs typeface="Arial"/>
              </a:rPr>
              <a:t>Factible, pero no conveniente</a:t>
            </a:r>
          </a:p>
          <a:p>
            <a:pPr algn="l" marL="0" indent="0">
              <a:lnSpc>
                <a:spcPct val="112000"/>
              </a:lnSpc>
              <a:spcBef>
                <a:spcPts val="0"/>
              </a:spcBef>
              <a:spcAft>
                <a:spcPts val="0"/>
              </a:spcAft>
              <a:buNone/>
            </a:pPr>
            <a:r>
              <a:rPr lang="es-PE" sz="1000" b="0" i="0" dirty="0">
                <a:solidFill>
                  <a:srgbClr val="4A5568"/>
                </a:solidFill>
                <a:latin typeface="Arial"/>
                <a:cs typeface="Arial"/>
              </a:rPr>
              <a:t>Cambio a 9 547 h (10 % de probabilidad de falla): US$ 4,3 M/año frente a US$ 3,31 M/año de consecuencias evitadas (1,30 : 1).</a:t>
            </a:r>
          </a:p>
        </p:txBody>
      </p:sp>
      <p:sp>
        <p:nvSpPr>
          <p:cNvPr id="29" name="Tarea 2 res"/>
          <p:cNvSpPr txBox="1"/>
          <p:nvPr/>
        </p:nvSpPr>
        <p:spPr>
          <a:xfrm>
            <a:off x="6236208" y="3822192"/>
            <a:ext cx="2139696"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1000" b="1" i="0" dirty="0">
                <a:solidFill>
                  <a:srgbClr val="C3094A"/>
                </a:solidFill>
                <a:latin typeface="Arial"/>
                <a:cs typeface="Arial"/>
              </a:rPr>
              <a:t>DESCARTADA</a:t>
            </a:r>
          </a:p>
        </p:txBody>
      </p:sp>
      <p:sp>
        <p:nvSpPr>
          <p:cNvPr id="30" name="Chev 2"/>
          <p:cNvSpPr txBox="1"/>
          <p:nvPr/>
        </p:nvSpPr>
        <p:spPr>
          <a:xfrm>
            <a:off x="8503920" y="3035808"/>
            <a:ext cx="292608" cy="274320"/>
          </a:xfrm>
          <a:prstGeom prst="rect">
            <a:avLst/>
          </a:prstGeom>
          <a:no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1600" b="1" i="0" dirty="0">
                <a:solidFill>
                  <a:srgbClr val="7A8494"/>
                </a:solidFill>
                <a:latin typeface="Arial"/>
                <a:cs typeface="Arial"/>
              </a:rPr>
              <a:t>›</a:t>
            </a:r>
          </a:p>
        </p:txBody>
      </p:sp>
      <p:sp>
        <p:nvSpPr>
          <p:cNvPr id="31" name="P7 card"/>
          <p:cNvSpPr/>
          <p:nvPr/>
        </p:nvSpPr>
        <p:spPr>
          <a:xfrm>
            <a:off x="8796528" y="2212848"/>
            <a:ext cx="2560320" cy="1938528"/>
          </a:xfrm>
          <a:prstGeom prst="rect">
            <a:avLst/>
          </a:prstGeom>
          <a:solidFill>
            <a:srgbClr val="2841DD"/>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32" name="P7 txt"/>
          <p:cNvSpPr txBox="1"/>
          <p:nvPr/>
        </p:nvSpPr>
        <p:spPr>
          <a:xfrm>
            <a:off x="8942832" y="2359152"/>
            <a:ext cx="2286000" cy="146304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1150" b="1" i="0" dirty="0">
                <a:solidFill>
                  <a:srgbClr val="FFFFFF"/>
                </a:solidFill>
                <a:latin typeface="Arial"/>
                <a:cs typeface="Arial"/>
              </a:rPr>
              <a:t>Acción "a falta de"</a:t>
            </a:r>
          </a:p>
          <a:p>
            <a:pPr algn="l" marL="0" indent="0">
              <a:lnSpc>
                <a:spcPct val="112000"/>
              </a:lnSpc>
              <a:spcBef>
                <a:spcPts val="0"/>
              </a:spcBef>
              <a:spcAft>
                <a:spcPts val="0"/>
              </a:spcAft>
              <a:buNone/>
            </a:pPr>
            <a:r>
              <a:rPr lang="es-PE" sz="950" b="0" i="0" dirty="0">
                <a:solidFill>
                  <a:srgbClr val="FFFFFF"/>
                </a:solidFill>
                <a:latin typeface="Arial"/>
                <a:cs typeface="Arial"/>
              </a:rPr>
              <a:t>Sin tarea proactiva aplicable y con consecuencia operacional con implicación de seguridad, la norma prescribe el </a:t>
            </a:r>
            <a:r>
              <a:rPr lang="es-PE" sz="950" b="1" i="0" dirty="0">
                <a:solidFill>
                  <a:srgbClr val="FFFFFF"/>
                </a:solidFill>
                <a:latin typeface="Arial"/>
                <a:cs typeface="Arial"/>
              </a:rPr>
              <a:t>CAMBIO DE DISEÑO</a:t>
            </a:r>
            <a:r>
              <a:rPr lang="es-PE" sz="950" b="0" i="0" dirty="0">
                <a:solidFill>
                  <a:srgbClr val="FFFFFF"/>
                </a:solidFill>
                <a:latin typeface="Arial"/>
                <a:cs typeface="Arial"/>
              </a:rPr>
              <a:t>.</a:t>
            </a:r>
          </a:p>
        </p:txBody>
      </p:sp>
      <p:sp>
        <p:nvSpPr>
          <p:cNvPr id="33" name="P7 ref"/>
          <p:cNvSpPr txBox="1"/>
          <p:nvPr/>
        </p:nvSpPr>
        <p:spPr>
          <a:xfrm>
            <a:off x="8942832" y="3822192"/>
            <a:ext cx="2286000"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00" b="0" i="0" dirty="0">
                <a:solidFill>
                  <a:srgbClr val="CFD6DF"/>
                </a:solidFill>
                <a:latin typeface="Arial"/>
                <a:cs typeface="Arial"/>
              </a:rPr>
              <a:t>SAE JA1011 · JA1012</a:t>
            </a:r>
          </a:p>
        </p:txBody>
      </p:sp>
      <p:sp>
        <p:nvSpPr>
          <p:cNvPr id="34"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5"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6"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7" name="Tracker E3"/>
          <p:cNvSpPr/>
          <p:nvPr/>
        </p:nvSpPr>
        <p:spPr>
          <a:xfrm>
            <a:off x="188366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3</a:t>
            </a:r>
          </a:p>
        </p:txBody>
      </p:sp>
      <p:sp>
        <p:nvSpPr>
          <p:cNvPr id="38" name="Tracker E4"/>
          <p:cNvSpPr/>
          <p:nvPr/>
        </p:nvSpPr>
        <p:spPr>
          <a:xfrm>
            <a:off x="215798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39"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0"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1"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2"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43"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4"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5" name="Tracker P6"/>
          <p:cNvSpPr/>
          <p:nvPr/>
        </p:nvSpPr>
        <p:spPr>
          <a:xfrm>
            <a:off x="513892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6</a:t>
            </a:r>
          </a:p>
        </p:txBody>
      </p:sp>
      <p:sp>
        <p:nvSpPr>
          <p:cNvPr id="46" name="Tracker P7"/>
          <p:cNvSpPr/>
          <p:nvPr/>
        </p:nvSpPr>
        <p:spPr>
          <a:xfrm>
            <a:off x="5413248"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7</a:t>
            </a:r>
          </a:p>
        </p:txBody>
      </p:sp>
      <p:sp>
        <p:nvSpPr>
          <p:cNvPr id="47"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4.3 DECISIÓN DE REDISEÑO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La solución: rediseño de la unión soldada y su implementación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17</a:t>
            </a:r>
          </a:p>
        </p:txBody>
      </p:sp>
      <p:pic>
        <p:nvPicPr>
          <p:cNvPr id="19" name="Imagen 18">
            <a:extLst>
              <a:ext uri="{FF2B5EF4-FFF2-40B4-BE49-F238E27FC236}">
                <a16:creationId xmlns:a16="http://schemas.microsoft.com/office/drawing/2014/main" id="{96A3C54D-2A70-4746-BEA4-6D4F03EB5F6D}"/>
              </a:ext>
            </a:extLst>
          </p:cNvPr>
          <p:cNvPicPr>
            <a:picLocks noChangeAspect="1"/>
          </p:cNvPicPr>
          <p:nvPr/>
        </p:nvPicPr>
        <p:blipFill>
          <a:blip r:embed="rId3"/>
          <a:stretch>
            <a:fillRect/>
          </a:stretch>
        </p:blipFill>
        <p:spPr>
          <a:xfrm>
            <a:off x="158617" y="5943600"/>
            <a:ext cx="5620013" cy="550672"/>
          </a:xfrm>
          <a:prstGeom prst="rect">
            <a:avLst/>
          </a:prstGeom>
        </p:spPr>
      </p:pic>
      <p:pic>
        <p:nvPicPr>
          <p:cNvPr id="20" name="Picture 19" descr="crop_union_ab.png"/>
          <p:cNvPicPr>
            <a:picLocks noChangeAspect="1"/>
          </p:cNvPicPr>
          <p:nvPr/>
        </p:nvPicPr>
        <p:blipFill>
          <a:blip r:embed="rId4"/>
          <a:stretch>
            <a:fillRect/>
          </a:stretch>
        </p:blipFill>
        <p:spPr>
          <a:xfrm>
            <a:off x="841248" y="1481328"/>
            <a:ext cx="5577840" cy="2980944"/>
          </a:xfrm>
          <a:prstGeom prst="rect">
            <a:avLst/>
          </a:prstGeom>
        </p:spPr>
      </p:pic>
      <p:sp>
        <p:nvSpPr>
          <p:cNvPr id="21" name="TextBox 20"/>
          <p:cNvSpPr txBox="1"/>
          <p:nvPr/>
        </p:nvSpPr>
        <p:spPr>
          <a:xfrm>
            <a:off x="841248" y="4517136"/>
            <a:ext cx="5577840" cy="36576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Comparación de la unión soldada: (a) original y (b) modificada. Media sección longitudinal. Elaboración propia.</a:t>
            </a:r>
          </a:p>
        </p:txBody>
      </p:sp>
      <p:sp>
        <p:nvSpPr>
          <p:cNvPr id="22" name="TextBox 21"/>
          <p:cNvSpPr txBox="1"/>
          <p:nvPr/>
        </p:nvSpPr>
        <p:spPr>
          <a:xfrm>
            <a:off x="6675120" y="1389888"/>
            <a:ext cx="4681728"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CONTROL DE CONFIGURACIÓN DEL NÚMERO DE PARTE</a:t>
            </a:r>
          </a:p>
        </p:txBody>
      </p:sp>
      <p:sp>
        <p:nvSpPr>
          <p:cNvPr id="23" name="Rectangle 22"/>
          <p:cNvSpPr/>
          <p:nvPr/>
        </p:nvSpPr>
        <p:spPr>
          <a:xfrm>
            <a:off x="6675120" y="1700784"/>
            <a:ext cx="2272284" cy="1188720"/>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4" name="Rectangle 23"/>
          <p:cNvSpPr/>
          <p:nvPr/>
        </p:nvSpPr>
        <p:spPr>
          <a:xfrm>
            <a:off x="6675120" y="1700784"/>
            <a:ext cx="2272284"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5" name="TextBox 24"/>
          <p:cNvSpPr txBox="1"/>
          <p:nvPr/>
        </p:nvSpPr>
        <p:spPr>
          <a:xfrm>
            <a:off x="6803136" y="1828800"/>
            <a:ext cx="2034539" cy="1005840"/>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C3094A"/>
                </a:solidFill>
                <a:latin typeface="Arial"/>
              </a:rPr>
              <a:t>Componente obsoleto</a:t>
            </a:r>
          </a:p>
          <a:p>
            <a:pPr algn="l">
              <a:lnSpc>
                <a:spcPct val="108000"/>
              </a:lnSpc>
              <a:spcBef>
                <a:spcPts val="0"/>
              </a:spcBef>
              <a:spcAft>
                <a:spcPts val="400"/>
              </a:spcAft>
            </a:pPr>
            <a:r>
              <a:rPr lang="es-ES" sz="900" b="0" i="0" noProof="0" dirty="0">
                <a:solidFill>
                  <a:srgbClr val="191919"/>
                </a:solidFill>
                <a:latin typeface="Arial"/>
              </a:rPr>
              <a:t>Penetración parcial; raíz sin fusión en el diámetro interior</a:t>
            </a:r>
          </a:p>
          <a:p>
            <a:pPr algn="l">
              <a:lnSpc>
                <a:spcPct val="110000"/>
              </a:lnSpc>
              <a:spcBef>
                <a:spcPts val="0"/>
              </a:spcBef>
              <a:spcAft>
                <a:spcPts val="0"/>
              </a:spcAft>
            </a:pPr>
            <a:r>
              <a:rPr lang="es-ES" sz="1500" b="1" i="0" noProof="0" dirty="0">
                <a:solidFill>
                  <a:srgbClr val="C3094A"/>
                </a:solidFill>
                <a:latin typeface="Arial"/>
              </a:rPr>
              <a:t>FS = 0,31</a:t>
            </a:r>
          </a:p>
        </p:txBody>
      </p:sp>
      <p:sp>
        <p:nvSpPr>
          <p:cNvPr id="26" name="Rectangle 25"/>
          <p:cNvSpPr/>
          <p:nvPr/>
        </p:nvSpPr>
        <p:spPr>
          <a:xfrm>
            <a:off x="9093707" y="1700784"/>
            <a:ext cx="2272284"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7" name="Rectangle 26"/>
          <p:cNvSpPr/>
          <p:nvPr/>
        </p:nvSpPr>
        <p:spPr>
          <a:xfrm>
            <a:off x="9084563" y="1700784"/>
            <a:ext cx="2272284" cy="45720"/>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8" name="TextBox 27"/>
          <p:cNvSpPr txBox="1"/>
          <p:nvPr/>
        </p:nvSpPr>
        <p:spPr>
          <a:xfrm>
            <a:off x="9212580" y="1828800"/>
            <a:ext cx="2034539" cy="800925"/>
          </a:xfrm>
          <a:prstGeom prst="rect">
            <a:avLst/>
          </a:prstGeom>
          <a:noFill/>
        </p:spPr>
        <p:txBody>
          <a:bodyPr wrap="square" lIns="0" tIns="0" rIns="0" bIns="0" anchor="t">
            <a:spAutoFit/>
          </a:bodyPr>
          <a:lstStyle/>
          <a:p>
            <a:pPr algn="l">
              <a:lnSpc>
                <a:spcPct val="110000"/>
              </a:lnSpc>
              <a:spcBef>
                <a:spcPts val="0"/>
              </a:spcBef>
              <a:spcAft>
                <a:spcPts val="300"/>
              </a:spcAft>
            </a:pPr>
            <a:r>
              <a:rPr lang="es-ES" sz="1050" b="1" i="0" noProof="0" dirty="0">
                <a:solidFill>
                  <a:srgbClr val="2841DD"/>
                </a:solidFill>
                <a:latin typeface="Arial"/>
              </a:rPr>
              <a:t>Componente </a:t>
            </a:r>
            <a:r>
              <a:rPr lang="es-ES" sz="1050" b="1" dirty="0">
                <a:solidFill>
                  <a:srgbClr val="2841DD"/>
                </a:solidFill>
              </a:rPr>
              <a:t>rediseñad</a:t>
            </a:r>
            <a:r>
              <a:rPr lang="es-ES" sz="1050" b="1" i="0" noProof="0" dirty="0">
                <a:solidFill>
                  <a:srgbClr val="2841DD"/>
                </a:solidFill>
                <a:latin typeface="Arial"/>
              </a:rPr>
              <a:t>o</a:t>
            </a:r>
          </a:p>
          <a:p>
            <a:pPr algn="l">
              <a:lnSpc>
                <a:spcPct val="108000"/>
              </a:lnSpc>
              <a:spcBef>
                <a:spcPts val="0"/>
              </a:spcBef>
              <a:spcAft>
                <a:spcPts val="400"/>
              </a:spcAft>
            </a:pPr>
            <a:r>
              <a:rPr lang="es-ES" sz="900" b="0" i="0" noProof="0" dirty="0">
                <a:solidFill>
                  <a:srgbClr val="191919"/>
                </a:solidFill>
                <a:latin typeface="Arial"/>
              </a:rPr>
              <a:t>Penetración completa sobre sección mayor; sin cambio de material</a:t>
            </a:r>
          </a:p>
          <a:p>
            <a:pPr algn="l">
              <a:lnSpc>
                <a:spcPct val="110000"/>
              </a:lnSpc>
              <a:spcBef>
                <a:spcPts val="0"/>
              </a:spcBef>
              <a:spcAft>
                <a:spcPts val="0"/>
              </a:spcAft>
            </a:pPr>
            <a:r>
              <a:rPr lang="es-ES" sz="1500" b="1" i="0" noProof="0" dirty="0">
                <a:solidFill>
                  <a:srgbClr val="2841DD"/>
                </a:solidFill>
                <a:latin typeface="Arial"/>
              </a:rPr>
              <a:t>FS = 2,23</a:t>
            </a:r>
          </a:p>
        </p:txBody>
      </p:sp>
      <p:sp>
        <p:nvSpPr>
          <p:cNvPr id="29" name="TextBox 28"/>
          <p:cNvSpPr txBox="1"/>
          <p:nvPr/>
        </p:nvSpPr>
        <p:spPr>
          <a:xfrm>
            <a:off x="6675120" y="3035808"/>
            <a:ext cx="4681728"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IMPLEMENTACIÓN COMO CAMBIO CONTROLADO</a:t>
            </a:r>
          </a:p>
        </p:txBody>
      </p:sp>
      <p:sp>
        <p:nvSpPr>
          <p:cNvPr id="30" name="Rectangle 29"/>
          <p:cNvSpPr/>
          <p:nvPr/>
        </p:nvSpPr>
        <p:spPr>
          <a:xfrm>
            <a:off x="6675120" y="3328416"/>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1" name="TextBox 30"/>
          <p:cNvSpPr txBox="1"/>
          <p:nvPr/>
        </p:nvSpPr>
        <p:spPr>
          <a:xfrm>
            <a:off x="6784848" y="3328416"/>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lang="es-ES" sz="1200" b="1" i="0" noProof="0" dirty="0">
                <a:solidFill>
                  <a:srgbClr val="C3094A"/>
                </a:solidFill>
                <a:latin typeface="Arial"/>
              </a:rPr>
              <a:t>01</a:t>
            </a:r>
          </a:p>
        </p:txBody>
      </p:sp>
      <p:sp>
        <p:nvSpPr>
          <p:cNvPr id="32" name="TextBox 31"/>
          <p:cNvSpPr txBox="1"/>
          <p:nvPr/>
        </p:nvSpPr>
        <p:spPr>
          <a:xfrm>
            <a:off x="7223759" y="3328416"/>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lang="es-ES" sz="950" b="1" i="0" noProof="0" dirty="0">
                <a:solidFill>
                  <a:srgbClr val="042354"/>
                </a:solidFill>
                <a:latin typeface="Arial"/>
              </a:rPr>
              <a:t>Priorización por horómetro y riesgo</a:t>
            </a:r>
          </a:p>
          <a:p>
            <a:pPr algn="l">
              <a:lnSpc>
                <a:spcPct val="105000"/>
              </a:lnSpc>
              <a:spcBef>
                <a:spcPts val="0"/>
              </a:spcBef>
              <a:spcAft>
                <a:spcPts val="0"/>
              </a:spcAft>
            </a:pPr>
            <a:r>
              <a:rPr lang="es-ES" sz="850" b="0" i="0" noProof="0" dirty="0">
                <a:solidFill>
                  <a:srgbClr val="191919"/>
                </a:solidFill>
                <a:latin typeface="Arial"/>
              </a:rPr>
              <a:t>Primero las posiciones con mayor vida acumulada, las más próximas al rango de fracturas.</a:t>
            </a:r>
          </a:p>
        </p:txBody>
      </p:sp>
      <p:sp>
        <p:nvSpPr>
          <p:cNvPr id="33" name="Rectangle 32"/>
          <p:cNvSpPr/>
          <p:nvPr/>
        </p:nvSpPr>
        <p:spPr>
          <a:xfrm>
            <a:off x="6675120" y="3895344"/>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4" name="TextBox 33"/>
          <p:cNvSpPr txBox="1"/>
          <p:nvPr/>
        </p:nvSpPr>
        <p:spPr>
          <a:xfrm>
            <a:off x="6784848" y="3895344"/>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lang="es-ES" sz="1200" b="1" i="0" noProof="0" dirty="0">
                <a:solidFill>
                  <a:srgbClr val="C3094A"/>
                </a:solidFill>
                <a:latin typeface="Arial"/>
              </a:rPr>
              <a:t>02</a:t>
            </a:r>
          </a:p>
        </p:txBody>
      </p:sp>
      <p:sp>
        <p:nvSpPr>
          <p:cNvPr id="35" name="TextBox 34"/>
          <p:cNvSpPr txBox="1"/>
          <p:nvPr/>
        </p:nvSpPr>
        <p:spPr>
          <a:xfrm>
            <a:off x="7223759" y="3895344"/>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lang="es-ES" sz="950" b="1" i="0" noProof="0" dirty="0">
                <a:solidFill>
                  <a:srgbClr val="042354"/>
                </a:solidFill>
                <a:latin typeface="Arial"/>
              </a:rPr>
              <a:t>Sustitución del conjunto</a:t>
            </a:r>
          </a:p>
          <a:p>
            <a:pPr algn="l">
              <a:lnSpc>
                <a:spcPct val="105000"/>
              </a:lnSpc>
              <a:spcBef>
                <a:spcPts val="0"/>
              </a:spcBef>
              <a:spcAft>
                <a:spcPts val="0"/>
              </a:spcAft>
            </a:pPr>
            <a:r>
              <a:rPr lang="es-ES" sz="850" b="0" i="0" noProof="0" dirty="0">
                <a:solidFill>
                  <a:srgbClr val="191919"/>
                </a:solidFill>
                <a:latin typeface="Arial"/>
              </a:rPr>
              <a:t>Reemplazo del motor de tracción por uno de intercambio con el P/N mejorado.</a:t>
            </a:r>
          </a:p>
        </p:txBody>
      </p:sp>
      <p:sp>
        <p:nvSpPr>
          <p:cNvPr id="36" name="Rectangle 35"/>
          <p:cNvSpPr/>
          <p:nvPr/>
        </p:nvSpPr>
        <p:spPr>
          <a:xfrm>
            <a:off x="6675120" y="4462272"/>
            <a:ext cx="4681728" cy="5120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7" name="TextBox 36"/>
          <p:cNvSpPr txBox="1"/>
          <p:nvPr/>
        </p:nvSpPr>
        <p:spPr>
          <a:xfrm>
            <a:off x="6784848" y="4462272"/>
            <a:ext cx="411480" cy="512064"/>
          </a:xfrm>
          <a:prstGeom prst="rect">
            <a:avLst/>
          </a:prstGeom>
          <a:noFill/>
        </p:spPr>
        <p:txBody>
          <a:bodyPr wrap="square" lIns="0" tIns="0" rIns="0" bIns="0" anchor="ctr">
            <a:spAutoFit/>
          </a:bodyPr>
          <a:lstStyle/>
          <a:p>
            <a:pPr algn="l">
              <a:lnSpc>
                <a:spcPct val="110000"/>
              </a:lnSpc>
              <a:spcBef>
                <a:spcPts val="0"/>
              </a:spcBef>
              <a:spcAft>
                <a:spcPts val="0"/>
              </a:spcAft>
            </a:pPr>
            <a:r>
              <a:rPr lang="es-ES" sz="1200" b="1" i="0" noProof="0" dirty="0">
                <a:solidFill>
                  <a:srgbClr val="C3094A"/>
                </a:solidFill>
                <a:latin typeface="Arial"/>
              </a:rPr>
              <a:t>03</a:t>
            </a:r>
          </a:p>
        </p:txBody>
      </p:sp>
      <p:sp>
        <p:nvSpPr>
          <p:cNvPr id="38" name="TextBox 37"/>
          <p:cNvSpPr txBox="1"/>
          <p:nvPr/>
        </p:nvSpPr>
        <p:spPr>
          <a:xfrm>
            <a:off x="7223759" y="4462272"/>
            <a:ext cx="4023360" cy="512064"/>
          </a:xfrm>
          <a:prstGeom prst="rect">
            <a:avLst/>
          </a:prstGeom>
          <a:noFill/>
        </p:spPr>
        <p:txBody>
          <a:bodyPr wrap="square" lIns="0" tIns="0" rIns="0" bIns="0" anchor="ctr">
            <a:spAutoFit/>
          </a:bodyPr>
          <a:lstStyle/>
          <a:p>
            <a:pPr algn="l">
              <a:lnSpc>
                <a:spcPct val="110000"/>
              </a:lnSpc>
              <a:spcBef>
                <a:spcPts val="0"/>
              </a:spcBef>
              <a:spcAft>
                <a:spcPts val="100"/>
              </a:spcAft>
            </a:pPr>
            <a:r>
              <a:rPr lang="es-ES" sz="950" b="1" i="0" noProof="0" dirty="0">
                <a:solidFill>
                  <a:srgbClr val="042354"/>
                </a:solidFill>
                <a:latin typeface="Arial"/>
              </a:rPr>
              <a:t>Control de la mejora instalada</a:t>
            </a:r>
          </a:p>
          <a:p>
            <a:pPr algn="l">
              <a:lnSpc>
                <a:spcPct val="105000"/>
              </a:lnSpc>
              <a:spcBef>
                <a:spcPts val="0"/>
              </a:spcBef>
              <a:spcAft>
                <a:spcPts val="0"/>
              </a:spcAft>
            </a:pPr>
            <a:r>
              <a:rPr lang="es-ES" sz="850" b="0" i="0" noProof="0" dirty="0">
                <a:solidFill>
                  <a:srgbClr val="191919"/>
                </a:solidFill>
                <a:latin typeface="Arial"/>
              </a:rPr>
              <a:t>Registro del P/N montado y su fecha por posición: impide reponer el obsoleto.</a:t>
            </a:r>
          </a:p>
        </p:txBody>
      </p:sp>
      <p:sp>
        <p:nvSpPr>
          <p:cNvPr id="39" name="Rectangle 38"/>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0" name="TextBox 39"/>
          <p:cNvSpPr txBox="1"/>
          <p:nvPr/>
        </p:nvSpPr>
        <p:spPr>
          <a:xfrm>
            <a:off x="1024128" y="5157216"/>
            <a:ext cx="10277856" cy="386581"/>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Un rediseño adoptado, no un desarrollo propio: surgió de las recomendaciones de los AFA y esta operación fue la primera en implementarla, en 2025.</a:t>
            </a:r>
          </a:p>
        </p:txBody>
      </p:sp>
      <p:sp>
        <p:nvSpPr>
          <p:cNvPr id="41" name="TextBox 40"/>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4.3 · DECISIÓN DE REDISEÑO  |  ETAPA 4 · IMPLEMENTACIÓN</a:t>
            </a:r>
          </a:p>
        </p:txBody>
      </p:sp>
      <p:sp>
        <p:nvSpPr>
          <p:cNvPr id="42"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43"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4"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5"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46" name="Tracker E4"/>
          <p:cNvSpPr/>
          <p:nvPr/>
        </p:nvSpPr>
        <p:spPr>
          <a:xfrm>
            <a:off x="215798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4</a:t>
            </a:r>
          </a:p>
        </p:txBody>
      </p:sp>
      <p:sp>
        <p:nvSpPr>
          <p:cNvPr id="47"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8"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9"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0"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51"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2"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53"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54"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55"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4.3 DECISIÓN DE REDISEÑO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Verificación del componente: no recurrencia del modo de falla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18</a:t>
            </a:r>
          </a:p>
        </p:txBody>
      </p:sp>
      <p:pic>
        <p:nvPicPr>
          <p:cNvPr id="6" name="Picture 5" descr="pu_g4_norecurrencia.png"/>
          <p:cNvPicPr>
            <a:picLocks noChangeAspect="1"/>
          </p:cNvPicPr>
          <p:nvPr/>
        </p:nvPicPr>
        <p:blipFill>
          <a:blip r:embed="rId3"/>
          <a:stretch>
            <a:fillRect/>
          </a:stretch>
        </p:blipFill>
        <p:spPr>
          <a:xfrm>
            <a:off x="841248" y="1481328"/>
            <a:ext cx="5760720" cy="3257258"/>
          </a:xfrm>
          <a:prstGeom prst="rect">
            <a:avLst/>
          </a:prstGeom>
        </p:spPr>
      </p:pic>
      <p:pic>
        <p:nvPicPr>
          <p:cNvPr id="20" name="Imagen 19">
            <a:extLst>
              <a:ext uri="{FF2B5EF4-FFF2-40B4-BE49-F238E27FC236}">
                <a16:creationId xmlns:a16="http://schemas.microsoft.com/office/drawing/2014/main" id="{D9461018-720B-F8FC-DBE1-205133E6BF15}"/>
              </a:ext>
            </a:extLst>
          </p:cNvPr>
          <p:cNvPicPr>
            <a:picLocks noChangeAspect="1"/>
          </p:cNvPicPr>
          <p:nvPr/>
        </p:nvPicPr>
        <p:blipFill>
          <a:blip r:embed="rId4"/>
          <a:stretch>
            <a:fillRect/>
          </a:stretch>
        </p:blipFill>
        <p:spPr>
          <a:xfrm>
            <a:off x="158617" y="5943600"/>
            <a:ext cx="5620013" cy="550672"/>
          </a:xfrm>
          <a:prstGeom prst="rect">
            <a:avLst/>
          </a:prstGeom>
        </p:spPr>
      </p:pic>
      <p:sp>
        <p:nvSpPr>
          <p:cNvPr id="21" name="TextBox 20"/>
          <p:cNvSpPr txBox="1"/>
          <p:nvPr/>
        </p:nvSpPr>
        <p:spPr>
          <a:xfrm>
            <a:off x="841248" y="4793450"/>
            <a:ext cx="5760720" cy="228600"/>
          </a:xfrm>
          <a:prstGeom prst="rect">
            <a:avLst/>
          </a:prstGeom>
          <a:noFill/>
        </p:spPr>
        <p:txBody>
          <a:bodyPr wrap="square" lIns="0" tIns="0" rIns="0" bIns="0" anchor="t">
            <a:spAutoFit/>
          </a:bodyPr>
          <a:lstStyle/>
          <a:p>
            <a:pPr algn="l">
              <a:lnSpc>
                <a:spcPct val="106000"/>
              </a:lnSpc>
              <a:spcBef>
                <a:spcPts val="0"/>
              </a:spcBef>
              <a:spcAft>
                <a:spcPts val="300"/>
              </a:spcAft>
            </a:pPr>
            <a:r>
              <a:rPr lang="es-ES" sz="900" b="0" i="0" noProof="0" dirty="0">
                <a:solidFill>
                  <a:srgbClr val="7A8494"/>
                </a:solidFill>
                <a:latin typeface="Arial"/>
              </a:rPr>
              <a:t>Observado: 0 eventos. Aún no demostrado: ningún motor intervenido supera todavía 24 540 h, la vida máxima registrada; la verificación sigue abierta.</a:t>
            </a:r>
          </a:p>
        </p:txBody>
      </p:sp>
      <p:sp>
        <p:nvSpPr>
          <p:cNvPr id="22" name="TextBox 21"/>
          <p:cNvSpPr txBox="1"/>
          <p:nvPr/>
        </p:nvSpPr>
        <p:spPr>
          <a:xfrm>
            <a:off x="7150608" y="1389888"/>
            <a:ext cx="420624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CRITERIO DE VERIFICACIÓN</a:t>
            </a:r>
          </a:p>
        </p:txBody>
      </p:sp>
      <p:sp>
        <p:nvSpPr>
          <p:cNvPr id="23" name="Rectangle 22"/>
          <p:cNvSpPr/>
          <p:nvPr/>
        </p:nvSpPr>
        <p:spPr>
          <a:xfrm>
            <a:off x="7150608" y="1700784"/>
            <a:ext cx="4206240" cy="67665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4" name="Rectangle 23"/>
          <p:cNvSpPr/>
          <p:nvPr/>
        </p:nvSpPr>
        <p:spPr>
          <a:xfrm>
            <a:off x="7150608" y="1700784"/>
            <a:ext cx="4206240" cy="36576"/>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5" name="TextBox 24"/>
          <p:cNvSpPr txBox="1"/>
          <p:nvPr/>
        </p:nvSpPr>
        <p:spPr>
          <a:xfrm>
            <a:off x="7296912" y="1700784"/>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lang="es-ES" sz="1500" b="1" i="0" noProof="0" dirty="0">
                <a:solidFill>
                  <a:srgbClr val="2841DD"/>
                </a:solidFill>
                <a:latin typeface="Arial"/>
              </a:rPr>
              <a:t>96 000 h</a:t>
            </a:r>
          </a:p>
        </p:txBody>
      </p:sp>
      <p:sp>
        <p:nvSpPr>
          <p:cNvPr id="26" name="TextBox 25"/>
          <p:cNvSpPr txBox="1"/>
          <p:nvPr/>
        </p:nvSpPr>
        <p:spPr>
          <a:xfrm>
            <a:off x="8723376" y="1700784"/>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lang="es-ES" sz="900" b="0" i="0" noProof="0" dirty="0">
                <a:solidFill>
                  <a:srgbClr val="191919"/>
                </a:solidFill>
                <a:latin typeface="Arial"/>
              </a:rPr>
              <a:t>de operación de flota acumuladas con el P/N mejorado</a:t>
            </a:r>
          </a:p>
        </p:txBody>
      </p:sp>
      <p:sp>
        <p:nvSpPr>
          <p:cNvPr id="27" name="Rectangle 26"/>
          <p:cNvSpPr/>
          <p:nvPr/>
        </p:nvSpPr>
        <p:spPr>
          <a:xfrm>
            <a:off x="7150608" y="2450592"/>
            <a:ext cx="4206240" cy="67665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8" name="Rectangle 27"/>
          <p:cNvSpPr/>
          <p:nvPr/>
        </p:nvSpPr>
        <p:spPr>
          <a:xfrm>
            <a:off x="7150608" y="2450592"/>
            <a:ext cx="4206240" cy="36576"/>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9" name="TextBox 28"/>
          <p:cNvSpPr txBox="1"/>
          <p:nvPr/>
        </p:nvSpPr>
        <p:spPr>
          <a:xfrm>
            <a:off x="7296912" y="2450592"/>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lang="es-ES" sz="1500" b="1" i="0" noProof="0" dirty="0">
                <a:solidFill>
                  <a:srgbClr val="2841DD"/>
                </a:solidFill>
                <a:latin typeface="Arial"/>
              </a:rPr>
              <a:t>0</a:t>
            </a:r>
          </a:p>
        </p:txBody>
      </p:sp>
      <p:sp>
        <p:nvSpPr>
          <p:cNvPr id="30" name="TextBox 29"/>
          <p:cNvSpPr txBox="1"/>
          <p:nvPr/>
        </p:nvSpPr>
        <p:spPr>
          <a:xfrm>
            <a:off x="8723376" y="2450592"/>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lang="es-ES" sz="900" b="0" i="0" noProof="0" dirty="0">
                <a:solidFill>
                  <a:srgbClr val="191919"/>
                </a:solidFill>
                <a:latin typeface="Arial"/>
              </a:rPr>
              <a:t>fracturas del eje palier desde el 14 de diciembre de 2024</a:t>
            </a:r>
          </a:p>
        </p:txBody>
      </p:sp>
      <p:sp>
        <p:nvSpPr>
          <p:cNvPr id="31" name="Rectangle 30"/>
          <p:cNvSpPr/>
          <p:nvPr/>
        </p:nvSpPr>
        <p:spPr>
          <a:xfrm>
            <a:off x="7150608" y="3200400"/>
            <a:ext cx="4206240" cy="67665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2" name="Rectangle 31"/>
          <p:cNvSpPr/>
          <p:nvPr/>
        </p:nvSpPr>
        <p:spPr>
          <a:xfrm>
            <a:off x="7150608" y="3200400"/>
            <a:ext cx="4206240" cy="3657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3" name="TextBox 32"/>
          <p:cNvSpPr txBox="1"/>
          <p:nvPr/>
        </p:nvSpPr>
        <p:spPr>
          <a:xfrm>
            <a:off x="7296912" y="3200400"/>
            <a:ext cx="1417320" cy="676656"/>
          </a:xfrm>
          <a:prstGeom prst="rect">
            <a:avLst/>
          </a:prstGeom>
          <a:noFill/>
        </p:spPr>
        <p:txBody>
          <a:bodyPr wrap="square" lIns="0" tIns="0" rIns="0" bIns="0" anchor="ctr">
            <a:spAutoFit/>
          </a:bodyPr>
          <a:lstStyle/>
          <a:p>
            <a:pPr algn="l">
              <a:lnSpc>
                <a:spcPct val="110000"/>
              </a:lnSpc>
              <a:spcBef>
                <a:spcPts val="0"/>
              </a:spcBef>
              <a:spcAft>
                <a:spcPts val="0"/>
              </a:spcAft>
            </a:pPr>
            <a:r>
              <a:rPr lang="es-ES" sz="1500" b="1" i="0" noProof="0" dirty="0">
                <a:solidFill>
                  <a:srgbClr val="C3094A"/>
                </a:solidFill>
                <a:latin typeface="Arial"/>
              </a:rPr>
              <a:t>p = 0,0018</a:t>
            </a:r>
          </a:p>
        </p:txBody>
      </p:sp>
      <p:sp>
        <p:nvSpPr>
          <p:cNvPr id="34" name="TextBox 33"/>
          <p:cNvSpPr txBox="1"/>
          <p:nvPr/>
        </p:nvSpPr>
        <p:spPr>
          <a:xfrm>
            <a:off x="8723376" y="3200400"/>
            <a:ext cx="2505455" cy="676656"/>
          </a:xfrm>
          <a:prstGeom prst="rect">
            <a:avLst/>
          </a:prstGeom>
          <a:noFill/>
        </p:spPr>
        <p:txBody>
          <a:bodyPr wrap="square" lIns="0" tIns="0" rIns="0" bIns="0" anchor="ctr">
            <a:spAutoFit/>
          </a:bodyPr>
          <a:lstStyle/>
          <a:p>
            <a:pPr algn="l">
              <a:lnSpc>
                <a:spcPct val="108000"/>
              </a:lnSpc>
              <a:spcBef>
                <a:spcPts val="0"/>
              </a:spcBef>
              <a:spcAft>
                <a:spcPts val="0"/>
              </a:spcAft>
            </a:pPr>
            <a:r>
              <a:rPr lang="es-ES" sz="900" b="0" i="0" noProof="0" dirty="0">
                <a:solidFill>
                  <a:srgbClr val="191919"/>
                </a:solidFill>
                <a:latin typeface="Arial"/>
              </a:rPr>
              <a:t>probabilidad de observar cero si la tasa previa persistiera</a:t>
            </a:r>
          </a:p>
        </p:txBody>
      </p:sp>
      <p:sp>
        <p:nvSpPr>
          <p:cNvPr id="35" name="TextBox 34"/>
          <p:cNvSpPr txBox="1"/>
          <p:nvPr/>
        </p:nvSpPr>
        <p:spPr>
          <a:xfrm>
            <a:off x="7150608" y="4005072"/>
            <a:ext cx="420624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RECUPERACIÓN DE LOS INDICADORES</a:t>
            </a:r>
          </a:p>
        </p:txBody>
      </p:sp>
      <p:sp>
        <p:nvSpPr>
          <p:cNvPr id="36" name="Rectangle 35"/>
          <p:cNvSpPr/>
          <p:nvPr/>
        </p:nvSpPr>
        <p:spPr>
          <a:xfrm>
            <a:off x="7150608" y="4279392"/>
            <a:ext cx="2048255" cy="658367"/>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7" name="TextBox 36"/>
          <p:cNvSpPr txBox="1"/>
          <p:nvPr/>
        </p:nvSpPr>
        <p:spPr>
          <a:xfrm>
            <a:off x="7260336" y="4353954"/>
            <a:ext cx="1865375" cy="509242"/>
          </a:xfrm>
          <a:prstGeom prst="rect">
            <a:avLst/>
          </a:prstGeom>
          <a:noFill/>
        </p:spPr>
        <p:txBody>
          <a:bodyPr wrap="square" lIns="0" tIns="0" rIns="0" bIns="0" anchor="ctr">
            <a:spAutoFit/>
          </a:bodyPr>
          <a:lstStyle/>
          <a:p>
            <a:pPr algn="l">
              <a:lnSpc>
                <a:spcPct val="110000"/>
              </a:lnSpc>
              <a:spcBef>
                <a:spcPts val="0"/>
              </a:spcBef>
              <a:spcAft>
                <a:spcPts val="200"/>
              </a:spcAft>
            </a:pPr>
            <a:r>
              <a:rPr lang="es-ES" sz="800" b="1" i="0" noProof="0" dirty="0">
                <a:solidFill>
                  <a:srgbClr val="4A5568"/>
                </a:solidFill>
                <a:latin typeface="Arial"/>
              </a:rPr>
              <a:t>MTBF DE LA FALLA</a:t>
            </a:r>
          </a:p>
          <a:p>
            <a:pPr algn="l">
              <a:lnSpc>
                <a:spcPct val="110000"/>
              </a:lnSpc>
              <a:spcBef>
                <a:spcPts val="0"/>
              </a:spcBef>
              <a:spcAft>
                <a:spcPts val="200"/>
              </a:spcAft>
            </a:pPr>
            <a:r>
              <a:rPr lang="es-ES" sz="1150" b="1" i="0" noProof="0" dirty="0">
                <a:solidFill>
                  <a:srgbClr val="042354"/>
                </a:solidFill>
                <a:latin typeface="Arial"/>
              </a:rPr>
              <a:t>&gt; 32 046 h</a:t>
            </a:r>
          </a:p>
          <a:p>
            <a:pPr algn="l">
              <a:lnSpc>
                <a:spcPct val="105000"/>
              </a:lnSpc>
              <a:spcBef>
                <a:spcPts val="0"/>
              </a:spcBef>
              <a:spcAft>
                <a:spcPts val="0"/>
              </a:spcAft>
            </a:pPr>
            <a:r>
              <a:rPr lang="es-ES" sz="850" b="0" i="0" noProof="0" dirty="0">
                <a:solidFill>
                  <a:srgbClr val="4A5568"/>
                </a:solidFill>
                <a:latin typeface="Arial"/>
              </a:rPr>
              <a:t>límite inferior al 95 % · TBO 20 000 h</a:t>
            </a:r>
          </a:p>
        </p:txBody>
      </p:sp>
      <p:sp>
        <p:nvSpPr>
          <p:cNvPr id="38" name="Rectangle 37"/>
          <p:cNvSpPr/>
          <p:nvPr/>
        </p:nvSpPr>
        <p:spPr>
          <a:xfrm>
            <a:off x="9308592" y="4279392"/>
            <a:ext cx="2048255" cy="658367"/>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39" name="TextBox 38"/>
          <p:cNvSpPr txBox="1"/>
          <p:nvPr/>
        </p:nvSpPr>
        <p:spPr>
          <a:xfrm>
            <a:off x="9418319" y="4279392"/>
            <a:ext cx="1865375" cy="658367"/>
          </a:xfrm>
          <a:prstGeom prst="rect">
            <a:avLst/>
          </a:prstGeom>
          <a:noFill/>
        </p:spPr>
        <p:txBody>
          <a:bodyPr wrap="square" lIns="0" tIns="0" rIns="0" bIns="0" anchor="ctr">
            <a:spAutoFit/>
          </a:bodyPr>
          <a:lstStyle/>
          <a:p>
            <a:pPr algn="l">
              <a:lnSpc>
                <a:spcPct val="110000"/>
              </a:lnSpc>
              <a:spcBef>
                <a:spcPts val="0"/>
              </a:spcBef>
              <a:spcAft>
                <a:spcPts val="200"/>
              </a:spcAft>
            </a:pPr>
            <a:r>
              <a:rPr lang="es-ES" sz="800" b="1" i="0" noProof="0" dirty="0">
                <a:solidFill>
                  <a:srgbClr val="4A5568"/>
                </a:solidFill>
                <a:latin typeface="Arial"/>
              </a:rPr>
              <a:t>MTTR DEL SISTEMA</a:t>
            </a:r>
          </a:p>
          <a:p>
            <a:pPr algn="l">
              <a:lnSpc>
                <a:spcPct val="110000"/>
              </a:lnSpc>
              <a:spcBef>
                <a:spcPts val="0"/>
              </a:spcBef>
              <a:spcAft>
                <a:spcPts val="200"/>
              </a:spcAft>
            </a:pPr>
            <a:r>
              <a:rPr lang="es-ES" sz="1150" b="1" i="0" noProof="0" dirty="0">
                <a:solidFill>
                  <a:srgbClr val="042354"/>
                </a:solidFill>
                <a:latin typeface="Arial"/>
              </a:rPr>
              <a:t>6,2 h → 3,3 h</a:t>
            </a:r>
          </a:p>
          <a:p>
            <a:pPr algn="l">
              <a:lnSpc>
                <a:spcPct val="105000"/>
              </a:lnSpc>
              <a:spcBef>
                <a:spcPts val="0"/>
              </a:spcBef>
              <a:spcAft>
                <a:spcPts val="0"/>
              </a:spcAft>
            </a:pPr>
            <a:r>
              <a:rPr lang="es-ES" sz="850" b="0" i="0" noProof="0" dirty="0">
                <a:solidFill>
                  <a:srgbClr val="4A5568"/>
                </a:solidFill>
                <a:latin typeface="Arial"/>
              </a:rPr>
              <a:t>−46 % sin el modo de 59,3 h</a:t>
            </a:r>
          </a:p>
        </p:txBody>
      </p:sp>
      <p:sp>
        <p:nvSpPr>
          <p:cNvPr id="40" name="Rectangle 39"/>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41" name="TextBox 40"/>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Se rechaza con 95 % de confianza que el modo persista con su frecuencia anterior: el límite inferior del MTBF del modo (32 046 h) ya supera el TBO de referencia de 20 000 h.</a:t>
            </a:r>
          </a:p>
        </p:txBody>
      </p:sp>
      <p:sp>
        <p:nvSpPr>
          <p:cNvPr id="42" name="TextBox 41"/>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4.4 · RECUPERACIÓN DE INDICADORES  |  ETAPA 4 · VERIFICACIÓN DEL COMPONENTE</a:t>
            </a:r>
          </a:p>
        </p:txBody>
      </p:sp>
      <p:sp>
        <p:nvSpPr>
          <p:cNvPr id="43"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44"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45"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46"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47" name="Tracker E4"/>
          <p:cNvSpPr/>
          <p:nvPr/>
        </p:nvSpPr>
        <p:spPr>
          <a:xfrm>
            <a:off x="215798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4</a:t>
            </a:r>
          </a:p>
        </p:txBody>
      </p:sp>
      <p:sp>
        <p:nvSpPr>
          <p:cNvPr id="48"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49"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50"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1"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52"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53"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54"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55"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56"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4.4 RECUPERACIÓN DE INDICADORES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Qué ya ocurrió, qué falta demostrar y cómo se asegura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19</a:t>
            </a:r>
          </a:p>
        </p:txBody>
      </p:sp>
      <p:pic>
        <p:nvPicPr>
          <p:cNvPr id="20" name="Imagen 19">
            <a:extLst>
              <a:ext uri="{FF2B5EF4-FFF2-40B4-BE49-F238E27FC236}">
                <a16:creationId xmlns:a16="http://schemas.microsoft.com/office/drawing/2014/main" id="{D9461018-720B-F8FC-DBE1-205133E6BF15}"/>
              </a:ext>
            </a:extLst>
          </p:cNvPr>
          <p:cNvPicPr>
            <a:picLocks noChangeAspect="1"/>
          </p:cNvPicPr>
          <p:nvPr/>
        </p:nvPicPr>
        <p:blipFill>
          <a:blip r:embed="rId4"/>
          <a:stretch>
            <a:fillRect/>
          </a:stretch>
        </p:blipFill>
        <p:spPr>
          <a:xfrm>
            <a:off x="158617" y="5943600"/>
            <a:ext cx="5620013" cy="550672"/>
          </a:xfrm>
          <a:prstGeom prst="rect">
            <a:avLst/>
          </a:prstGeom>
        </p:spPr>
      </p:pic>
      <p:sp>
        <p:nvSpPr>
          <p:cNvPr id="42" name="TextBox 41"/>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4.4 · RECUPERACIÓN DE INDICADORES  |  ETAPA 4 · VERIFICACIÓN Y CONDICIÓN DE CIERRE</a:t>
            </a:r>
          </a:p>
        </p:txBody>
      </p:sp>
      <p:sp>
        <p:nvSpPr>
          <p:cNvPr id="43" name="Col 0 head"/>
          <p:cNvSpPr txBox="1"/>
          <p:nvPr/>
        </p:nvSpPr>
        <p:spPr>
          <a:xfrm>
            <a:off x="841248" y="1417320"/>
            <a:ext cx="3364992"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50" b="1" i="0" dirty="0">
                <a:solidFill>
                  <a:srgbClr val="042354"/>
                </a:solidFill>
                <a:latin typeface="Arial"/>
                <a:cs typeface="Arial"/>
              </a:rPr>
              <a:t>YA OCURRIÓ · MEDIDO</a:t>
            </a:r>
          </a:p>
        </p:txBody>
      </p:sp>
      <p:sp>
        <p:nvSpPr>
          <p:cNvPr id="44" name="Col 0 card"/>
          <p:cNvSpPr/>
          <p:nvPr/>
        </p:nvSpPr>
        <p:spPr>
          <a:xfrm>
            <a:off x="841248" y="1700784"/>
            <a:ext cx="3364992" cy="265176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45" name="Col 0 borde"/>
          <p:cNvSpPr/>
          <p:nvPr/>
        </p:nvSpPr>
        <p:spPr>
          <a:xfrm>
            <a:off x="841248" y="1700784"/>
            <a:ext cx="3364992" cy="45720"/>
          </a:xfrm>
          <a:prstGeom prst="rect">
            <a:avLst/>
          </a:prstGeom>
          <a:solidFill>
            <a:srgbClr val="042354"/>
          </a:solidFill>
          <a:ln>
            <a:noFill/>
          </a:ln>
          <a:effectLst/>
        </p:spPr>
        <p:txBody>
          <a:bodyPr wrap="square" lIns="0" tIns="0" rIns="0" bIns="0" rtlCol="0" anchor="t">
            <a:noAutofit/>
          </a:bodyPr>
          <a:lstStyle/>
          <a:p>
            <a:endParaRPr lang="es-PE" dirty="0"/>
          </a:p>
        </p:txBody>
      </p:sp>
      <p:sp>
        <p:nvSpPr>
          <p:cNvPr id="46" name="Col 0 txt"/>
          <p:cNvSpPr txBox="1"/>
          <p:nvPr/>
        </p:nvSpPr>
        <p:spPr>
          <a:xfrm>
            <a:off x="1005840" y="1883664"/>
            <a:ext cx="3054096" cy="2432304"/>
          </a:xfrm>
          <a:prstGeom prst="rect">
            <a:avLst/>
          </a:prstGeom>
          <a:noFill/>
          <a:ln>
            <a:noFill/>
          </a:ln>
          <a:effectLst/>
        </p:spPr>
        <p:txBody>
          <a:bodyPr wrap="square" lIns="0" tIns="0" rIns="0" bIns="0" rtlCol="0" anchor="t">
            <a:noAutofit/>
          </a:bodyPr>
          <a:lstStyle/>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0 fracturas</a:t>
            </a:r>
            <a:r>
              <a:rPr lang="es-PE" sz="1100" b="0" i="0" dirty="0">
                <a:solidFill>
                  <a:srgbClr val="191919"/>
                </a:solidFill>
                <a:latin typeface="Arial"/>
                <a:cs typeface="Arial"/>
              </a:rPr>
              <a:t> del eje palier desde el 14-12-2024, en 96 000 h de operación de flota con el P/N mejorado.</a:t>
            </a:r>
          </a:p>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p = 0,0018:</a:t>
            </a:r>
            <a:r>
              <a:rPr lang="es-PE" sz="1100" b="0" i="0" dirty="0">
                <a:solidFill>
                  <a:srgbClr val="191919"/>
                </a:solidFill>
                <a:latin typeface="Arial"/>
                <a:cs typeface="Arial"/>
              </a:rPr>
              <a:t> se rechaza, con 95 % de confianza, que la falla persista con su tasa anterior (se esperaban 6,3 eventos).</a:t>
            </a:r>
          </a:p>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2025:</a:t>
            </a:r>
            <a:r>
              <a:rPr lang="es-PE" sz="1100" b="0" i="0" dirty="0">
                <a:solidFill>
                  <a:srgbClr val="191919"/>
                </a:solidFill>
                <a:latin typeface="Arial"/>
                <a:cs typeface="Arial"/>
              </a:rPr>
              <a:t> disponibilidad de 93,6 % y MTBF de 108,4 h, sobre las metas contractuales.</a:t>
            </a:r>
          </a:p>
        </p:txBody>
      </p:sp>
      <p:sp>
        <p:nvSpPr>
          <p:cNvPr id="47" name="Col 1 head"/>
          <p:cNvSpPr txBox="1"/>
          <p:nvPr/>
        </p:nvSpPr>
        <p:spPr>
          <a:xfrm>
            <a:off x="4416552" y="1417320"/>
            <a:ext cx="3364992"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50" b="1" i="0" dirty="0">
                <a:solidFill>
                  <a:srgbClr val="C3094A"/>
                </a:solidFill>
                <a:latin typeface="Arial"/>
                <a:cs typeface="Arial"/>
              </a:rPr>
              <a:t>NO LO GARANTIZA LA SOLA INTERVENCIÓN</a:t>
            </a:r>
          </a:p>
        </p:txBody>
      </p:sp>
      <p:sp>
        <p:nvSpPr>
          <p:cNvPr id="48" name="Col 1 card"/>
          <p:cNvSpPr/>
          <p:nvPr/>
        </p:nvSpPr>
        <p:spPr>
          <a:xfrm>
            <a:off x="4416552" y="1700784"/>
            <a:ext cx="3364992" cy="2651760"/>
          </a:xfrm>
          <a:prstGeom prst="rect">
            <a:avLst/>
          </a:prstGeom>
          <a:solidFill>
            <a:srgbClr val="FAECF0"/>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49" name="Col 1 borde"/>
          <p:cNvSpPr/>
          <p:nvPr/>
        </p:nvSpPr>
        <p:spPr>
          <a:xfrm>
            <a:off x="4416552" y="1700784"/>
            <a:ext cx="3364992" cy="45720"/>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50" name="Col 1 txt"/>
          <p:cNvSpPr txBox="1"/>
          <p:nvPr/>
        </p:nvSpPr>
        <p:spPr>
          <a:xfrm>
            <a:off x="4581144" y="1883664"/>
            <a:ext cx="3054096" cy="2432304"/>
          </a:xfrm>
          <a:prstGeom prst="rect">
            <a:avLst/>
          </a:prstGeom>
          <a:noFill/>
          <a:ln>
            <a:noFill/>
          </a:ln>
          <a:effectLst/>
        </p:spPr>
        <p:txBody>
          <a:bodyPr wrap="square" lIns="0" tIns="0" rIns="0" bIns="0" rtlCol="0" anchor="t">
            <a:noAutofit/>
          </a:bodyPr>
          <a:lstStyle/>
          <a:p>
            <a:pPr algn="l" marL="171450" indent="-171450">
              <a:lnSpc>
                <a:spcPct val="112000"/>
              </a:lnSpc>
              <a:spcBef>
                <a:spcPts val="0"/>
              </a:spcBef>
              <a:spcAft>
                <a:spcPts val="700"/>
              </a:spcAft>
              <a:buClr>
                <a:srgbClr val="7A8494"/>
              </a:buClr>
              <a:buFont typeface="Arial"/>
              <a:buChar char="•"/>
            </a:pPr>
            <a:r>
              <a:rPr lang="es-PE" sz="1100" b="0" i="0" dirty="0">
                <a:solidFill>
                  <a:srgbClr val="191919"/>
                </a:solidFill>
                <a:latin typeface="Arial"/>
                <a:cs typeface="Arial"/>
              </a:rPr>
              <a:t>Instalar el eje rediseñado </a:t>
            </a:r>
            <a:r>
              <a:rPr lang="es-PE" sz="1100" b="1" i="0" dirty="0">
                <a:solidFill>
                  <a:srgbClr val="C3094A"/>
                </a:solidFill>
                <a:latin typeface="Arial"/>
                <a:cs typeface="Arial"/>
              </a:rPr>
              <a:t>no elimina la falla por sí solo</a:t>
            </a:r>
            <a:r>
              <a:rPr lang="es-PE" sz="1100" b="0" i="0" dirty="0">
                <a:solidFill>
                  <a:srgbClr val="191919"/>
                </a:solidFill>
                <a:latin typeface="Arial"/>
                <a:cs typeface="Arial"/>
              </a:rPr>
              <a:t>: lo demostrado es la ausencia de eventos en la ventana observada.</a:t>
            </a:r>
          </a:p>
          <a:p>
            <a:pPr algn="l" marL="171450" indent="-171450">
              <a:lnSpc>
                <a:spcPct val="112000"/>
              </a:lnSpc>
              <a:spcBef>
                <a:spcPts val="0"/>
              </a:spcBef>
              <a:spcAft>
                <a:spcPts val="700"/>
              </a:spcAft>
              <a:buClr>
                <a:srgbClr val="7A8494"/>
              </a:buClr>
              <a:buFont typeface="Arial"/>
              <a:buChar char="•"/>
            </a:pPr>
            <a:r>
              <a:rPr lang="es-PE" sz="1100" b="0" i="0" dirty="0">
                <a:solidFill>
                  <a:srgbClr val="191919"/>
                </a:solidFill>
                <a:latin typeface="Arial"/>
                <a:cs typeface="Arial"/>
              </a:rPr>
              <a:t>Ningún motor intervenido </a:t>
            </a:r>
            <a:r>
              <a:rPr lang="es-PE" sz="1100" b="1" i="0" dirty="0">
                <a:solidFill>
                  <a:srgbClr val="C3094A"/>
                </a:solidFill>
                <a:latin typeface="Arial"/>
                <a:cs typeface="Arial"/>
              </a:rPr>
              <a:t>supera aún 24 540 h</a:t>
            </a:r>
            <a:r>
              <a:rPr lang="es-PE" sz="1100" b="0" i="0" dirty="0">
                <a:solidFill>
                  <a:srgbClr val="191919"/>
                </a:solidFill>
                <a:latin typeface="Arial"/>
                <a:cs typeface="Arial"/>
              </a:rPr>
              <a:t>, la vida máxima registrada antes del cambio.</a:t>
            </a:r>
          </a:p>
          <a:p>
            <a:pPr algn="l" marL="171450" indent="-171450">
              <a:lnSpc>
                <a:spcPct val="112000"/>
              </a:lnSpc>
              <a:spcBef>
                <a:spcPts val="0"/>
              </a:spcBef>
              <a:spcAft>
                <a:spcPts val="700"/>
              </a:spcAft>
              <a:buClr>
                <a:srgbClr val="7A8494"/>
              </a:buClr>
              <a:buFont typeface="Arial"/>
              <a:buChar char="•"/>
            </a:pPr>
            <a:r>
              <a:rPr lang="es-PE" sz="1100" b="1" i="0" dirty="0">
                <a:solidFill>
                  <a:srgbClr val="C3094A"/>
                </a:solidFill>
                <a:latin typeface="Arial"/>
                <a:cs typeface="Arial"/>
              </a:rPr>
              <a:t>&gt; 32 046 h</a:t>
            </a:r>
            <a:r>
              <a:rPr lang="es-PE" sz="1100" b="0" i="0" dirty="0">
                <a:solidFill>
                  <a:srgbClr val="191919"/>
                </a:solidFill>
                <a:latin typeface="Arial"/>
                <a:cs typeface="Arial"/>
              </a:rPr>
              <a:t> es el límite inferior estadístico del MTBF de la falla, no una vida demostrada.</a:t>
            </a:r>
          </a:p>
          <a:p>
            <a:pPr algn="l" marL="171450" indent="-171450">
              <a:lnSpc>
                <a:spcPct val="112000"/>
              </a:lnSpc>
              <a:spcBef>
                <a:spcPts val="0"/>
              </a:spcBef>
              <a:spcAft>
                <a:spcPts val="700"/>
              </a:spcAft>
              <a:buClr>
                <a:srgbClr val="7A8494"/>
              </a:buClr>
              <a:buFont typeface="Arial"/>
              <a:buChar char="•"/>
            </a:pPr>
            <a:r>
              <a:rPr lang="es-PE" sz="1100" b="1" i="0" dirty="0">
                <a:solidFill>
                  <a:srgbClr val="C3094A"/>
                </a:solidFill>
                <a:latin typeface="Arial"/>
                <a:cs typeface="Arial"/>
              </a:rPr>
              <a:t>FS = 2,23</a:t>
            </a:r>
            <a:r>
              <a:rPr lang="es-PE" sz="1100" b="0" i="0" dirty="0">
                <a:solidFill>
                  <a:srgbClr val="191919"/>
                </a:solidFill>
                <a:latin typeface="Arial"/>
                <a:cs typeface="Arial"/>
              </a:rPr>
              <a:t> es un resultado de cálculo; lo confirma el desempeño en campo.</a:t>
            </a:r>
          </a:p>
        </p:txBody>
      </p:sp>
      <p:sp>
        <p:nvSpPr>
          <p:cNvPr id="51" name="Col 2 head"/>
          <p:cNvSpPr txBox="1"/>
          <p:nvPr/>
        </p:nvSpPr>
        <p:spPr>
          <a:xfrm>
            <a:off x="7991856" y="1417320"/>
            <a:ext cx="3364992" cy="2194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0"/>
              </a:spcAft>
              <a:buNone/>
            </a:pPr>
            <a:r>
              <a:rPr lang="es-PE" sz="950" b="1" i="0" dirty="0">
                <a:solidFill>
                  <a:srgbClr val="2841DD"/>
                </a:solidFill>
                <a:latin typeface="Arial"/>
                <a:cs typeface="Arial"/>
              </a:rPr>
              <a:t>CÓMO SE ASEGURA</a:t>
            </a:r>
          </a:p>
        </p:txBody>
      </p:sp>
      <p:sp>
        <p:nvSpPr>
          <p:cNvPr id="52" name="Col 2 card"/>
          <p:cNvSpPr/>
          <p:nvPr/>
        </p:nvSpPr>
        <p:spPr>
          <a:xfrm>
            <a:off x="7991856" y="1700784"/>
            <a:ext cx="3364992" cy="2651760"/>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53" name="Col 2 borde"/>
          <p:cNvSpPr/>
          <p:nvPr/>
        </p:nvSpPr>
        <p:spPr>
          <a:xfrm>
            <a:off x="7991856" y="1700784"/>
            <a:ext cx="3364992" cy="45720"/>
          </a:xfrm>
          <a:prstGeom prst="rect">
            <a:avLst/>
          </a:prstGeom>
          <a:solidFill>
            <a:srgbClr val="2841DD"/>
          </a:solidFill>
          <a:ln>
            <a:noFill/>
          </a:ln>
          <a:effectLst/>
        </p:spPr>
        <p:txBody>
          <a:bodyPr wrap="square" lIns="0" tIns="0" rIns="0" bIns="0" rtlCol="0" anchor="t">
            <a:noAutofit/>
          </a:bodyPr>
          <a:lstStyle/>
          <a:p>
            <a:endParaRPr lang="es-PE" dirty="0"/>
          </a:p>
        </p:txBody>
      </p:sp>
      <p:sp>
        <p:nvSpPr>
          <p:cNvPr id="54" name="Col 2 txt"/>
          <p:cNvSpPr txBox="1"/>
          <p:nvPr/>
        </p:nvSpPr>
        <p:spPr>
          <a:xfrm>
            <a:off x="8156448" y="1883664"/>
            <a:ext cx="3054096" cy="2432304"/>
          </a:xfrm>
          <a:prstGeom prst="rect">
            <a:avLst/>
          </a:prstGeom>
          <a:noFill/>
          <a:ln>
            <a:noFill/>
          </a:ln>
          <a:effectLst/>
        </p:spPr>
        <p:txBody>
          <a:bodyPr wrap="square" lIns="0" tIns="0" rIns="0" bIns="0" rtlCol="0" anchor="t">
            <a:noAutofit/>
          </a:bodyPr>
          <a:lstStyle/>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Seguimiento del horómetro</a:t>
            </a:r>
            <a:r>
              <a:rPr lang="es-PE" sz="1100" b="0" i="0" dirty="0">
                <a:solidFill>
                  <a:srgbClr val="191919"/>
                </a:solidFill>
                <a:latin typeface="Arial"/>
                <a:cs typeface="Arial"/>
              </a:rPr>
              <a:t> de cada motor intervenido frente al umbral de 24 540 h.</a:t>
            </a:r>
          </a:p>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Control de configuración del P/N:</a:t>
            </a:r>
            <a:r>
              <a:rPr lang="es-PE" sz="1100" b="0" i="0" dirty="0">
                <a:solidFill>
                  <a:srgbClr val="191919"/>
                </a:solidFill>
                <a:latin typeface="Arial"/>
                <a:cs typeface="Arial"/>
              </a:rPr>
              <a:t> se registra el diseño montado por posición y no se repone el obsoleto.</a:t>
            </a:r>
          </a:p>
          <a:p>
            <a:pPr algn="l" marL="171450" indent="-171450">
              <a:lnSpc>
                <a:spcPct val="112000"/>
              </a:lnSpc>
              <a:spcBef>
                <a:spcPts val="0"/>
              </a:spcBef>
              <a:spcAft>
                <a:spcPts val="700"/>
              </a:spcAft>
              <a:buClr>
                <a:srgbClr val="7A8494"/>
              </a:buClr>
              <a:buFont typeface="Arial"/>
              <a:buChar char="•"/>
            </a:pPr>
            <a:r>
              <a:rPr lang="es-PE" sz="1100" b="1" i="0" dirty="0">
                <a:solidFill>
                  <a:srgbClr val="042354"/>
                </a:solidFill>
                <a:latin typeface="Arial"/>
                <a:cs typeface="Arial"/>
              </a:rPr>
              <a:t>Contramedidas del ACR:</a:t>
            </a:r>
            <a:r>
              <a:rPr lang="es-PE" sz="1100" b="0" i="0" dirty="0">
                <a:solidFill>
                  <a:srgbClr val="191919"/>
                </a:solidFill>
                <a:latin typeface="Arial"/>
                <a:cs typeface="Arial"/>
              </a:rPr>
              <a:t> análisis consolidado por modo de falla y cierre de cada hallazgo con responsable, plazo y verificación.</a:t>
            </a:r>
          </a:p>
        </p:txBody>
      </p:sp>
      <p:sp>
        <p:nvSpPr>
          <p:cNvPr id="55" name="Cierre"/>
          <p:cNvSpPr/>
          <p:nvPr/>
        </p:nvSpPr>
        <p:spPr>
          <a:xfrm>
            <a:off x="841248" y="4553712"/>
            <a:ext cx="10515600" cy="877824"/>
          </a:xfrm>
          <a:prstGeom prst="rect">
            <a:avLst/>
          </a:prstGeom>
          <a:solidFill>
            <a:srgbClr val="042354"/>
          </a:solidFill>
          <a:ln>
            <a:noFill/>
          </a:ln>
        </p:spPr>
        <p:style>
          <a:lnRef idx="1">
            <a:schemeClr val="accent1"/>
          </a:lnRef>
          <a:fillRef idx="3">
            <a:schemeClr val="accent1"/>
          </a:fillRef>
          <a:effectRef idx="2">
            <a:schemeClr val="accent1"/>
          </a:effectRef>
          <a:fontRef idx="minor">
            <a:schemeClr val="lt1"/>
          </a:fontRef>
        </p:style>
        <p:txBody>
          <a:bodyPr wrap="square" lIns="219456" tIns="54864" rIns="219456" bIns="54864" rtlCol="0" anchor="ctr">
            <a:noAutofit/>
          </a:bodyPr>
          <a:lstStyle/>
          <a:p>
            <a:pPr algn="l" marL="0" indent="0">
              <a:lnSpc>
                <a:spcPct val="100000"/>
              </a:lnSpc>
              <a:spcBef>
                <a:spcPts val="0"/>
              </a:spcBef>
              <a:spcAft>
                <a:spcPts val="250"/>
              </a:spcAft>
              <a:buNone/>
            </a:pPr>
            <a:r>
              <a:rPr lang="es-PE" sz="900" b="1" i="0" dirty="0">
                <a:solidFill>
                  <a:srgbClr val="16C78E"/>
                </a:solidFill>
                <a:latin typeface="Arial"/>
                <a:cs typeface="Arial"/>
              </a:rPr>
              <a:t>CONDICIÓN DE CIERRE</a:t>
            </a:r>
          </a:p>
          <a:p>
            <a:pPr algn="l" marL="0" indent="0">
              <a:lnSpc>
                <a:spcPct val="112000"/>
              </a:lnSpc>
              <a:spcBef>
                <a:spcPts val="0"/>
              </a:spcBef>
              <a:spcAft>
                <a:spcPts val="0"/>
              </a:spcAft>
              <a:buNone/>
            </a:pPr>
            <a:r>
              <a:rPr lang="es-PE" sz="1050" b="0" i="0" dirty="0">
                <a:solidFill>
                  <a:srgbClr val="FFFFFF"/>
                </a:solidFill>
                <a:latin typeface="Arial"/>
                <a:cs typeface="Arial"/>
              </a:rPr>
              <a:t>El proceso se cierra cuando se cumplen </a:t>
            </a:r>
            <a:r>
              <a:rPr lang="es-PE" sz="1050" b="1" i="0" dirty="0">
                <a:solidFill>
                  <a:srgbClr val="FFFFFF"/>
                </a:solidFill>
                <a:latin typeface="Arial"/>
                <a:cs typeface="Arial"/>
              </a:rPr>
              <a:t>ambos criterios</a:t>
            </a:r>
            <a:r>
              <a:rPr lang="es-PE" sz="1050" b="0" i="0" dirty="0">
                <a:solidFill>
                  <a:srgbClr val="FFFFFF"/>
                </a:solidFill>
                <a:latin typeface="Arial"/>
                <a:cs typeface="Arial"/>
              </a:rPr>
              <a:t>: todos los motores intervenidos superan 24 540 h sin fractura (componente) y los indicadores contractuales se mantienen en los niveles comprometidos (flota). Al cierre se actualiza el programa de mantenimiento del motor de tracción con el diseño corregido.</a:t>
            </a:r>
          </a:p>
        </p:txBody>
      </p:sp>
      <p:sp>
        <p:nvSpPr>
          <p:cNvPr id="56"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57"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58"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59"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60" name="Tracker E4"/>
          <p:cNvSpPr/>
          <p:nvPr/>
        </p:nvSpPr>
        <p:spPr>
          <a:xfrm>
            <a:off x="215798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4</a:t>
            </a:r>
          </a:p>
        </p:txBody>
      </p:sp>
      <p:sp>
        <p:nvSpPr>
          <p:cNvPr id="61"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62"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63"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64"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65"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66"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67"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68"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69"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4.4 RECUPERACIÓN DE INDICADORES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Recuperación de los indicadores de la flota y costo evitado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20</a:t>
            </a:r>
          </a:p>
        </p:txBody>
      </p:sp>
      <p:pic>
        <p:nvPicPr>
          <p:cNvPr id="6" name="Picture 5" descr="pu_g6_contractuales.png"/>
          <p:cNvPicPr>
            <a:picLocks noChangeAspect="1"/>
          </p:cNvPicPr>
          <p:nvPr/>
        </p:nvPicPr>
        <p:blipFill>
          <a:blip r:embed="rId3"/>
          <a:stretch>
            <a:fillRect/>
          </a:stretch>
        </p:blipFill>
        <p:spPr>
          <a:xfrm>
            <a:off x="841248" y="1700784"/>
            <a:ext cx="6126480" cy="2503133"/>
          </a:xfrm>
          <a:prstGeom prst="rect">
            <a:avLst/>
          </a:prstGeom>
        </p:spPr>
      </p:pic>
      <p:pic>
        <p:nvPicPr>
          <p:cNvPr id="13" name="Imagen 12">
            <a:extLst>
              <a:ext uri="{FF2B5EF4-FFF2-40B4-BE49-F238E27FC236}">
                <a16:creationId xmlns:a16="http://schemas.microsoft.com/office/drawing/2014/main" id="{80B665C9-1153-4F4C-99AB-B3F4D252B2E5}"/>
              </a:ext>
            </a:extLst>
          </p:cNvPr>
          <p:cNvPicPr>
            <a:picLocks noChangeAspect="1"/>
          </p:cNvPicPr>
          <p:nvPr/>
        </p:nvPicPr>
        <p:blipFill>
          <a:blip r:embed="rId4"/>
          <a:stretch>
            <a:fillRect/>
          </a:stretch>
        </p:blipFill>
        <p:spPr>
          <a:xfrm>
            <a:off x="158617" y="5943600"/>
            <a:ext cx="5620013" cy="550672"/>
          </a:xfrm>
          <a:prstGeom prst="rect">
            <a:avLst/>
          </a:prstGeom>
        </p:spPr>
      </p:pic>
      <p:sp>
        <p:nvSpPr>
          <p:cNvPr id="14" name="TextBox 13"/>
          <p:cNvSpPr txBox="1"/>
          <p:nvPr/>
        </p:nvSpPr>
        <p:spPr>
          <a:xfrm>
            <a:off x="841248" y="1389888"/>
            <a:ext cx="612648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INDICADORES CONTRACTUALES DE LA FLOTA</a:t>
            </a:r>
          </a:p>
        </p:txBody>
      </p:sp>
      <p:sp>
        <p:nvSpPr>
          <p:cNvPr id="15" name="Rectangle 14"/>
          <p:cNvSpPr/>
          <p:nvPr/>
        </p:nvSpPr>
        <p:spPr>
          <a:xfrm>
            <a:off x="841248" y="4313645"/>
            <a:ext cx="6126480" cy="62411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16" name="Rectangle 15"/>
          <p:cNvSpPr/>
          <p:nvPr/>
        </p:nvSpPr>
        <p:spPr>
          <a:xfrm>
            <a:off x="841248" y="4313645"/>
            <a:ext cx="45720" cy="62411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17" name="TextBox 16"/>
          <p:cNvSpPr txBox="1"/>
          <p:nvPr/>
        </p:nvSpPr>
        <p:spPr>
          <a:xfrm>
            <a:off x="1042416" y="4471108"/>
            <a:ext cx="5797296" cy="309187"/>
          </a:xfrm>
          <a:prstGeom prst="rect">
            <a:avLst/>
          </a:prstGeom>
          <a:noFill/>
        </p:spPr>
        <p:txBody>
          <a:bodyPr wrap="square" lIns="0" tIns="0" rIns="0" bIns="0" anchor="ctr">
            <a:spAutoFit/>
          </a:bodyPr>
          <a:lstStyle/>
          <a:p>
            <a:pPr algn="l">
              <a:lnSpc>
                <a:spcPct val="110000"/>
              </a:lnSpc>
              <a:spcBef>
                <a:spcPts val="0"/>
              </a:spcBef>
              <a:spcAft>
                <a:spcPts val="0"/>
              </a:spcAft>
            </a:pPr>
            <a:r>
              <a:rPr lang="es-ES" sz="950" b="1" i="0" noProof="0" dirty="0">
                <a:solidFill>
                  <a:srgbClr val="2841DD"/>
                </a:solidFill>
                <a:latin typeface="Arial"/>
              </a:rPr>
              <a:t>Atribución del efecto. </a:t>
            </a:r>
            <a:r>
              <a:rPr lang="es-ES" sz="950" b="0" i="0" noProof="0" dirty="0">
                <a:solidFill>
                  <a:srgbClr val="191919"/>
                </a:solidFill>
                <a:latin typeface="Arial"/>
              </a:rPr>
              <a:t>Una intervención concurrente sobre el motor diésel (fisura de culatas) explica parte de la recuperación; el eje palier aporta 0,36 puntos de disponibilidad. </a:t>
            </a:r>
          </a:p>
        </p:txBody>
      </p:sp>
      <p:sp>
        <p:nvSpPr>
          <p:cNvPr id="18" name="TextBox 17"/>
          <p:cNvSpPr txBox="1"/>
          <p:nvPr/>
        </p:nvSpPr>
        <p:spPr>
          <a:xfrm>
            <a:off x="7242048" y="1389888"/>
            <a:ext cx="4114800" cy="256032"/>
          </a:xfrm>
          <a:prstGeom prst="rect">
            <a:avLst/>
          </a:prstGeom>
          <a:noFill/>
        </p:spPr>
        <p:txBody>
          <a:bodyPr wrap="square" lIns="0" tIns="0" rIns="0" bIns="0" anchor="t">
            <a:spAutoFit/>
          </a:bodyPr>
          <a:lstStyle/>
          <a:p>
            <a:pPr algn="l">
              <a:lnSpc>
                <a:spcPct val="110000"/>
              </a:lnSpc>
              <a:spcBef>
                <a:spcPts val="0"/>
              </a:spcBef>
              <a:spcAft>
                <a:spcPts val="300"/>
              </a:spcAft>
            </a:pPr>
            <a:r>
              <a:rPr lang="es-ES" sz="950" b="1" i="0" noProof="0" dirty="0">
                <a:solidFill>
                  <a:srgbClr val="4A5568"/>
                </a:solidFill>
                <a:latin typeface="Arial"/>
              </a:rPr>
              <a:t>COSTO EVITADO</a:t>
            </a:r>
          </a:p>
        </p:txBody>
      </p:sp>
      <p:sp>
        <p:nvSpPr>
          <p:cNvPr id="19" name="Rectangle 18"/>
          <p:cNvSpPr/>
          <p:nvPr/>
        </p:nvSpPr>
        <p:spPr>
          <a:xfrm>
            <a:off x="7242048" y="170078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0" name="Rectangle 19"/>
          <p:cNvSpPr/>
          <p:nvPr/>
        </p:nvSpPr>
        <p:spPr>
          <a:xfrm>
            <a:off x="7242048" y="170078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1" name="TextBox 20"/>
          <p:cNvSpPr txBox="1"/>
          <p:nvPr/>
        </p:nvSpPr>
        <p:spPr>
          <a:xfrm>
            <a:off x="7406640" y="174650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lang="es-ES" sz="1800" b="1" i="0" noProof="0" dirty="0">
                <a:solidFill>
                  <a:srgbClr val="C3094A"/>
                </a:solidFill>
                <a:latin typeface="Arial"/>
              </a:rPr>
              <a:t>US$ 3,31 M por año</a:t>
            </a:r>
          </a:p>
          <a:p>
            <a:pPr algn="l">
              <a:lnSpc>
                <a:spcPct val="105000"/>
              </a:lnSpc>
              <a:spcBef>
                <a:spcPts val="0"/>
              </a:spcBef>
              <a:spcAft>
                <a:spcPts val="0"/>
              </a:spcAft>
            </a:pPr>
            <a:r>
              <a:rPr lang="es-ES" sz="900" b="0" i="0" noProof="0" dirty="0">
                <a:solidFill>
                  <a:srgbClr val="4A5568"/>
                </a:solidFill>
                <a:latin typeface="Arial"/>
              </a:rPr>
              <a:t>costo evitado: 4,33 eventos/año × US$ 763 393 de evaluación y reparación mayor del motor</a:t>
            </a:r>
          </a:p>
        </p:txBody>
      </p:sp>
      <p:sp>
        <p:nvSpPr>
          <p:cNvPr id="22" name="Rectangle 21"/>
          <p:cNvSpPr/>
          <p:nvPr/>
        </p:nvSpPr>
        <p:spPr>
          <a:xfrm>
            <a:off x="7242048" y="279806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3" name="Rectangle 22"/>
          <p:cNvSpPr/>
          <p:nvPr/>
        </p:nvSpPr>
        <p:spPr>
          <a:xfrm>
            <a:off x="7242048" y="279806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4" name="TextBox 23"/>
          <p:cNvSpPr txBox="1"/>
          <p:nvPr/>
        </p:nvSpPr>
        <p:spPr>
          <a:xfrm>
            <a:off x="7406640" y="284378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lang="es-ES" sz="1800" b="1" i="0" noProof="0" dirty="0">
                <a:solidFill>
                  <a:srgbClr val="C3094A"/>
                </a:solidFill>
                <a:latin typeface="Arial"/>
              </a:rPr>
              <a:t>13 eventos</a:t>
            </a:r>
          </a:p>
          <a:p>
            <a:pPr algn="l">
              <a:lnSpc>
                <a:spcPct val="105000"/>
              </a:lnSpc>
              <a:spcBef>
                <a:spcPts val="0"/>
              </a:spcBef>
              <a:spcAft>
                <a:spcPts val="0"/>
              </a:spcAft>
            </a:pPr>
            <a:r>
              <a:rPr lang="es-ES" sz="900" b="0" i="0" noProof="0" dirty="0">
                <a:solidFill>
                  <a:srgbClr val="4A5568"/>
                </a:solidFill>
                <a:latin typeface="Arial"/>
              </a:rPr>
              <a:t>en 36 meses; cada uno exigió la misma reparación mayor</a:t>
            </a:r>
          </a:p>
        </p:txBody>
      </p:sp>
      <p:sp>
        <p:nvSpPr>
          <p:cNvPr id="25" name="Rectangle 24"/>
          <p:cNvSpPr/>
          <p:nvPr/>
        </p:nvSpPr>
        <p:spPr>
          <a:xfrm>
            <a:off x="7242048" y="3895344"/>
            <a:ext cx="4114800"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6" name="Rectangle 25"/>
          <p:cNvSpPr/>
          <p:nvPr/>
        </p:nvSpPr>
        <p:spPr>
          <a:xfrm>
            <a:off x="7242048" y="3895344"/>
            <a:ext cx="4114800"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7" name="TextBox 26"/>
          <p:cNvSpPr txBox="1"/>
          <p:nvPr/>
        </p:nvSpPr>
        <p:spPr>
          <a:xfrm>
            <a:off x="7406640" y="3941064"/>
            <a:ext cx="3840480" cy="923544"/>
          </a:xfrm>
          <a:prstGeom prst="rect">
            <a:avLst/>
          </a:prstGeom>
          <a:noFill/>
        </p:spPr>
        <p:txBody>
          <a:bodyPr wrap="square" lIns="0" tIns="0" rIns="0" bIns="0" anchor="ctr">
            <a:spAutoFit/>
          </a:bodyPr>
          <a:lstStyle/>
          <a:p>
            <a:pPr algn="l">
              <a:lnSpc>
                <a:spcPct val="100000"/>
              </a:lnSpc>
              <a:spcBef>
                <a:spcPts val="0"/>
              </a:spcBef>
              <a:spcAft>
                <a:spcPts val="300"/>
              </a:spcAft>
            </a:pPr>
            <a:r>
              <a:rPr lang="es-ES" sz="1800" b="1" i="0" noProof="0" dirty="0">
                <a:solidFill>
                  <a:srgbClr val="C3094A"/>
                </a:solidFill>
                <a:latin typeface="Arial"/>
              </a:rPr>
              <a:t>1,30 : 1</a:t>
            </a:r>
          </a:p>
          <a:p>
            <a:pPr algn="l">
              <a:lnSpc>
                <a:spcPct val="105000"/>
              </a:lnSpc>
              <a:spcBef>
                <a:spcPts val="0"/>
              </a:spcBef>
              <a:spcAft>
                <a:spcPts val="0"/>
              </a:spcAft>
            </a:pPr>
            <a:r>
              <a:rPr lang="es-ES" sz="900" b="0" i="0" noProof="0" dirty="0">
                <a:solidFill>
                  <a:srgbClr val="4A5568"/>
                </a:solidFill>
                <a:latin typeface="Arial"/>
              </a:rPr>
              <a:t>la sustitución cíclica descartada costaría US$ 4,3 M/año frente a los US$ 3,31 M evitados</a:t>
            </a:r>
          </a:p>
        </p:txBody>
      </p:sp>
      <p:sp>
        <p:nvSpPr>
          <p:cNvPr id="28" name="Rectangle 2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 noProof="0" dirty="0"/>
          </a:p>
        </p:txBody>
      </p:sp>
      <p:sp>
        <p:nvSpPr>
          <p:cNvPr id="29" name="TextBox 2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300"/>
              </a:spcAft>
            </a:pPr>
            <a:r>
              <a:rPr lang="es-ES" sz="1150" b="1" i="0" noProof="0" dirty="0">
                <a:solidFill>
                  <a:srgbClr val="042354"/>
                </a:solidFill>
                <a:latin typeface="Arial"/>
              </a:rPr>
              <a:t>Disponibilidad de 90,6 % a 93,6 % (meta 91,0 %) y MTBF de 60,5 h a 108,4 h (meta 64,5 h): en 2025 la flota cumple por primera vez ambos compromisos; el MTTR, 3,3 h, sigue dentro del límite de 4,0 h.</a:t>
            </a:r>
          </a:p>
        </p:txBody>
      </p:sp>
      <p:sp>
        <p:nvSpPr>
          <p:cNvPr id="30" name="TextBox 29"/>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4.4 · RECUPERACIÓN DE INDICADORES Y COSTO EVITADO  |  ETAPA 4 · VERIFICACIÓN DE LA FLOTA</a:t>
            </a:r>
          </a:p>
        </p:txBody>
      </p:sp>
      <p:sp>
        <p:nvSpPr>
          <p:cNvPr id="31" name="Tracker etapa"/>
          <p:cNvSpPr txBox="1"/>
          <p:nvPr/>
        </p:nvSpPr>
        <p:spPr>
          <a:xfrm>
            <a:off x="841248" y="6062472"/>
            <a:ext cx="5029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ETAPA</a:t>
            </a:r>
          </a:p>
        </p:txBody>
      </p:sp>
      <p:sp>
        <p:nvSpPr>
          <p:cNvPr id="32" name="Tracker E1"/>
          <p:cNvSpPr/>
          <p:nvPr/>
        </p:nvSpPr>
        <p:spPr>
          <a:xfrm>
            <a:off x="133502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3" name="Tracker E2"/>
          <p:cNvSpPr/>
          <p:nvPr/>
        </p:nvSpPr>
        <p:spPr>
          <a:xfrm>
            <a:off x="160934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4" name="Tracker E3"/>
          <p:cNvSpPr/>
          <p:nvPr/>
        </p:nvSpPr>
        <p:spPr>
          <a:xfrm>
            <a:off x="1883664"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35" name="Tracker E4"/>
          <p:cNvSpPr/>
          <p:nvPr/>
        </p:nvSpPr>
        <p:spPr>
          <a:xfrm>
            <a:off x="2157984" y="6062472"/>
            <a:ext cx="237744" cy="237744"/>
          </a:xfrm>
          <a:prstGeom prst="roundRect">
            <a:avLst>
              <a:gd name="adj" fmla="val 18000"/>
            </a:avLst>
          </a:prstGeom>
          <a:solidFill>
            <a:srgbClr val="16C78E"/>
          </a:solidFill>
          <a:ln>
            <a:no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042354"/>
                </a:solidFill>
                <a:latin typeface="Arial"/>
                <a:cs typeface="Arial"/>
              </a:rPr>
              <a:t>4</a:t>
            </a:r>
          </a:p>
        </p:txBody>
      </p:sp>
      <p:sp>
        <p:nvSpPr>
          <p:cNvPr id="36" name="Tracker pregunta"/>
          <p:cNvSpPr txBox="1"/>
          <p:nvPr/>
        </p:nvSpPr>
        <p:spPr>
          <a:xfrm>
            <a:off x="2505456" y="6062472"/>
            <a:ext cx="1188720" cy="23774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750" b="1" i="0" dirty="0">
                <a:solidFill>
                  <a:srgbClr val="9FB3D9"/>
                </a:solidFill>
                <a:latin typeface="Arial"/>
                <a:cs typeface="Arial"/>
              </a:rPr>
              <a:t>PREGUNTA SAE JA1011</a:t>
            </a:r>
          </a:p>
        </p:txBody>
      </p:sp>
      <p:sp>
        <p:nvSpPr>
          <p:cNvPr id="37" name="Tracker P1"/>
          <p:cNvSpPr/>
          <p:nvPr/>
        </p:nvSpPr>
        <p:spPr>
          <a:xfrm>
            <a:off x="37673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1</a:t>
            </a:r>
          </a:p>
        </p:txBody>
      </p:sp>
      <p:sp>
        <p:nvSpPr>
          <p:cNvPr id="38" name="Tracker P2"/>
          <p:cNvSpPr/>
          <p:nvPr/>
        </p:nvSpPr>
        <p:spPr>
          <a:xfrm>
            <a:off x="40416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2</a:t>
            </a:r>
          </a:p>
        </p:txBody>
      </p:sp>
      <p:sp>
        <p:nvSpPr>
          <p:cNvPr id="39" name="Tracker P3"/>
          <p:cNvSpPr/>
          <p:nvPr/>
        </p:nvSpPr>
        <p:spPr>
          <a:xfrm>
            <a:off x="431596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3</a:t>
            </a:r>
          </a:p>
        </p:txBody>
      </p:sp>
      <p:sp>
        <p:nvSpPr>
          <p:cNvPr id="40" name="Tracker P4"/>
          <p:cNvSpPr/>
          <p:nvPr/>
        </p:nvSpPr>
        <p:spPr>
          <a:xfrm>
            <a:off x="459028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4</a:t>
            </a:r>
          </a:p>
        </p:txBody>
      </p:sp>
      <p:sp>
        <p:nvSpPr>
          <p:cNvPr id="41" name="Tracker P5"/>
          <p:cNvSpPr/>
          <p:nvPr/>
        </p:nvSpPr>
        <p:spPr>
          <a:xfrm>
            <a:off x="486460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5</a:t>
            </a:r>
          </a:p>
        </p:txBody>
      </p:sp>
      <p:sp>
        <p:nvSpPr>
          <p:cNvPr id="42" name="Tracker P6"/>
          <p:cNvSpPr/>
          <p:nvPr/>
        </p:nvSpPr>
        <p:spPr>
          <a:xfrm>
            <a:off x="513892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6</a:t>
            </a:r>
          </a:p>
        </p:txBody>
      </p:sp>
      <p:sp>
        <p:nvSpPr>
          <p:cNvPr id="43" name="Tracker P7"/>
          <p:cNvSpPr/>
          <p:nvPr/>
        </p:nvSpPr>
        <p:spPr>
          <a:xfrm>
            <a:off x="5413248" y="6062472"/>
            <a:ext cx="237744" cy="237744"/>
          </a:xfrm>
          <a:prstGeom prst="roundRect">
            <a:avLst>
              <a:gd name="adj" fmla="val 18000"/>
            </a:avLst>
          </a:prstGeom>
          <a:noFill/>
          <a:ln w="9525">
            <a:solidFill>
              <a:srgbClr val="5B6E91"/>
            </a:solidFill>
          </a:ln>
          <a:effectLst/>
        </p:spPr>
        <p:txBody>
          <a:bodyPr wrap="square" lIns="0" tIns="0" rIns="0" bIns="0" rtlCol="0" anchor="ctr">
            <a:noAutofit/>
          </a:bodyPr>
          <a:lstStyle/>
          <a:p>
            <a:pPr algn="ctr" marL="0" indent="0">
              <a:lnSpc>
                <a:spcPct val="100000"/>
              </a:lnSpc>
              <a:spcBef>
                <a:spcPts val="0"/>
              </a:spcBef>
              <a:spcAft>
                <a:spcPts val="0"/>
              </a:spcAft>
              <a:buNone/>
            </a:pPr>
            <a:r>
              <a:rPr lang="es-PE" sz="800" b="1" i="0" dirty="0">
                <a:solidFill>
                  <a:srgbClr val="9FB3D9"/>
                </a:solidFill>
                <a:latin typeface="Arial"/>
                <a:cs typeface="Arial"/>
              </a:rPr>
              <a:t>7</a:t>
            </a:r>
          </a:p>
        </p:txBody>
      </p:sp>
      <p:sp>
        <p:nvSpPr>
          <p:cNvPr id="44" name="Tracker bloque"/>
          <p:cNvSpPr txBox="1"/>
          <p:nvPr/>
        </p:nvSpPr>
        <p:spPr>
          <a:xfrm>
            <a:off x="5888736" y="6044184"/>
            <a:ext cx="3291840" cy="274320"/>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900" b="1" i="0" dirty="0">
                <a:solidFill>
                  <a:srgbClr val="16C78E"/>
                </a:solidFill>
                <a:latin typeface="Arial"/>
                <a:cs typeface="Arial"/>
              </a:rPr>
              <a:t>4.4 RECUPERACIÓN Y COSTO EVITADO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ES" sz="2200" b="1" i="0" noProof="0" dirty="0">
                <a:solidFill>
                  <a:srgbClr val="042354"/>
                </a:solidFill>
                <a:latin typeface="Arial"/>
              </a:rPr>
              <a:t>Conclusiones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ES" sz="1100" b="1" i="0" noProof="0" dirty="0">
                <a:solidFill>
                  <a:srgbClr val="FFFFFF"/>
                </a:solidFill>
                <a:latin typeface="Arial"/>
              </a:rPr>
              <a:t>21</a:t>
            </a:r>
          </a:p>
        </p:txBody>
      </p:sp>
      <p:pic>
        <p:nvPicPr>
          <p:cNvPr id="24" name="Imagen 23">
            <a:extLst>
              <a:ext uri="{FF2B5EF4-FFF2-40B4-BE49-F238E27FC236}">
                <a16:creationId xmlns:a16="http://schemas.microsoft.com/office/drawing/2014/main" id="{16E0653B-9B52-4D58-64D8-892AD9593C17}"/>
              </a:ext>
            </a:extLst>
          </p:cNvPr>
          <p:cNvPicPr>
            <a:picLocks noChangeAspect="1"/>
          </p:cNvPicPr>
          <p:nvPr/>
        </p:nvPicPr>
        <p:blipFill>
          <a:blip r:embed="rId2"/>
          <a:stretch>
            <a:fillRect/>
          </a:stretch>
        </p:blipFill>
        <p:spPr>
          <a:xfrm>
            <a:off x="158617" y="5943600"/>
            <a:ext cx="5620013" cy="550672"/>
          </a:xfrm>
          <a:prstGeom prst="rect">
            <a:avLst/>
          </a:prstGeom>
        </p:spPr>
      </p:pic>
      <p:sp>
        <p:nvSpPr>
          <p:cNvPr id="25" name="TextBox 24"/>
          <p:cNvSpPr txBox="1"/>
          <p:nvPr/>
        </p:nvSpPr>
        <p:spPr>
          <a:xfrm>
            <a:off x="841248" y="128016"/>
            <a:ext cx="10515600" cy="201168"/>
          </a:xfrm>
          <a:prstGeom prst="rect">
            <a:avLst/>
          </a:prstGeom>
          <a:noFill/>
        </p:spPr>
        <p:txBody>
          <a:bodyPr wrap="square" lIns="0" tIns="0" rIns="0" bIns="0" anchor="t">
            <a:spAutoFit/>
          </a:bodyPr>
          <a:lstStyle/>
          <a:p>
            <a:pPr algn="l">
              <a:lnSpc>
                <a:spcPct val="110000"/>
              </a:lnSpc>
              <a:spcBef>
                <a:spcPts val="0"/>
              </a:spcBef>
              <a:spcAft>
                <a:spcPts val="0"/>
              </a:spcAft>
            </a:pPr>
            <a:r>
              <a:rPr lang="es-ES" sz="900" b="1" i="0" noProof="0" dirty="0">
                <a:solidFill>
                  <a:srgbClr val="C3094A"/>
                </a:solidFill>
                <a:latin typeface="Arial"/>
              </a:rPr>
              <a:t>05 · CONCLUSIONES</a:t>
            </a:r>
          </a:p>
        </p:txBody>
      </p:sp>
      <p:sp>
        <p:nvSpPr>
          <p:cNvPr id="26" name="General"/>
          <p:cNvSpPr/>
          <p:nvPr/>
        </p:nvSpPr>
        <p:spPr>
          <a:xfrm>
            <a:off x="841248" y="1389888"/>
            <a:ext cx="10515600" cy="950976"/>
          </a:xfrm>
          <a:prstGeom prst="rect">
            <a:avLst/>
          </a:prstGeom>
          <a:solidFill>
            <a:srgbClr val="04235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27" name="General txt"/>
          <p:cNvSpPr txBox="1"/>
          <p:nvPr/>
        </p:nvSpPr>
        <p:spPr>
          <a:xfrm>
            <a:off x="1060704" y="1517904"/>
            <a:ext cx="4160520" cy="731520"/>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400"/>
              </a:spcAft>
              <a:buNone/>
            </a:pPr>
            <a:r>
              <a:rPr lang="es-PE" sz="900" b="1" i="0" dirty="0">
                <a:solidFill>
                  <a:srgbClr val="16C78E"/>
                </a:solidFill>
                <a:latin typeface="Arial"/>
                <a:cs typeface="Arial"/>
              </a:rPr>
              <a:t>CONCLUSIÓN GENERAL</a:t>
            </a:r>
          </a:p>
          <a:p>
            <a:pPr algn="l" marL="0" indent="0">
              <a:lnSpc>
                <a:spcPct val="108000"/>
              </a:lnSpc>
              <a:spcBef>
                <a:spcPts val="0"/>
              </a:spcBef>
              <a:spcAft>
                <a:spcPts val="0"/>
              </a:spcAft>
              <a:buNone/>
            </a:pPr>
            <a:r>
              <a:rPr lang="es-PE" sz="1300" b="1" i="0" dirty="0">
                <a:solidFill>
                  <a:srgbClr val="FFFFFF"/>
                </a:solidFill>
                <a:latin typeface="Arial"/>
                <a:cs typeface="Arial"/>
              </a:rPr>
              <a:t>Se eliminó la fractura del eje palier y la flota recuperó sus indicadores contractuales.</a:t>
            </a:r>
          </a:p>
        </p:txBody>
      </p:sp>
      <p:sp>
        <p:nvSpPr>
          <p:cNvPr id="28" name="Stat 0"/>
          <p:cNvSpPr txBox="1"/>
          <p:nvPr/>
        </p:nvSpPr>
        <p:spPr>
          <a:xfrm>
            <a:off x="5413248" y="1554480"/>
            <a:ext cx="1920240" cy="6766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800" b="1" i="0" dirty="0">
                <a:solidFill>
                  <a:srgbClr val="B9C6DC"/>
                </a:solidFill>
                <a:latin typeface="Arial"/>
                <a:cs typeface="Arial"/>
              </a:rPr>
              <a:t>DISPONIBILIDAD · 2024 → 2025</a:t>
            </a:r>
          </a:p>
          <a:p>
            <a:pPr algn="l" marL="0" indent="0">
              <a:lnSpc>
                <a:spcPct val="100000"/>
              </a:lnSpc>
              <a:spcBef>
                <a:spcPts val="0"/>
              </a:spcBef>
              <a:spcAft>
                <a:spcPts val="200"/>
              </a:spcAft>
              <a:buNone/>
            </a:pPr>
            <a:r>
              <a:rPr lang="es-PE" sz="1500" b="1" i="0" dirty="0">
                <a:solidFill>
                  <a:srgbClr val="FFFFFF"/>
                </a:solidFill>
                <a:latin typeface="Arial"/>
                <a:cs typeface="Arial"/>
              </a:rPr>
              <a:t>90,6 % → 93,6 %</a:t>
            </a:r>
          </a:p>
          <a:p>
            <a:pPr algn="l" marL="0" indent="0">
              <a:lnSpc>
                <a:spcPct val="100000"/>
              </a:lnSpc>
              <a:spcBef>
                <a:spcPts val="0"/>
              </a:spcBef>
              <a:spcAft>
                <a:spcPts val="0"/>
              </a:spcAft>
              <a:buNone/>
            </a:pPr>
            <a:r>
              <a:rPr lang="es-PE" sz="900" b="0" i="0" dirty="0">
                <a:solidFill>
                  <a:srgbClr val="B9C6DC"/>
                </a:solidFill>
                <a:latin typeface="Arial"/>
                <a:cs typeface="Arial"/>
              </a:rPr>
              <a:t>meta 91,0 %</a:t>
            </a:r>
          </a:p>
        </p:txBody>
      </p:sp>
      <p:sp>
        <p:nvSpPr>
          <p:cNvPr id="29" name="Stat 1"/>
          <p:cNvSpPr txBox="1"/>
          <p:nvPr/>
        </p:nvSpPr>
        <p:spPr>
          <a:xfrm>
            <a:off x="7406640" y="1554480"/>
            <a:ext cx="1920240" cy="6766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800" b="1" i="0" dirty="0">
                <a:solidFill>
                  <a:srgbClr val="B9C6DC"/>
                </a:solidFill>
                <a:latin typeface="Arial"/>
                <a:cs typeface="Arial"/>
              </a:rPr>
              <a:t>MTBF · 2024 → 2025</a:t>
            </a:r>
          </a:p>
          <a:p>
            <a:pPr algn="l" marL="0" indent="0">
              <a:lnSpc>
                <a:spcPct val="100000"/>
              </a:lnSpc>
              <a:spcBef>
                <a:spcPts val="0"/>
              </a:spcBef>
              <a:spcAft>
                <a:spcPts val="200"/>
              </a:spcAft>
              <a:buNone/>
            </a:pPr>
            <a:r>
              <a:rPr lang="es-PE" sz="1500" b="1" i="0" dirty="0">
                <a:solidFill>
                  <a:srgbClr val="FFFFFF"/>
                </a:solidFill>
                <a:latin typeface="Arial"/>
                <a:cs typeface="Arial"/>
              </a:rPr>
              <a:t>60,5 h → 108,4 h</a:t>
            </a:r>
          </a:p>
          <a:p>
            <a:pPr algn="l" marL="0" indent="0">
              <a:lnSpc>
                <a:spcPct val="100000"/>
              </a:lnSpc>
              <a:spcBef>
                <a:spcPts val="0"/>
              </a:spcBef>
              <a:spcAft>
                <a:spcPts val="0"/>
              </a:spcAft>
              <a:buNone/>
            </a:pPr>
            <a:r>
              <a:rPr lang="es-PE" sz="900" b="0" i="0" dirty="0">
                <a:solidFill>
                  <a:srgbClr val="B9C6DC"/>
                </a:solidFill>
                <a:latin typeface="Arial"/>
                <a:cs typeface="Arial"/>
              </a:rPr>
              <a:t>meta 64,5 h</a:t>
            </a:r>
          </a:p>
        </p:txBody>
      </p:sp>
      <p:sp>
        <p:nvSpPr>
          <p:cNvPr id="30" name="Stat 2"/>
          <p:cNvSpPr txBox="1"/>
          <p:nvPr/>
        </p:nvSpPr>
        <p:spPr>
          <a:xfrm>
            <a:off x="9400032" y="1554480"/>
            <a:ext cx="1920240" cy="676656"/>
          </a:xfrm>
          <a:prstGeom prst="rect">
            <a:avLst/>
          </a:prstGeom>
          <a:noFill/>
          <a:ln>
            <a:noFill/>
          </a:ln>
          <a:effectLst/>
        </p:spPr>
        <p:txBody>
          <a:bodyPr wrap="square" lIns="0" tIns="0" rIns="0" bIns="0" rtlCol="0" anchor="t">
            <a:noAutofit/>
          </a:bodyPr>
          <a:lstStyle/>
          <a:p>
            <a:pPr algn="l" marL="0" indent="0">
              <a:lnSpc>
                <a:spcPct val="100000"/>
              </a:lnSpc>
              <a:spcBef>
                <a:spcPts val="0"/>
              </a:spcBef>
              <a:spcAft>
                <a:spcPts val="300"/>
              </a:spcAft>
              <a:buNone/>
            </a:pPr>
            <a:r>
              <a:rPr lang="es-PE" sz="800" b="1" i="0" dirty="0">
                <a:solidFill>
                  <a:srgbClr val="B9C6DC"/>
                </a:solidFill>
                <a:latin typeface="Arial"/>
                <a:cs typeface="Arial"/>
              </a:rPr>
              <a:t>MTTR · 2025</a:t>
            </a:r>
          </a:p>
          <a:p>
            <a:pPr algn="l" marL="0" indent="0">
              <a:lnSpc>
                <a:spcPct val="100000"/>
              </a:lnSpc>
              <a:spcBef>
                <a:spcPts val="0"/>
              </a:spcBef>
              <a:spcAft>
                <a:spcPts val="200"/>
              </a:spcAft>
              <a:buNone/>
            </a:pPr>
            <a:r>
              <a:rPr lang="es-PE" sz="1500" b="1" i="0" dirty="0">
                <a:solidFill>
                  <a:srgbClr val="FFFFFF"/>
                </a:solidFill>
                <a:latin typeface="Arial"/>
                <a:cs typeface="Arial"/>
              </a:rPr>
              <a:t>3,3 h</a:t>
            </a:r>
          </a:p>
          <a:p>
            <a:pPr algn="l" marL="0" indent="0">
              <a:lnSpc>
                <a:spcPct val="100000"/>
              </a:lnSpc>
              <a:spcBef>
                <a:spcPts val="0"/>
              </a:spcBef>
              <a:spcAft>
                <a:spcPts val="0"/>
              </a:spcAft>
              <a:buNone/>
            </a:pPr>
            <a:r>
              <a:rPr lang="es-PE" sz="900" b="0" i="0" dirty="0">
                <a:solidFill>
                  <a:srgbClr val="B9C6DC"/>
                </a:solidFill>
                <a:latin typeface="Arial"/>
                <a:cs typeface="Arial"/>
              </a:rPr>
              <a:t>dentro del límite de 4,0 h</a:t>
            </a:r>
          </a:p>
        </p:txBody>
      </p:sp>
      <p:sp>
        <p:nvSpPr>
          <p:cNvPr id="31" name="OE1 fondo"/>
          <p:cNvSpPr/>
          <p:nvPr/>
        </p:nvSpPr>
        <p:spPr>
          <a:xfrm>
            <a:off x="841248" y="2468880"/>
            <a:ext cx="10515600" cy="603504"/>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32" name="OE1 barra"/>
          <p:cNvSpPr/>
          <p:nvPr/>
        </p:nvSpPr>
        <p:spPr>
          <a:xfrm>
            <a:off x="841248" y="2468880"/>
            <a:ext cx="45720" cy="603504"/>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33" name="OE1 label"/>
          <p:cNvSpPr txBox="1"/>
          <p:nvPr/>
        </p:nvSpPr>
        <p:spPr>
          <a:xfrm>
            <a:off x="1042416" y="2468880"/>
            <a:ext cx="566928" cy="60350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1400" b="1" i="0" dirty="0">
                <a:solidFill>
                  <a:srgbClr val="C3094A"/>
                </a:solidFill>
                <a:latin typeface="Arial"/>
                <a:cs typeface="Arial"/>
              </a:rPr>
              <a:t>OE1</a:t>
            </a:r>
          </a:p>
        </p:txBody>
      </p:sp>
      <p:sp>
        <p:nvSpPr>
          <p:cNvPr id="34" name="OE1 txt"/>
          <p:cNvSpPr txBox="1"/>
          <p:nvPr/>
        </p:nvSpPr>
        <p:spPr>
          <a:xfrm>
            <a:off x="1682496" y="2468880"/>
            <a:ext cx="9509760" cy="603504"/>
          </a:xfrm>
          <a:prstGeom prst="rect">
            <a:avLst/>
          </a:prstGeom>
          <a:noFill/>
          <a:ln>
            <a:noFill/>
          </a:ln>
          <a:effectLst/>
        </p:spPr>
        <p:txBody>
          <a:bodyPr wrap="square" lIns="0" tIns="0" rIns="0" bIns="0" rtlCol="0" anchor="ctr">
            <a:noAutofit/>
          </a:bodyPr>
          <a:lstStyle/>
          <a:p>
            <a:pPr algn="l" marL="0" indent="0">
              <a:lnSpc>
                <a:spcPct val="110000"/>
              </a:lnSpc>
              <a:spcBef>
                <a:spcPts val="0"/>
              </a:spcBef>
              <a:spcAft>
                <a:spcPts val="0"/>
              </a:spcAft>
              <a:buNone/>
            </a:pPr>
            <a:r>
              <a:rPr lang="es-PE" sz="1050" b="0" i="0" dirty="0">
                <a:solidFill>
                  <a:srgbClr val="191919"/>
                </a:solidFill>
                <a:latin typeface="Arial"/>
                <a:cs typeface="Arial"/>
              </a:rPr>
              <a:t>La falla fue de diseño, en la unión soldada del eje palier: fractura por fatiga, 13 eventos entre 2022 y 2024. Restó </a:t>
            </a:r>
            <a:r>
              <a:rPr lang="es-PE" sz="1050" b="1" i="0" dirty="0">
                <a:solidFill>
                  <a:srgbClr val="042354"/>
                </a:solidFill>
                <a:latin typeface="Arial"/>
                <a:cs typeface="Arial"/>
              </a:rPr>
              <a:t>0,36 % de disponibilidad</a:t>
            </a:r>
            <a:r>
              <a:rPr lang="es-PE" sz="1050" b="0" i="0" dirty="0">
                <a:solidFill>
                  <a:srgbClr val="191919"/>
                </a:solidFill>
                <a:latin typeface="Arial"/>
                <a:cs typeface="Arial"/>
              </a:rPr>
              <a:t> a la flota (315 h/año de parada) y costó </a:t>
            </a:r>
            <a:r>
              <a:rPr lang="es-PE" sz="1050" b="1" i="0" dirty="0">
                <a:solidFill>
                  <a:srgbClr val="042354"/>
                </a:solidFill>
                <a:latin typeface="Arial"/>
                <a:cs typeface="Arial"/>
              </a:rPr>
              <a:t>US$ 3,31 M por año</a:t>
            </a:r>
            <a:r>
              <a:rPr lang="es-PE" sz="1050" b="0" i="0" dirty="0">
                <a:solidFill>
                  <a:srgbClr val="191919"/>
                </a:solidFill>
                <a:latin typeface="Arial"/>
                <a:cs typeface="Arial"/>
              </a:rPr>
              <a:t> en mantenimiento.</a:t>
            </a:r>
          </a:p>
        </p:txBody>
      </p:sp>
      <p:sp>
        <p:nvSpPr>
          <p:cNvPr id="35" name="OE2 fondo"/>
          <p:cNvSpPr/>
          <p:nvPr/>
        </p:nvSpPr>
        <p:spPr>
          <a:xfrm>
            <a:off x="841248" y="3136392"/>
            <a:ext cx="10515600" cy="78638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36" name="OE2 barra"/>
          <p:cNvSpPr/>
          <p:nvPr/>
        </p:nvSpPr>
        <p:spPr>
          <a:xfrm>
            <a:off x="841248" y="3136392"/>
            <a:ext cx="45720" cy="786384"/>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37" name="OE2 label"/>
          <p:cNvSpPr txBox="1"/>
          <p:nvPr/>
        </p:nvSpPr>
        <p:spPr>
          <a:xfrm>
            <a:off x="1042416" y="3136392"/>
            <a:ext cx="566928" cy="78638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1400" b="1" i="0" dirty="0">
                <a:solidFill>
                  <a:srgbClr val="C3094A"/>
                </a:solidFill>
                <a:latin typeface="Arial"/>
                <a:cs typeface="Arial"/>
              </a:rPr>
              <a:t>OE2</a:t>
            </a:r>
          </a:p>
        </p:txBody>
      </p:sp>
      <p:sp>
        <p:nvSpPr>
          <p:cNvPr id="38" name="OE2 txt"/>
          <p:cNvSpPr txBox="1"/>
          <p:nvPr/>
        </p:nvSpPr>
        <p:spPr>
          <a:xfrm>
            <a:off x="1682496" y="3136392"/>
            <a:ext cx="9509760" cy="786384"/>
          </a:xfrm>
          <a:prstGeom prst="rect">
            <a:avLst/>
          </a:prstGeom>
          <a:noFill/>
          <a:ln>
            <a:noFill/>
          </a:ln>
          <a:effectLst/>
        </p:spPr>
        <p:txBody>
          <a:bodyPr wrap="square" lIns="0" tIns="0" rIns="0" bIns="0" rtlCol="0" anchor="ctr">
            <a:noAutofit/>
          </a:bodyPr>
          <a:lstStyle/>
          <a:p>
            <a:pPr algn="l" marL="0" indent="0">
              <a:lnSpc>
                <a:spcPct val="110000"/>
              </a:lnSpc>
              <a:spcBef>
                <a:spcPts val="0"/>
              </a:spcBef>
              <a:spcAft>
                <a:spcPts val="0"/>
              </a:spcAft>
              <a:buNone/>
            </a:pPr>
            <a:r>
              <a:rPr lang="es-PE" sz="1050" b="0" i="0" dirty="0">
                <a:solidFill>
                  <a:srgbClr val="191919"/>
                </a:solidFill>
                <a:latin typeface="Arial"/>
                <a:cs typeface="Arial"/>
              </a:rPr>
              <a:t>Se determinaron. Causa raíz latente: </a:t>
            </a:r>
            <a:r>
              <a:rPr lang="es-PE" sz="1050" b="1" i="0" dirty="0">
                <a:solidFill>
                  <a:srgbClr val="042354"/>
                </a:solidFill>
                <a:latin typeface="Arial"/>
                <a:cs typeface="Arial"/>
              </a:rPr>
              <a:t>no existía un mecanismo que convirtiera los hallazgos de los análisis de falla en un cambio de diseño</a:t>
            </a:r>
            <a:r>
              <a:rPr lang="es-PE" sz="1050" b="0" i="0" dirty="0">
                <a:solidFill>
                  <a:srgbClr val="191919"/>
                </a:solidFill>
                <a:latin typeface="Arial"/>
                <a:cs typeface="Arial"/>
              </a:rPr>
              <a:t>. Se manifestó en tres causas: (1) análisis de falla por evento, sin consolidar la recurrencia; (2) registro de paradas sin codificación propia de la falla; (3) recomendaciones sin responsable, plazo ni cierre verificado.</a:t>
            </a:r>
          </a:p>
        </p:txBody>
      </p:sp>
      <p:sp>
        <p:nvSpPr>
          <p:cNvPr id="39" name="OE3 fondo"/>
          <p:cNvSpPr/>
          <p:nvPr/>
        </p:nvSpPr>
        <p:spPr>
          <a:xfrm>
            <a:off x="841248" y="3986784"/>
            <a:ext cx="10515600" cy="786384"/>
          </a:xfrm>
          <a:prstGeom prst="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40" name="OE3 barra"/>
          <p:cNvSpPr/>
          <p:nvPr/>
        </p:nvSpPr>
        <p:spPr>
          <a:xfrm>
            <a:off x="841248" y="3986784"/>
            <a:ext cx="45720" cy="786384"/>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41" name="OE3 label"/>
          <p:cNvSpPr txBox="1"/>
          <p:nvPr/>
        </p:nvSpPr>
        <p:spPr>
          <a:xfrm>
            <a:off x="1042416" y="3986784"/>
            <a:ext cx="566928" cy="786384"/>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1400" b="1" i="0" dirty="0">
                <a:solidFill>
                  <a:srgbClr val="C3094A"/>
                </a:solidFill>
                <a:latin typeface="Arial"/>
                <a:cs typeface="Arial"/>
              </a:rPr>
              <a:t>OE3</a:t>
            </a:r>
          </a:p>
        </p:txBody>
      </p:sp>
      <p:sp>
        <p:nvSpPr>
          <p:cNvPr id="42" name="OE3 txt"/>
          <p:cNvSpPr txBox="1"/>
          <p:nvPr/>
        </p:nvSpPr>
        <p:spPr>
          <a:xfrm>
            <a:off x="1682496" y="3986784"/>
            <a:ext cx="9509760" cy="786384"/>
          </a:xfrm>
          <a:prstGeom prst="rect">
            <a:avLst/>
          </a:prstGeom>
          <a:noFill/>
          <a:ln>
            <a:noFill/>
          </a:ln>
          <a:effectLst/>
        </p:spPr>
        <p:txBody>
          <a:bodyPr wrap="square" lIns="0" tIns="0" rIns="0" bIns="0" rtlCol="0" anchor="ctr">
            <a:noAutofit/>
          </a:bodyPr>
          <a:lstStyle/>
          <a:p>
            <a:pPr algn="l" marL="0" indent="0">
              <a:lnSpc>
                <a:spcPct val="110000"/>
              </a:lnSpc>
              <a:spcBef>
                <a:spcPts val="0"/>
              </a:spcBef>
              <a:spcAft>
                <a:spcPts val="0"/>
              </a:spcAft>
              <a:buNone/>
            </a:pPr>
            <a:r>
              <a:rPr lang="es-PE" sz="1050" b="0" i="0" dirty="0">
                <a:solidFill>
                  <a:srgbClr val="191919"/>
                </a:solidFill>
                <a:latin typeface="Arial"/>
                <a:cs typeface="Arial"/>
              </a:rPr>
              <a:t>Se cambió el tipo de junta, de </a:t>
            </a:r>
            <a:r>
              <a:rPr lang="es-PE" sz="1050" b="1" i="0" dirty="0">
                <a:solidFill>
                  <a:srgbClr val="042354"/>
                </a:solidFill>
                <a:latin typeface="Arial"/>
                <a:cs typeface="Arial"/>
              </a:rPr>
              <a:t>penetración parcial a completa</a:t>
            </a:r>
            <a:r>
              <a:rPr lang="es-PE" sz="1050" b="0" i="0" dirty="0">
                <a:solidFill>
                  <a:srgbClr val="191919"/>
                </a:solidFill>
                <a:latin typeface="Arial"/>
                <a:cs typeface="Arial"/>
              </a:rPr>
              <a:t>, con pared de 0,75 a 1,00 in; se eliminó el concentrador de tensiones (</a:t>
            </a:r>
            <a:r>
              <a:rPr lang="es-PE" sz="1050" b="1" i="0" dirty="0">
                <a:solidFill>
                  <a:srgbClr val="042354"/>
                </a:solidFill>
                <a:latin typeface="Arial"/>
                <a:cs typeface="Arial"/>
              </a:rPr>
              <a:t>FS de 0,31 a 2,23</a:t>
            </a:r>
            <a:r>
              <a:rPr lang="es-PE" sz="1050" b="0" i="0" dirty="0">
                <a:solidFill>
                  <a:srgbClr val="191919"/>
                </a:solidFill>
                <a:latin typeface="Arial"/>
                <a:cs typeface="Arial"/>
              </a:rPr>
              <a:t>). Plan de acción: se planteó como acción "a falta de" del RCM, se elaboró la priorización por horómetro y se implementó en 2025 con control de configuración del P/N. En campo: </a:t>
            </a:r>
            <a:r>
              <a:rPr lang="es-PE" sz="1050" b="1" i="0" dirty="0">
                <a:solidFill>
                  <a:srgbClr val="042354"/>
                </a:solidFill>
                <a:latin typeface="Arial"/>
                <a:cs typeface="Arial"/>
              </a:rPr>
              <a:t>0 fracturas en 96 000 h</a:t>
            </a:r>
            <a:r>
              <a:rPr lang="es-PE" sz="1050" b="0" i="0" dirty="0">
                <a:solidFill>
                  <a:srgbClr val="191919"/>
                </a:solidFill>
                <a:latin typeface="Arial"/>
                <a:cs typeface="Arial"/>
              </a:rPr>
              <a:t>.</a:t>
            </a:r>
          </a:p>
        </p:txBody>
      </p:sp>
      <p:sp>
        <p:nvSpPr>
          <p:cNvPr id="43" name="OE4 fondo"/>
          <p:cNvSpPr/>
          <p:nvPr/>
        </p:nvSpPr>
        <p:spPr>
          <a:xfrm>
            <a:off x="841248" y="4837176"/>
            <a:ext cx="10515600" cy="56692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endParaRPr lang="es-PE" dirty="0"/>
          </a:p>
        </p:txBody>
      </p:sp>
      <p:sp>
        <p:nvSpPr>
          <p:cNvPr id="44" name="OE4 barra"/>
          <p:cNvSpPr/>
          <p:nvPr/>
        </p:nvSpPr>
        <p:spPr>
          <a:xfrm>
            <a:off x="841248" y="4837176"/>
            <a:ext cx="45720" cy="566928"/>
          </a:xfrm>
          <a:prstGeom prst="rect">
            <a:avLst/>
          </a:prstGeom>
          <a:solidFill>
            <a:srgbClr val="C3094A"/>
          </a:solidFill>
          <a:ln>
            <a:noFill/>
          </a:ln>
          <a:effectLst/>
        </p:spPr>
        <p:txBody>
          <a:bodyPr wrap="square" lIns="0" tIns="0" rIns="0" bIns="0" rtlCol="0" anchor="t">
            <a:noAutofit/>
          </a:bodyPr>
          <a:lstStyle/>
          <a:p>
            <a:endParaRPr lang="es-PE" dirty="0"/>
          </a:p>
        </p:txBody>
      </p:sp>
      <p:sp>
        <p:nvSpPr>
          <p:cNvPr id="45" name="OE4 label"/>
          <p:cNvSpPr txBox="1"/>
          <p:nvPr/>
        </p:nvSpPr>
        <p:spPr>
          <a:xfrm>
            <a:off x="1042416" y="4837176"/>
            <a:ext cx="566928" cy="566928"/>
          </a:xfrm>
          <a:prstGeom prst="rect">
            <a:avLst/>
          </a:prstGeom>
          <a:noFill/>
          <a:ln>
            <a:noFill/>
          </a:ln>
          <a:effectLst/>
        </p:spPr>
        <p:txBody>
          <a:bodyPr wrap="square" lIns="0" tIns="0" rIns="0" bIns="0" rtlCol="0" anchor="ctr">
            <a:noAutofit/>
          </a:bodyPr>
          <a:lstStyle/>
          <a:p>
            <a:pPr algn="l" marL="0" indent="0">
              <a:lnSpc>
                <a:spcPct val="100000"/>
              </a:lnSpc>
              <a:spcBef>
                <a:spcPts val="0"/>
              </a:spcBef>
              <a:spcAft>
                <a:spcPts val="0"/>
              </a:spcAft>
              <a:buNone/>
            </a:pPr>
            <a:r>
              <a:rPr lang="es-PE" sz="1400" b="1" i="0" dirty="0">
                <a:solidFill>
                  <a:srgbClr val="C3094A"/>
                </a:solidFill>
                <a:latin typeface="Arial"/>
                <a:cs typeface="Arial"/>
              </a:rPr>
              <a:t>OE4</a:t>
            </a:r>
          </a:p>
        </p:txBody>
      </p:sp>
      <p:sp>
        <p:nvSpPr>
          <p:cNvPr id="46" name="OE4 txt"/>
          <p:cNvSpPr txBox="1"/>
          <p:nvPr/>
        </p:nvSpPr>
        <p:spPr>
          <a:xfrm>
            <a:off x="1682496" y="4837176"/>
            <a:ext cx="9509760" cy="566928"/>
          </a:xfrm>
          <a:prstGeom prst="rect">
            <a:avLst/>
          </a:prstGeom>
          <a:noFill/>
          <a:ln>
            <a:noFill/>
          </a:ln>
          <a:effectLst/>
        </p:spPr>
        <p:txBody>
          <a:bodyPr wrap="square" lIns="0" tIns="0" rIns="0" bIns="0" rtlCol="0" anchor="ctr">
            <a:noAutofit/>
          </a:bodyPr>
          <a:lstStyle/>
          <a:p>
            <a:pPr algn="l" marL="0" indent="0">
              <a:lnSpc>
                <a:spcPct val="110000"/>
              </a:lnSpc>
              <a:spcBef>
                <a:spcPts val="0"/>
              </a:spcBef>
              <a:spcAft>
                <a:spcPts val="0"/>
              </a:spcAft>
              <a:buNone/>
            </a:pPr>
            <a:r>
              <a:rPr lang="es-PE" sz="1050" b="0" i="0" dirty="0">
                <a:solidFill>
                  <a:srgbClr val="191919"/>
                </a:solidFill>
                <a:latin typeface="Arial"/>
                <a:cs typeface="Arial"/>
              </a:rPr>
              <a:t>Costo evitado: </a:t>
            </a:r>
            <a:r>
              <a:rPr lang="es-PE" sz="1050" b="1" i="0" dirty="0">
                <a:solidFill>
                  <a:srgbClr val="042354"/>
                </a:solidFill>
                <a:latin typeface="Arial"/>
                <a:cs typeface="Arial"/>
              </a:rPr>
              <a:t>US$ 3,31 M por año</a:t>
            </a:r>
            <a:r>
              <a:rPr lang="es-PE" sz="1050" b="0" i="0" dirty="0">
                <a:solidFill>
                  <a:srgbClr val="191919"/>
                </a:solidFill>
                <a:latin typeface="Arial"/>
                <a:cs typeface="Arial"/>
              </a:rPr>
              <a:t> (13 eventos × US$ 763 393 en 36 meses), frente a US$ 4,3 M/año que habría costado la sustitución cíclica.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3" name="Rectangle 2"/>
          <p:cNvSpPr/>
          <p:nvPr/>
        </p:nvSpPr>
        <p:spPr>
          <a:xfrm>
            <a:off x="841248" y="2834640"/>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ES" noProof="0" dirty="0"/>
          </a:p>
        </p:txBody>
      </p:sp>
      <p:sp>
        <p:nvSpPr>
          <p:cNvPr id="4" name="TextBox 3"/>
          <p:cNvSpPr txBox="1"/>
          <p:nvPr/>
        </p:nvSpPr>
        <p:spPr>
          <a:xfrm>
            <a:off x="841248" y="3127248"/>
            <a:ext cx="10515600" cy="914400"/>
          </a:xfrm>
          <a:prstGeom prst="rect">
            <a:avLst/>
          </a:prstGeom>
          <a:noFill/>
        </p:spPr>
        <p:txBody>
          <a:bodyPr wrap="square" lIns="0" tIns="0" rIns="0" bIns="0" anchor="t">
            <a:spAutoFit/>
          </a:bodyPr>
          <a:lstStyle/>
          <a:p>
            <a:pPr algn="l">
              <a:lnSpc>
                <a:spcPct val="100000"/>
              </a:lnSpc>
              <a:spcBef>
                <a:spcPts val="0"/>
              </a:spcBef>
              <a:spcAft>
                <a:spcPts val="400"/>
              </a:spcAft>
            </a:pPr>
            <a:r>
              <a:rPr lang="es-ES" sz="4200" b="1" i="0" noProof="0" dirty="0">
                <a:solidFill>
                  <a:srgbClr val="FFFFFF"/>
                </a:solidFill>
                <a:latin typeface="Arial"/>
              </a:rPr>
              <a:t>MUCHAS GRACIAS</a:t>
            </a:r>
          </a:p>
        </p:txBody>
      </p:sp>
      <p:sp>
        <p:nvSpPr>
          <p:cNvPr id="5" name="TextBox 4"/>
          <p:cNvSpPr txBox="1"/>
          <p:nvPr/>
        </p:nvSpPr>
        <p:spPr>
          <a:xfrm>
            <a:off x="841248" y="4187952"/>
            <a:ext cx="10515600" cy="289438"/>
          </a:xfrm>
          <a:prstGeom prst="rect">
            <a:avLst/>
          </a:prstGeom>
          <a:noFill/>
        </p:spPr>
        <p:txBody>
          <a:bodyPr wrap="square" lIns="0" tIns="0" rIns="0" bIns="0" anchor="t">
            <a:spAutoFit/>
          </a:bodyPr>
          <a:lstStyle/>
          <a:p>
            <a:pPr algn="l">
              <a:lnSpc>
                <a:spcPct val="114000"/>
              </a:lnSpc>
              <a:spcBef>
                <a:spcPts val="0"/>
              </a:spcBef>
              <a:spcAft>
                <a:spcPts val="400"/>
              </a:spcAft>
            </a:pPr>
            <a:r>
              <a:rPr lang="es-ES" sz="1800" b="0" i="0" noProof="0" dirty="0">
                <a:solidFill>
                  <a:srgbClr val="B9C6DC"/>
                </a:solidFill>
                <a:latin typeface="Arial"/>
              </a:rPr>
              <a:t>Preguntas y comentarios</a:t>
            </a:r>
          </a:p>
        </p:txBody>
      </p:sp>
      <p:pic>
        <p:nvPicPr>
          <p:cNvPr id="6" name="Picture 5"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1963</TotalTime>
  <Words>4264</Words>
  <Application>Microsoft Office PowerPoint</Application>
  <PresentationFormat>Panorámica</PresentationFormat>
  <Paragraphs>440</Paragraphs>
  <Slides>21</Slides>
  <Notes>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Calibri</vt:lpstr>
      <vt:lpstr>Tema de Office</vt:lpstr>
      <vt:lpstr>Presentación de PowerPoint</vt:lpstr>
      <vt:lpstr>Contenido</vt:lpstr>
      <vt:lpstr>El problema</vt:lpstr>
      <vt:lpstr>Objetivos</vt:lpstr>
      <vt:lpstr>Etapas de la metodología</vt:lpstr>
      <vt:lpstr>Focalización</vt:lpstr>
      <vt:lpstr>Preguntas 1 y 2: función, estándar y falla funcional</vt:lpstr>
      <vt:lpstr>Pregunta 3: hipótesis sometidas a verificación</vt:lpstr>
      <vt:lpstr>Evidencia de base: el aporte de cada análisis de falla (AFA)</vt:lpstr>
      <vt:lpstr>Verificación de la causa física: fractura y metalografía</vt:lpstr>
      <vt:lpstr>Descarte de la operación: la data del propio equipo</vt:lpstr>
      <vt:lpstr>Descarte de la fabricación: material conforme y recurrencia</vt:lpstr>
      <vt:lpstr>Verificación por resistencia de materiales</vt:lpstr>
      <vt:lpstr>Del mecanismo físico a la causa latente</vt:lpstr>
      <vt:lpstr>Preguntas 4 y 5: efectos y consecuencias de la falla</vt:lpstr>
      <vt:lpstr>Preguntas 6 y 7: ninguna tarea proactiva cumple ambos criterios</vt:lpstr>
      <vt:lpstr>La solución: rediseño de la unión soldada y su implementación</vt:lpstr>
      <vt:lpstr>Verificación del componente: no recurrencia del modo de falla</vt:lpstr>
      <vt:lpstr>Verificación de la flota y costo evitado</vt:lpstr>
      <vt:lpstr>Conclusiones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SAMIR</dc:creator>
  <cp:lastModifiedBy>Samir Cedillo Preciado</cp:lastModifiedBy>
  <cp:revision>28</cp:revision>
  <dcterms:modified xsi:type="dcterms:W3CDTF">2026-09-29T02:21:47Z</dcterms:modified>
</cp:coreProperties>
</file>