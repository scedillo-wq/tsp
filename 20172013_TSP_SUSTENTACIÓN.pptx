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3"/>
  </p:notesMasterIdLst>
  <p:sldIdLst>
    <p:sldId id="260" r:id="rId2"/>
    <p:sldId id="261" r:id="rId3"/>
    <p:sldId id="263" r:id="rId4"/>
    <p:sldId id="265" r:id="rId5"/>
    <p:sldId id="267" r:id="rId6"/>
    <p:sldId id="269" r:id="rId7"/>
    <p:sldId id="270" r:id="rId8"/>
    <p:sldId id="271" r:id="rId9"/>
    <p:sldId id="287" r:id="rId10"/>
    <p:sldId id="291" r:id="rId11"/>
    <p:sldId id="289" r:id="rId12"/>
    <p:sldId id="288" r:id="rId13"/>
    <p:sldId id="273" r:id="rId14"/>
    <p:sldId id="275" r:id="rId15"/>
    <p:sldId id="292" r:id="rId16"/>
    <p:sldId id="276" r:id="rId17"/>
    <p:sldId id="278" r:id="rId18"/>
    <p:sldId id="280" r:id="rId19"/>
    <p:sldId id="282" r:id="rId20"/>
    <p:sldId id="284" r:id="rId21"/>
    <p:sldId id="286"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6058" autoAdjust="0"/>
  </p:normalViewPr>
  <p:slideViewPr>
    <p:cSldViewPr snapToGrid="0">
      <p:cViewPr>
        <p:scale>
          <a:sx n="75" d="100"/>
          <a:sy n="75" d="100"/>
        </p:scale>
        <p:origin x="946" y="-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rPr dirty="0"/>
              <a:t>Metas </a:t>
            </a:r>
            <a:r>
              <a:rPr dirty="0" err="1"/>
              <a:t>contractuales</a:t>
            </a:r>
            <a:r>
              <a:rPr dirty="0"/>
              <a:t>: </a:t>
            </a:r>
            <a:r>
              <a:rPr dirty="0" err="1"/>
              <a:t>flota</a:t>
            </a:r>
            <a:r>
              <a:rPr dirty="0"/>
              <a:t> de </a:t>
            </a:r>
            <a:r>
              <a:rPr dirty="0" err="1"/>
              <a:t>diez</a:t>
            </a:r>
            <a:r>
              <a:rPr dirty="0"/>
              <a:t> </a:t>
            </a:r>
            <a:r>
              <a:rPr dirty="0" err="1"/>
              <a:t>camiones</a:t>
            </a:r>
            <a:r>
              <a:rPr dirty="0"/>
              <a:t> 980E-5 de 400 t con </a:t>
            </a:r>
            <a:r>
              <a:rPr dirty="0" err="1"/>
              <a:t>propulsión</a:t>
            </a:r>
            <a:r>
              <a:rPr dirty="0"/>
              <a:t> </a:t>
            </a:r>
            <a:r>
              <a:rPr dirty="0" err="1"/>
              <a:t>eléctrica</a:t>
            </a:r>
            <a:r>
              <a:rPr dirty="0"/>
              <a:t>, </a:t>
            </a:r>
            <a:r>
              <a:rPr dirty="0" err="1"/>
              <a:t>cuyo</a:t>
            </a:r>
            <a:r>
              <a:rPr dirty="0"/>
              <a:t> </a:t>
            </a:r>
            <a:r>
              <a:rPr dirty="0" err="1"/>
              <a:t>mantenimiento</a:t>
            </a:r>
            <a:r>
              <a:rPr dirty="0"/>
              <a:t> integral </a:t>
            </a:r>
            <a:r>
              <a:rPr dirty="0" err="1"/>
              <a:t>está</a:t>
            </a:r>
            <a:r>
              <a:rPr dirty="0"/>
              <a:t> a cargo de </a:t>
            </a:r>
            <a:r>
              <a:rPr dirty="0" err="1"/>
              <a:t>una</a:t>
            </a:r>
            <a:r>
              <a:rPr dirty="0"/>
              <a:t> </a:t>
            </a:r>
            <a:r>
              <a:rPr dirty="0" err="1"/>
              <a:t>empresa</a:t>
            </a:r>
            <a:r>
              <a:rPr dirty="0"/>
              <a:t> </a:t>
            </a:r>
            <a:r>
              <a:rPr dirty="0" err="1"/>
              <a:t>contratista</a:t>
            </a:r>
            <a:r>
              <a:rPr dirty="0"/>
              <a:t> </a:t>
            </a:r>
            <a:r>
              <a:rPr dirty="0" err="1"/>
              <a:t>especializada</a:t>
            </a:r>
            <a:r>
              <a:rPr dirty="0"/>
              <a:t>. El </a:t>
            </a:r>
            <a:r>
              <a:rPr dirty="0" err="1"/>
              <a:t>desempeño</a:t>
            </a:r>
            <a:r>
              <a:rPr dirty="0"/>
              <a:t> del </a:t>
            </a:r>
            <a:r>
              <a:rPr dirty="0" err="1"/>
              <a:t>contrato</a:t>
            </a:r>
            <a:r>
              <a:rPr dirty="0"/>
              <a:t> se </a:t>
            </a:r>
            <a:r>
              <a:rPr dirty="0" err="1"/>
              <a:t>mide</a:t>
            </a:r>
            <a:r>
              <a:rPr dirty="0"/>
              <a:t> con </a:t>
            </a:r>
            <a:r>
              <a:rPr dirty="0" err="1"/>
              <a:t>tres</a:t>
            </a:r>
            <a:r>
              <a:rPr dirty="0"/>
              <a:t> </a:t>
            </a:r>
            <a:r>
              <a:rPr dirty="0" err="1"/>
              <a:t>indicadores</a:t>
            </a:r>
            <a:r>
              <a:rPr dirty="0"/>
              <a:t>: </a:t>
            </a:r>
            <a:r>
              <a:rPr dirty="0" err="1"/>
              <a:t>disponibilidad</a:t>
            </a:r>
            <a:r>
              <a:rPr dirty="0"/>
              <a:t> </a:t>
            </a:r>
            <a:r>
              <a:rPr dirty="0" err="1"/>
              <a:t>física</a:t>
            </a:r>
            <a:r>
              <a:rPr dirty="0"/>
              <a:t> (meta 91,0 %), MTBF (64,5 h) y MTTR (</a:t>
            </a:r>
            <a:r>
              <a:rPr dirty="0" err="1"/>
              <a:t>límite</a:t>
            </a:r>
            <a:r>
              <a:rPr dirty="0"/>
              <a:t> 4,0 h); </a:t>
            </a:r>
            <a:r>
              <a:rPr dirty="0" err="1"/>
              <a:t>su</a:t>
            </a:r>
            <a:r>
              <a:rPr dirty="0"/>
              <a:t> </a:t>
            </a:r>
            <a:r>
              <a:rPr dirty="0" err="1"/>
              <a:t>incumplimiento</a:t>
            </a:r>
            <a:r>
              <a:rPr dirty="0"/>
              <a:t> </a:t>
            </a:r>
            <a:r>
              <a:rPr dirty="0" err="1"/>
              <a:t>expone</a:t>
            </a:r>
            <a:r>
              <a:rPr dirty="0"/>
              <a:t> a </a:t>
            </a:r>
            <a:r>
              <a:rPr dirty="0" err="1"/>
              <a:t>penalización</a:t>
            </a:r>
            <a:r>
              <a:rPr dirty="0"/>
              <a:t>. Entre 2022 y 2024 la </a:t>
            </a:r>
            <a:r>
              <a:rPr dirty="0" err="1"/>
              <a:t>disponibilidad</a:t>
            </a:r>
            <a:r>
              <a:rPr dirty="0"/>
              <a:t> </a:t>
            </a:r>
            <a:r>
              <a:rPr dirty="0" err="1"/>
              <a:t>fue</a:t>
            </a:r>
            <a:r>
              <a:rPr dirty="0"/>
              <a:t> de 90,5 %, 90,2 % y 90,6 %, y </a:t>
            </a:r>
            <a:r>
              <a:rPr dirty="0" err="1"/>
              <a:t>el</a:t>
            </a:r>
            <a:r>
              <a:rPr dirty="0"/>
              <a:t> MTBF de 57,6 h, 57,6 h y 60,5 h, </a:t>
            </a:r>
            <a:r>
              <a:rPr dirty="0" err="1"/>
              <a:t>por</a:t>
            </a:r>
            <a:r>
              <a:rPr dirty="0"/>
              <a:t> </a:t>
            </a:r>
            <a:r>
              <a:rPr dirty="0" err="1"/>
              <a:t>debajo</a:t>
            </a:r>
            <a:r>
              <a:rPr dirty="0"/>
              <a:t> de sus </a:t>
            </a:r>
            <a:r>
              <a:rPr dirty="0" err="1"/>
              <a:t>objetivos</a:t>
            </a:r>
            <a:r>
              <a:rPr dirty="0"/>
              <a:t>; </a:t>
            </a:r>
            <a:r>
              <a:rPr dirty="0" err="1"/>
              <a:t>el</a:t>
            </a:r>
            <a:r>
              <a:rPr dirty="0"/>
              <a:t> MTTR (3,1 h, 3,7 h y 3,1 h) se </a:t>
            </a:r>
            <a:r>
              <a:rPr dirty="0" err="1"/>
              <a:t>mantuvo</a:t>
            </a:r>
            <a:r>
              <a:rPr dirty="0"/>
              <a:t> </a:t>
            </a:r>
            <a:r>
              <a:rPr dirty="0" err="1"/>
              <a:t>dentro</a:t>
            </a:r>
            <a:r>
              <a:rPr dirty="0"/>
              <a:t> del </a:t>
            </a:r>
            <a:r>
              <a:rPr dirty="0" err="1"/>
              <a:t>límite</a:t>
            </a:r>
            <a:r>
              <a:rPr dirty="0"/>
              <a:t>.</a:t>
            </a:r>
          </a:p>
          <a:p>
            <a:endParaRPr dirty="0"/>
          </a:p>
          <a:p>
            <a:r>
              <a:rPr dirty="0"/>
              <a:t>La </a:t>
            </a:r>
            <a:r>
              <a:rPr dirty="0" err="1"/>
              <a:t>falla</a:t>
            </a:r>
            <a:r>
              <a:rPr dirty="0"/>
              <a:t> </a:t>
            </a:r>
            <a:r>
              <a:rPr dirty="0" err="1"/>
              <a:t>más</a:t>
            </a:r>
            <a:r>
              <a:rPr dirty="0"/>
              <a:t> </a:t>
            </a:r>
            <a:r>
              <a:rPr dirty="0" err="1"/>
              <a:t>crítica</a:t>
            </a:r>
            <a:r>
              <a:rPr dirty="0"/>
              <a:t>: </a:t>
            </a:r>
            <a:r>
              <a:rPr dirty="0" err="1"/>
              <a:t>cada</a:t>
            </a:r>
            <a:r>
              <a:rPr dirty="0"/>
              <a:t> </a:t>
            </a:r>
            <a:r>
              <a:rPr dirty="0" err="1"/>
              <a:t>evento</a:t>
            </a:r>
            <a:r>
              <a:rPr dirty="0"/>
              <a:t> </a:t>
            </a:r>
            <a:r>
              <a:rPr dirty="0" err="1"/>
              <a:t>contó</a:t>
            </a:r>
            <a:r>
              <a:rPr dirty="0"/>
              <a:t> con un </a:t>
            </a:r>
            <a:r>
              <a:rPr dirty="0" err="1"/>
              <a:t>análisis</a:t>
            </a:r>
            <a:r>
              <a:rPr dirty="0"/>
              <a:t> de </a:t>
            </a:r>
            <a:r>
              <a:rPr dirty="0" err="1"/>
              <a:t>falla</a:t>
            </a:r>
            <a:r>
              <a:rPr dirty="0"/>
              <a:t> (AFA) y con un </a:t>
            </a:r>
            <a:r>
              <a:rPr dirty="0" err="1"/>
              <a:t>informe</a:t>
            </a:r>
            <a:r>
              <a:rPr dirty="0"/>
              <a:t> </a:t>
            </a:r>
            <a:r>
              <a:rPr dirty="0" err="1"/>
              <a:t>metalográfico</a:t>
            </a:r>
            <a:r>
              <a:rPr dirty="0"/>
              <a:t> </a:t>
            </a:r>
            <a:r>
              <a:rPr dirty="0" err="1"/>
              <a:t>externo</a:t>
            </a:r>
            <a:r>
              <a:rPr dirty="0"/>
              <a:t>, </a:t>
            </a:r>
            <a:r>
              <a:rPr dirty="0" err="1"/>
              <a:t>pero</a:t>
            </a:r>
            <a:r>
              <a:rPr dirty="0"/>
              <a:t> la </a:t>
            </a:r>
            <a:r>
              <a:rPr dirty="0" err="1"/>
              <a:t>falla</a:t>
            </a:r>
            <a:r>
              <a:rPr dirty="0"/>
              <a:t> </a:t>
            </a:r>
            <a:r>
              <a:rPr dirty="0" err="1"/>
              <a:t>persistió</a:t>
            </a:r>
            <a:r>
              <a:rPr dirty="0"/>
              <a:t> y </a:t>
            </a:r>
            <a:r>
              <a:rPr dirty="0" err="1"/>
              <a:t>reapareció</a:t>
            </a:r>
            <a:r>
              <a:rPr dirty="0"/>
              <a:t> </a:t>
            </a:r>
            <a:r>
              <a:rPr dirty="0" err="1"/>
              <a:t>en</a:t>
            </a:r>
            <a:r>
              <a:rPr dirty="0"/>
              <a:t> </a:t>
            </a:r>
            <a:r>
              <a:rPr dirty="0" err="1"/>
              <a:t>posiciones</a:t>
            </a:r>
            <a:r>
              <a:rPr dirty="0"/>
              <a:t> </a:t>
            </a:r>
            <a:r>
              <a:rPr dirty="0" err="1"/>
              <a:t>ya</a:t>
            </a:r>
            <a:r>
              <a:rPr dirty="0"/>
              <a:t> </a:t>
            </a:r>
            <a:r>
              <a:rPr dirty="0" err="1"/>
              <a:t>intervenidas</a:t>
            </a:r>
            <a:r>
              <a:rPr dirty="0"/>
              <a: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rPr dirty="0" err="1"/>
              <a:t>Figura</a:t>
            </a:r>
            <a:r>
              <a:rPr dirty="0"/>
              <a:t> H1, </a:t>
            </a:r>
            <a:r>
              <a:rPr dirty="0" err="1"/>
              <a:t>lectura</a:t>
            </a:r>
            <a:r>
              <a:rPr dirty="0"/>
              <a:t> de la </a:t>
            </a:r>
            <a:r>
              <a:rPr dirty="0" err="1"/>
              <a:t>superficie</a:t>
            </a:r>
            <a:r>
              <a:rPr dirty="0"/>
              <a:t> de </a:t>
            </a:r>
            <a:r>
              <a:rPr dirty="0" err="1"/>
              <a:t>fractura</a:t>
            </a:r>
            <a:r>
              <a:rPr dirty="0"/>
              <a:t> del </a:t>
            </a:r>
            <a:r>
              <a:rPr dirty="0" err="1"/>
              <a:t>eje</a:t>
            </a:r>
            <a:r>
              <a:rPr dirty="0"/>
              <a:t> F1 (</a:t>
            </a:r>
            <a:r>
              <a:rPr dirty="0" err="1"/>
              <a:t>inspección</a:t>
            </a:r>
            <a:r>
              <a:rPr dirty="0"/>
              <a:t> visual, </a:t>
            </a:r>
            <a:r>
              <a:rPr dirty="0" err="1"/>
              <a:t>reportes</a:t>
            </a:r>
            <a:r>
              <a:rPr dirty="0"/>
              <a:t> AFA):</a:t>
            </a:r>
          </a:p>
          <a:p>
            <a:r>
              <a:rPr dirty="0"/>
              <a:t>1. Sector </a:t>
            </a:r>
            <a:r>
              <a:rPr dirty="0" err="1"/>
              <a:t>oscuro</a:t>
            </a:r>
            <a:r>
              <a:rPr dirty="0"/>
              <a:t> y </a:t>
            </a:r>
            <a:r>
              <a:rPr dirty="0" err="1"/>
              <a:t>liso</a:t>
            </a:r>
            <a:r>
              <a:rPr dirty="0"/>
              <a:t>, </a:t>
            </a:r>
            <a:r>
              <a:rPr dirty="0" err="1"/>
              <a:t>propagación</a:t>
            </a:r>
            <a:r>
              <a:rPr dirty="0"/>
              <a:t> </a:t>
            </a:r>
            <a:r>
              <a:rPr dirty="0" err="1"/>
              <a:t>estable</a:t>
            </a:r>
            <a:r>
              <a:rPr dirty="0"/>
              <a:t>: </a:t>
            </a:r>
            <a:r>
              <a:rPr dirty="0" err="1"/>
              <a:t>bandas</a:t>
            </a:r>
            <a:r>
              <a:rPr dirty="0"/>
              <a:t> </a:t>
            </a:r>
            <a:r>
              <a:rPr dirty="0" err="1"/>
              <a:t>concéntricas</a:t>
            </a:r>
            <a:r>
              <a:rPr dirty="0"/>
              <a:t> al </a:t>
            </a:r>
            <a:r>
              <a:rPr dirty="0" err="1"/>
              <a:t>diámetro</a:t>
            </a:r>
            <a:r>
              <a:rPr dirty="0"/>
              <a:t> interior </a:t>
            </a:r>
            <a:r>
              <a:rPr dirty="0" err="1"/>
              <a:t>por</a:t>
            </a:r>
            <a:r>
              <a:rPr dirty="0"/>
              <a:t> </a:t>
            </a:r>
            <a:r>
              <a:rPr dirty="0" err="1"/>
              <a:t>el</a:t>
            </a:r>
            <a:r>
              <a:rPr dirty="0"/>
              <a:t> </a:t>
            </a:r>
            <a:r>
              <a:rPr dirty="0" err="1"/>
              <a:t>avance</a:t>
            </a:r>
            <a:r>
              <a:rPr dirty="0"/>
              <a:t> </a:t>
            </a:r>
            <a:r>
              <a:rPr dirty="0" err="1"/>
              <a:t>progresivo</a:t>
            </a:r>
            <a:r>
              <a:rPr dirty="0"/>
              <a:t> de la </a:t>
            </a:r>
            <a:r>
              <a:rPr dirty="0" err="1"/>
              <a:t>grieta</a:t>
            </a:r>
            <a:r>
              <a:rPr dirty="0"/>
              <a:t> bajo </a:t>
            </a:r>
            <a:r>
              <a:rPr dirty="0" err="1"/>
              <a:t>los</a:t>
            </a:r>
            <a:r>
              <a:rPr dirty="0"/>
              <a:t> </a:t>
            </a:r>
            <a:r>
              <a:rPr dirty="0" err="1"/>
              <a:t>ciclos</a:t>
            </a:r>
            <a:r>
              <a:rPr dirty="0"/>
              <a:t> de par; </a:t>
            </a:r>
            <a:r>
              <a:rPr dirty="0" err="1"/>
              <a:t>el</a:t>
            </a:r>
            <a:r>
              <a:rPr dirty="0"/>
              <a:t> </a:t>
            </a:r>
            <a:r>
              <a:rPr dirty="0" err="1"/>
              <a:t>oscurecimiento</a:t>
            </a:r>
            <a:r>
              <a:rPr dirty="0"/>
              <a:t> es </a:t>
            </a:r>
            <a:r>
              <a:rPr dirty="0" err="1"/>
              <a:t>oxidación</a:t>
            </a:r>
            <a:r>
              <a:rPr dirty="0"/>
              <a:t> </a:t>
            </a:r>
            <a:r>
              <a:rPr dirty="0" err="1"/>
              <a:t>durante</a:t>
            </a:r>
            <a:r>
              <a:rPr dirty="0"/>
              <a:t> </a:t>
            </a:r>
            <a:r>
              <a:rPr dirty="0" err="1"/>
              <a:t>su</a:t>
            </a:r>
            <a:r>
              <a:rPr dirty="0"/>
              <a:t> </a:t>
            </a:r>
            <a:r>
              <a:rPr dirty="0" err="1"/>
              <a:t>larga</a:t>
            </a:r>
            <a:r>
              <a:rPr dirty="0"/>
              <a:t> </a:t>
            </a:r>
            <a:r>
              <a:rPr dirty="0" err="1"/>
              <a:t>exposición</a:t>
            </a:r>
            <a:r>
              <a:rPr dirty="0"/>
              <a:t> </a:t>
            </a:r>
            <a:r>
              <a:rPr dirty="0" err="1"/>
              <a:t>en</a:t>
            </a:r>
            <a:r>
              <a:rPr dirty="0"/>
              <a:t> </a:t>
            </a:r>
            <a:r>
              <a:rPr dirty="0" err="1"/>
              <a:t>servicio</a:t>
            </a:r>
            <a:r>
              <a:rPr dirty="0"/>
              <a:t>.</a:t>
            </a:r>
          </a:p>
          <a:p>
            <a:r>
              <a:rPr dirty="0"/>
              <a:t>2. Sector claro y granular, </a:t>
            </a:r>
            <a:r>
              <a:rPr dirty="0" err="1"/>
              <a:t>rotura</a:t>
            </a:r>
            <a:r>
              <a:rPr dirty="0"/>
              <a:t> final: metal </a:t>
            </a:r>
            <a:r>
              <a:rPr dirty="0" err="1"/>
              <a:t>recién</a:t>
            </a:r>
            <a:r>
              <a:rPr dirty="0"/>
              <a:t> </a:t>
            </a:r>
            <a:r>
              <a:rPr dirty="0" err="1"/>
              <a:t>expuesto</a:t>
            </a:r>
            <a:r>
              <a:rPr dirty="0"/>
              <a:t>; la </a:t>
            </a:r>
            <a:r>
              <a:rPr dirty="0" err="1"/>
              <a:t>sección</a:t>
            </a:r>
            <a:r>
              <a:rPr dirty="0"/>
              <a:t> </a:t>
            </a:r>
            <a:r>
              <a:rPr dirty="0" err="1"/>
              <a:t>remanente</a:t>
            </a:r>
            <a:r>
              <a:rPr dirty="0"/>
              <a:t> </a:t>
            </a:r>
            <a:r>
              <a:rPr dirty="0" err="1"/>
              <a:t>rompió</a:t>
            </a:r>
            <a:r>
              <a:rPr dirty="0"/>
              <a:t> de forma </a:t>
            </a:r>
            <a:r>
              <a:rPr dirty="0" err="1"/>
              <a:t>instantánea</a:t>
            </a:r>
            <a:r>
              <a:rPr dirty="0"/>
              <a:t> </a:t>
            </a:r>
            <a:r>
              <a:rPr dirty="0" err="1"/>
              <a:t>cuando</a:t>
            </a:r>
            <a:r>
              <a:rPr dirty="0"/>
              <a:t> la </a:t>
            </a:r>
            <a:r>
              <a:rPr dirty="0" err="1"/>
              <a:t>grieta</a:t>
            </a:r>
            <a:r>
              <a:rPr dirty="0"/>
              <a:t> </a:t>
            </a:r>
            <a:r>
              <a:rPr dirty="0" err="1"/>
              <a:t>redujo</a:t>
            </a:r>
            <a:r>
              <a:rPr dirty="0"/>
              <a:t> </a:t>
            </a:r>
            <a:r>
              <a:rPr dirty="0" err="1"/>
              <a:t>el</a:t>
            </a:r>
            <a:r>
              <a:rPr dirty="0"/>
              <a:t> </a:t>
            </a:r>
            <a:r>
              <a:rPr dirty="0" err="1"/>
              <a:t>área</a:t>
            </a:r>
            <a:r>
              <a:rPr dirty="0"/>
              <a:t> </a:t>
            </a:r>
            <a:r>
              <a:rPr dirty="0" err="1"/>
              <a:t>resistente</a:t>
            </a:r>
            <a:r>
              <a:rPr dirty="0"/>
              <a:t>.</a:t>
            </a:r>
          </a:p>
          <a:p>
            <a:r>
              <a:rPr dirty="0"/>
              <a:t>3. </a:t>
            </a:r>
            <a:r>
              <a:rPr dirty="0" err="1"/>
              <a:t>Diámetro</a:t>
            </a:r>
            <a:r>
              <a:rPr dirty="0"/>
              <a:t> interior, </a:t>
            </a:r>
            <a:r>
              <a:rPr dirty="0" err="1"/>
              <a:t>localización</a:t>
            </a:r>
            <a:r>
              <a:rPr dirty="0"/>
              <a:t> del </a:t>
            </a:r>
            <a:r>
              <a:rPr dirty="0" err="1"/>
              <a:t>origen</a:t>
            </a:r>
            <a:r>
              <a:rPr dirty="0"/>
              <a:t>: </a:t>
            </a:r>
            <a:r>
              <a:rPr dirty="0" err="1"/>
              <a:t>perímetro</a:t>
            </a:r>
            <a:r>
              <a:rPr dirty="0"/>
              <a:t> </a:t>
            </a:r>
            <a:r>
              <a:rPr dirty="0" err="1"/>
              <a:t>interno</a:t>
            </a:r>
            <a:r>
              <a:rPr dirty="0"/>
              <a:t> de la </a:t>
            </a:r>
            <a:r>
              <a:rPr dirty="0" err="1"/>
              <a:t>unión</a:t>
            </a:r>
            <a:r>
              <a:rPr dirty="0"/>
              <a:t> </a:t>
            </a:r>
            <a:r>
              <a:rPr dirty="0" err="1"/>
              <a:t>soldada</a:t>
            </a:r>
            <a:r>
              <a:rPr dirty="0"/>
              <a:t>; </a:t>
            </a:r>
            <a:r>
              <a:rPr dirty="0" err="1"/>
              <a:t>el</a:t>
            </a:r>
            <a:r>
              <a:rPr dirty="0"/>
              <a:t> AFA </a:t>
            </a:r>
            <a:r>
              <a:rPr dirty="0" err="1"/>
              <a:t>sitúa</a:t>
            </a:r>
            <a:r>
              <a:rPr dirty="0"/>
              <a:t> </a:t>
            </a:r>
            <a:r>
              <a:rPr dirty="0" err="1"/>
              <a:t>aquí</a:t>
            </a:r>
            <a:r>
              <a:rPr dirty="0"/>
              <a:t> </a:t>
            </a:r>
            <a:r>
              <a:rPr dirty="0" err="1"/>
              <a:t>el</a:t>
            </a:r>
            <a:r>
              <a:rPr dirty="0"/>
              <a:t> </a:t>
            </a:r>
            <a:r>
              <a:rPr dirty="0" err="1"/>
              <a:t>inicio</a:t>
            </a:r>
            <a:r>
              <a:rPr dirty="0"/>
              <a:t>, con </a:t>
            </a:r>
            <a:r>
              <a:rPr dirty="0" err="1"/>
              <a:t>marcas</a:t>
            </a:r>
            <a:r>
              <a:rPr dirty="0"/>
              <a:t> de </a:t>
            </a:r>
            <a:r>
              <a:rPr dirty="0" err="1"/>
              <a:t>trinquete</a:t>
            </a:r>
            <a:r>
              <a:rPr dirty="0"/>
              <a:t> de </a:t>
            </a:r>
            <a:r>
              <a:rPr dirty="0" err="1"/>
              <a:t>nucleación</a:t>
            </a:r>
            <a:r>
              <a:rPr dirty="0"/>
              <a:t> </a:t>
            </a:r>
            <a:r>
              <a:rPr dirty="0" err="1"/>
              <a:t>múltiple</a:t>
            </a:r>
            <a:r>
              <a:rPr dirty="0"/>
              <a:t> </a:t>
            </a:r>
            <a:r>
              <a:rPr dirty="0" err="1"/>
              <a:t>sobre</a:t>
            </a:r>
            <a:r>
              <a:rPr dirty="0"/>
              <a:t> la </a:t>
            </a:r>
            <a:r>
              <a:rPr dirty="0" err="1"/>
              <a:t>raíz</a:t>
            </a:r>
            <a:r>
              <a:rPr dirty="0"/>
              <a:t> sin </a:t>
            </a:r>
            <a:r>
              <a:rPr dirty="0" err="1"/>
              <a:t>fusión</a:t>
            </a:r>
            <a:r>
              <a:rPr dirty="0"/>
              <a:t>.</a:t>
            </a:r>
          </a:p>
          <a:p>
            <a:r>
              <a:rPr dirty="0"/>
              <a:t>4. Borde </a:t>
            </a:r>
            <a:r>
              <a:rPr dirty="0" err="1"/>
              <a:t>interno</a:t>
            </a:r>
            <a:r>
              <a:rPr dirty="0"/>
              <a:t> </a:t>
            </a:r>
            <a:r>
              <a:rPr dirty="0" err="1"/>
              <a:t>deformado</a:t>
            </a:r>
            <a:r>
              <a:rPr dirty="0"/>
              <a:t>, </a:t>
            </a:r>
            <a:r>
              <a:rPr dirty="0" err="1"/>
              <a:t>contacto</a:t>
            </a:r>
            <a:r>
              <a:rPr dirty="0"/>
              <a:t> posterior: </a:t>
            </a:r>
            <a:r>
              <a:rPr dirty="0" err="1"/>
              <a:t>rebaba</a:t>
            </a:r>
            <a:r>
              <a:rPr dirty="0"/>
              <a:t> y </a:t>
            </a:r>
            <a:r>
              <a:rPr dirty="0" err="1"/>
              <a:t>desgarro</a:t>
            </a:r>
            <a:r>
              <a:rPr dirty="0"/>
              <a:t> </a:t>
            </a:r>
            <a:r>
              <a:rPr dirty="0" err="1"/>
              <a:t>por</a:t>
            </a:r>
            <a:r>
              <a:rPr dirty="0"/>
              <a:t> </a:t>
            </a:r>
            <a:r>
              <a:rPr dirty="0" err="1"/>
              <a:t>el</a:t>
            </a:r>
            <a:r>
              <a:rPr dirty="0"/>
              <a:t> </a:t>
            </a:r>
            <a:r>
              <a:rPr dirty="0" err="1"/>
              <a:t>rozamiento</a:t>
            </a:r>
            <a:r>
              <a:rPr dirty="0"/>
              <a:t> entre las </a:t>
            </a:r>
            <a:r>
              <a:rPr dirty="0" err="1"/>
              <a:t>caras</a:t>
            </a:r>
            <a:r>
              <a:rPr dirty="0"/>
              <a:t> </a:t>
            </a:r>
            <a:r>
              <a:rPr dirty="0" err="1"/>
              <a:t>tras</a:t>
            </a:r>
            <a:r>
              <a:rPr dirty="0"/>
              <a:t> la </a:t>
            </a:r>
            <a:r>
              <a:rPr dirty="0" err="1"/>
              <a:t>separación</a:t>
            </a:r>
            <a:r>
              <a:rPr dirty="0"/>
              <a:t>; </a:t>
            </a:r>
            <a:r>
              <a:rPr dirty="0" err="1"/>
              <a:t>el</a:t>
            </a:r>
            <a:r>
              <a:rPr dirty="0"/>
              <a:t> motor </a:t>
            </a:r>
            <a:r>
              <a:rPr dirty="0" err="1"/>
              <a:t>siguió</a:t>
            </a:r>
            <a:r>
              <a:rPr dirty="0"/>
              <a:t> operando </a:t>
            </a:r>
            <a:r>
              <a:rPr dirty="0" err="1"/>
              <a:t>en</a:t>
            </a:r>
            <a:r>
              <a:rPr dirty="0"/>
              <a:t> free wheeling.</a:t>
            </a:r>
          </a:p>
          <a:p>
            <a:endParaRPr dirty="0"/>
          </a:p>
          <a:p>
            <a:r>
              <a:rPr dirty="0" err="1"/>
              <a:t>Metalografía</a:t>
            </a:r>
            <a:r>
              <a:rPr dirty="0"/>
              <a:t> (</a:t>
            </a:r>
            <a:r>
              <a:rPr dirty="0" err="1"/>
              <a:t>informe</a:t>
            </a:r>
            <a:r>
              <a:rPr dirty="0"/>
              <a:t> DIESA-AFA2023085189_00): </a:t>
            </a:r>
            <a:r>
              <a:rPr dirty="0" err="1"/>
              <a:t>microestructuras</a:t>
            </a:r>
            <a:r>
              <a:rPr dirty="0"/>
              <a:t> a 40× con </a:t>
            </a:r>
            <a:r>
              <a:rPr dirty="0" err="1"/>
              <a:t>grieta</a:t>
            </a:r>
            <a:r>
              <a:rPr dirty="0"/>
              <a:t> </a:t>
            </a:r>
            <a:r>
              <a:rPr dirty="0" err="1"/>
              <a:t>secundaria</a:t>
            </a:r>
            <a:r>
              <a:rPr dirty="0"/>
              <a:t> junto al punto de </a:t>
            </a:r>
            <a:r>
              <a:rPr dirty="0" err="1"/>
              <a:t>iniciación</a:t>
            </a:r>
            <a:r>
              <a:rPr dirty="0"/>
              <a:t>. La </a:t>
            </a:r>
            <a:r>
              <a:rPr dirty="0" err="1"/>
              <a:t>nucleación</a:t>
            </a:r>
            <a:r>
              <a:rPr dirty="0"/>
              <a:t> se produce </a:t>
            </a:r>
            <a:r>
              <a:rPr dirty="0" err="1"/>
              <a:t>en</a:t>
            </a:r>
            <a:r>
              <a:rPr dirty="0"/>
              <a:t> la </a:t>
            </a:r>
            <a:r>
              <a:rPr dirty="0" err="1"/>
              <a:t>raíz</a:t>
            </a:r>
            <a:r>
              <a:rPr dirty="0"/>
              <a:t> de la </a:t>
            </a:r>
            <a:r>
              <a:rPr dirty="0" err="1"/>
              <a:t>unión</a:t>
            </a:r>
            <a:r>
              <a:rPr dirty="0"/>
              <a:t> y </a:t>
            </a:r>
            <a:r>
              <a:rPr dirty="0" err="1"/>
              <a:t>propaga</a:t>
            </a:r>
            <a:r>
              <a:rPr dirty="0"/>
              <a:t> </a:t>
            </a:r>
            <a:r>
              <a:rPr dirty="0" err="1"/>
              <a:t>radialmente</a:t>
            </a:r>
            <a:r>
              <a:rPr dirty="0"/>
              <a:t> </a:t>
            </a:r>
            <a:r>
              <a:rPr dirty="0" err="1"/>
              <a:t>hacia</a:t>
            </a:r>
            <a:r>
              <a:rPr dirty="0"/>
              <a:t> </a:t>
            </a:r>
            <a:r>
              <a:rPr dirty="0" err="1"/>
              <a:t>el</a:t>
            </a:r>
            <a:r>
              <a:rPr dirty="0"/>
              <a:t> exterior.</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Tabla H1 completa: C 0,26 / 0,22; Mn 1,30 máx. / 0,79; P 0,035 / 0,006; S 0,035 / 0,012; Si 0,33 / 0,27; Cr – / 0,06; Ni – / 0,10; Mo – / 0,03; Cu 0,18 mín. / 0,17; V 0,01 mín. / – (norma / muestra).</a:t>
            </a:r>
          </a:p>
          <a:p>
            <a:r>
              <a:t>Ojo: el Cu de la muestra (0,17) queda por debajo del mínimo (0,18) y el V no se reporta; por eso el laboratorio habla de composición 'compatible'.</a:t>
            </a:r>
          </a:p>
          <a:p>
            <a:endParaRPr/>
          </a:p>
          <a:p>
            <a:r>
              <a:t>Límite de la evidencia física: la fractografía y los ensayos sitúan el origen en la raíz de la unión, pero no distinguen entre un defecto de ejecución de una pieza y una condición inherente a la unión proyectada. Esa distinción la resuelve el comportamiento del componente tras su reposición.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DISCURSO (~45 s)</a:t>
            </a:r>
          </a:p>
          <a:p>
            <a:r>
              <a:t>Las preguntas 4 y 5 describen qué pasa cuando la falla ocurre y por qué importa. La fractura llega sin aviso: el operador reporta pérdida de propulsión y la rueda queda en giro libre. La posición afectada pierde a la vez tracción y retardo dinámico, justo lo que controla la velocidad de un equipo de 628 toneladas en el descenso cargado. La unidad sale del ciclo de acarreo durante 59,3 horas, porque hay que sustituir el motor completo, y el eje roto sigue girando y daña el tren de engranajes. Por eso la consecuencia es operacional, con implicación de seguridad y efecto contractual, y esa clasificación es la que decide la acción a falta de.</a:t>
            </a:r>
          </a:p>
          <a:p>
            <a:endParaRPr/>
          </a:p>
          <a:p>
            <a:r>
              <a:t>APOYO (no leer; para preguntas del jurado)</a:t>
            </a:r>
          </a:p>
          <a:p>
            <a:r>
              <a:t>Informe, 3.4.4 Pregunta 4: efectos de falla.</a:t>
            </a:r>
          </a:p>
          <a:p>
            <a:r>
              <a:t>Evidencia de la ocurrencia: ninguna tarea del programa vigente anticipaba ni detectaba esta falla. Diez de los trece eventos se identificaron en operación; los otros tres (casos 5, 8 y 11 de la Tabla 5) corresponden a retiros en una parada programada. La evaluación en campo verifica que el eje del motor se revoluciona sin transmitir par (desacople entre el rotor y la reducción planetaria).</a:t>
            </a:r>
          </a:p>
          <a:p>
            <a:r>
              <a:t>Seguridad: se pierden a la vez la tracción y el retardo dinámico; el frenado eléctrico se reduce a una sola posición motriz. La exposición se concentra en el descenso cargado por rampa (628 t de peso bruto); el freno de servicio interviene como respaldo.</a:t>
            </a:r>
          </a:p>
          <a:p>
            <a:r>
              <a:t>Operación: tolva descargada en el lugar, traslado fuera del área y 59,3 h fuera de servicio en promedio. No hay reparación en campo: se sustituye el motor de tracción completo por uno de intercambio. La espera por motor de intercambio, equipo de izaje y personal de neumáticos queda registrada como demora de la misma detención.</a:t>
            </a:r>
          </a:p>
          <a:p>
            <a:r>
              <a:t>Daño físico: dentado fracturado y daño en los portadores planetarios; reducción de espesor, fisura y fractura en la placa de acople; desprendimiento de material y pérdida de dureza en el piñón solar; desprendimiento de material en la corona; hierro en las pistas de los rodamientos. Esa contaminación aparece después de la fractura y no la precede.</a:t>
            </a:r>
          </a:p>
          <a:p>
            <a:endParaRPr/>
          </a:p>
          <a:p>
            <a:r>
              <a:t>Informe, 3.4.5 Pregunta 5: consecuencias de falla.</a:t>
            </a:r>
          </a:p>
          <a:p>
            <a:r>
              <a:t>Operacional, con implicación de seguridad y con efecto contractual. Ninguna de las trece ocurrencias derivó en daño a personas, pero la norma evalúa la consecuencia potencial, no el resultado observado. No alcanzar las 20 000 h entre reparaciones mayores también es consecuencia directa: cada ocurrencia retira el motor con una fracción de la vida de referencia e interrumpe el ciclo de reparaciones planificado.</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La casa matriz adoptó la mejora propuesta en los AFA (modificar el proceso de soldadura y eliminar el concentrador); esta operación fue la primera en implementarla, en 2025.</a:t>
            </a:r>
          </a:p>
          <a:p>
            <a:endParaRPr/>
          </a:p>
          <a:p>
            <a:r>
              <a:t>Validación previa con el equipo técnico: con las áreas de confiabilidad, planeamiento y ejecución de mantenimiento, y con el personal de operación: consistencia del diagrama de posibles causas con la experiencia de campo, verificación de que ninguna posible causa relevante quedara sin contrastar y revisión de la evidencia cuantitativa.</a:t>
            </a:r>
          </a:p>
          <a:p>
            <a:endParaRPr/>
          </a:p>
          <a:p>
            <a:r>
              <a:t>El tercer mecanismo (control de la mejora instalada) responde de forma directa a la causa latente: impide que el hallazgo técnico vuelva a perderse en la reposición del componente.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Recuperación de los indicadores del modo de falla (antes 2022-2024, después con el P/N mejorado): frecuencia del modo de 4,33 a 0 eventos por año; MTTR del sistema de propulsión de 6,2 a 3,3 h; horas de parada del modo de 315 a 0 h por año; impacto en la disponibilidad de 0,36 a 0 puntos.</a:t>
            </a:r>
          </a:p>
          <a:p>
            <a:r>
              <a:t>MTBF del modo de falla: de 15 231 h a más de 32 046 h (límite inferior al 95 % de confianza).</a:t>
            </a:r>
          </a:p>
          <a:p>
            <a:r>
              <a:t>MTTR del sistema de propulsión: desciende 46 % porque desapareció un modo cuya intervención duraba 59,3 h, cerca de ocho veces el promedio del sistema.</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El MTTR de flota no mejora, y no debía hacerlo: la acción implementada elimina eventos, no reduce la duración de las intervenciones que subsisten.</a:t>
            </a:r>
          </a:p>
          <a:p>
            <a:endParaRPr/>
          </a:p>
          <a:p>
            <a:r>
              <a:t>La concurrencia con la intervención del motor diésel no debilita la verificación: lo que acredita el rediseño es el criterio del nivel del componente.</a:t>
            </a:r>
          </a:p>
          <a:p>
            <a:endParaRPr/>
          </a:p>
          <a:p>
            <a:r>
              <a:t>Costo por evento: US$ 763 393 por evaluación y reparación mayor del motor; costo anual del modo US$ 3,05 M frente a US$ 4,30 M de la sustitución cíclica (relación 1,41 : 1). Umbral de indiferencia declarado: US$ 424 mil por reparación mayor programada.</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ntrada" type="blank">
  <p:cSld name="BLANK">
    <p:spTree>
      <p:nvGrpSpPr>
        <p:cNvPr id="1" name="Shape 14"/>
        <p:cNvGrpSpPr/>
        <p:nvPr/>
      </p:nvGrpSpPr>
      <p:grpSpPr>
        <a:xfrm>
          <a:off x="0" y="0"/>
          <a:ext cx="0" cy="0"/>
          <a:chOff x="0" y="0"/>
          <a:chExt cx="0" cy="0"/>
        </a:xfrm>
      </p:grpSpPr>
      <p:sp>
        <p:nvSpPr>
          <p:cNvPr id="15" name="Google Shape;15;p2"/>
          <p:cNvSpPr/>
          <p:nvPr/>
        </p:nvSpPr>
        <p:spPr>
          <a:xfrm>
            <a:off x="0" y="0"/>
            <a:ext cx="12192000" cy="68580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pic>
        <p:nvPicPr>
          <p:cNvPr id="16" name="Google Shape;16;p2"/>
          <p:cNvPicPr preferRelativeResize="0"/>
          <p:nvPr/>
        </p:nvPicPr>
        <p:blipFill rotWithShape="1">
          <a:blip r:embed="rId2">
            <a:alphaModFix/>
          </a:blip>
          <a:srcRect/>
          <a:stretch/>
        </p:blipFill>
        <p:spPr>
          <a:xfrm>
            <a:off x="4195484" y="2571381"/>
            <a:ext cx="4143972" cy="137334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7"/>
        <p:cNvGrpSpPr/>
        <p:nvPr/>
      </p:nvGrpSpPr>
      <p:grpSpPr>
        <a:xfrm>
          <a:off x="0" y="0"/>
          <a:ext cx="0" cy="0"/>
          <a:chOff x="0" y="0"/>
          <a:chExt cx="0" cy="0"/>
        </a:xfrm>
      </p:grpSpPr>
      <p:pic>
        <p:nvPicPr>
          <p:cNvPr id="18" name="Google Shape;18;p3"/>
          <p:cNvPicPr preferRelativeResize="0"/>
          <p:nvPr/>
        </p:nvPicPr>
        <p:blipFill rotWithShape="1">
          <a:blip r:embed="rId2">
            <a:alphaModFix/>
          </a:blip>
          <a:srcRect/>
          <a:stretch/>
        </p:blipFill>
        <p:spPr>
          <a:xfrm>
            <a:off x="4844521" y="5547936"/>
            <a:ext cx="2504546" cy="826405"/>
          </a:xfrm>
          <a:prstGeom prst="rect">
            <a:avLst/>
          </a:prstGeom>
          <a:noFill/>
          <a:ln>
            <a:noFill/>
          </a:ln>
        </p:spPr>
      </p:pic>
      <p:sp>
        <p:nvSpPr>
          <p:cNvPr id="19" name="Google Shape;19;p3"/>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2"/>
              </a:buClr>
              <a:buSzPts val="4800"/>
              <a:buFont typeface="Arial"/>
              <a:buNone/>
              <a:defRPr sz="4800" b="1">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648585"/>
              </a:buClr>
              <a:buSzPts val="2400"/>
              <a:buNone/>
              <a:defRPr sz="2400" i="1">
                <a:solidFill>
                  <a:srgbClr val="648585"/>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ítulo y objetos">
  <p:cSld name="Título y objetos">
    <p:spTree>
      <p:nvGrpSpPr>
        <p:cNvPr id="1" name="Shape 21"/>
        <p:cNvGrpSpPr/>
        <p:nvPr/>
      </p:nvGrpSpPr>
      <p:grpSpPr>
        <a:xfrm>
          <a:off x="0" y="0"/>
          <a:ext cx="0" cy="0"/>
          <a:chOff x="0" y="0"/>
          <a:chExt cx="0" cy="0"/>
        </a:xfrm>
      </p:grpSpPr>
      <p:grpSp>
        <p:nvGrpSpPr>
          <p:cNvPr id="22" name="Google Shape;22;p4"/>
          <p:cNvGrpSpPr/>
          <p:nvPr/>
        </p:nvGrpSpPr>
        <p:grpSpPr>
          <a:xfrm>
            <a:off x="0" y="5716598"/>
            <a:ext cx="11959674" cy="939388"/>
            <a:chOff x="0" y="5716598"/>
            <a:chExt cx="11959674" cy="939388"/>
          </a:xfrm>
        </p:grpSpPr>
        <p:pic>
          <p:nvPicPr>
            <p:cNvPr id="23" name="Google Shape;23;p4"/>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24" name="Google Shape;24;p4"/>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25" name="Google Shape;25;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4"/>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28" name="Google Shape;28;p4"/>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29"/>
        <p:cNvGrpSpPr/>
        <p:nvPr/>
      </p:nvGrpSpPr>
      <p:grpSpPr>
        <a:xfrm>
          <a:off x="0" y="0"/>
          <a:ext cx="0" cy="0"/>
          <a:chOff x="0" y="0"/>
          <a:chExt cx="0" cy="0"/>
        </a:xfrm>
      </p:grpSpPr>
      <p:grpSp>
        <p:nvGrpSpPr>
          <p:cNvPr id="30" name="Google Shape;30;p5"/>
          <p:cNvGrpSpPr/>
          <p:nvPr/>
        </p:nvGrpSpPr>
        <p:grpSpPr>
          <a:xfrm>
            <a:off x="0" y="5716598"/>
            <a:ext cx="11959674" cy="939388"/>
            <a:chOff x="0" y="5716598"/>
            <a:chExt cx="11959674" cy="939388"/>
          </a:xfrm>
        </p:grpSpPr>
        <p:pic>
          <p:nvPicPr>
            <p:cNvPr id="31" name="Google Shape;31;p5"/>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32" name="Google Shape;32;p5"/>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33" name="Google Shape;33;p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5"/>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35" name="Google Shape;35;p5"/>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36" name="Google Shape;36;p5"/>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37" name="Google Shape;37;p5"/>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38"/>
        <p:cNvGrpSpPr/>
        <p:nvPr/>
      </p:nvGrpSpPr>
      <p:grpSpPr>
        <a:xfrm>
          <a:off x="0" y="0"/>
          <a:ext cx="0" cy="0"/>
          <a:chOff x="0" y="0"/>
          <a:chExt cx="0" cy="0"/>
        </a:xfrm>
      </p:grpSpPr>
      <p:grpSp>
        <p:nvGrpSpPr>
          <p:cNvPr id="39" name="Google Shape;39;p6"/>
          <p:cNvGrpSpPr/>
          <p:nvPr/>
        </p:nvGrpSpPr>
        <p:grpSpPr>
          <a:xfrm>
            <a:off x="0" y="5716598"/>
            <a:ext cx="11959674" cy="939388"/>
            <a:chOff x="0" y="5716598"/>
            <a:chExt cx="11959674" cy="939388"/>
          </a:xfrm>
        </p:grpSpPr>
        <p:pic>
          <p:nvPicPr>
            <p:cNvPr id="40" name="Google Shape;40;p6"/>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41" name="Google Shape;41;p6"/>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42" name="Google Shape;4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46" name="Google Shape;46;p6"/>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47"/>
        <p:cNvGrpSpPr/>
        <p:nvPr/>
      </p:nvGrpSpPr>
      <p:grpSpPr>
        <a:xfrm>
          <a:off x="0" y="0"/>
          <a:ext cx="0" cy="0"/>
          <a:chOff x="0" y="0"/>
          <a:chExt cx="0" cy="0"/>
        </a:xfrm>
      </p:grpSpPr>
      <p:grpSp>
        <p:nvGrpSpPr>
          <p:cNvPr id="48" name="Google Shape;48;p7"/>
          <p:cNvGrpSpPr/>
          <p:nvPr/>
        </p:nvGrpSpPr>
        <p:grpSpPr>
          <a:xfrm>
            <a:off x="0" y="5716598"/>
            <a:ext cx="11959674" cy="939388"/>
            <a:chOff x="0" y="5716598"/>
            <a:chExt cx="11959674" cy="939388"/>
          </a:xfrm>
        </p:grpSpPr>
        <p:pic>
          <p:nvPicPr>
            <p:cNvPr id="49" name="Google Shape;49;p7"/>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50" name="Google Shape;50;p7"/>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51" name="Google Shape;51;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3" name="Google Shape;53;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5" name="Google Shape;55;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7"/>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57" name="Google Shape;57;p7"/>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58"/>
        <p:cNvGrpSpPr/>
        <p:nvPr/>
      </p:nvGrpSpPr>
      <p:grpSpPr>
        <a:xfrm>
          <a:off x="0" y="0"/>
          <a:ext cx="0" cy="0"/>
          <a:chOff x="0" y="0"/>
          <a:chExt cx="0" cy="0"/>
        </a:xfrm>
      </p:grpSpPr>
      <p:grpSp>
        <p:nvGrpSpPr>
          <p:cNvPr id="59" name="Google Shape;59;p8"/>
          <p:cNvGrpSpPr/>
          <p:nvPr/>
        </p:nvGrpSpPr>
        <p:grpSpPr>
          <a:xfrm>
            <a:off x="0" y="5716598"/>
            <a:ext cx="11959674" cy="939388"/>
            <a:chOff x="0" y="5716598"/>
            <a:chExt cx="11959674" cy="939388"/>
          </a:xfrm>
        </p:grpSpPr>
        <p:pic>
          <p:nvPicPr>
            <p:cNvPr id="60" name="Google Shape;60;p8"/>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1" name="Google Shape;61;p8"/>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62" name="Google Shape;6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8"/>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64" name="Google Shape;64;p8"/>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TSP · Fractura del eje palier del motor de tracción — flota 980E-5</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 blanco">
  <p:cSld name="En blanco">
    <p:spTree>
      <p:nvGrpSpPr>
        <p:cNvPr id="1" name="Shape 65"/>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6"/>
        <p:cNvGrpSpPr/>
        <p:nvPr/>
      </p:nvGrpSpPr>
      <p:grpSpPr>
        <a:xfrm>
          <a:off x="0" y="0"/>
          <a:ext cx="0" cy="0"/>
          <a:chOff x="0" y="0"/>
          <a:chExt cx="0" cy="0"/>
        </a:xfrm>
      </p:grpSpPr>
      <p:grpSp>
        <p:nvGrpSpPr>
          <p:cNvPr id="67" name="Google Shape;67;p10"/>
          <p:cNvGrpSpPr/>
          <p:nvPr/>
        </p:nvGrpSpPr>
        <p:grpSpPr>
          <a:xfrm>
            <a:off x="0" y="5716598"/>
            <a:ext cx="11959674" cy="939388"/>
            <a:chOff x="0" y="5716598"/>
            <a:chExt cx="11959674" cy="939388"/>
          </a:xfrm>
        </p:grpSpPr>
        <p:pic>
          <p:nvPicPr>
            <p:cNvPr id="68" name="Google Shape;68;p10"/>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69" name="Google Shape;69;p10"/>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0" name="Google Shape;70;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2"/>
              </a:buClr>
              <a:buSzPts val="3200"/>
              <a:buFont typeface="Arial"/>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0"/>
          <p:cNvSpPr>
            <a:spLocks noGrp="1"/>
          </p:cNvSpPr>
          <p:nvPr>
            <p:ph type="pic" idx="2"/>
          </p:nvPr>
        </p:nvSpPr>
        <p:spPr>
          <a:xfrm>
            <a:off x="5183188" y="987426"/>
            <a:ext cx="6172200" cy="4541308"/>
          </a:xfrm>
          <a:prstGeom prst="rect">
            <a:avLst/>
          </a:prstGeom>
          <a:noFill/>
          <a:ln>
            <a:noFill/>
          </a:ln>
        </p:spPr>
      </p:sp>
      <p:sp>
        <p:nvSpPr>
          <p:cNvPr id="72" name="Google Shape;72;p10"/>
          <p:cNvSpPr txBox="1">
            <a:spLocks noGrp="1"/>
          </p:cNvSpPr>
          <p:nvPr>
            <p:ph type="body" idx="1"/>
          </p:nvPr>
        </p:nvSpPr>
        <p:spPr>
          <a:xfrm>
            <a:off x="839788" y="2057400"/>
            <a:ext cx="3932237" cy="35516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3" name="Google Shape;73;p10"/>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74" name="Google Shape;74;p10"/>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75"/>
        <p:cNvGrpSpPr/>
        <p:nvPr/>
      </p:nvGrpSpPr>
      <p:grpSpPr>
        <a:xfrm>
          <a:off x="0" y="0"/>
          <a:ext cx="0" cy="0"/>
          <a:chOff x="0" y="0"/>
          <a:chExt cx="0" cy="0"/>
        </a:xfrm>
      </p:grpSpPr>
      <p:grpSp>
        <p:nvGrpSpPr>
          <p:cNvPr id="76" name="Google Shape;76;p11"/>
          <p:cNvGrpSpPr/>
          <p:nvPr/>
        </p:nvGrpSpPr>
        <p:grpSpPr>
          <a:xfrm>
            <a:off x="0" y="5716598"/>
            <a:ext cx="11959674" cy="939388"/>
            <a:chOff x="0" y="5716598"/>
            <a:chExt cx="11959674" cy="939388"/>
          </a:xfrm>
        </p:grpSpPr>
        <p:pic>
          <p:nvPicPr>
            <p:cNvPr id="77" name="Google Shape;77;p11"/>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78" name="Google Shape;78;p11"/>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79" name="Google Shape;79;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1"/>
          <p:cNvSpPr txBox="1">
            <a:spLocks noGrp="1"/>
          </p:cNvSpPr>
          <p:nvPr>
            <p:ph type="body" idx="1"/>
          </p:nvPr>
        </p:nvSpPr>
        <p:spPr>
          <a:xfrm rot="5400000">
            <a:off x="4161556" y="-1497730"/>
            <a:ext cx="386888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82" name="Google Shape;82;p11"/>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83"/>
        <p:cNvGrpSpPr/>
        <p:nvPr/>
      </p:nvGrpSpPr>
      <p:grpSpPr>
        <a:xfrm>
          <a:off x="0" y="0"/>
          <a:ext cx="0" cy="0"/>
          <a:chOff x="0" y="0"/>
          <a:chExt cx="0" cy="0"/>
        </a:xfrm>
      </p:grpSpPr>
      <p:grpSp>
        <p:nvGrpSpPr>
          <p:cNvPr id="84" name="Google Shape;84;p12"/>
          <p:cNvGrpSpPr/>
          <p:nvPr/>
        </p:nvGrpSpPr>
        <p:grpSpPr>
          <a:xfrm>
            <a:off x="0" y="5716598"/>
            <a:ext cx="11959674" cy="939388"/>
            <a:chOff x="0" y="5716598"/>
            <a:chExt cx="11959674" cy="939388"/>
          </a:xfrm>
        </p:grpSpPr>
        <p:pic>
          <p:nvPicPr>
            <p:cNvPr id="85" name="Google Shape;85;p12"/>
            <p:cNvPicPr preferRelativeResize="0"/>
            <p:nvPr/>
          </p:nvPicPr>
          <p:blipFill rotWithShape="1">
            <a:blip r:embed="rId2">
              <a:alphaModFix/>
            </a:blip>
            <a:srcRect/>
            <a:stretch/>
          </p:blipFill>
          <p:spPr>
            <a:xfrm>
              <a:off x="0" y="5716598"/>
              <a:ext cx="11034643" cy="939388"/>
            </a:xfrm>
            <a:prstGeom prst="rect">
              <a:avLst/>
            </a:prstGeom>
            <a:noFill/>
            <a:ln>
              <a:noFill/>
            </a:ln>
          </p:spPr>
        </p:pic>
        <p:sp>
          <p:nvSpPr>
            <p:cNvPr id="86" name="Google Shape;86;p12"/>
            <p:cNvSpPr/>
            <p:nvPr/>
          </p:nvSpPr>
          <p:spPr>
            <a:xfrm>
              <a:off x="11020286" y="5716598"/>
              <a:ext cx="939388" cy="939388"/>
            </a:xfrm>
            <a:prstGeom prst="ellipse">
              <a:avLst/>
            </a:prstGeom>
            <a:solidFill>
              <a:schemeClr val="accent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grpSp>
      <p:sp>
        <p:nvSpPr>
          <p:cNvPr id="87" name="Google Shape;87;p12"/>
          <p:cNvSpPr txBox="1">
            <a:spLocks noGrp="1"/>
          </p:cNvSpPr>
          <p:nvPr>
            <p:ph type="title"/>
          </p:nvPr>
        </p:nvSpPr>
        <p:spPr>
          <a:xfrm rot="5400000">
            <a:off x="7363614" y="1726412"/>
            <a:ext cx="5351473"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2"/>
          <p:cNvSpPr txBox="1">
            <a:spLocks noGrp="1"/>
          </p:cNvSpPr>
          <p:nvPr>
            <p:ph type="body" idx="1"/>
          </p:nvPr>
        </p:nvSpPr>
        <p:spPr>
          <a:xfrm rot="5400000">
            <a:off x="2029614" y="-826288"/>
            <a:ext cx="5351473"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9" name="Google Shape;89;p12"/>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
        <p:nvSpPr>
          <p:cNvPr id="90" name="Google Shape;90;p12"/>
          <p:cNvSpPr/>
          <p:nvPr/>
        </p:nvSpPr>
        <p:spPr>
          <a:xfrm>
            <a:off x="237434" y="6004476"/>
            <a:ext cx="5680765" cy="34711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s-ES" sz="1600" b="1" i="0" u="none" strike="noStrike" cap="none">
                <a:solidFill>
                  <a:schemeClr val="lt1"/>
                </a:solidFill>
                <a:latin typeface="Arial"/>
                <a:ea typeface="Arial"/>
                <a:cs typeface="Arial"/>
                <a:sym typeface="Arial"/>
              </a:rPr>
              <a:t>Título de la presentación</a:t>
            </a:r>
            <a:endParaRPr sz="1600" b="1" i="0" u="none" strike="noStrike" cap="none">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2"/>
              </a:buClr>
              <a:buSzPts val="4400"/>
              <a:buFont typeface="Arial"/>
              <a:buNone/>
              <a:defRPr sz="4400" b="1" i="0" u="none" strike="noStrike" cap="none">
                <a:solidFill>
                  <a:schemeClr val="dk2"/>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838200" y="1825626"/>
            <a:ext cx="10515600" cy="386888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1"/>
          <p:cNvSpPr txBox="1">
            <a:spLocks noGrp="1"/>
          </p:cNvSpPr>
          <p:nvPr>
            <p:ph type="ftr" idx="11"/>
          </p:nvPr>
        </p:nvSpPr>
        <p:spPr>
          <a:xfrm>
            <a:off x="237435" y="6013034"/>
            <a:ext cx="6070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1"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1"/>
          <p:cNvSpPr txBox="1">
            <a:spLocks noGrp="1"/>
          </p:cNvSpPr>
          <p:nvPr>
            <p:ph type="sldNum" idx="12"/>
          </p:nvPr>
        </p:nvSpPr>
        <p:spPr>
          <a:xfrm>
            <a:off x="11194770" y="6004476"/>
            <a:ext cx="624696" cy="365125"/>
          </a:xfrm>
          <a:prstGeom prst="rect">
            <a:avLst/>
          </a:prstGeom>
          <a:noFill/>
          <a:ln>
            <a:noFill/>
          </a:ln>
        </p:spPr>
        <p:txBody>
          <a:bodyPr spcFirstLastPara="1" wrap="square" lIns="91425" tIns="45700" rIns="91425" bIns="45700" anchor="ctr" anchorCtr="0">
            <a:noAutofit/>
          </a:bodyPr>
          <a:lstStyle>
            <a:lvl1pPr marL="0" marR="0" lvl="0"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1pPr>
            <a:lvl2pPr marL="0" marR="0" lvl="1"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2pPr>
            <a:lvl3pPr marL="0" marR="0" lvl="2"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3pPr>
            <a:lvl4pPr marL="0" marR="0" lvl="3"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4pPr>
            <a:lvl5pPr marL="0" marR="0" lvl="4"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5pPr>
            <a:lvl6pPr marL="0" marR="0" lvl="5"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6pPr>
            <a:lvl7pPr marL="0" marR="0" lvl="6"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7pPr>
            <a:lvl8pPr marL="0" marR="0" lvl="7"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8pPr>
            <a:lvl9pPr marL="0" marR="0" lvl="8" indent="0" algn="ctr" rtl="0">
              <a:lnSpc>
                <a:spcPct val="100000"/>
              </a:lnSpc>
              <a:spcBef>
                <a:spcPts val="0"/>
              </a:spcBef>
              <a:spcAft>
                <a:spcPts val="0"/>
              </a:spcAft>
              <a:buClr>
                <a:srgbClr val="000000"/>
              </a:buClr>
              <a:buSzPts val="1600"/>
              <a:buFont typeface="Arial"/>
              <a:buNone/>
              <a:defRPr sz="1600" b="1" i="0" u="none" strike="noStrike" cap="none">
                <a:solidFill>
                  <a:schemeClr val="lt1"/>
                </a:solidFill>
                <a:latin typeface="Arial"/>
                <a:ea typeface="Arial"/>
                <a:cs typeface="Arial"/>
                <a:sym typeface="Arial"/>
              </a:defRPr>
            </a:lvl9pPr>
          </a:lstStyle>
          <a:p>
            <a:pPr marL="0" lvl="0" indent="0" algn="ct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2743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 name="TextBox 2"/>
          <p:cNvSpPr txBox="1"/>
          <p:nvPr/>
        </p:nvSpPr>
        <p:spPr>
          <a:xfrm>
            <a:off x="841248" y="786384"/>
            <a:ext cx="10515600" cy="548640"/>
          </a:xfrm>
          <a:prstGeom prst="rect">
            <a:avLst/>
          </a:prstGeom>
          <a:noFill/>
        </p:spPr>
        <p:txBody>
          <a:bodyPr wrap="square" lIns="0" tIns="0" rIns="0" bIns="0" anchor="t">
            <a:spAutoFit/>
          </a:bodyPr>
          <a:lstStyle/>
          <a:p>
            <a:pPr algn="l">
              <a:lnSpc>
                <a:spcPct val="114000"/>
              </a:lnSpc>
              <a:spcBef>
                <a:spcPts val="0"/>
              </a:spcBef>
              <a:spcAft>
                <a:spcPts val="300"/>
              </a:spcAft>
            </a:pPr>
            <a:r>
              <a:rPr lang="es-ES" sz="1300" b="1" i="0" noProof="0" dirty="0">
                <a:solidFill>
                  <a:srgbClr val="042354"/>
                </a:solidFill>
                <a:latin typeface="Arial"/>
              </a:rPr>
              <a:t>PONTIFICIA UNIVERSIDAD CATÓLICA DEL PERÚ</a:t>
            </a:r>
          </a:p>
          <a:p>
            <a:pPr algn="l">
              <a:lnSpc>
                <a:spcPct val="114000"/>
              </a:lnSpc>
              <a:spcBef>
                <a:spcPts val="0"/>
              </a:spcBef>
              <a:spcAft>
                <a:spcPts val="400"/>
              </a:spcAft>
            </a:pPr>
            <a:r>
              <a:rPr lang="es-ES" sz="1300" b="1" i="0" noProof="0" dirty="0">
                <a:solidFill>
                  <a:srgbClr val="4A5568"/>
                </a:solidFill>
                <a:latin typeface="Arial"/>
              </a:rPr>
              <a:t>FACULTAD DE CIENCIAS E INGENIERÍA</a:t>
            </a:r>
          </a:p>
        </p:txBody>
      </p:sp>
      <p:cxnSp>
        <p:nvCxnSpPr>
          <p:cNvPr id="4" name="Connector 3"/>
          <p:cNvCxnSpPr/>
          <p:nvPr/>
        </p:nvCxnSpPr>
        <p:spPr>
          <a:xfrm>
            <a:off x="841248" y="1700784"/>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41248" y="1700784"/>
            <a:ext cx="1463040" cy="0"/>
          </a:xfrm>
          <a:prstGeom prst="line">
            <a:avLst/>
          </a:prstGeom>
          <a:ln w="38100">
            <a:solidFill>
              <a:srgbClr val="C3094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7" y="1956816"/>
            <a:ext cx="10515599" cy="1257973"/>
          </a:xfrm>
          <a:prstGeom prst="rect">
            <a:avLst/>
          </a:prstGeom>
          <a:noFill/>
        </p:spPr>
        <p:txBody>
          <a:bodyPr wrap="square" lIns="0" tIns="0" rIns="0" bIns="0" anchor="t">
            <a:spAutoFit/>
          </a:bodyPr>
          <a:lstStyle/>
          <a:p>
            <a:pPr algn="l">
              <a:lnSpc>
                <a:spcPct val="112000"/>
              </a:lnSpc>
              <a:spcBef>
                <a:spcPts val="0"/>
              </a:spcBef>
              <a:spcAft>
                <a:spcPts val="400"/>
              </a:spcAft>
            </a:pPr>
            <a:r>
              <a:rPr lang="es-ES" sz="2500" b="1" i="0" noProof="0" dirty="0">
                <a:solidFill>
                  <a:srgbClr val="042354"/>
                </a:solidFill>
                <a:latin typeface="Arial"/>
              </a:rPr>
              <a:t>Recuperación de los indicadores de mantenimiento de la flota 980E-5 de acarreo minero debido a la falla del eje palier del sistema de propulsión</a:t>
            </a:r>
          </a:p>
        </p:txBody>
      </p:sp>
      <p:sp>
        <p:nvSpPr>
          <p:cNvPr id="7" name="TextBox 6"/>
          <p:cNvSpPr txBox="1"/>
          <p:nvPr/>
        </p:nvSpPr>
        <p:spPr>
          <a:xfrm>
            <a:off x="841248" y="3803904"/>
            <a:ext cx="8275320" cy="365760"/>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0" i="0" noProof="0" dirty="0">
                <a:solidFill>
                  <a:srgbClr val="4A5568"/>
                </a:solidFill>
                <a:latin typeface="Arial"/>
              </a:rPr>
              <a:t>Trabajo de suficiencia profesional para obtener el título profesional de Ingeniero Mecánico</a:t>
            </a:r>
          </a:p>
        </p:txBody>
      </p:sp>
      <p:sp>
        <p:nvSpPr>
          <p:cNvPr id="8" name="Rectangle 7"/>
          <p:cNvSpPr/>
          <p:nvPr/>
        </p:nvSpPr>
        <p:spPr>
          <a:xfrm>
            <a:off x="841248"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TextBox 8"/>
          <p:cNvSpPr txBox="1"/>
          <p:nvPr/>
        </p:nvSpPr>
        <p:spPr>
          <a:xfrm>
            <a:off x="1060704"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7A8494"/>
                </a:solidFill>
                <a:latin typeface="Arial"/>
              </a:rPr>
              <a:t>AUTOR</a:t>
            </a:r>
          </a:p>
          <a:p>
            <a:pPr algn="l">
              <a:lnSpc>
                <a:spcPct val="114000"/>
              </a:lnSpc>
              <a:spcBef>
                <a:spcPts val="0"/>
              </a:spcBef>
              <a:spcAft>
                <a:spcPts val="400"/>
              </a:spcAft>
            </a:pPr>
            <a:r>
              <a:rPr lang="es-ES" sz="1300" b="1" i="0" noProof="0" dirty="0">
                <a:solidFill>
                  <a:srgbClr val="042354"/>
                </a:solidFill>
                <a:latin typeface="Arial"/>
              </a:rPr>
              <a:t>Samir Aldair Cedillo Preciado</a:t>
            </a:r>
          </a:p>
        </p:txBody>
      </p:sp>
      <p:sp>
        <p:nvSpPr>
          <p:cNvPr id="10" name="Rectangle 9"/>
          <p:cNvSpPr/>
          <p:nvPr/>
        </p:nvSpPr>
        <p:spPr>
          <a:xfrm>
            <a:off x="5980176" y="4315968"/>
            <a:ext cx="4892040" cy="9326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1" name="TextBox 10"/>
          <p:cNvSpPr txBox="1"/>
          <p:nvPr/>
        </p:nvSpPr>
        <p:spPr>
          <a:xfrm>
            <a:off x="6199632" y="4443984"/>
            <a:ext cx="4480560" cy="694944"/>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7A8494"/>
                </a:solidFill>
                <a:latin typeface="Arial"/>
              </a:rPr>
              <a:t>ASESOR</a:t>
            </a:r>
          </a:p>
          <a:p>
            <a:pPr algn="l">
              <a:lnSpc>
                <a:spcPct val="114000"/>
              </a:lnSpc>
              <a:spcBef>
                <a:spcPts val="0"/>
              </a:spcBef>
              <a:spcAft>
                <a:spcPts val="400"/>
              </a:spcAft>
            </a:pPr>
            <a:r>
              <a:rPr lang="es-ES" sz="1300" b="1" i="0" noProof="0" dirty="0">
                <a:solidFill>
                  <a:srgbClr val="042354"/>
                </a:solidFill>
                <a:latin typeface="Arial"/>
              </a:rPr>
              <a:t>Ing. Carlos Alberto Juárez </a:t>
            </a:r>
            <a:r>
              <a:rPr lang="es-ES" sz="1300" b="1" i="0" noProof="0" dirty="0" err="1">
                <a:solidFill>
                  <a:srgbClr val="042354"/>
                </a:solidFill>
                <a:latin typeface="Arial"/>
              </a:rPr>
              <a:t>Aparcana</a:t>
            </a:r>
            <a:endParaRPr lang="es-ES" sz="1300" b="1" i="0" noProof="0" dirty="0">
              <a:solidFill>
                <a:srgbClr val="042354"/>
              </a:solidFill>
              <a:latin typeface="Arial"/>
            </a:endParaRPr>
          </a:p>
        </p:txBody>
      </p:sp>
      <p:sp>
        <p:nvSpPr>
          <p:cNvPr id="12" name="TextBox 11"/>
          <p:cNvSpPr txBox="1"/>
          <p:nvPr/>
        </p:nvSpPr>
        <p:spPr>
          <a:xfrm>
            <a:off x="841248" y="5449824"/>
            <a:ext cx="4572000" cy="292608"/>
          </a:xfrm>
          <a:prstGeom prst="rect">
            <a:avLst/>
          </a:prstGeom>
          <a:noFill/>
        </p:spPr>
        <p:txBody>
          <a:bodyPr wrap="square" lIns="0" tIns="0" rIns="0" bIns="0" anchor="t">
            <a:spAutoFit/>
          </a:bodyPr>
          <a:lstStyle/>
          <a:p>
            <a:pPr algn="l">
              <a:lnSpc>
                <a:spcPct val="114000"/>
              </a:lnSpc>
              <a:spcBef>
                <a:spcPts val="0"/>
              </a:spcBef>
              <a:spcAft>
                <a:spcPts val="400"/>
              </a:spcAft>
            </a:pPr>
            <a:r>
              <a:rPr lang="es-ES" sz="1100" b="0" i="0" noProof="0" dirty="0">
                <a:solidFill>
                  <a:srgbClr val="4A5568"/>
                </a:solidFill>
                <a:latin typeface="Arial"/>
              </a:rPr>
              <a:t>Lima, setiembre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Contenido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2</a:t>
            </a:r>
          </a:p>
        </p:txBody>
      </p:sp>
      <p:sp>
        <p:nvSpPr>
          <p:cNvPr id="6" name="Rectangle 5"/>
          <p:cNvSpPr/>
          <p:nvPr/>
        </p:nvSpPr>
        <p:spPr>
          <a:xfrm>
            <a:off x="841248" y="1664208"/>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7" name="Rectangle 6"/>
          <p:cNvSpPr/>
          <p:nvPr/>
        </p:nvSpPr>
        <p:spPr>
          <a:xfrm>
            <a:off x="841248" y="166420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01</a:t>
            </a:r>
          </a:p>
        </p:txBody>
      </p:sp>
      <p:sp>
        <p:nvSpPr>
          <p:cNvPr id="8" name="TextBox 7"/>
          <p:cNvSpPr txBox="1"/>
          <p:nvPr/>
        </p:nvSpPr>
        <p:spPr>
          <a:xfrm>
            <a:off x="1536192" y="1795865"/>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Definición del problema</a:t>
            </a:r>
          </a:p>
        </p:txBody>
      </p:sp>
      <p:sp>
        <p:nvSpPr>
          <p:cNvPr id="9" name="Rectangle 8"/>
          <p:cNvSpPr/>
          <p:nvPr/>
        </p:nvSpPr>
        <p:spPr>
          <a:xfrm>
            <a:off x="841248" y="2231136"/>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Rectangle 9"/>
          <p:cNvSpPr/>
          <p:nvPr/>
        </p:nvSpPr>
        <p:spPr>
          <a:xfrm>
            <a:off x="841248" y="223113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02</a:t>
            </a:r>
          </a:p>
        </p:txBody>
      </p:sp>
      <p:sp>
        <p:nvSpPr>
          <p:cNvPr id="11" name="TextBox 10"/>
          <p:cNvSpPr txBox="1"/>
          <p:nvPr/>
        </p:nvSpPr>
        <p:spPr>
          <a:xfrm>
            <a:off x="1536192" y="224942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Objetivos</a:t>
            </a:r>
          </a:p>
        </p:txBody>
      </p:sp>
      <p:sp>
        <p:nvSpPr>
          <p:cNvPr id="12" name="Rectangle 11"/>
          <p:cNvSpPr/>
          <p:nvPr/>
        </p:nvSpPr>
        <p:spPr>
          <a:xfrm>
            <a:off x="841248" y="2798064"/>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3" name="Rectangle 12"/>
          <p:cNvSpPr/>
          <p:nvPr/>
        </p:nvSpPr>
        <p:spPr>
          <a:xfrm>
            <a:off x="841248" y="2798064"/>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03</a:t>
            </a:r>
          </a:p>
        </p:txBody>
      </p:sp>
      <p:sp>
        <p:nvSpPr>
          <p:cNvPr id="14" name="TextBox 13"/>
          <p:cNvSpPr txBox="1"/>
          <p:nvPr/>
        </p:nvSpPr>
        <p:spPr>
          <a:xfrm>
            <a:off x="1536192" y="2816352"/>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Metodología</a:t>
            </a:r>
          </a:p>
        </p:txBody>
      </p:sp>
      <p:sp>
        <p:nvSpPr>
          <p:cNvPr id="15" name="Rectangle 14"/>
          <p:cNvSpPr/>
          <p:nvPr/>
        </p:nvSpPr>
        <p:spPr>
          <a:xfrm>
            <a:off x="841248" y="3364992"/>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6" name="Rectangle 15"/>
          <p:cNvSpPr/>
          <p:nvPr/>
        </p:nvSpPr>
        <p:spPr>
          <a:xfrm>
            <a:off x="841248" y="3364992"/>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04</a:t>
            </a:r>
          </a:p>
        </p:txBody>
      </p:sp>
      <p:sp>
        <p:nvSpPr>
          <p:cNvPr id="17" name="TextBox 16"/>
          <p:cNvSpPr txBox="1"/>
          <p:nvPr/>
        </p:nvSpPr>
        <p:spPr>
          <a:xfrm>
            <a:off x="1536192" y="3496649"/>
            <a:ext cx="9601200" cy="212174"/>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Desarrollo</a:t>
            </a:r>
          </a:p>
        </p:txBody>
      </p:sp>
      <p:sp>
        <p:nvSpPr>
          <p:cNvPr id="18" name="Rectangle 17"/>
          <p:cNvSpPr/>
          <p:nvPr/>
        </p:nvSpPr>
        <p:spPr>
          <a:xfrm>
            <a:off x="841248" y="3931920"/>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9" name="Rectangle 18"/>
          <p:cNvSpPr/>
          <p:nvPr/>
        </p:nvSpPr>
        <p:spPr>
          <a:xfrm>
            <a:off x="841248" y="3931920"/>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05</a:t>
            </a:r>
          </a:p>
        </p:txBody>
      </p:sp>
      <p:sp>
        <p:nvSpPr>
          <p:cNvPr id="20" name="TextBox 19"/>
          <p:cNvSpPr txBox="1"/>
          <p:nvPr/>
        </p:nvSpPr>
        <p:spPr>
          <a:xfrm>
            <a:off x="1536192" y="3950207"/>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Solución de ingeniería adoptada</a:t>
            </a:r>
          </a:p>
        </p:txBody>
      </p:sp>
      <p:sp>
        <p:nvSpPr>
          <p:cNvPr id="21" name="Rectangle 20"/>
          <p:cNvSpPr/>
          <p:nvPr/>
        </p:nvSpPr>
        <p:spPr>
          <a:xfrm>
            <a:off x="841248" y="4498848"/>
            <a:ext cx="10515600" cy="475488"/>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2" name="Rectangle 21"/>
          <p:cNvSpPr/>
          <p:nvPr/>
        </p:nvSpPr>
        <p:spPr>
          <a:xfrm>
            <a:off x="841248" y="4498848"/>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06</a:t>
            </a:r>
          </a:p>
        </p:txBody>
      </p:sp>
      <p:sp>
        <p:nvSpPr>
          <p:cNvPr id="23" name="TextBox 22"/>
          <p:cNvSpPr txBox="1"/>
          <p:nvPr/>
        </p:nvSpPr>
        <p:spPr>
          <a:xfrm>
            <a:off x="1536192" y="4517136"/>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Resultados y verificación</a:t>
            </a:r>
          </a:p>
        </p:txBody>
      </p:sp>
      <p:sp>
        <p:nvSpPr>
          <p:cNvPr id="24" name="Rectangle 23"/>
          <p:cNvSpPr/>
          <p:nvPr/>
        </p:nvSpPr>
        <p:spPr>
          <a:xfrm>
            <a:off x="841248" y="5065776"/>
            <a:ext cx="10515600" cy="47548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5" name="Rectangle 24"/>
          <p:cNvSpPr/>
          <p:nvPr/>
        </p:nvSpPr>
        <p:spPr>
          <a:xfrm>
            <a:off x="841248" y="5065776"/>
            <a:ext cx="475488"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200" b="1" i="0" noProof="0" dirty="0">
                <a:solidFill>
                  <a:srgbClr val="FFFFFF"/>
                </a:solidFill>
                <a:latin typeface="Arial"/>
              </a:rPr>
              <a:t>07</a:t>
            </a:r>
          </a:p>
        </p:txBody>
      </p:sp>
      <p:sp>
        <p:nvSpPr>
          <p:cNvPr id="26" name="TextBox 25"/>
          <p:cNvSpPr txBox="1"/>
          <p:nvPr/>
        </p:nvSpPr>
        <p:spPr>
          <a:xfrm>
            <a:off x="1536192" y="5084064"/>
            <a:ext cx="9601200" cy="438912"/>
          </a:xfrm>
          <a:prstGeom prst="rect">
            <a:avLst/>
          </a:prstGeom>
          <a:noFill/>
        </p:spPr>
        <p:txBody>
          <a:bodyPr wrap="square" lIns="0" tIns="0" rIns="0" bIns="0" anchor="ctr">
            <a:spAutoFit/>
          </a:bodyPr>
          <a:lstStyle/>
          <a:p>
            <a:pPr algn="l">
              <a:lnSpc>
                <a:spcPct val="106000"/>
              </a:lnSpc>
              <a:spcBef>
                <a:spcPts val="0"/>
              </a:spcBef>
              <a:spcAft>
                <a:spcPts val="400"/>
              </a:spcAft>
            </a:pPr>
            <a:r>
              <a:rPr lang="es-ES" sz="1400" b="0" i="0" noProof="0" dirty="0">
                <a:solidFill>
                  <a:srgbClr val="042354"/>
                </a:solidFill>
                <a:latin typeface="Arial"/>
              </a:rPr>
              <a:t>Conclusiones</a:t>
            </a:r>
          </a:p>
        </p:txBody>
      </p:sp>
      <p:pic>
        <p:nvPicPr>
          <p:cNvPr id="28" name="Imagen 27">
            <a:extLst>
              <a:ext uri="{FF2B5EF4-FFF2-40B4-BE49-F238E27FC236}">
                <a16:creationId xmlns:a16="http://schemas.microsoft.com/office/drawing/2014/main" id="{BEFBA072-71F7-0468-7F36-34B26D25D672}"/>
              </a:ext>
            </a:extLst>
          </p:cNvPr>
          <p:cNvPicPr>
            <a:picLocks noChangeAspect="1"/>
          </p:cNvPicPr>
          <p:nvPr/>
        </p:nvPicPr>
        <p:blipFill>
          <a:blip r:embed="rId2"/>
          <a:stretch>
            <a:fillRect/>
          </a:stretch>
        </p:blipFill>
        <p:spPr>
          <a:xfrm>
            <a:off x="158617" y="5943600"/>
            <a:ext cx="5620013" cy="5506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El problema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3</a:t>
            </a:r>
          </a:p>
        </p:txBody>
      </p:sp>
      <p:pic>
        <p:nvPicPr>
          <p:cNvPr id="18" name="Imagen 17">
            <a:extLst>
              <a:ext uri="{FF2B5EF4-FFF2-40B4-BE49-F238E27FC236}">
                <a16:creationId xmlns:a16="http://schemas.microsoft.com/office/drawing/2014/main" id="{A643B908-DB89-5F79-1550-B4FA95CAADB4}"/>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17" name="Imagen 16">
            <a:extLst>
              <a:ext uri="{FF2B5EF4-FFF2-40B4-BE49-F238E27FC236}">
                <a16:creationId xmlns:a16="http://schemas.microsoft.com/office/drawing/2014/main" id="{6816C735-E46E-5BC5-3A1A-FBD4530910F4}"/>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41248" y="1426464"/>
            <a:ext cx="3353799" cy="3346704"/>
          </a:xfrm>
          <a:prstGeom prst="rect">
            <a:avLst/>
          </a:prstGeom>
          <a:noFill/>
          <a:ln>
            <a:noFill/>
          </a:ln>
        </p:spPr>
      </p:pic>
      <p:sp>
        <p:nvSpPr>
          <p:cNvPr id="19" name="TextBox 18"/>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01 · DEFINICIÓN DEL PROBLEMA</a:t>
            </a:r>
          </a:p>
        </p:txBody>
      </p:sp>
      <p:sp>
        <p:nvSpPr>
          <p:cNvPr id="20" name="TextBox 19"/>
          <p:cNvSpPr txBox="1"/>
          <p:nvPr/>
        </p:nvSpPr>
        <p:spPr>
          <a:xfrm>
            <a:off x="841248" y="4809744"/>
            <a:ext cx="3536679" cy="18288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Indicadores de la flota 2022-2024. Fuente: registro de paradas.</a:t>
            </a:r>
          </a:p>
        </p:txBody>
      </p:sp>
      <p:sp>
        <p:nvSpPr>
          <p:cNvPr id="21" name="TextBox 20"/>
          <p:cNvSpPr txBox="1"/>
          <p:nvPr/>
        </p:nvSpPr>
        <p:spPr>
          <a:xfrm>
            <a:off x="4487655" y="1389888"/>
            <a:ext cx="6869192"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METAS CONTRACTUALES · DIEZ CAMIONES 980E-5 DE 400 t</a:t>
            </a:r>
          </a:p>
        </p:txBody>
      </p:sp>
      <p:sp>
        <p:nvSpPr>
          <p:cNvPr id="22" name="Rectangle 21"/>
          <p:cNvSpPr/>
          <p:nvPr/>
        </p:nvSpPr>
        <p:spPr>
          <a:xfrm>
            <a:off x="4487655" y="1664208"/>
            <a:ext cx="2216578" cy="60350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3" name="Rectangle 22"/>
          <p:cNvSpPr/>
          <p:nvPr/>
        </p:nvSpPr>
        <p:spPr>
          <a:xfrm>
            <a:off x="4487655" y="1664208"/>
            <a:ext cx="2216578"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4" name="TextBox 23"/>
          <p:cNvSpPr txBox="1"/>
          <p:nvPr/>
        </p:nvSpPr>
        <p:spPr>
          <a:xfrm>
            <a:off x="4615671" y="1700784"/>
            <a:ext cx="2033698" cy="566928"/>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C3094A"/>
                </a:solidFill>
                <a:latin typeface="Arial"/>
              </a:rPr>
              <a:t>91,0 %</a:t>
            </a:r>
          </a:p>
          <a:p>
            <a:pPr algn="l">
              <a:lnSpc>
                <a:spcPct val="100000"/>
              </a:lnSpc>
              <a:spcBef>
                <a:spcPts val="0"/>
              </a:spcBef>
              <a:spcAft>
                <a:spcPts val="0"/>
              </a:spcAft>
            </a:pPr>
            <a:r>
              <a:rPr lang="es-ES" sz="800" b="0" i="0" noProof="0" dirty="0">
                <a:solidFill>
                  <a:srgbClr val="4A5568"/>
                </a:solidFill>
                <a:latin typeface="Arial"/>
              </a:rPr>
              <a:t>meta de disponibilidad</a:t>
            </a:r>
          </a:p>
        </p:txBody>
      </p:sp>
      <p:sp>
        <p:nvSpPr>
          <p:cNvPr id="25" name="Rectangle 24"/>
          <p:cNvSpPr/>
          <p:nvPr/>
        </p:nvSpPr>
        <p:spPr>
          <a:xfrm>
            <a:off x="6813962" y="1664208"/>
            <a:ext cx="2216578" cy="60350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6" name="Rectangle 25"/>
          <p:cNvSpPr/>
          <p:nvPr/>
        </p:nvSpPr>
        <p:spPr>
          <a:xfrm>
            <a:off x="6813962" y="1664208"/>
            <a:ext cx="2216578"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7" name="TextBox 26"/>
          <p:cNvSpPr txBox="1"/>
          <p:nvPr/>
        </p:nvSpPr>
        <p:spPr>
          <a:xfrm>
            <a:off x="6941978" y="1700784"/>
            <a:ext cx="2033698" cy="566928"/>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C3094A"/>
                </a:solidFill>
                <a:latin typeface="Arial"/>
              </a:rPr>
              <a:t>64,5 h</a:t>
            </a:r>
          </a:p>
          <a:p>
            <a:pPr algn="l">
              <a:lnSpc>
                <a:spcPct val="100000"/>
              </a:lnSpc>
              <a:spcBef>
                <a:spcPts val="0"/>
              </a:spcBef>
              <a:spcAft>
                <a:spcPts val="0"/>
              </a:spcAft>
            </a:pPr>
            <a:r>
              <a:rPr lang="es-ES" sz="800" b="0" i="0" noProof="0" dirty="0">
                <a:solidFill>
                  <a:srgbClr val="4A5568"/>
                </a:solidFill>
                <a:latin typeface="Arial"/>
              </a:rPr>
              <a:t>objetivo de MTBF</a:t>
            </a:r>
          </a:p>
        </p:txBody>
      </p:sp>
      <p:sp>
        <p:nvSpPr>
          <p:cNvPr id="28" name="Rectangle 27"/>
          <p:cNvSpPr/>
          <p:nvPr/>
        </p:nvSpPr>
        <p:spPr>
          <a:xfrm>
            <a:off x="9140269" y="1664208"/>
            <a:ext cx="2216578" cy="60350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9" name="Rectangle 28"/>
          <p:cNvSpPr/>
          <p:nvPr/>
        </p:nvSpPr>
        <p:spPr>
          <a:xfrm>
            <a:off x="9140269" y="1664208"/>
            <a:ext cx="2216578"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0" name="TextBox 29"/>
          <p:cNvSpPr txBox="1"/>
          <p:nvPr/>
        </p:nvSpPr>
        <p:spPr>
          <a:xfrm>
            <a:off x="9268285" y="1700784"/>
            <a:ext cx="2033698" cy="566928"/>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C3094A"/>
                </a:solidFill>
                <a:latin typeface="Arial"/>
              </a:rPr>
              <a:t>4,0 h</a:t>
            </a:r>
          </a:p>
          <a:p>
            <a:pPr algn="l">
              <a:lnSpc>
                <a:spcPct val="100000"/>
              </a:lnSpc>
              <a:spcBef>
                <a:spcPts val="0"/>
              </a:spcBef>
              <a:spcAft>
                <a:spcPts val="0"/>
              </a:spcAft>
            </a:pPr>
            <a:r>
              <a:rPr lang="es-ES" sz="800" b="0" i="0" noProof="0" dirty="0">
                <a:solidFill>
                  <a:srgbClr val="4A5568"/>
                </a:solidFill>
                <a:latin typeface="Arial"/>
              </a:rPr>
              <a:t>límite de MTTR</a:t>
            </a:r>
          </a:p>
        </p:txBody>
      </p:sp>
      <p:sp>
        <p:nvSpPr>
          <p:cNvPr id="31" name="TextBox 30"/>
          <p:cNvSpPr txBox="1"/>
          <p:nvPr/>
        </p:nvSpPr>
        <p:spPr>
          <a:xfrm>
            <a:off x="4487655" y="2414016"/>
            <a:ext cx="6869192"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LA FALLA MÁS CRÍTICA · FRACTURA POR FATIGA DEL EJE PALIER</a:t>
            </a:r>
          </a:p>
        </p:txBody>
      </p:sp>
      <p:pic>
        <p:nvPicPr>
          <p:cNvPr id="32" name="Picture 31" descr="image.png"/>
          <p:cNvPicPr>
            <a:picLocks noChangeAspect="1"/>
          </p:cNvPicPr>
          <p:nvPr/>
        </p:nvPicPr>
        <p:blipFill>
          <a:blip r:embed="rId5"/>
          <a:stretch>
            <a:fillRect/>
          </a:stretch>
        </p:blipFill>
        <p:spPr>
          <a:xfrm>
            <a:off x="5041891" y="2688336"/>
            <a:ext cx="5760720" cy="1418088"/>
          </a:xfrm>
          <a:prstGeom prst="rect">
            <a:avLst/>
          </a:prstGeom>
        </p:spPr>
      </p:pic>
      <p:sp>
        <p:nvSpPr>
          <p:cNvPr id="33" name="TextBox 32"/>
          <p:cNvSpPr txBox="1"/>
          <p:nvPr/>
        </p:nvSpPr>
        <p:spPr>
          <a:xfrm>
            <a:off x="5041891" y="4133856"/>
            <a:ext cx="5760720" cy="136384"/>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Eje palier fracturado. Informe DIESA</a:t>
            </a:r>
          </a:p>
        </p:txBody>
      </p:sp>
      <p:sp>
        <p:nvSpPr>
          <p:cNvPr id="34" name="Rectangle 33"/>
          <p:cNvSpPr/>
          <p:nvPr/>
        </p:nvSpPr>
        <p:spPr>
          <a:xfrm>
            <a:off x="4487655" y="4371600"/>
            <a:ext cx="1648718" cy="61187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5" name="Rectangle 34"/>
          <p:cNvSpPr/>
          <p:nvPr/>
        </p:nvSpPr>
        <p:spPr>
          <a:xfrm>
            <a:off x="4487655" y="4371600"/>
            <a:ext cx="1648718" cy="3657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6" name="TextBox 35"/>
          <p:cNvSpPr txBox="1"/>
          <p:nvPr/>
        </p:nvSpPr>
        <p:spPr>
          <a:xfrm>
            <a:off x="4597383" y="4408176"/>
            <a:ext cx="1484126" cy="575303"/>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042354"/>
                </a:solidFill>
                <a:latin typeface="Arial"/>
              </a:rPr>
              <a:t>13</a:t>
            </a:r>
          </a:p>
          <a:p>
            <a:pPr algn="l">
              <a:lnSpc>
                <a:spcPct val="100000"/>
              </a:lnSpc>
              <a:spcBef>
                <a:spcPts val="0"/>
              </a:spcBef>
              <a:spcAft>
                <a:spcPts val="0"/>
              </a:spcAft>
            </a:pPr>
            <a:r>
              <a:rPr lang="es-ES" sz="800" b="0" i="0" noProof="0" dirty="0">
                <a:solidFill>
                  <a:srgbClr val="4A5568"/>
                </a:solidFill>
                <a:latin typeface="Arial"/>
              </a:rPr>
              <a:t>eventos en 36 meses</a:t>
            </a:r>
          </a:p>
        </p:txBody>
      </p:sp>
      <p:sp>
        <p:nvSpPr>
          <p:cNvPr id="37" name="Rectangle 36"/>
          <p:cNvSpPr/>
          <p:nvPr/>
        </p:nvSpPr>
        <p:spPr>
          <a:xfrm>
            <a:off x="6227813" y="4371600"/>
            <a:ext cx="1648718" cy="61187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8" name="Rectangle 37"/>
          <p:cNvSpPr/>
          <p:nvPr/>
        </p:nvSpPr>
        <p:spPr>
          <a:xfrm>
            <a:off x="6227813" y="4371600"/>
            <a:ext cx="1648718" cy="3657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9" name="TextBox 38"/>
          <p:cNvSpPr txBox="1"/>
          <p:nvPr/>
        </p:nvSpPr>
        <p:spPr>
          <a:xfrm>
            <a:off x="6337541" y="4408176"/>
            <a:ext cx="1484126" cy="575303"/>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042354"/>
                </a:solidFill>
                <a:latin typeface="Arial"/>
              </a:rPr>
              <a:t>59,3 h</a:t>
            </a:r>
          </a:p>
          <a:p>
            <a:pPr algn="l">
              <a:lnSpc>
                <a:spcPct val="100000"/>
              </a:lnSpc>
              <a:spcBef>
                <a:spcPts val="0"/>
              </a:spcBef>
              <a:spcAft>
                <a:spcPts val="0"/>
              </a:spcAft>
            </a:pPr>
            <a:r>
              <a:rPr lang="es-ES" sz="800" b="0" i="0" noProof="0" dirty="0">
                <a:solidFill>
                  <a:srgbClr val="4A5568"/>
                </a:solidFill>
                <a:latin typeface="Arial"/>
              </a:rPr>
              <a:t>de detención por evento</a:t>
            </a:r>
          </a:p>
        </p:txBody>
      </p:sp>
      <p:sp>
        <p:nvSpPr>
          <p:cNvPr id="40" name="Rectangle 39"/>
          <p:cNvSpPr/>
          <p:nvPr/>
        </p:nvSpPr>
        <p:spPr>
          <a:xfrm>
            <a:off x="7967971" y="4371600"/>
            <a:ext cx="1648718" cy="61187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Rectangle 40"/>
          <p:cNvSpPr/>
          <p:nvPr/>
        </p:nvSpPr>
        <p:spPr>
          <a:xfrm>
            <a:off x="7967971" y="4371600"/>
            <a:ext cx="1648718" cy="3657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2" name="TextBox 41"/>
          <p:cNvSpPr txBox="1"/>
          <p:nvPr/>
        </p:nvSpPr>
        <p:spPr>
          <a:xfrm>
            <a:off x="8077699" y="4408176"/>
            <a:ext cx="1484126" cy="575303"/>
          </a:xfrm>
          <a:prstGeom prst="rect">
            <a:avLst/>
          </a:prstGeom>
          <a:noFill/>
        </p:spPr>
        <p:txBody>
          <a:bodyPr wrap="square" lIns="0" tIns="0" rIns="0" bIns="0" anchor="ctr">
            <a:spAutoFit/>
          </a:bodyPr>
          <a:lstStyle/>
          <a:p>
            <a:pPr algn="l">
              <a:lnSpc>
                <a:spcPct val="100000"/>
              </a:lnSpc>
              <a:spcBef>
                <a:spcPts val="0"/>
              </a:spcBef>
              <a:spcAft>
                <a:spcPts val="100"/>
              </a:spcAft>
            </a:pPr>
            <a:r>
              <a:rPr lang="es-ES" sz="1300" b="1" i="0" noProof="0" dirty="0">
                <a:solidFill>
                  <a:srgbClr val="042354"/>
                </a:solidFill>
                <a:latin typeface="Arial"/>
              </a:rPr>
              <a:t>US$ 763 393</a:t>
            </a:r>
          </a:p>
          <a:p>
            <a:pPr algn="l">
              <a:lnSpc>
                <a:spcPct val="100000"/>
              </a:lnSpc>
              <a:spcBef>
                <a:spcPts val="0"/>
              </a:spcBef>
              <a:spcAft>
                <a:spcPts val="0"/>
              </a:spcAft>
            </a:pPr>
            <a:r>
              <a:rPr lang="es-ES" sz="800" b="0" i="0" noProof="0" dirty="0">
                <a:solidFill>
                  <a:srgbClr val="4A5568"/>
                </a:solidFill>
                <a:latin typeface="Arial"/>
              </a:rPr>
              <a:t>por evento: evaluación y reparación mayor</a:t>
            </a:r>
          </a:p>
        </p:txBody>
      </p:sp>
      <p:sp>
        <p:nvSpPr>
          <p:cNvPr id="43" name="Rectangle 42"/>
          <p:cNvSpPr/>
          <p:nvPr/>
        </p:nvSpPr>
        <p:spPr>
          <a:xfrm>
            <a:off x="9708129" y="4371600"/>
            <a:ext cx="1648718" cy="61187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4" name="Rectangle 43"/>
          <p:cNvSpPr/>
          <p:nvPr/>
        </p:nvSpPr>
        <p:spPr>
          <a:xfrm>
            <a:off x="9708129" y="4371600"/>
            <a:ext cx="1648718" cy="3657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5" name="TextBox 44"/>
          <p:cNvSpPr txBox="1"/>
          <p:nvPr/>
        </p:nvSpPr>
        <p:spPr>
          <a:xfrm>
            <a:off x="9817857" y="4408176"/>
            <a:ext cx="1484126" cy="575303"/>
          </a:xfrm>
          <a:prstGeom prst="rect">
            <a:avLst/>
          </a:prstGeom>
          <a:noFill/>
        </p:spPr>
        <p:txBody>
          <a:bodyPr wrap="square" lIns="0" tIns="0" rIns="0" bIns="0" anchor="ctr">
            <a:spAutoFit/>
          </a:bodyPr>
          <a:lstStyle/>
          <a:p>
            <a:pPr algn="l">
              <a:lnSpc>
                <a:spcPct val="100000"/>
              </a:lnSpc>
              <a:spcBef>
                <a:spcPts val="0"/>
              </a:spcBef>
              <a:spcAft>
                <a:spcPts val="100"/>
              </a:spcAft>
            </a:pPr>
            <a:r>
              <a:rPr lang="es-ES" sz="1500" b="1" i="0" noProof="0" dirty="0">
                <a:solidFill>
                  <a:srgbClr val="042354"/>
                </a:solidFill>
                <a:latin typeface="Arial"/>
              </a:rPr>
              <a:t>0,36 %</a:t>
            </a:r>
          </a:p>
          <a:p>
            <a:pPr algn="l">
              <a:lnSpc>
                <a:spcPct val="100000"/>
              </a:lnSpc>
              <a:spcBef>
                <a:spcPts val="0"/>
              </a:spcBef>
              <a:spcAft>
                <a:spcPts val="0"/>
              </a:spcAft>
            </a:pPr>
            <a:r>
              <a:rPr lang="es-ES" sz="800" b="0" i="0" noProof="0" dirty="0">
                <a:solidFill>
                  <a:srgbClr val="4A5568"/>
                </a:solidFill>
                <a:latin typeface="Arial"/>
              </a:rPr>
              <a:t>de disponibilidad de flota</a:t>
            </a:r>
          </a:p>
        </p:txBody>
      </p:sp>
      <p:sp>
        <p:nvSpPr>
          <p:cNvPr id="46" name="Rectangle 45"/>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7" name="TextBox 46"/>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La brecha contractual se debe a la frecuencia de fallas y a reparaciones largas; la más crítica, la fractura del eje palier, ocurría entre 7 000 y 17 000 h, frente a un TBO de 20 000 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Objetivos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4</a:t>
            </a:r>
          </a:p>
        </p:txBody>
      </p:sp>
      <p:sp>
        <p:nvSpPr>
          <p:cNvPr id="6" name="Rectangle 5"/>
          <p:cNvSpPr/>
          <p:nvPr/>
        </p:nvSpPr>
        <p:spPr>
          <a:xfrm>
            <a:off x="841248" y="1463040"/>
            <a:ext cx="10515600" cy="98755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7" name="TextBox 6"/>
          <p:cNvSpPr txBox="1"/>
          <p:nvPr/>
        </p:nvSpPr>
        <p:spPr>
          <a:xfrm>
            <a:off x="1078992" y="1647244"/>
            <a:ext cx="10040112" cy="619144"/>
          </a:xfrm>
          <a:prstGeom prst="rect">
            <a:avLst/>
          </a:prstGeom>
          <a:noFill/>
        </p:spPr>
        <p:txBody>
          <a:bodyPr wrap="square" lIns="0" tIns="0" rIns="0" bIns="0" anchor="ctr">
            <a:spAutoFit/>
          </a:bodyPr>
          <a:lstStyle/>
          <a:p>
            <a:pPr algn="l">
              <a:lnSpc>
                <a:spcPct val="114000"/>
              </a:lnSpc>
              <a:spcBef>
                <a:spcPts val="0"/>
              </a:spcBef>
              <a:spcAft>
                <a:spcPts val="400"/>
              </a:spcAft>
            </a:pPr>
            <a:r>
              <a:rPr lang="es-ES" sz="900" b="1" i="0" noProof="0" dirty="0">
                <a:solidFill>
                  <a:srgbClr val="8FE4C6"/>
                </a:solidFill>
                <a:latin typeface="Arial"/>
              </a:rPr>
              <a:t>OBJETIVO GENERAL</a:t>
            </a:r>
          </a:p>
          <a:p>
            <a:pPr algn="l">
              <a:lnSpc>
                <a:spcPct val="116000"/>
              </a:lnSpc>
              <a:spcBef>
                <a:spcPts val="0"/>
              </a:spcBef>
              <a:spcAft>
                <a:spcPts val="400"/>
              </a:spcAft>
            </a:pPr>
            <a:r>
              <a:rPr lang="es-ES" sz="1200" b="0" i="0" noProof="0" dirty="0">
                <a:solidFill>
                  <a:srgbClr val="FFFFFF"/>
                </a:solidFill>
                <a:latin typeface="Arial"/>
              </a:rPr>
              <a:t>Recuperar los indicadores de mantenimiento </a:t>
            </a:r>
            <a:r>
              <a:rPr lang="es-ES" sz="1200" noProof="0" dirty="0">
                <a:solidFill>
                  <a:srgbClr val="FFFFFF"/>
                </a:solidFill>
              </a:rPr>
              <a:t>(</a:t>
            </a:r>
            <a:r>
              <a:rPr lang="es-ES" sz="1200" b="0" i="0" noProof="0" dirty="0">
                <a:solidFill>
                  <a:srgbClr val="FFFFFF"/>
                </a:solidFill>
                <a:latin typeface="Arial"/>
              </a:rPr>
              <a:t>MTBF, MTTR y disponibilidad</a:t>
            </a:r>
            <a:r>
              <a:rPr lang="es-ES" sz="1200" noProof="0" dirty="0">
                <a:solidFill>
                  <a:srgbClr val="FFFFFF"/>
                </a:solidFill>
              </a:rPr>
              <a:t>) </a:t>
            </a:r>
            <a:r>
              <a:rPr lang="es-ES" sz="1200" b="0" i="0" noProof="0" dirty="0">
                <a:solidFill>
                  <a:srgbClr val="FFFFFF"/>
                </a:solidFill>
                <a:latin typeface="Arial"/>
              </a:rPr>
              <a:t>del motor de tracción de los camiones mineros 980E-5 mediante la eliminación de la fractura del eje palier del sistema de propulsión.</a:t>
            </a:r>
          </a:p>
        </p:txBody>
      </p:sp>
      <p:sp>
        <p:nvSpPr>
          <p:cNvPr id="8" name="Rectangle 7"/>
          <p:cNvSpPr/>
          <p:nvPr/>
        </p:nvSpPr>
        <p:spPr>
          <a:xfrm>
            <a:off x="841248" y="2670048"/>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Rectangle 8"/>
          <p:cNvSpPr/>
          <p:nvPr/>
        </p:nvSpPr>
        <p:spPr>
          <a:xfrm>
            <a:off x="841248" y="2670048"/>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TextBox 9"/>
          <p:cNvSpPr txBox="1"/>
          <p:nvPr/>
        </p:nvSpPr>
        <p:spPr>
          <a:xfrm>
            <a:off x="1078992" y="2752344"/>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350" b="1" i="0" noProof="0" dirty="0">
                <a:solidFill>
                  <a:srgbClr val="C3094A"/>
                </a:solidFill>
                <a:latin typeface="Arial"/>
              </a:rPr>
              <a:t>OE1</a:t>
            </a:r>
          </a:p>
        </p:txBody>
      </p:sp>
      <p:sp>
        <p:nvSpPr>
          <p:cNvPr id="11" name="TextBox 10"/>
          <p:cNvSpPr txBox="1"/>
          <p:nvPr/>
        </p:nvSpPr>
        <p:spPr>
          <a:xfrm>
            <a:off x="1810512" y="2752344"/>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Identificar la falla recurrente y cuantificar su impacto sobre los indicadores del motor de tracción y sobre los costos de mantenimiento de la flota.</a:t>
            </a:r>
          </a:p>
        </p:txBody>
      </p:sp>
      <p:sp>
        <p:nvSpPr>
          <p:cNvPr id="12" name="Rectangle 11"/>
          <p:cNvSpPr/>
          <p:nvPr/>
        </p:nvSpPr>
        <p:spPr>
          <a:xfrm>
            <a:off x="841248" y="3438144"/>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3" name="Rectangle 12"/>
          <p:cNvSpPr/>
          <p:nvPr/>
        </p:nvSpPr>
        <p:spPr>
          <a:xfrm>
            <a:off x="841248" y="3438144"/>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4" name="TextBox 13"/>
          <p:cNvSpPr txBox="1"/>
          <p:nvPr/>
        </p:nvSpPr>
        <p:spPr>
          <a:xfrm>
            <a:off x="1078992" y="3520439"/>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350" b="1" i="0" noProof="0" dirty="0">
                <a:solidFill>
                  <a:srgbClr val="C3094A"/>
                </a:solidFill>
                <a:latin typeface="Arial"/>
              </a:rPr>
              <a:t>OE2</a:t>
            </a:r>
          </a:p>
        </p:txBody>
      </p:sp>
      <p:sp>
        <p:nvSpPr>
          <p:cNvPr id="15" name="TextBox 14"/>
          <p:cNvSpPr txBox="1"/>
          <p:nvPr/>
        </p:nvSpPr>
        <p:spPr>
          <a:xfrm>
            <a:off x="1810512" y="3520439"/>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Determinar las causas latentes de la recurrencia mediante un análisis de causa raíz que evalúe los procesos y procedimientos involucrados.</a:t>
            </a:r>
          </a:p>
        </p:txBody>
      </p:sp>
      <p:sp>
        <p:nvSpPr>
          <p:cNvPr id="16" name="Rectangle 15"/>
          <p:cNvSpPr/>
          <p:nvPr/>
        </p:nvSpPr>
        <p:spPr>
          <a:xfrm>
            <a:off x="841248" y="4206240"/>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7" name="Rectangle 16"/>
          <p:cNvSpPr/>
          <p:nvPr/>
        </p:nvSpPr>
        <p:spPr>
          <a:xfrm>
            <a:off x="841248" y="4206240"/>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8" name="TextBox 17"/>
          <p:cNvSpPr txBox="1"/>
          <p:nvPr/>
        </p:nvSpPr>
        <p:spPr>
          <a:xfrm>
            <a:off x="1078992" y="4288536"/>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350" b="1" i="0" noProof="0" dirty="0">
                <a:solidFill>
                  <a:srgbClr val="C3094A"/>
                </a:solidFill>
                <a:latin typeface="Arial"/>
              </a:rPr>
              <a:t>OE3</a:t>
            </a:r>
          </a:p>
        </p:txBody>
      </p:sp>
      <p:sp>
        <p:nvSpPr>
          <p:cNvPr id="19" name="TextBox 18"/>
          <p:cNvSpPr txBox="1"/>
          <p:nvPr/>
        </p:nvSpPr>
        <p:spPr>
          <a:xfrm>
            <a:off x="1810512" y="4288536"/>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Implementar el rediseño de la unión soldada, sustentando el plan de acción con la lógica de decisión del RCM, que ante la ausencia de tarea factible deriva en un cambio de diseño.</a:t>
            </a:r>
          </a:p>
        </p:txBody>
      </p:sp>
      <p:sp>
        <p:nvSpPr>
          <p:cNvPr id="20" name="Rectangle 19"/>
          <p:cNvSpPr/>
          <p:nvPr/>
        </p:nvSpPr>
        <p:spPr>
          <a:xfrm>
            <a:off x="841248" y="4974336"/>
            <a:ext cx="10515600" cy="69494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1" name="Rectangle 20"/>
          <p:cNvSpPr/>
          <p:nvPr/>
        </p:nvSpPr>
        <p:spPr>
          <a:xfrm>
            <a:off x="841248" y="4974336"/>
            <a:ext cx="45720" cy="69494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2" name="TextBox 21"/>
          <p:cNvSpPr txBox="1"/>
          <p:nvPr/>
        </p:nvSpPr>
        <p:spPr>
          <a:xfrm>
            <a:off x="1078992" y="5056631"/>
            <a:ext cx="73152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350" b="1" i="0" noProof="0" dirty="0">
                <a:solidFill>
                  <a:srgbClr val="C3094A"/>
                </a:solidFill>
                <a:latin typeface="Arial"/>
              </a:rPr>
              <a:t>OE4</a:t>
            </a:r>
          </a:p>
        </p:txBody>
      </p:sp>
      <p:sp>
        <p:nvSpPr>
          <p:cNvPr id="23" name="TextBox 22"/>
          <p:cNvSpPr txBox="1"/>
          <p:nvPr/>
        </p:nvSpPr>
        <p:spPr>
          <a:xfrm>
            <a:off x="1810512" y="5056631"/>
            <a:ext cx="9272016" cy="530352"/>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Evaluar la recuperación de los indicadores y el costo evitado, comparando el desempeño de la flota antes y después de la implementación.</a:t>
            </a:r>
          </a:p>
        </p:txBody>
      </p:sp>
      <p:pic>
        <p:nvPicPr>
          <p:cNvPr id="24" name="Imagen 23">
            <a:extLst>
              <a:ext uri="{FF2B5EF4-FFF2-40B4-BE49-F238E27FC236}">
                <a16:creationId xmlns:a16="http://schemas.microsoft.com/office/drawing/2014/main" id="{8EF53863-1501-1C64-0C61-476944C7B044}"/>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02 · OBJETIVOS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noProof="0" dirty="0">
                <a:solidFill>
                  <a:srgbClr val="042354"/>
                </a:solidFill>
              </a:rPr>
              <a:t>Etapas de la metodología</a:t>
            </a:r>
            <a:endParaRPr lang="es-ES" sz="2200" b="1" i="0" noProof="0" dirty="0">
              <a:solidFill>
                <a:srgbClr val="042354"/>
              </a:solidFill>
              <a:latin typeface="Arial"/>
            </a:endParaRP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5</a:t>
            </a:r>
          </a:p>
        </p:txBody>
      </p:sp>
      <p:sp>
        <p:nvSpPr>
          <p:cNvPr id="6" name="Rectangle 5"/>
          <p:cNvSpPr/>
          <p:nvPr/>
        </p:nvSpPr>
        <p:spPr>
          <a:xfrm>
            <a:off x="84124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7" name="Rectangle 6"/>
          <p:cNvSpPr/>
          <p:nvPr/>
        </p:nvSpPr>
        <p:spPr>
          <a:xfrm>
            <a:off x="84124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8" name="TextBox 7"/>
          <p:cNvSpPr txBox="1"/>
          <p:nvPr/>
        </p:nvSpPr>
        <p:spPr>
          <a:xfrm>
            <a:off x="102412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C3094A"/>
                </a:solidFill>
                <a:latin typeface="Arial"/>
              </a:rPr>
              <a:t>ETAPA 1</a:t>
            </a:r>
          </a:p>
          <a:p>
            <a:pPr algn="l">
              <a:lnSpc>
                <a:spcPct val="106000"/>
              </a:lnSpc>
              <a:spcBef>
                <a:spcPts val="0"/>
              </a:spcBef>
              <a:spcAft>
                <a:spcPts val="400"/>
              </a:spcAft>
            </a:pPr>
            <a:r>
              <a:rPr lang="es-ES" sz="1200" b="1" i="0" noProof="0" dirty="0">
                <a:solidFill>
                  <a:srgbClr val="042354"/>
                </a:solidFill>
                <a:latin typeface="Arial"/>
              </a:rPr>
              <a:t>Desempeño previo</a:t>
            </a:r>
          </a:p>
          <a:p>
            <a:pPr algn="l">
              <a:lnSpc>
                <a:spcPct val="112000"/>
              </a:lnSpc>
              <a:spcBef>
                <a:spcPts val="0"/>
              </a:spcBef>
              <a:spcAft>
                <a:spcPts val="400"/>
              </a:spcAft>
            </a:pPr>
            <a:r>
              <a:rPr lang="es-ES" sz="950" b="0" i="0" noProof="0" dirty="0">
                <a:solidFill>
                  <a:srgbClr val="4A5568"/>
                </a:solidFill>
                <a:latin typeface="Arial"/>
              </a:rPr>
              <a:t>Cálculo de indicadores
y desviación contractual</a:t>
            </a:r>
          </a:p>
        </p:txBody>
      </p:sp>
      <p:sp>
        <p:nvSpPr>
          <p:cNvPr id="9" name="TextBox 8"/>
          <p:cNvSpPr txBox="1"/>
          <p:nvPr/>
        </p:nvSpPr>
        <p:spPr>
          <a:xfrm>
            <a:off x="325526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ES" sz="1600" b="1" i="0" noProof="0" dirty="0">
                <a:solidFill>
                  <a:srgbClr val="7A8494"/>
                </a:solidFill>
                <a:latin typeface="Arial"/>
              </a:rPr>
              <a:t>›</a:t>
            </a:r>
          </a:p>
        </p:txBody>
      </p:sp>
      <p:sp>
        <p:nvSpPr>
          <p:cNvPr id="10" name="Rectangle 9"/>
          <p:cNvSpPr/>
          <p:nvPr/>
        </p:nvSpPr>
        <p:spPr>
          <a:xfrm>
            <a:off x="353872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1" name="Rectangle 10"/>
          <p:cNvSpPr/>
          <p:nvPr/>
        </p:nvSpPr>
        <p:spPr>
          <a:xfrm>
            <a:off x="353872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2" name="TextBox 11"/>
          <p:cNvSpPr txBox="1"/>
          <p:nvPr/>
        </p:nvSpPr>
        <p:spPr>
          <a:xfrm>
            <a:off x="372160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C3094A"/>
                </a:solidFill>
                <a:latin typeface="Arial"/>
              </a:rPr>
              <a:t>ETAPA 2</a:t>
            </a:r>
          </a:p>
          <a:p>
            <a:pPr algn="l">
              <a:lnSpc>
                <a:spcPct val="106000"/>
              </a:lnSpc>
              <a:spcBef>
                <a:spcPts val="0"/>
              </a:spcBef>
              <a:spcAft>
                <a:spcPts val="400"/>
              </a:spcAft>
            </a:pPr>
            <a:r>
              <a:rPr lang="es-ES" sz="1200" b="1" i="0" noProof="0" dirty="0">
                <a:solidFill>
                  <a:srgbClr val="042354"/>
                </a:solidFill>
                <a:latin typeface="Arial"/>
              </a:rPr>
              <a:t>Focalización</a:t>
            </a:r>
          </a:p>
          <a:p>
            <a:pPr algn="l">
              <a:lnSpc>
                <a:spcPct val="112000"/>
              </a:lnSpc>
              <a:spcBef>
                <a:spcPts val="0"/>
              </a:spcBef>
              <a:spcAft>
                <a:spcPts val="400"/>
              </a:spcAft>
            </a:pPr>
            <a:r>
              <a:rPr lang="es-ES" sz="950" b="0" i="0" noProof="0" dirty="0">
                <a:solidFill>
                  <a:srgbClr val="4A5568"/>
                </a:solidFill>
                <a:latin typeface="Arial"/>
              </a:rPr>
              <a:t>Matriz de criticidad y
delimitación del activo</a:t>
            </a:r>
          </a:p>
        </p:txBody>
      </p:sp>
      <p:sp>
        <p:nvSpPr>
          <p:cNvPr id="13" name="TextBox 12"/>
          <p:cNvSpPr txBox="1"/>
          <p:nvPr/>
        </p:nvSpPr>
        <p:spPr>
          <a:xfrm>
            <a:off x="595274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ES" sz="1600" b="1" i="0" noProof="0" dirty="0">
                <a:solidFill>
                  <a:srgbClr val="7A8494"/>
                </a:solidFill>
                <a:latin typeface="Arial"/>
              </a:rPr>
              <a:t>›</a:t>
            </a:r>
          </a:p>
        </p:txBody>
      </p:sp>
      <p:sp>
        <p:nvSpPr>
          <p:cNvPr id="14" name="Rectangle 13"/>
          <p:cNvSpPr/>
          <p:nvPr/>
        </p:nvSpPr>
        <p:spPr>
          <a:xfrm>
            <a:off x="623620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5" name="Rectangle 14"/>
          <p:cNvSpPr/>
          <p:nvPr/>
        </p:nvSpPr>
        <p:spPr>
          <a:xfrm>
            <a:off x="623620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6" name="TextBox 15"/>
          <p:cNvSpPr txBox="1"/>
          <p:nvPr/>
        </p:nvSpPr>
        <p:spPr>
          <a:xfrm>
            <a:off x="6419088"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C3094A"/>
                </a:solidFill>
                <a:latin typeface="Arial"/>
              </a:rPr>
              <a:t>ETAPA 3</a:t>
            </a:r>
          </a:p>
          <a:p>
            <a:pPr algn="l">
              <a:lnSpc>
                <a:spcPct val="106000"/>
              </a:lnSpc>
              <a:spcBef>
                <a:spcPts val="0"/>
              </a:spcBef>
              <a:spcAft>
                <a:spcPts val="400"/>
              </a:spcAft>
            </a:pPr>
            <a:r>
              <a:rPr lang="es-ES" sz="1200" b="1" i="0" noProof="0" dirty="0">
                <a:solidFill>
                  <a:srgbClr val="042354"/>
                </a:solidFill>
                <a:latin typeface="Arial"/>
              </a:rPr>
              <a:t>Proceso RCM</a:t>
            </a:r>
          </a:p>
          <a:p>
            <a:pPr algn="l">
              <a:lnSpc>
                <a:spcPct val="112000"/>
              </a:lnSpc>
              <a:spcBef>
                <a:spcPts val="0"/>
              </a:spcBef>
              <a:spcAft>
                <a:spcPts val="400"/>
              </a:spcAft>
            </a:pPr>
            <a:r>
              <a:rPr lang="es-ES" sz="950" b="0" i="0" noProof="0" dirty="0">
                <a:solidFill>
                  <a:srgbClr val="4A5568"/>
                </a:solidFill>
                <a:latin typeface="Arial"/>
              </a:rPr>
              <a:t>Las siete preguntas de
la SAE JA1011 en secuencia</a:t>
            </a:r>
          </a:p>
        </p:txBody>
      </p:sp>
      <p:sp>
        <p:nvSpPr>
          <p:cNvPr id="17" name="TextBox 16"/>
          <p:cNvSpPr txBox="1"/>
          <p:nvPr/>
        </p:nvSpPr>
        <p:spPr>
          <a:xfrm>
            <a:off x="8650224" y="1956816"/>
            <a:ext cx="274320" cy="274320"/>
          </a:xfrm>
          <a:prstGeom prst="rect">
            <a:avLst/>
          </a:prstGeom>
          <a:noFill/>
        </p:spPr>
        <p:txBody>
          <a:bodyPr wrap="square" lIns="0" tIns="0" rIns="0" bIns="0" anchor="t">
            <a:spAutoFit/>
          </a:bodyPr>
          <a:lstStyle/>
          <a:p>
            <a:pPr algn="ctr">
              <a:lnSpc>
                <a:spcPct val="114000"/>
              </a:lnSpc>
              <a:spcBef>
                <a:spcPts val="0"/>
              </a:spcBef>
              <a:spcAft>
                <a:spcPts val="400"/>
              </a:spcAft>
            </a:pPr>
            <a:r>
              <a:rPr lang="es-ES" sz="1600" b="1" i="0" noProof="0" dirty="0">
                <a:solidFill>
                  <a:srgbClr val="7A8494"/>
                </a:solidFill>
                <a:latin typeface="Arial"/>
              </a:rPr>
              <a:t>›</a:t>
            </a:r>
          </a:p>
        </p:txBody>
      </p:sp>
      <p:sp>
        <p:nvSpPr>
          <p:cNvPr id="18" name="Rectangle 17"/>
          <p:cNvSpPr/>
          <p:nvPr/>
        </p:nvSpPr>
        <p:spPr>
          <a:xfrm>
            <a:off x="8933688" y="1463040"/>
            <a:ext cx="2414016" cy="12801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9" name="Rectangle 18"/>
          <p:cNvSpPr/>
          <p:nvPr/>
        </p:nvSpPr>
        <p:spPr>
          <a:xfrm>
            <a:off x="8933688" y="1463040"/>
            <a:ext cx="2414016" cy="4572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0" name="TextBox 19"/>
          <p:cNvSpPr txBox="1"/>
          <p:nvPr/>
        </p:nvSpPr>
        <p:spPr>
          <a:xfrm>
            <a:off x="9116567" y="1627632"/>
            <a:ext cx="2048256" cy="1042415"/>
          </a:xfrm>
          <a:prstGeom prst="rect">
            <a:avLst/>
          </a:prstGeom>
          <a:noFill/>
        </p:spPr>
        <p:txBody>
          <a:bodyPr wrap="square" lIns="0" tIns="0" rIns="0" bIns="0" anchor="t">
            <a:spAutoFit/>
          </a:bodyPr>
          <a:lstStyle/>
          <a:p>
            <a:pPr algn="l">
              <a:lnSpc>
                <a:spcPct val="114000"/>
              </a:lnSpc>
              <a:spcBef>
                <a:spcPts val="0"/>
              </a:spcBef>
              <a:spcAft>
                <a:spcPts val="400"/>
              </a:spcAft>
            </a:pPr>
            <a:r>
              <a:rPr lang="es-ES" sz="850" b="1" i="0" noProof="0" dirty="0">
                <a:solidFill>
                  <a:srgbClr val="C3094A"/>
                </a:solidFill>
                <a:latin typeface="Arial"/>
              </a:rPr>
              <a:t>ETAPA 4</a:t>
            </a:r>
          </a:p>
          <a:p>
            <a:pPr algn="l">
              <a:lnSpc>
                <a:spcPct val="106000"/>
              </a:lnSpc>
              <a:spcBef>
                <a:spcPts val="0"/>
              </a:spcBef>
              <a:spcAft>
                <a:spcPts val="400"/>
              </a:spcAft>
            </a:pPr>
            <a:r>
              <a:rPr lang="es-ES" sz="1200" b="1" i="0" noProof="0" dirty="0">
                <a:solidFill>
                  <a:srgbClr val="042354"/>
                </a:solidFill>
                <a:latin typeface="Arial"/>
              </a:rPr>
              <a:t>Implementación
y verificación</a:t>
            </a:r>
          </a:p>
          <a:p>
            <a:pPr algn="l">
              <a:lnSpc>
                <a:spcPct val="112000"/>
              </a:lnSpc>
              <a:spcBef>
                <a:spcPts val="0"/>
              </a:spcBef>
              <a:spcAft>
                <a:spcPts val="400"/>
              </a:spcAft>
            </a:pPr>
            <a:r>
              <a:rPr lang="es-ES" sz="950" b="0" i="0" noProof="0" dirty="0">
                <a:solidFill>
                  <a:srgbClr val="4A5568"/>
                </a:solidFill>
                <a:latin typeface="Arial"/>
              </a:rPr>
              <a:t>Validación, control de
cambio y verificación</a:t>
            </a:r>
          </a:p>
        </p:txBody>
      </p:sp>
      <p:sp>
        <p:nvSpPr>
          <p:cNvPr id="21" name="TextBox 20"/>
          <p:cNvSpPr txBox="1"/>
          <p:nvPr/>
        </p:nvSpPr>
        <p:spPr>
          <a:xfrm>
            <a:off x="841248" y="2999232"/>
            <a:ext cx="10515600" cy="152799"/>
          </a:xfrm>
          <a:prstGeom prst="rect">
            <a:avLst/>
          </a:prstGeom>
          <a:noFill/>
        </p:spPr>
        <p:txBody>
          <a:bodyPr wrap="square" lIns="0" tIns="0" rIns="0" bIns="0" anchor="t">
            <a:spAutoFit/>
          </a:bodyPr>
          <a:lstStyle/>
          <a:p>
            <a:pPr algn="l">
              <a:lnSpc>
                <a:spcPct val="114000"/>
              </a:lnSpc>
              <a:spcBef>
                <a:spcPts val="0"/>
              </a:spcBef>
              <a:spcAft>
                <a:spcPts val="400"/>
              </a:spcAft>
            </a:pPr>
            <a:r>
              <a:rPr lang="es-ES" sz="950" b="1" i="0" noProof="0" dirty="0">
                <a:solidFill>
                  <a:srgbClr val="4A5568"/>
                </a:solidFill>
                <a:latin typeface="Arial"/>
              </a:rPr>
              <a:t>LAS SIETE PREGUNTAS DE LA NORMA SAE JA1011 (Criterios mínimos a cumplir en un proceso RCM)</a:t>
            </a:r>
          </a:p>
        </p:txBody>
      </p:sp>
      <p:cxnSp>
        <p:nvCxnSpPr>
          <p:cNvPr id="22" name="Connector 21"/>
          <p:cNvCxnSpPr/>
          <p:nvPr/>
        </p:nvCxnSpPr>
        <p:spPr>
          <a:xfrm>
            <a:off x="841248" y="327355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4124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4" name="TextBox 23"/>
          <p:cNvSpPr txBox="1"/>
          <p:nvPr/>
        </p:nvSpPr>
        <p:spPr>
          <a:xfrm>
            <a:off x="95097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2841DD"/>
                </a:solidFill>
                <a:latin typeface="Arial"/>
              </a:rPr>
              <a:t>1</a:t>
            </a:r>
          </a:p>
          <a:p>
            <a:pPr algn="l">
              <a:lnSpc>
                <a:spcPct val="112000"/>
              </a:lnSpc>
              <a:spcBef>
                <a:spcPts val="0"/>
              </a:spcBef>
              <a:spcAft>
                <a:spcPts val="400"/>
              </a:spcAft>
            </a:pPr>
            <a:r>
              <a:rPr lang="es-ES" sz="900" b="0" i="0" noProof="0" dirty="0">
                <a:solidFill>
                  <a:srgbClr val="191919"/>
                </a:solidFill>
                <a:latin typeface="Arial"/>
              </a:rPr>
              <a:t>Funciones y estándares de desempeño</a:t>
            </a:r>
          </a:p>
        </p:txBody>
      </p:sp>
      <p:sp>
        <p:nvSpPr>
          <p:cNvPr id="25" name="Rectangle 24"/>
          <p:cNvSpPr/>
          <p:nvPr/>
        </p:nvSpPr>
        <p:spPr>
          <a:xfrm>
            <a:off x="2357845"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6" name="TextBox 25"/>
          <p:cNvSpPr txBox="1"/>
          <p:nvPr/>
        </p:nvSpPr>
        <p:spPr>
          <a:xfrm>
            <a:off x="2467573"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2841DD"/>
                </a:solidFill>
                <a:latin typeface="Arial"/>
              </a:rPr>
              <a:t>2</a:t>
            </a:r>
          </a:p>
          <a:p>
            <a:pPr algn="l">
              <a:lnSpc>
                <a:spcPct val="112000"/>
              </a:lnSpc>
              <a:spcBef>
                <a:spcPts val="0"/>
              </a:spcBef>
              <a:spcAft>
                <a:spcPts val="400"/>
              </a:spcAft>
            </a:pPr>
            <a:r>
              <a:rPr lang="es-ES" sz="900" b="0" i="0" noProof="0" dirty="0">
                <a:solidFill>
                  <a:srgbClr val="191919"/>
                </a:solidFill>
                <a:latin typeface="Arial"/>
              </a:rPr>
              <a:t>Fallas funcionales</a:t>
            </a:r>
          </a:p>
        </p:txBody>
      </p:sp>
      <p:sp>
        <p:nvSpPr>
          <p:cNvPr id="27" name="Rectangle 26"/>
          <p:cNvSpPr/>
          <p:nvPr/>
        </p:nvSpPr>
        <p:spPr>
          <a:xfrm>
            <a:off x="3874443"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8" name="TextBox 27"/>
          <p:cNvSpPr txBox="1"/>
          <p:nvPr/>
        </p:nvSpPr>
        <p:spPr>
          <a:xfrm>
            <a:off x="3984171" y="3547872"/>
            <a:ext cx="1196557" cy="484492"/>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FFFFFF"/>
                </a:solidFill>
                <a:latin typeface="Arial"/>
              </a:rPr>
              <a:t>3</a:t>
            </a:r>
          </a:p>
          <a:p>
            <a:pPr algn="l">
              <a:lnSpc>
                <a:spcPct val="112000"/>
              </a:lnSpc>
              <a:spcBef>
                <a:spcPts val="0"/>
              </a:spcBef>
              <a:spcAft>
                <a:spcPts val="400"/>
              </a:spcAft>
            </a:pPr>
            <a:r>
              <a:rPr lang="es-ES" sz="900" b="0" i="0" noProof="0" dirty="0">
                <a:solidFill>
                  <a:srgbClr val="FFFFFF"/>
                </a:solidFill>
                <a:latin typeface="Arial"/>
              </a:rPr>
              <a:t>Modos de falla</a:t>
            </a:r>
          </a:p>
        </p:txBody>
      </p:sp>
      <p:sp>
        <p:nvSpPr>
          <p:cNvPr id="29" name="Rectangle 28"/>
          <p:cNvSpPr/>
          <p:nvPr/>
        </p:nvSpPr>
        <p:spPr>
          <a:xfrm>
            <a:off x="5391041"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0" name="TextBox 29"/>
          <p:cNvSpPr txBox="1"/>
          <p:nvPr/>
        </p:nvSpPr>
        <p:spPr>
          <a:xfrm>
            <a:off x="5500769"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2841DD"/>
                </a:solidFill>
                <a:latin typeface="Arial"/>
              </a:rPr>
              <a:t>4</a:t>
            </a:r>
          </a:p>
          <a:p>
            <a:pPr algn="l">
              <a:lnSpc>
                <a:spcPct val="112000"/>
              </a:lnSpc>
              <a:spcBef>
                <a:spcPts val="0"/>
              </a:spcBef>
              <a:spcAft>
                <a:spcPts val="400"/>
              </a:spcAft>
            </a:pPr>
            <a:r>
              <a:rPr lang="es-ES" sz="900" b="0" i="0" noProof="0" dirty="0">
                <a:solidFill>
                  <a:srgbClr val="191919"/>
                </a:solidFill>
                <a:latin typeface="Arial"/>
              </a:rPr>
              <a:t>Efectos de falla</a:t>
            </a:r>
          </a:p>
        </p:txBody>
      </p:sp>
      <p:sp>
        <p:nvSpPr>
          <p:cNvPr id="31" name="Rectangle 30"/>
          <p:cNvSpPr/>
          <p:nvPr/>
        </p:nvSpPr>
        <p:spPr>
          <a:xfrm>
            <a:off x="6907638" y="3419856"/>
            <a:ext cx="1416013" cy="135331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2" name="TextBox 31"/>
          <p:cNvSpPr txBox="1"/>
          <p:nvPr/>
        </p:nvSpPr>
        <p:spPr>
          <a:xfrm>
            <a:off x="7017366"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2841DD"/>
                </a:solidFill>
                <a:latin typeface="Arial"/>
              </a:rPr>
              <a:t>5</a:t>
            </a:r>
          </a:p>
          <a:p>
            <a:pPr algn="l">
              <a:lnSpc>
                <a:spcPct val="112000"/>
              </a:lnSpc>
              <a:spcBef>
                <a:spcPts val="0"/>
              </a:spcBef>
              <a:spcAft>
                <a:spcPts val="400"/>
              </a:spcAft>
            </a:pPr>
            <a:r>
              <a:rPr lang="es-ES" sz="900" b="0" i="0" noProof="0" dirty="0">
                <a:solidFill>
                  <a:srgbClr val="191919"/>
                </a:solidFill>
                <a:latin typeface="Arial"/>
              </a:rPr>
              <a:t>Consecuencias de falla</a:t>
            </a:r>
          </a:p>
        </p:txBody>
      </p:sp>
      <p:sp>
        <p:nvSpPr>
          <p:cNvPr id="33" name="Rectangle 32"/>
          <p:cNvSpPr/>
          <p:nvPr/>
        </p:nvSpPr>
        <p:spPr>
          <a:xfrm>
            <a:off x="8424236"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4" name="TextBox 33"/>
          <p:cNvSpPr txBox="1"/>
          <p:nvPr/>
        </p:nvSpPr>
        <p:spPr>
          <a:xfrm>
            <a:off x="8533964"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FFFFFF"/>
                </a:solidFill>
                <a:latin typeface="Arial"/>
              </a:rPr>
              <a:t>6</a:t>
            </a:r>
          </a:p>
          <a:p>
            <a:pPr algn="l">
              <a:lnSpc>
                <a:spcPct val="112000"/>
              </a:lnSpc>
              <a:spcBef>
                <a:spcPts val="0"/>
              </a:spcBef>
              <a:spcAft>
                <a:spcPts val="400"/>
              </a:spcAft>
            </a:pPr>
            <a:r>
              <a:rPr lang="es-ES" sz="900" b="0" i="0" noProof="0" dirty="0">
                <a:solidFill>
                  <a:srgbClr val="FFFFFF"/>
                </a:solidFill>
                <a:latin typeface="Arial"/>
              </a:rPr>
              <a:t>Evaluación de tareas proactivas</a:t>
            </a:r>
          </a:p>
        </p:txBody>
      </p:sp>
      <p:sp>
        <p:nvSpPr>
          <p:cNvPr id="35" name="Rectangle 34"/>
          <p:cNvSpPr/>
          <p:nvPr/>
        </p:nvSpPr>
        <p:spPr>
          <a:xfrm>
            <a:off x="9940834" y="3419856"/>
            <a:ext cx="1416013" cy="1353312"/>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6" name="TextBox 35"/>
          <p:cNvSpPr txBox="1"/>
          <p:nvPr/>
        </p:nvSpPr>
        <p:spPr>
          <a:xfrm>
            <a:off x="10050562" y="3547872"/>
            <a:ext cx="1196557" cy="1133856"/>
          </a:xfrm>
          <a:prstGeom prst="rect">
            <a:avLst/>
          </a:prstGeom>
          <a:noFill/>
        </p:spPr>
        <p:txBody>
          <a:bodyPr wrap="square" lIns="0" tIns="0" rIns="0" bIns="0" anchor="t">
            <a:spAutoFit/>
          </a:bodyPr>
          <a:lstStyle/>
          <a:p>
            <a:pPr algn="l">
              <a:lnSpc>
                <a:spcPct val="95000"/>
              </a:lnSpc>
              <a:spcBef>
                <a:spcPts val="0"/>
              </a:spcBef>
              <a:spcAft>
                <a:spcPts val="500"/>
              </a:spcAft>
            </a:pPr>
            <a:r>
              <a:rPr lang="es-ES" sz="1900" b="1" i="0" noProof="0" dirty="0">
                <a:solidFill>
                  <a:srgbClr val="FFFFFF"/>
                </a:solidFill>
                <a:latin typeface="Arial"/>
              </a:rPr>
              <a:t>7</a:t>
            </a:r>
          </a:p>
          <a:p>
            <a:pPr algn="l">
              <a:lnSpc>
                <a:spcPct val="112000"/>
              </a:lnSpc>
              <a:spcBef>
                <a:spcPts val="0"/>
              </a:spcBef>
              <a:spcAft>
                <a:spcPts val="400"/>
              </a:spcAft>
            </a:pPr>
            <a:r>
              <a:rPr lang="es-ES" sz="900" b="0" i="0" noProof="0" dirty="0">
                <a:solidFill>
                  <a:srgbClr val="FFFFFF"/>
                </a:solidFill>
                <a:latin typeface="Arial"/>
              </a:rPr>
              <a:t>Acción "a falta de"</a:t>
            </a:r>
          </a:p>
        </p:txBody>
      </p:sp>
      <p:sp>
        <p:nvSpPr>
          <p:cNvPr id="37" name="TextBox 36"/>
          <p:cNvSpPr txBox="1"/>
          <p:nvPr/>
        </p:nvSpPr>
        <p:spPr>
          <a:xfrm>
            <a:off x="832104" y="4864608"/>
            <a:ext cx="10515600" cy="136384"/>
          </a:xfrm>
          <a:prstGeom prst="rect">
            <a:avLst/>
          </a:prstGeom>
          <a:solidFill>
            <a:schemeClr val="bg1"/>
          </a:solid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El ACR se utilizó para responder en profundidad la pregunta 3; el AFA se empleó como herramienta para resolver el nivel físico.</a:t>
            </a:r>
          </a:p>
        </p:txBody>
      </p:sp>
      <p:pic>
        <p:nvPicPr>
          <p:cNvPr id="40" name="Imagen 39">
            <a:extLst>
              <a:ext uri="{FF2B5EF4-FFF2-40B4-BE49-F238E27FC236}">
                <a16:creationId xmlns:a16="http://schemas.microsoft.com/office/drawing/2014/main" id="{2AE72ACE-7D04-ABDF-37DD-CAAA251FF1F1}"/>
              </a:ext>
            </a:extLst>
          </p:cNvPr>
          <p:cNvPicPr>
            <a:picLocks noChangeAspect="1"/>
          </p:cNvPicPr>
          <p:nvPr/>
        </p:nvPicPr>
        <p:blipFill>
          <a:blip r:embed="rId2"/>
          <a:stretch>
            <a:fillRect/>
          </a:stretch>
        </p:blipFill>
        <p:spPr>
          <a:xfrm>
            <a:off x="158617" y="5943600"/>
            <a:ext cx="5620013" cy="550672"/>
          </a:xfrm>
          <a:prstGeom prst="rect">
            <a:avLst/>
          </a:prstGeom>
        </p:spPr>
      </p:pic>
      <p:sp>
        <p:nvSpPr>
          <p:cNvPr id="41" name="TextBox 40"/>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03 · METODOLOGÍA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Focalización</a:t>
            </a:r>
          </a:p>
        </p:txBody>
      </p:sp>
      <p:cxnSp>
        <p:nvCxnSpPr>
          <p:cNvPr id="3" name="Connector 2"/>
          <p:cNvCxnSpPr/>
          <p:nvPr/>
        </p:nvCxnSpPr>
        <p:spPr>
          <a:xfrm>
            <a:off x="786384" y="985647"/>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6</a:t>
            </a:r>
          </a:p>
        </p:txBody>
      </p:sp>
      <p:pic>
        <p:nvPicPr>
          <p:cNvPr id="6" name="Picture 5" descr="pu_g2_criticidad.png"/>
          <p:cNvPicPr>
            <a:picLocks noChangeAspect="1"/>
          </p:cNvPicPr>
          <p:nvPr/>
        </p:nvPicPr>
        <p:blipFill>
          <a:blip r:embed="rId2"/>
          <a:stretch>
            <a:fillRect/>
          </a:stretch>
        </p:blipFill>
        <p:spPr>
          <a:xfrm>
            <a:off x="521208" y="1225296"/>
            <a:ext cx="6492240" cy="3460806"/>
          </a:xfrm>
          <a:prstGeom prst="rect">
            <a:avLst/>
          </a:prstGeom>
        </p:spPr>
      </p:pic>
      <p:sp>
        <p:nvSpPr>
          <p:cNvPr id="7" name="TextBox 6"/>
          <p:cNvSpPr txBox="1"/>
          <p:nvPr/>
        </p:nvSpPr>
        <p:spPr>
          <a:xfrm>
            <a:off x="6492240" y="1481328"/>
            <a:ext cx="4864608" cy="274320"/>
          </a:xfrm>
          <a:prstGeom prst="rect">
            <a:avLst/>
          </a:prstGeom>
          <a:noFill/>
        </p:spPr>
        <p:txBody>
          <a:bodyPr wrap="square" lIns="0" tIns="0" rIns="0" bIns="0" anchor="t">
            <a:spAutoFit/>
          </a:bodyPr>
          <a:lstStyle/>
          <a:p>
            <a:pPr algn="l">
              <a:lnSpc>
                <a:spcPct val="114000"/>
              </a:lnSpc>
              <a:spcBef>
                <a:spcPts val="0"/>
              </a:spcBef>
              <a:spcAft>
                <a:spcPts val="400"/>
              </a:spcAft>
            </a:pPr>
            <a:r>
              <a:rPr lang="es-ES" sz="950" b="1" i="0" noProof="0" dirty="0">
                <a:solidFill>
                  <a:srgbClr val="4A5568"/>
                </a:solidFill>
                <a:latin typeface="Arial"/>
              </a:rPr>
              <a:t>CALIFICACIÓN DE CRITICIDAD</a:t>
            </a:r>
          </a:p>
        </p:txBody>
      </p:sp>
      <p:sp>
        <p:nvSpPr>
          <p:cNvPr id="8" name="Rectangle 7"/>
          <p:cNvSpPr/>
          <p:nvPr/>
        </p:nvSpPr>
        <p:spPr>
          <a:xfrm>
            <a:off x="6492240" y="1810512"/>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F</a:t>
            </a:r>
          </a:p>
        </p:txBody>
      </p:sp>
      <p:sp>
        <p:nvSpPr>
          <p:cNvPr id="9" name="Rectangle 8"/>
          <p:cNvSpPr/>
          <p:nvPr/>
        </p:nvSpPr>
        <p:spPr>
          <a:xfrm>
            <a:off x="6830568" y="1810512"/>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5</a:t>
            </a:r>
          </a:p>
        </p:txBody>
      </p:sp>
      <p:sp>
        <p:nvSpPr>
          <p:cNvPr id="10" name="TextBox 9"/>
          <p:cNvSpPr txBox="1"/>
          <p:nvPr/>
        </p:nvSpPr>
        <p:spPr>
          <a:xfrm>
            <a:off x="7242048" y="1819656"/>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13 eventos en 36 meses en la flota (4,33 por año)</a:t>
            </a:r>
          </a:p>
        </p:txBody>
      </p:sp>
      <p:sp>
        <p:nvSpPr>
          <p:cNvPr id="11" name="Rectangle 10"/>
          <p:cNvSpPr/>
          <p:nvPr/>
        </p:nvSpPr>
        <p:spPr>
          <a:xfrm>
            <a:off x="6492240" y="2240280"/>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S</a:t>
            </a:r>
          </a:p>
        </p:txBody>
      </p:sp>
      <p:sp>
        <p:nvSpPr>
          <p:cNvPr id="12" name="Rectangle 11"/>
          <p:cNvSpPr/>
          <p:nvPr/>
        </p:nvSpPr>
        <p:spPr>
          <a:xfrm>
            <a:off x="6830568" y="2240280"/>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4</a:t>
            </a:r>
          </a:p>
        </p:txBody>
      </p:sp>
      <p:sp>
        <p:nvSpPr>
          <p:cNvPr id="13" name="TextBox 12"/>
          <p:cNvSpPr txBox="1"/>
          <p:nvPr/>
        </p:nvSpPr>
        <p:spPr>
          <a:xfrm>
            <a:off x="7242048" y="2322631"/>
            <a:ext cx="4114800" cy="146194"/>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pérdida de tracción en rampa</a:t>
            </a:r>
          </a:p>
        </p:txBody>
      </p:sp>
      <p:sp>
        <p:nvSpPr>
          <p:cNvPr id="14" name="Rectangle 13"/>
          <p:cNvSpPr/>
          <p:nvPr/>
        </p:nvSpPr>
        <p:spPr>
          <a:xfrm>
            <a:off x="6492240" y="2670048"/>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O</a:t>
            </a:r>
          </a:p>
        </p:txBody>
      </p:sp>
      <p:sp>
        <p:nvSpPr>
          <p:cNvPr id="15" name="Rectangle 14"/>
          <p:cNvSpPr/>
          <p:nvPr/>
        </p:nvSpPr>
        <p:spPr>
          <a:xfrm>
            <a:off x="6830568" y="2670048"/>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4</a:t>
            </a:r>
          </a:p>
        </p:txBody>
      </p:sp>
      <p:sp>
        <p:nvSpPr>
          <p:cNvPr id="16" name="TextBox 15"/>
          <p:cNvSpPr txBox="1"/>
          <p:nvPr/>
        </p:nvSpPr>
        <p:spPr>
          <a:xfrm>
            <a:off x="7242048" y="2679191"/>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MTTR de 59,3 h, rango de 25,7 h a 94,2 h</a:t>
            </a:r>
          </a:p>
        </p:txBody>
      </p:sp>
      <p:sp>
        <p:nvSpPr>
          <p:cNvPr id="17" name="Rectangle 16"/>
          <p:cNvSpPr/>
          <p:nvPr/>
        </p:nvSpPr>
        <p:spPr>
          <a:xfrm>
            <a:off x="6492240" y="3099815"/>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C</a:t>
            </a:r>
          </a:p>
        </p:txBody>
      </p:sp>
      <p:sp>
        <p:nvSpPr>
          <p:cNvPr id="18" name="Rectangle 17"/>
          <p:cNvSpPr/>
          <p:nvPr/>
        </p:nvSpPr>
        <p:spPr>
          <a:xfrm>
            <a:off x="6830568" y="3099815"/>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4</a:t>
            </a:r>
          </a:p>
        </p:txBody>
      </p:sp>
      <p:sp>
        <p:nvSpPr>
          <p:cNvPr id="19" name="TextBox 18"/>
          <p:cNvSpPr txBox="1"/>
          <p:nvPr/>
        </p:nvSpPr>
        <p:spPr>
          <a:xfrm>
            <a:off x="7242048" y="3108959"/>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US$ 763 393 por evento; 35 días de reparación</a:t>
            </a:r>
          </a:p>
        </p:txBody>
      </p:sp>
      <p:sp>
        <p:nvSpPr>
          <p:cNvPr id="20" name="Rectangle 19"/>
          <p:cNvSpPr/>
          <p:nvPr/>
        </p:nvSpPr>
        <p:spPr>
          <a:xfrm>
            <a:off x="6492240" y="3529583"/>
            <a:ext cx="292608" cy="29260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K</a:t>
            </a:r>
          </a:p>
        </p:txBody>
      </p:sp>
      <p:sp>
        <p:nvSpPr>
          <p:cNvPr id="21" name="Rectangle 20"/>
          <p:cNvSpPr/>
          <p:nvPr/>
        </p:nvSpPr>
        <p:spPr>
          <a:xfrm>
            <a:off x="6830568" y="3529583"/>
            <a:ext cx="292608" cy="29260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C3094A"/>
                </a:solidFill>
                <a:latin typeface="Arial"/>
              </a:rPr>
              <a:t>4</a:t>
            </a:r>
          </a:p>
        </p:txBody>
      </p:sp>
      <p:sp>
        <p:nvSpPr>
          <p:cNvPr id="22" name="TextBox 21"/>
          <p:cNvSpPr txBox="1"/>
          <p:nvPr/>
        </p:nvSpPr>
        <p:spPr>
          <a:xfrm>
            <a:off x="7242048" y="3538727"/>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315 h anuales = 0,36 % de disponibilidad de flota</a:t>
            </a:r>
          </a:p>
        </p:txBody>
      </p:sp>
      <p:sp>
        <p:nvSpPr>
          <p:cNvPr id="23" name="Rectangle 22"/>
          <p:cNvSpPr/>
          <p:nvPr/>
        </p:nvSpPr>
        <p:spPr>
          <a:xfrm>
            <a:off x="6492240" y="3959351"/>
            <a:ext cx="292608" cy="2926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FFFFFF"/>
                </a:solidFill>
                <a:latin typeface="Arial"/>
              </a:rPr>
              <a:t>D</a:t>
            </a:r>
          </a:p>
        </p:txBody>
      </p:sp>
      <p:sp>
        <p:nvSpPr>
          <p:cNvPr id="24" name="Rectangle 23"/>
          <p:cNvSpPr/>
          <p:nvPr/>
        </p:nvSpPr>
        <p:spPr>
          <a:xfrm>
            <a:off x="6830568" y="3959351"/>
            <a:ext cx="292608" cy="2926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2841DD"/>
                </a:solidFill>
                <a:latin typeface="Arial"/>
              </a:rPr>
              <a:t>5</a:t>
            </a:r>
          </a:p>
        </p:txBody>
      </p:sp>
      <p:sp>
        <p:nvSpPr>
          <p:cNvPr id="25" name="TextBox 24"/>
          <p:cNvSpPr txBox="1"/>
          <p:nvPr/>
        </p:nvSpPr>
        <p:spPr>
          <a:xfrm>
            <a:off x="7242048" y="3968495"/>
            <a:ext cx="4114800" cy="292608"/>
          </a:xfrm>
          <a:prstGeom prst="rect">
            <a:avLst/>
          </a:prstGeom>
          <a:noFill/>
        </p:spPr>
        <p:txBody>
          <a:bodyPr wrap="square" lIns="0" tIns="0" rIns="0" bIns="0" anchor="ctr">
            <a:spAutoFit/>
          </a:bodyPr>
          <a:lstStyle/>
          <a:p>
            <a:pPr algn="l">
              <a:lnSpc>
                <a:spcPct val="108000"/>
              </a:lnSpc>
              <a:spcBef>
                <a:spcPts val="0"/>
              </a:spcBef>
              <a:spcAft>
                <a:spcPts val="400"/>
              </a:spcAft>
            </a:pPr>
            <a:r>
              <a:rPr lang="es-ES" sz="950" b="0" i="0" noProof="0" dirty="0">
                <a:solidFill>
                  <a:srgbClr val="191919"/>
                </a:solidFill>
                <a:latin typeface="Arial"/>
              </a:rPr>
              <a:t>La grieta nuclea dentro del motor cerrado: sin acceso de inspección</a:t>
            </a:r>
          </a:p>
        </p:txBody>
      </p:sp>
      <p:sp>
        <p:nvSpPr>
          <p:cNvPr id="26" name="TextBox 25"/>
          <p:cNvSpPr txBox="1"/>
          <p:nvPr/>
        </p:nvSpPr>
        <p:spPr>
          <a:xfrm>
            <a:off x="841248" y="4864608"/>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Consecuencia consolidada C = </a:t>
            </a:r>
            <a:r>
              <a:rPr lang="es-ES" sz="900" b="0" i="0" noProof="0" dirty="0" err="1">
                <a:solidFill>
                  <a:srgbClr val="7A8494"/>
                </a:solidFill>
                <a:latin typeface="Arial"/>
              </a:rPr>
              <a:t>máx</a:t>
            </a:r>
            <a:r>
              <a:rPr lang="es-ES" sz="900" b="0" i="0" noProof="0" dirty="0">
                <a:solidFill>
                  <a:srgbClr val="7A8494"/>
                </a:solidFill>
                <a:latin typeface="Arial"/>
              </a:rPr>
              <a:t> (S, O, Co, K) = 4 con F = 5; la detectabilidad D = 5 promueve la celda. Rúbrica de puntuación: Anexo C.</a:t>
            </a:r>
          </a:p>
        </p:txBody>
      </p:sp>
      <p:sp>
        <p:nvSpPr>
          <p:cNvPr id="27" name="Rectangle 26"/>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8" name="TextBox 27"/>
          <p:cNvSpPr txBox="1"/>
          <p:nvPr/>
        </p:nvSpPr>
        <p:spPr>
          <a:xfrm>
            <a:off x="1024128" y="5157216"/>
            <a:ext cx="10277856" cy="184859"/>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1" i="0" noProof="0" dirty="0">
                <a:solidFill>
                  <a:srgbClr val="042354"/>
                </a:solidFill>
                <a:latin typeface="Arial"/>
              </a:rPr>
              <a:t>La acción que corresponde al cuadrante de criticidad alta es la eliminación de la causa raíz, no un incremento de inspecciones.</a:t>
            </a:r>
          </a:p>
        </p:txBody>
      </p:sp>
      <p:pic>
        <p:nvPicPr>
          <p:cNvPr id="29" name="Imagen 28">
            <a:extLst>
              <a:ext uri="{FF2B5EF4-FFF2-40B4-BE49-F238E27FC236}">
                <a16:creationId xmlns:a16="http://schemas.microsoft.com/office/drawing/2014/main" id="{7F28D03E-FF13-C06C-BD6E-328D1E5C69BD}"/>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0" name="TextBox 2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Preguntas 1 y 2: función, estándar y falla funcional</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7</a:t>
            </a:r>
          </a:p>
        </p:txBody>
      </p:sp>
      <p:pic>
        <p:nvPicPr>
          <p:cNvPr id="6" name="Picture 5" descr="motor_corte.png"/>
          <p:cNvPicPr>
            <a:picLocks noChangeAspect="1"/>
          </p:cNvPicPr>
          <p:nvPr/>
        </p:nvPicPr>
        <p:blipFill>
          <a:blip r:embed="rId2"/>
          <a:stretch>
            <a:fillRect/>
          </a:stretch>
        </p:blipFill>
        <p:spPr>
          <a:xfrm>
            <a:off x="624839" y="1362844"/>
            <a:ext cx="7004958" cy="3940289"/>
          </a:xfrm>
          <a:prstGeom prst="rect">
            <a:avLst/>
          </a:prstGeom>
        </p:spPr>
      </p:pic>
      <p:sp>
        <p:nvSpPr>
          <p:cNvPr id="7" name="TextBox 6"/>
          <p:cNvSpPr txBox="1"/>
          <p:nvPr/>
        </p:nvSpPr>
        <p:spPr>
          <a:xfrm>
            <a:off x="624839" y="5418790"/>
            <a:ext cx="6035040" cy="136384"/>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Configuración del tren de potencia del motor de tracción..</a:t>
            </a:r>
          </a:p>
        </p:txBody>
      </p:sp>
      <p:sp>
        <p:nvSpPr>
          <p:cNvPr id="8" name="Rectangle 7"/>
          <p:cNvSpPr/>
          <p:nvPr/>
        </p:nvSpPr>
        <p:spPr>
          <a:xfrm>
            <a:off x="7794390" y="1528571"/>
            <a:ext cx="4224528" cy="14264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Rectangle 8"/>
          <p:cNvSpPr/>
          <p:nvPr/>
        </p:nvSpPr>
        <p:spPr>
          <a:xfrm>
            <a:off x="7794390" y="1528571"/>
            <a:ext cx="45720" cy="142646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TextBox 9"/>
          <p:cNvSpPr txBox="1"/>
          <p:nvPr/>
        </p:nvSpPr>
        <p:spPr>
          <a:xfrm>
            <a:off x="8013845" y="1656587"/>
            <a:ext cx="3840480" cy="1188720"/>
          </a:xfrm>
          <a:prstGeom prst="rect">
            <a:avLst/>
          </a:prstGeom>
          <a:noFill/>
        </p:spPr>
        <p:txBody>
          <a:bodyPr wrap="square" lIns="0" tIns="0" rIns="0" bIns="0" anchor="t">
            <a:spAutoFit/>
          </a:bodyPr>
          <a:lstStyle/>
          <a:p>
            <a:pPr algn="l">
              <a:lnSpc>
                <a:spcPct val="114000"/>
              </a:lnSpc>
              <a:spcBef>
                <a:spcPts val="0"/>
              </a:spcBef>
              <a:spcAft>
                <a:spcPts val="500"/>
              </a:spcAft>
            </a:pPr>
            <a:r>
              <a:rPr lang="es-ES" sz="900" b="1" i="0" noProof="0" dirty="0">
                <a:solidFill>
                  <a:srgbClr val="C3094A"/>
                </a:solidFill>
                <a:latin typeface="Arial"/>
              </a:rPr>
              <a:t>P1 · FUNCIÓN Y ESTÁNDAR</a:t>
            </a:r>
          </a:p>
          <a:p>
            <a:pPr algn="l">
              <a:lnSpc>
                <a:spcPct val="116000"/>
              </a:lnSpc>
              <a:spcBef>
                <a:spcPts val="0"/>
              </a:spcBef>
              <a:spcAft>
                <a:spcPts val="400"/>
              </a:spcAft>
            </a:pPr>
            <a:r>
              <a:rPr lang="es-ES" sz="1050" b="0" i="0" noProof="0" dirty="0">
                <a:solidFill>
                  <a:srgbClr val="191919"/>
                </a:solidFill>
                <a:latin typeface="Arial"/>
              </a:rPr>
              <a:t>Transmitir a la rueda motriz el par del motor eléctrico de inducción, con reducción de 35 a 1, y sostener la tracción y el retardo dinámico durante 20 000 horas entre reparaciones mayores.</a:t>
            </a:r>
          </a:p>
        </p:txBody>
      </p:sp>
      <p:sp>
        <p:nvSpPr>
          <p:cNvPr id="11" name="Rectangle 10"/>
          <p:cNvSpPr/>
          <p:nvPr/>
        </p:nvSpPr>
        <p:spPr>
          <a:xfrm>
            <a:off x="7794390" y="3083051"/>
            <a:ext cx="4224528" cy="113080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2" name="Rectangle 11"/>
          <p:cNvSpPr/>
          <p:nvPr/>
        </p:nvSpPr>
        <p:spPr>
          <a:xfrm>
            <a:off x="7794390" y="3083051"/>
            <a:ext cx="45720" cy="113080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3" name="TextBox 12"/>
          <p:cNvSpPr txBox="1"/>
          <p:nvPr/>
        </p:nvSpPr>
        <p:spPr>
          <a:xfrm>
            <a:off x="8013845" y="3211067"/>
            <a:ext cx="3840480" cy="768095"/>
          </a:xfrm>
          <a:prstGeom prst="rect">
            <a:avLst/>
          </a:prstGeom>
          <a:noFill/>
        </p:spPr>
        <p:txBody>
          <a:bodyPr wrap="square" lIns="0" tIns="0" rIns="0" bIns="0" anchor="t">
            <a:spAutoFit/>
          </a:bodyPr>
          <a:lstStyle/>
          <a:p>
            <a:pPr algn="l">
              <a:lnSpc>
                <a:spcPct val="114000"/>
              </a:lnSpc>
              <a:spcBef>
                <a:spcPts val="0"/>
              </a:spcBef>
              <a:spcAft>
                <a:spcPts val="500"/>
              </a:spcAft>
            </a:pPr>
            <a:r>
              <a:rPr lang="es-ES" sz="900" b="1" i="0" noProof="0" dirty="0">
                <a:solidFill>
                  <a:srgbClr val="2841DD"/>
                </a:solidFill>
                <a:latin typeface="Arial"/>
              </a:rPr>
              <a:t>P2 · FALLA FUNCIONAL</a:t>
            </a:r>
          </a:p>
          <a:p>
            <a:pPr algn="l">
              <a:lnSpc>
                <a:spcPct val="116000"/>
              </a:lnSpc>
              <a:spcBef>
                <a:spcPts val="0"/>
              </a:spcBef>
              <a:spcAft>
                <a:spcPts val="500"/>
              </a:spcAft>
            </a:pPr>
            <a:r>
              <a:rPr lang="es-ES" sz="1050" b="0" i="0" noProof="0" dirty="0">
                <a:solidFill>
                  <a:srgbClr val="191919"/>
                </a:solidFill>
                <a:latin typeface="Arial"/>
              </a:rPr>
              <a:t>El motor de tracción deja de transmitir el par a la rueda. En operación se observa pérdida de tracción y la rueda queda libre (free </a:t>
            </a:r>
            <a:r>
              <a:rPr lang="es-ES" sz="1050" b="0" i="0" noProof="0" dirty="0" err="1">
                <a:solidFill>
                  <a:srgbClr val="191919"/>
                </a:solidFill>
                <a:latin typeface="Arial"/>
              </a:rPr>
              <a:t>wheeling</a:t>
            </a:r>
            <a:r>
              <a:rPr lang="es-ES" sz="1050" b="0" i="0" noProof="0" dirty="0">
                <a:solidFill>
                  <a:srgbClr val="191919"/>
                </a:solidFill>
                <a:latin typeface="Arial"/>
              </a:rPr>
              <a:t>).</a:t>
            </a:r>
          </a:p>
        </p:txBody>
      </p:sp>
      <p:pic>
        <p:nvPicPr>
          <p:cNvPr id="16" name="Imagen 15">
            <a:extLst>
              <a:ext uri="{FF2B5EF4-FFF2-40B4-BE49-F238E27FC236}">
                <a16:creationId xmlns:a16="http://schemas.microsoft.com/office/drawing/2014/main" id="{A3C54E0C-0788-60C3-25DF-AA398C6E594F}"/>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7" name="TextBox 16"/>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Pregunta 3: hipótesis sometidas a verificación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13</a:t>
            </a:r>
          </a:p>
        </p:txBody>
      </p:sp>
      <p:sp>
        <p:nvSpPr>
          <p:cNvPr id="21" name="TextBox 20"/>
          <p:cNvSpPr txBox="1"/>
          <p:nvPr/>
        </p:nvSpPr>
        <p:spPr>
          <a:xfrm>
            <a:off x="8568158" y="1379325"/>
            <a:ext cx="10515600" cy="274320"/>
          </a:xfrm>
          <a:prstGeom prst="rect">
            <a:avLst/>
          </a:prstGeom>
          <a:noFill/>
        </p:spPr>
        <p:txBody>
          <a:bodyPr wrap="square" lIns="0" tIns="0" rIns="0" bIns="0" anchor="t">
            <a:spAutoFit/>
          </a:bodyPr>
          <a:lstStyle/>
          <a:p>
            <a:pPr algn="l">
              <a:lnSpc>
                <a:spcPct val="114000"/>
              </a:lnSpc>
              <a:spcBef>
                <a:spcPts val="0"/>
              </a:spcBef>
              <a:spcAft>
                <a:spcPts val="400"/>
              </a:spcAft>
            </a:pPr>
            <a:r>
              <a:rPr lang="es-ES" sz="950" b="1" i="0" noProof="0" dirty="0">
                <a:solidFill>
                  <a:srgbClr val="4A5568"/>
                </a:solidFill>
                <a:latin typeface="Arial"/>
              </a:rPr>
              <a:t>LAS DOS HIPÓTESIS CONFIRMADAS</a:t>
            </a:r>
          </a:p>
        </p:txBody>
      </p:sp>
      <p:sp>
        <p:nvSpPr>
          <p:cNvPr id="23" name="Rectangle 22"/>
          <p:cNvSpPr/>
          <p:nvPr/>
        </p:nvSpPr>
        <p:spPr>
          <a:xfrm>
            <a:off x="8516343" y="1866177"/>
            <a:ext cx="3474489"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4" name="Rectangle 23"/>
          <p:cNvSpPr/>
          <p:nvPr/>
        </p:nvSpPr>
        <p:spPr>
          <a:xfrm>
            <a:off x="8530592" y="1872654"/>
            <a:ext cx="45720"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5" name="TextBox 24"/>
          <p:cNvSpPr txBox="1"/>
          <p:nvPr/>
        </p:nvSpPr>
        <p:spPr>
          <a:xfrm>
            <a:off x="8625727" y="2009791"/>
            <a:ext cx="685800" cy="554895"/>
          </a:xfrm>
          <a:prstGeom prst="rect">
            <a:avLst/>
          </a:prstGeom>
          <a:noFill/>
        </p:spPr>
        <p:txBody>
          <a:bodyPr wrap="square" lIns="0" tIns="0" rIns="0" bIns="0" anchor="t">
            <a:spAutoFit/>
          </a:bodyPr>
          <a:lstStyle/>
          <a:p>
            <a:pPr algn="l">
              <a:lnSpc>
                <a:spcPct val="95000"/>
              </a:lnSpc>
              <a:spcBef>
                <a:spcPts val="0"/>
              </a:spcBef>
              <a:spcAft>
                <a:spcPts val="200"/>
              </a:spcAft>
            </a:pPr>
            <a:r>
              <a:rPr lang="es-ES" sz="1700" b="1" i="0" noProof="0" dirty="0">
                <a:solidFill>
                  <a:srgbClr val="C3094A"/>
                </a:solidFill>
                <a:latin typeface="Arial"/>
              </a:rPr>
              <a:t>D1</a:t>
            </a:r>
          </a:p>
          <a:p>
            <a:pPr algn="l">
              <a:lnSpc>
                <a:spcPct val="105000"/>
              </a:lnSpc>
              <a:spcBef>
                <a:spcPts val="0"/>
              </a:spcBef>
              <a:spcAft>
                <a:spcPts val="400"/>
              </a:spcAft>
            </a:pPr>
            <a:r>
              <a:rPr lang="es-ES" sz="900" b="0" i="0" noProof="0" dirty="0">
                <a:solidFill>
                  <a:srgbClr val="4A5568"/>
                </a:solidFill>
                <a:latin typeface="Arial"/>
              </a:rPr>
              <a:t>Causa determinante</a:t>
            </a:r>
          </a:p>
        </p:txBody>
      </p:sp>
      <p:sp>
        <p:nvSpPr>
          <p:cNvPr id="26" name="TextBox 25"/>
          <p:cNvSpPr txBox="1"/>
          <p:nvPr/>
        </p:nvSpPr>
        <p:spPr>
          <a:xfrm>
            <a:off x="9595335" y="1894163"/>
            <a:ext cx="2285769" cy="803490"/>
          </a:xfrm>
          <a:prstGeom prst="rect">
            <a:avLst/>
          </a:prstGeom>
          <a:noFill/>
        </p:spPr>
        <p:txBody>
          <a:bodyPr wrap="square" lIns="0" tIns="0" rIns="0" bIns="0" anchor="ctr">
            <a:spAutoFit/>
          </a:bodyPr>
          <a:lstStyle/>
          <a:p>
            <a:pPr algn="just">
              <a:lnSpc>
                <a:spcPct val="116000"/>
              </a:lnSpc>
              <a:spcBef>
                <a:spcPts val="0"/>
              </a:spcBef>
              <a:spcAft>
                <a:spcPts val="400"/>
              </a:spcAft>
            </a:pPr>
            <a:r>
              <a:rPr lang="es-ES" sz="1150" b="0" i="0" noProof="0" dirty="0">
                <a:solidFill>
                  <a:srgbClr val="191919"/>
                </a:solidFill>
                <a:latin typeface="Arial"/>
              </a:rPr>
              <a:t>La unión soldada de penetración parcial deja una raíz sin fusión que actúa como concentrador de esfuerzos.</a:t>
            </a:r>
          </a:p>
        </p:txBody>
      </p:sp>
      <p:sp>
        <p:nvSpPr>
          <p:cNvPr id="28" name="Rectangle 27"/>
          <p:cNvSpPr/>
          <p:nvPr/>
        </p:nvSpPr>
        <p:spPr>
          <a:xfrm>
            <a:off x="8522438" y="3030132"/>
            <a:ext cx="3474490" cy="87782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9" name="Rectangle 28"/>
          <p:cNvSpPr/>
          <p:nvPr/>
        </p:nvSpPr>
        <p:spPr>
          <a:xfrm>
            <a:off x="8524470" y="3036609"/>
            <a:ext cx="45720" cy="87782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0" name="TextBox 29"/>
          <p:cNvSpPr txBox="1"/>
          <p:nvPr/>
        </p:nvSpPr>
        <p:spPr>
          <a:xfrm>
            <a:off x="8698599" y="3209719"/>
            <a:ext cx="959728" cy="554895"/>
          </a:xfrm>
          <a:prstGeom prst="rect">
            <a:avLst/>
          </a:prstGeom>
          <a:noFill/>
        </p:spPr>
        <p:txBody>
          <a:bodyPr wrap="square" lIns="0" tIns="0" rIns="0" bIns="0" anchor="t">
            <a:spAutoFit/>
          </a:bodyPr>
          <a:lstStyle/>
          <a:p>
            <a:pPr algn="l">
              <a:lnSpc>
                <a:spcPct val="95000"/>
              </a:lnSpc>
              <a:spcBef>
                <a:spcPts val="0"/>
              </a:spcBef>
              <a:spcAft>
                <a:spcPts val="200"/>
              </a:spcAft>
            </a:pPr>
            <a:r>
              <a:rPr lang="es-ES" sz="1700" b="1" i="0" noProof="0" dirty="0">
                <a:solidFill>
                  <a:srgbClr val="2841DD"/>
                </a:solidFill>
                <a:latin typeface="Arial"/>
              </a:rPr>
              <a:t>D2</a:t>
            </a:r>
          </a:p>
          <a:p>
            <a:pPr algn="l">
              <a:lnSpc>
                <a:spcPct val="105000"/>
              </a:lnSpc>
              <a:spcBef>
                <a:spcPts val="0"/>
              </a:spcBef>
              <a:spcAft>
                <a:spcPts val="400"/>
              </a:spcAft>
            </a:pPr>
            <a:r>
              <a:rPr lang="es-ES" sz="900" b="0" i="0" noProof="0" dirty="0">
                <a:solidFill>
                  <a:srgbClr val="4A5568"/>
                </a:solidFill>
                <a:latin typeface="Arial"/>
              </a:rPr>
              <a:t>Causa contribuyente</a:t>
            </a:r>
          </a:p>
        </p:txBody>
      </p:sp>
      <p:sp>
        <p:nvSpPr>
          <p:cNvPr id="31" name="TextBox 30"/>
          <p:cNvSpPr txBox="1"/>
          <p:nvPr/>
        </p:nvSpPr>
        <p:spPr>
          <a:xfrm>
            <a:off x="9656295" y="3028569"/>
            <a:ext cx="2334537" cy="803490"/>
          </a:xfrm>
          <a:prstGeom prst="rect">
            <a:avLst/>
          </a:prstGeom>
          <a:noFill/>
        </p:spPr>
        <p:txBody>
          <a:bodyPr wrap="square" lIns="0" tIns="0" rIns="0" bIns="0" anchor="ctr">
            <a:spAutoFit/>
          </a:bodyPr>
          <a:lstStyle/>
          <a:p>
            <a:pPr algn="l">
              <a:lnSpc>
                <a:spcPct val="116000"/>
              </a:lnSpc>
              <a:spcBef>
                <a:spcPts val="0"/>
              </a:spcBef>
              <a:spcAft>
                <a:spcPts val="400"/>
              </a:spcAft>
            </a:pPr>
            <a:r>
              <a:rPr lang="es-ES" sz="1150" b="0" i="0" noProof="0" dirty="0">
                <a:solidFill>
                  <a:srgbClr val="191919"/>
                </a:solidFill>
                <a:latin typeface="Arial"/>
              </a:rPr>
              <a:t>La sección resistente del tubo es insuficiente para el par nominal transmitido; su corrección recupera el margen por vía geométrica.</a:t>
            </a:r>
          </a:p>
        </p:txBody>
      </p:sp>
      <p:sp>
        <p:nvSpPr>
          <p:cNvPr id="33" name="Rectangle 32"/>
          <p:cNvSpPr/>
          <p:nvPr/>
        </p:nvSpPr>
        <p:spPr>
          <a:xfrm>
            <a:off x="8516343" y="4194085"/>
            <a:ext cx="53847" cy="99174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4" name="TextBox 33"/>
          <p:cNvSpPr txBox="1"/>
          <p:nvPr/>
        </p:nvSpPr>
        <p:spPr>
          <a:xfrm>
            <a:off x="8625727" y="4216800"/>
            <a:ext cx="3436848" cy="588303"/>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1" i="0" noProof="0" dirty="0">
                <a:solidFill>
                  <a:srgbClr val="042354"/>
                </a:solidFill>
                <a:latin typeface="Arial"/>
              </a:rPr>
              <a:t>Una hipótesis se descartó solo cuando resultó incompatible con la evidencia. Las dos confirmadas están en la rama de diseño.</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pic>
        <p:nvPicPr>
          <p:cNvPr id="37" name="Imagen 36">
            <a:extLst>
              <a:ext uri="{FF2B5EF4-FFF2-40B4-BE49-F238E27FC236}">
                <a16:creationId xmlns:a16="http://schemas.microsoft.com/office/drawing/2014/main" id="{13F4D859-4A0C-730F-88FA-FEE53810373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8472" y="1451206"/>
            <a:ext cx="7606128" cy="42089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Evidencia de base: el aporte de cada análisis de falla (AFA)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8</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1024128" y="1389888"/>
            <a:ext cx="2331720" cy="228600"/>
          </a:xfrm>
          <a:prstGeom prst="rect">
            <a:avLst/>
          </a:prstGeom>
          <a:noFill/>
        </p:spPr>
        <p:txBody>
          <a:bodyPr wrap="square" lIns="0" tIns="0" rIns="0" bIns="0" anchor="t">
            <a:spAutoFit/>
          </a:bodyPr>
          <a:lstStyle/>
          <a:p>
            <a:pPr algn="l">
              <a:lnSpc>
                <a:spcPct val="110000"/>
              </a:lnSpc>
              <a:spcBef>
                <a:spcPts val="0"/>
              </a:spcBef>
              <a:spcAft>
                <a:spcPts val="300"/>
              </a:spcAft>
            </a:pPr>
            <a:r>
              <a:rPr lang="es-ES" sz="900" b="1" i="0" noProof="0" dirty="0">
                <a:solidFill>
                  <a:srgbClr val="4A5568"/>
                </a:solidFill>
                <a:latin typeface="Arial"/>
              </a:rPr>
              <a:t>REPORTE</a:t>
            </a:r>
          </a:p>
        </p:txBody>
      </p:sp>
      <p:sp>
        <p:nvSpPr>
          <p:cNvPr id="37" name="TextBox 36"/>
          <p:cNvSpPr txBox="1"/>
          <p:nvPr/>
        </p:nvSpPr>
        <p:spPr>
          <a:xfrm>
            <a:off x="3355848" y="1389888"/>
            <a:ext cx="2606040" cy="228600"/>
          </a:xfrm>
          <a:prstGeom prst="rect">
            <a:avLst/>
          </a:prstGeom>
          <a:noFill/>
        </p:spPr>
        <p:txBody>
          <a:bodyPr wrap="square" lIns="0" tIns="0" rIns="0" bIns="0" anchor="t">
            <a:spAutoFit/>
          </a:bodyPr>
          <a:lstStyle/>
          <a:p>
            <a:pPr algn="l">
              <a:lnSpc>
                <a:spcPct val="110000"/>
              </a:lnSpc>
              <a:spcBef>
                <a:spcPts val="0"/>
              </a:spcBef>
              <a:spcAft>
                <a:spcPts val="300"/>
              </a:spcAft>
            </a:pPr>
            <a:r>
              <a:rPr lang="es-ES" sz="900" b="1" i="0" noProof="0" dirty="0">
                <a:solidFill>
                  <a:srgbClr val="4A5568"/>
                </a:solidFill>
                <a:latin typeface="Arial"/>
              </a:rPr>
              <a:t>QUÉ ANALIZÓ</a:t>
            </a:r>
          </a:p>
        </p:txBody>
      </p:sp>
      <p:sp>
        <p:nvSpPr>
          <p:cNvPr id="38" name="TextBox 37"/>
          <p:cNvSpPr txBox="1"/>
          <p:nvPr/>
        </p:nvSpPr>
        <p:spPr>
          <a:xfrm>
            <a:off x="6144768" y="1389888"/>
            <a:ext cx="3657600" cy="228600"/>
          </a:xfrm>
          <a:prstGeom prst="rect">
            <a:avLst/>
          </a:prstGeom>
          <a:noFill/>
        </p:spPr>
        <p:txBody>
          <a:bodyPr wrap="square" lIns="0" tIns="0" rIns="0" bIns="0" anchor="t">
            <a:spAutoFit/>
          </a:bodyPr>
          <a:lstStyle/>
          <a:p>
            <a:pPr algn="l">
              <a:lnSpc>
                <a:spcPct val="110000"/>
              </a:lnSpc>
              <a:spcBef>
                <a:spcPts val="0"/>
              </a:spcBef>
              <a:spcAft>
                <a:spcPts val="300"/>
              </a:spcAft>
            </a:pPr>
            <a:r>
              <a:rPr lang="es-ES" sz="900" b="1" i="0" noProof="0" dirty="0">
                <a:solidFill>
                  <a:srgbClr val="4A5568"/>
                </a:solidFill>
                <a:latin typeface="Arial"/>
              </a:rPr>
              <a:t>APORTE PRINCIPAL</a:t>
            </a:r>
          </a:p>
        </p:txBody>
      </p:sp>
      <p:sp>
        <p:nvSpPr>
          <p:cNvPr id="39" name="TextBox 38"/>
          <p:cNvSpPr txBox="1"/>
          <p:nvPr/>
        </p:nvSpPr>
        <p:spPr>
          <a:xfrm>
            <a:off x="9985248" y="1389888"/>
            <a:ext cx="1371600" cy="228600"/>
          </a:xfrm>
          <a:prstGeom prst="rect">
            <a:avLst/>
          </a:prstGeom>
          <a:noFill/>
        </p:spPr>
        <p:txBody>
          <a:bodyPr wrap="square" lIns="0" tIns="0" rIns="0" bIns="0" anchor="t">
            <a:spAutoFit/>
          </a:bodyPr>
          <a:lstStyle/>
          <a:p>
            <a:pPr algn="l">
              <a:lnSpc>
                <a:spcPct val="110000"/>
              </a:lnSpc>
              <a:spcBef>
                <a:spcPts val="0"/>
              </a:spcBef>
              <a:spcAft>
                <a:spcPts val="300"/>
              </a:spcAft>
            </a:pPr>
            <a:r>
              <a:rPr lang="es-ES" sz="900" b="1" i="0" noProof="0" dirty="0">
                <a:solidFill>
                  <a:srgbClr val="4A5568"/>
                </a:solidFill>
                <a:latin typeface="Arial"/>
              </a:rPr>
              <a:t>RESULTADO</a:t>
            </a:r>
          </a:p>
        </p:txBody>
      </p:sp>
      <p:sp>
        <p:nvSpPr>
          <p:cNvPr id="40" name="Rectangle 39"/>
          <p:cNvSpPr/>
          <p:nvPr/>
        </p:nvSpPr>
        <p:spPr>
          <a:xfrm>
            <a:off x="841248" y="1664208"/>
            <a:ext cx="10515600" cy="78638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Rectangle 40"/>
          <p:cNvSpPr/>
          <p:nvPr/>
        </p:nvSpPr>
        <p:spPr>
          <a:xfrm>
            <a:off x="841248" y="1664208"/>
            <a:ext cx="45720" cy="7863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2" name="TextBox 41"/>
          <p:cNvSpPr txBox="1"/>
          <p:nvPr/>
        </p:nvSpPr>
        <p:spPr>
          <a:xfrm>
            <a:off x="1024128" y="1773936"/>
            <a:ext cx="2194560" cy="467820"/>
          </a:xfrm>
          <a:prstGeom prst="rect">
            <a:avLst/>
          </a:prstGeom>
          <a:noFill/>
        </p:spPr>
        <p:txBody>
          <a:bodyPr wrap="square" lIns="0" tIns="0" rIns="0" bIns="0" anchor="t">
            <a:spAutoFit/>
          </a:bodyPr>
          <a:lstStyle/>
          <a:p>
            <a:pPr algn="l">
              <a:lnSpc>
                <a:spcPct val="100000"/>
              </a:lnSpc>
              <a:spcBef>
                <a:spcPts val="0"/>
              </a:spcBef>
              <a:spcAft>
                <a:spcPts val="200"/>
              </a:spcAft>
            </a:pPr>
            <a:r>
              <a:rPr lang="es-ES" sz="1150" b="1" i="0" noProof="0" dirty="0" err="1">
                <a:solidFill>
                  <a:srgbClr val="C3094A"/>
                </a:solidFill>
                <a:latin typeface="Arial"/>
              </a:rPr>
              <a:t>Analisis</a:t>
            </a:r>
            <a:r>
              <a:rPr lang="es-ES" sz="1150" b="1" i="0" noProof="0" dirty="0">
                <a:solidFill>
                  <a:srgbClr val="C3094A"/>
                </a:solidFill>
                <a:latin typeface="Arial"/>
              </a:rPr>
              <a:t> de Falla </a:t>
            </a:r>
          </a:p>
          <a:p>
            <a:pPr algn="l">
              <a:lnSpc>
                <a:spcPct val="105000"/>
              </a:lnSpc>
              <a:spcBef>
                <a:spcPts val="0"/>
              </a:spcBef>
              <a:spcAft>
                <a:spcPts val="0"/>
              </a:spcAft>
            </a:pPr>
            <a:r>
              <a:rPr lang="es-ES" sz="850" b="0" i="0" noProof="0" dirty="0">
                <a:solidFill>
                  <a:srgbClr val="4A5568"/>
                </a:solidFill>
                <a:latin typeface="Arial"/>
              </a:rPr>
              <a:t>Inspección visual </a:t>
            </a:r>
            <a:r>
              <a:rPr lang="es-ES" sz="850" noProof="0" dirty="0">
                <a:solidFill>
                  <a:srgbClr val="4A5568"/>
                </a:solidFill>
              </a:rPr>
              <a:t>la empresa contratista </a:t>
            </a:r>
            <a:r>
              <a:rPr lang="es-ES" sz="850" b="0" i="0" noProof="0" dirty="0">
                <a:solidFill>
                  <a:srgbClr val="4A5568"/>
                </a:solidFill>
                <a:latin typeface="Arial"/>
              </a:rPr>
              <a:t>(portadas en el Anexo E)</a:t>
            </a:r>
          </a:p>
        </p:txBody>
      </p:sp>
      <p:sp>
        <p:nvSpPr>
          <p:cNvPr id="43" name="TextBox 42"/>
          <p:cNvSpPr txBox="1"/>
          <p:nvPr/>
        </p:nvSpPr>
        <p:spPr>
          <a:xfrm>
            <a:off x="3355848" y="1664208"/>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0" i="0" noProof="0" dirty="0">
                <a:solidFill>
                  <a:srgbClr val="4A5568"/>
                </a:solidFill>
                <a:latin typeface="Arial"/>
              </a:rPr>
              <a:t>Superficie de fractura de cada evento</a:t>
            </a:r>
          </a:p>
        </p:txBody>
      </p:sp>
      <p:sp>
        <p:nvSpPr>
          <p:cNvPr id="44" name="TextBox 43"/>
          <p:cNvSpPr txBox="1"/>
          <p:nvPr/>
        </p:nvSpPr>
        <p:spPr>
          <a:xfrm>
            <a:off x="6144768" y="1892002"/>
            <a:ext cx="3657600" cy="330796"/>
          </a:xfrm>
          <a:prstGeom prst="rect">
            <a:avLst/>
          </a:prstGeom>
          <a:noFill/>
        </p:spPr>
        <p:txBody>
          <a:bodyPr wrap="square" lIns="0" tIns="0" rIns="0" bIns="0" anchor="ctr">
            <a:spAutoFit/>
          </a:bodyPr>
          <a:lstStyle/>
          <a:p>
            <a:pPr algn="l">
              <a:lnSpc>
                <a:spcPct val="112000"/>
              </a:lnSpc>
              <a:spcBef>
                <a:spcPts val="0"/>
              </a:spcBef>
              <a:spcAft>
                <a:spcPts val="0"/>
              </a:spcAft>
            </a:pPr>
            <a:r>
              <a:rPr lang="es-ES" sz="1000" b="0" i="0" noProof="0" dirty="0">
                <a:solidFill>
                  <a:srgbClr val="191919"/>
                </a:solidFill>
                <a:latin typeface="Arial"/>
              </a:rPr>
              <a:t>Origen en el diámetro interior, en la raíz de la unión soldada; trinquete, marcas de playa y rotura final reducida.</a:t>
            </a:r>
          </a:p>
        </p:txBody>
      </p:sp>
      <p:sp>
        <p:nvSpPr>
          <p:cNvPr id="45" name="Rectangle 44"/>
          <p:cNvSpPr/>
          <p:nvPr/>
        </p:nvSpPr>
        <p:spPr>
          <a:xfrm>
            <a:off x="9985248" y="1819656"/>
            <a:ext cx="1225296" cy="475488"/>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6" name="TextBox 45"/>
          <p:cNvSpPr txBox="1"/>
          <p:nvPr/>
        </p:nvSpPr>
        <p:spPr>
          <a:xfrm>
            <a:off x="9985248" y="1819656"/>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lang="es-ES" sz="800" b="1" i="0" noProof="0" dirty="0">
                <a:solidFill>
                  <a:srgbClr val="FFFFFF"/>
                </a:solidFill>
                <a:latin typeface="Arial"/>
              </a:rPr>
              <a:t>CONFIRMA</a:t>
            </a:r>
          </a:p>
          <a:p>
            <a:pPr algn="ctr">
              <a:lnSpc>
                <a:spcPct val="100000"/>
              </a:lnSpc>
              <a:spcBef>
                <a:spcPts val="0"/>
              </a:spcBef>
              <a:spcAft>
                <a:spcPts val="0"/>
              </a:spcAft>
            </a:pPr>
            <a:r>
              <a:rPr lang="es-ES" sz="800" b="1" i="0" noProof="0" dirty="0">
                <a:solidFill>
                  <a:srgbClr val="FFFFFF"/>
                </a:solidFill>
                <a:latin typeface="Arial"/>
              </a:rPr>
              <a:t>FATIGA</a:t>
            </a:r>
          </a:p>
        </p:txBody>
      </p:sp>
      <p:sp>
        <p:nvSpPr>
          <p:cNvPr id="47" name="Rectangle 46"/>
          <p:cNvSpPr/>
          <p:nvPr/>
        </p:nvSpPr>
        <p:spPr>
          <a:xfrm>
            <a:off x="841248" y="2523744"/>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8" name="Rectangle 47"/>
          <p:cNvSpPr/>
          <p:nvPr/>
        </p:nvSpPr>
        <p:spPr>
          <a:xfrm>
            <a:off x="841248" y="2523744"/>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9" name="TextBox 48"/>
          <p:cNvSpPr txBox="1"/>
          <p:nvPr/>
        </p:nvSpPr>
        <p:spPr>
          <a:xfrm>
            <a:off x="1024128" y="2633472"/>
            <a:ext cx="2194560" cy="333425"/>
          </a:xfrm>
          <a:prstGeom prst="rect">
            <a:avLst/>
          </a:prstGeom>
          <a:noFill/>
        </p:spPr>
        <p:txBody>
          <a:bodyPr wrap="square" lIns="0" tIns="0" rIns="0" bIns="0" anchor="t">
            <a:spAutoFit/>
          </a:bodyPr>
          <a:lstStyle/>
          <a:p>
            <a:pPr algn="l">
              <a:lnSpc>
                <a:spcPct val="100000"/>
              </a:lnSpc>
              <a:spcBef>
                <a:spcPts val="0"/>
              </a:spcBef>
              <a:spcAft>
                <a:spcPts val="200"/>
              </a:spcAft>
            </a:pPr>
            <a:r>
              <a:rPr lang="es-ES" sz="1150" b="1" i="0" noProof="0" dirty="0">
                <a:solidFill>
                  <a:srgbClr val="042354"/>
                </a:solidFill>
                <a:latin typeface="Arial"/>
              </a:rPr>
              <a:t>DIESA</a:t>
            </a:r>
          </a:p>
          <a:p>
            <a:pPr algn="l">
              <a:lnSpc>
                <a:spcPct val="100000"/>
              </a:lnSpc>
              <a:spcBef>
                <a:spcPts val="0"/>
              </a:spcBef>
              <a:spcAft>
                <a:spcPts val="200"/>
              </a:spcAft>
            </a:pPr>
            <a:r>
              <a:rPr lang="es-ES" sz="850" b="0" i="0" noProof="0" dirty="0">
                <a:solidFill>
                  <a:srgbClr val="4A5568"/>
                </a:solidFill>
                <a:latin typeface="Arial"/>
              </a:rPr>
              <a:t>Laboratorio externo</a:t>
            </a:r>
          </a:p>
        </p:txBody>
      </p:sp>
      <p:sp>
        <p:nvSpPr>
          <p:cNvPr id="50" name="TextBox 49"/>
          <p:cNvSpPr txBox="1"/>
          <p:nvPr/>
        </p:nvSpPr>
        <p:spPr>
          <a:xfrm>
            <a:off x="3355848" y="2523744"/>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0" i="0" noProof="0" dirty="0">
                <a:solidFill>
                  <a:srgbClr val="4A5568"/>
                </a:solidFill>
                <a:latin typeface="Arial"/>
              </a:rPr>
              <a:t>Metalografía, composición química, dureza y tracción del eje</a:t>
            </a:r>
          </a:p>
        </p:txBody>
      </p:sp>
      <p:sp>
        <p:nvSpPr>
          <p:cNvPr id="51" name="TextBox 50"/>
          <p:cNvSpPr txBox="1"/>
          <p:nvPr/>
        </p:nvSpPr>
        <p:spPr>
          <a:xfrm>
            <a:off x="6144768" y="2523744"/>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lang="es-ES" sz="1000" b="0" i="0" noProof="0" dirty="0">
                <a:solidFill>
                  <a:srgbClr val="191919"/>
                </a:solidFill>
                <a:latin typeface="Arial"/>
              </a:rPr>
              <a:t>La grieta nuclea en una discontinuidad de la raíz. Material conforme a ASTM A618 Gr. III: 212 HBW, 619 MPa y 717 MPa.</a:t>
            </a:r>
          </a:p>
        </p:txBody>
      </p:sp>
      <p:sp>
        <p:nvSpPr>
          <p:cNvPr id="52" name="Rectangle 51"/>
          <p:cNvSpPr/>
          <p:nvPr/>
        </p:nvSpPr>
        <p:spPr>
          <a:xfrm>
            <a:off x="9985248" y="2679191"/>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3" name="TextBox 52"/>
          <p:cNvSpPr txBox="1"/>
          <p:nvPr/>
        </p:nvSpPr>
        <p:spPr>
          <a:xfrm>
            <a:off x="9985248" y="2679191"/>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lang="es-ES" sz="800" b="1" i="0" noProof="0" dirty="0">
                <a:solidFill>
                  <a:srgbClr val="FFFFFF"/>
                </a:solidFill>
                <a:latin typeface="Arial"/>
              </a:rPr>
              <a:t>DESCARTA</a:t>
            </a:r>
          </a:p>
          <a:p>
            <a:pPr algn="ctr">
              <a:lnSpc>
                <a:spcPct val="100000"/>
              </a:lnSpc>
              <a:spcBef>
                <a:spcPts val="0"/>
              </a:spcBef>
              <a:spcAft>
                <a:spcPts val="0"/>
              </a:spcAft>
            </a:pPr>
            <a:r>
              <a:rPr lang="es-ES" sz="800" b="1" i="0" noProof="0" dirty="0">
                <a:solidFill>
                  <a:srgbClr val="FFFFFF"/>
                </a:solidFill>
                <a:latin typeface="Arial"/>
              </a:rPr>
              <a:t>MATERIAL (F1)</a:t>
            </a:r>
          </a:p>
        </p:txBody>
      </p:sp>
      <p:sp>
        <p:nvSpPr>
          <p:cNvPr id="54" name="Rectangle 53"/>
          <p:cNvSpPr/>
          <p:nvPr/>
        </p:nvSpPr>
        <p:spPr>
          <a:xfrm>
            <a:off x="841248" y="3383279"/>
            <a:ext cx="10515600" cy="78638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5" name="Rectangle 54"/>
          <p:cNvSpPr/>
          <p:nvPr/>
        </p:nvSpPr>
        <p:spPr>
          <a:xfrm>
            <a:off x="841248" y="3383279"/>
            <a:ext cx="45720" cy="7863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6" name="TextBox 55"/>
          <p:cNvSpPr txBox="1"/>
          <p:nvPr/>
        </p:nvSpPr>
        <p:spPr>
          <a:xfrm>
            <a:off x="1024128" y="3493008"/>
            <a:ext cx="2194560" cy="176972"/>
          </a:xfrm>
          <a:prstGeom prst="rect">
            <a:avLst/>
          </a:prstGeom>
          <a:noFill/>
        </p:spPr>
        <p:txBody>
          <a:bodyPr wrap="square" lIns="0" tIns="0" rIns="0" bIns="0" anchor="t">
            <a:spAutoFit/>
          </a:bodyPr>
          <a:lstStyle/>
          <a:p>
            <a:pPr algn="l">
              <a:lnSpc>
                <a:spcPct val="100000"/>
              </a:lnSpc>
              <a:spcBef>
                <a:spcPts val="0"/>
              </a:spcBef>
              <a:spcAft>
                <a:spcPts val="200"/>
              </a:spcAft>
            </a:pPr>
            <a:r>
              <a:rPr lang="es-ES" sz="1150" b="1" i="0" noProof="0" dirty="0">
                <a:solidFill>
                  <a:srgbClr val="042354"/>
                </a:solidFill>
                <a:latin typeface="Arial"/>
              </a:rPr>
              <a:t>Data del equipo</a:t>
            </a:r>
          </a:p>
        </p:txBody>
      </p:sp>
      <p:sp>
        <p:nvSpPr>
          <p:cNvPr id="57" name="TextBox 56"/>
          <p:cNvSpPr txBox="1"/>
          <p:nvPr/>
        </p:nvSpPr>
        <p:spPr>
          <a:xfrm>
            <a:off x="3355848" y="3621877"/>
            <a:ext cx="2606040" cy="309187"/>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0" i="0" noProof="0" dirty="0">
                <a:solidFill>
                  <a:srgbClr val="4A5568"/>
                </a:solidFill>
                <a:latin typeface="Arial"/>
              </a:rPr>
              <a:t>Carga útil, velocidad, peso suspendido y grado efectivo</a:t>
            </a:r>
          </a:p>
        </p:txBody>
      </p:sp>
      <p:sp>
        <p:nvSpPr>
          <p:cNvPr id="58" name="TextBox 57"/>
          <p:cNvSpPr txBox="1"/>
          <p:nvPr/>
        </p:nvSpPr>
        <p:spPr>
          <a:xfrm>
            <a:off x="6144768" y="3383279"/>
            <a:ext cx="3657600" cy="786384"/>
          </a:xfrm>
          <a:prstGeom prst="rect">
            <a:avLst/>
          </a:prstGeom>
          <a:noFill/>
        </p:spPr>
        <p:txBody>
          <a:bodyPr wrap="square" lIns="0" tIns="0" rIns="0" bIns="0" anchor="ctr">
            <a:spAutoFit/>
          </a:bodyPr>
          <a:lstStyle/>
          <a:p>
            <a:pPr algn="l">
              <a:lnSpc>
                <a:spcPct val="112000"/>
              </a:lnSpc>
              <a:spcBef>
                <a:spcPts val="0"/>
              </a:spcBef>
              <a:spcAft>
                <a:spcPts val="0"/>
              </a:spcAft>
            </a:pPr>
            <a:r>
              <a:rPr lang="es-ES" sz="1000" b="0" i="0" noProof="0" dirty="0">
                <a:solidFill>
                  <a:srgbClr val="191919"/>
                </a:solidFill>
                <a:latin typeface="Arial"/>
              </a:rPr>
              <a:t>Operación dentro de parámetros: 366,7 t de carga útil media, sin ciclos sobre el 120 %, sin </a:t>
            </a:r>
            <a:r>
              <a:rPr lang="es-ES" sz="1000" b="0" i="0" noProof="0" dirty="0" err="1">
                <a:solidFill>
                  <a:srgbClr val="191919"/>
                </a:solidFill>
                <a:latin typeface="Arial"/>
              </a:rPr>
              <a:t>sobrevelocidad</a:t>
            </a:r>
            <a:r>
              <a:rPr lang="es-ES" sz="1000" b="0" i="0" noProof="0" dirty="0">
                <a:solidFill>
                  <a:srgbClr val="191919"/>
                </a:solidFill>
                <a:latin typeface="Arial"/>
              </a:rPr>
              <a:t> y menos de 800 t de peso suspendido.</a:t>
            </a:r>
          </a:p>
        </p:txBody>
      </p:sp>
      <p:sp>
        <p:nvSpPr>
          <p:cNvPr id="59" name="Rectangle 58"/>
          <p:cNvSpPr/>
          <p:nvPr/>
        </p:nvSpPr>
        <p:spPr>
          <a:xfrm>
            <a:off x="9985248" y="3538727"/>
            <a:ext cx="1225296" cy="47548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0" name="TextBox 59"/>
          <p:cNvSpPr txBox="1"/>
          <p:nvPr/>
        </p:nvSpPr>
        <p:spPr>
          <a:xfrm>
            <a:off x="9985248" y="3538727"/>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lang="es-ES" sz="800" b="1" i="0" noProof="0" dirty="0">
                <a:solidFill>
                  <a:srgbClr val="FFFFFF"/>
                </a:solidFill>
                <a:latin typeface="Arial"/>
              </a:rPr>
              <a:t>DESCARTA</a:t>
            </a:r>
          </a:p>
          <a:p>
            <a:pPr algn="ctr">
              <a:lnSpc>
                <a:spcPct val="100000"/>
              </a:lnSpc>
              <a:spcBef>
                <a:spcPts val="0"/>
              </a:spcBef>
              <a:spcAft>
                <a:spcPts val="0"/>
              </a:spcAft>
            </a:pPr>
            <a:r>
              <a:rPr lang="es-ES" sz="800" b="1" i="0" noProof="0" dirty="0">
                <a:solidFill>
                  <a:srgbClr val="FFFFFF"/>
                </a:solidFill>
                <a:latin typeface="Arial"/>
              </a:rPr>
              <a:t>OPERACIÓN</a:t>
            </a:r>
          </a:p>
        </p:txBody>
      </p:sp>
      <p:sp>
        <p:nvSpPr>
          <p:cNvPr id="61" name="Rectangle 60"/>
          <p:cNvSpPr/>
          <p:nvPr/>
        </p:nvSpPr>
        <p:spPr>
          <a:xfrm>
            <a:off x="841248" y="4242816"/>
            <a:ext cx="10515600" cy="786384"/>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2" name="Rectangle 61"/>
          <p:cNvSpPr/>
          <p:nvPr/>
        </p:nvSpPr>
        <p:spPr>
          <a:xfrm>
            <a:off x="841248" y="4242816"/>
            <a:ext cx="45720" cy="78638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3" name="TextBox 62"/>
          <p:cNvSpPr txBox="1"/>
          <p:nvPr/>
        </p:nvSpPr>
        <p:spPr>
          <a:xfrm>
            <a:off x="1024128" y="4352544"/>
            <a:ext cx="2194560" cy="603503"/>
          </a:xfrm>
          <a:prstGeom prst="rect">
            <a:avLst/>
          </a:prstGeom>
          <a:noFill/>
        </p:spPr>
        <p:txBody>
          <a:bodyPr wrap="square" lIns="0" tIns="0" rIns="0" bIns="0" anchor="t">
            <a:spAutoFit/>
          </a:bodyPr>
          <a:lstStyle/>
          <a:p>
            <a:pPr algn="l">
              <a:lnSpc>
                <a:spcPct val="100000"/>
              </a:lnSpc>
              <a:spcBef>
                <a:spcPts val="0"/>
              </a:spcBef>
              <a:spcAft>
                <a:spcPts val="200"/>
              </a:spcAft>
            </a:pPr>
            <a:r>
              <a:rPr lang="es-ES" sz="1150" b="1" i="0" noProof="0" dirty="0">
                <a:solidFill>
                  <a:srgbClr val="2841DD"/>
                </a:solidFill>
                <a:latin typeface="Arial"/>
              </a:rPr>
              <a:t>Recomendación común</a:t>
            </a:r>
          </a:p>
          <a:p>
            <a:pPr algn="l">
              <a:lnSpc>
                <a:spcPct val="105000"/>
              </a:lnSpc>
              <a:spcBef>
                <a:spcPts val="0"/>
              </a:spcBef>
              <a:spcAft>
                <a:spcPts val="0"/>
              </a:spcAft>
            </a:pPr>
            <a:r>
              <a:rPr lang="es-ES" sz="850" b="0" i="0" noProof="0" dirty="0">
                <a:solidFill>
                  <a:srgbClr val="4A5568"/>
                </a:solidFill>
                <a:latin typeface="Arial"/>
              </a:rPr>
              <a:t>De los propios AFA</a:t>
            </a:r>
          </a:p>
        </p:txBody>
      </p:sp>
      <p:sp>
        <p:nvSpPr>
          <p:cNvPr id="64" name="TextBox 63"/>
          <p:cNvSpPr txBox="1"/>
          <p:nvPr/>
        </p:nvSpPr>
        <p:spPr>
          <a:xfrm>
            <a:off x="3355848" y="4242816"/>
            <a:ext cx="2606040" cy="786384"/>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0" i="0" noProof="0" dirty="0">
                <a:solidFill>
                  <a:srgbClr val="4A5568"/>
                </a:solidFill>
                <a:latin typeface="Arial"/>
              </a:rPr>
              <a:t>Acción propuesta al cierre de los análisis</a:t>
            </a:r>
          </a:p>
        </p:txBody>
      </p:sp>
      <p:sp>
        <p:nvSpPr>
          <p:cNvPr id="65" name="TextBox 64"/>
          <p:cNvSpPr txBox="1"/>
          <p:nvPr/>
        </p:nvSpPr>
        <p:spPr>
          <a:xfrm>
            <a:off x="6144768" y="4470610"/>
            <a:ext cx="3657600" cy="330796"/>
          </a:xfrm>
          <a:prstGeom prst="rect">
            <a:avLst/>
          </a:prstGeom>
          <a:noFill/>
        </p:spPr>
        <p:txBody>
          <a:bodyPr wrap="square" lIns="0" tIns="0" rIns="0" bIns="0" anchor="ctr">
            <a:spAutoFit/>
          </a:bodyPr>
          <a:lstStyle/>
          <a:p>
            <a:pPr algn="l">
              <a:lnSpc>
                <a:spcPct val="112000"/>
              </a:lnSpc>
              <a:spcBef>
                <a:spcPts val="0"/>
              </a:spcBef>
              <a:spcAft>
                <a:spcPts val="0"/>
              </a:spcAft>
            </a:pPr>
            <a:r>
              <a:rPr lang="es-ES" sz="1000" b="0" i="0" noProof="0" dirty="0">
                <a:solidFill>
                  <a:srgbClr val="191919"/>
                </a:solidFill>
                <a:latin typeface="Arial"/>
              </a:rPr>
              <a:t>Modificar el proceso de soldadura y eliminar el concentrador; el fabricante.</a:t>
            </a:r>
          </a:p>
        </p:txBody>
      </p:sp>
      <p:sp>
        <p:nvSpPr>
          <p:cNvPr id="66" name="Rectangle 65"/>
          <p:cNvSpPr/>
          <p:nvPr/>
        </p:nvSpPr>
        <p:spPr>
          <a:xfrm>
            <a:off x="9985248" y="4398264"/>
            <a:ext cx="1225296" cy="475488"/>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7" name="TextBox 66"/>
          <p:cNvSpPr txBox="1"/>
          <p:nvPr/>
        </p:nvSpPr>
        <p:spPr>
          <a:xfrm>
            <a:off x="9985248" y="4398264"/>
            <a:ext cx="1225296" cy="475488"/>
          </a:xfrm>
          <a:prstGeom prst="rect">
            <a:avLst/>
          </a:prstGeom>
          <a:noFill/>
        </p:spPr>
        <p:txBody>
          <a:bodyPr wrap="square" lIns="0" tIns="0" rIns="0" bIns="0" anchor="ctr">
            <a:spAutoFit/>
          </a:bodyPr>
          <a:lstStyle/>
          <a:p>
            <a:pPr algn="ctr">
              <a:lnSpc>
                <a:spcPct val="100000"/>
              </a:lnSpc>
              <a:spcBef>
                <a:spcPts val="0"/>
              </a:spcBef>
              <a:spcAft>
                <a:spcPts val="0"/>
              </a:spcAft>
            </a:pPr>
            <a:r>
              <a:rPr lang="es-ES" sz="800" b="1" i="0" noProof="0" dirty="0">
                <a:solidFill>
                  <a:srgbClr val="FFFFFF"/>
                </a:solidFill>
                <a:latin typeface="Arial"/>
              </a:rPr>
              <a:t>ORIGEN DEL</a:t>
            </a:r>
          </a:p>
          <a:p>
            <a:pPr algn="ctr">
              <a:lnSpc>
                <a:spcPct val="100000"/>
              </a:lnSpc>
              <a:spcBef>
                <a:spcPts val="0"/>
              </a:spcBef>
              <a:spcAft>
                <a:spcPts val="0"/>
              </a:spcAft>
            </a:pPr>
            <a:r>
              <a:rPr lang="es-ES" sz="800" b="1" i="0" noProof="0" dirty="0">
                <a:solidFill>
                  <a:srgbClr val="FFFFFF"/>
                </a:solidFill>
                <a:latin typeface="Arial"/>
              </a:rPr>
              <a:t>REDISEÑO</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9" name="TextBox 68"/>
          <p:cNvSpPr txBox="1"/>
          <p:nvPr/>
        </p:nvSpPr>
        <p:spPr>
          <a:xfrm>
            <a:off x="1024128" y="5157216"/>
            <a:ext cx="10277856" cy="184859"/>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Cada AFA resolvió bien el mecanismo de falla, pero ninguno consolidó la recurrencia: ese vacío es la causa latente que se retoma más adelante.</a:t>
            </a:r>
          </a:p>
        </p:txBody>
      </p:sp>
      <p:sp>
        <p:nvSpPr>
          <p:cNvPr id="70" name="TextBox 6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Verificación de la causa física: fractura y metalografía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9</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36" name="Picture 35" descr="image.png"/>
          <p:cNvPicPr>
            <a:picLocks noChangeAspect="1"/>
          </p:cNvPicPr>
          <p:nvPr/>
        </p:nvPicPr>
        <p:blipFill>
          <a:blip r:embed="rId4"/>
          <a:stretch>
            <a:fillRect/>
          </a:stretch>
        </p:blipFill>
        <p:spPr>
          <a:xfrm>
            <a:off x="841248" y="1481328"/>
            <a:ext cx="2634438" cy="2743200"/>
          </a:xfrm>
          <a:prstGeom prst="rect">
            <a:avLst/>
          </a:prstGeom>
        </p:spPr>
      </p:pic>
      <p:sp>
        <p:nvSpPr>
          <p:cNvPr id="37" name="TextBox 36"/>
          <p:cNvSpPr txBox="1"/>
          <p:nvPr/>
        </p:nvSpPr>
        <p:spPr>
          <a:xfrm>
            <a:off x="841248" y="4297680"/>
            <a:ext cx="2634438" cy="54864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Figura H1 · Eje F1 en campo: (1) propagación estable, (2) rotura final, (3) origen en el diámetro interior, (4) borde deformado por free </a:t>
            </a:r>
            <a:r>
              <a:rPr lang="es-ES" sz="900" b="0" i="0" noProof="0" dirty="0" err="1">
                <a:solidFill>
                  <a:srgbClr val="7A8494"/>
                </a:solidFill>
                <a:latin typeface="Arial"/>
              </a:rPr>
              <a:t>wheeling</a:t>
            </a:r>
            <a:r>
              <a:rPr lang="es-ES" sz="900" b="0" i="0" noProof="0" dirty="0">
                <a:solidFill>
                  <a:srgbClr val="7A8494"/>
                </a:solidFill>
                <a:latin typeface="Arial"/>
              </a:rPr>
              <a:t>.</a:t>
            </a:r>
          </a:p>
        </p:txBody>
      </p:sp>
      <p:pic>
        <p:nvPicPr>
          <p:cNvPr id="38" name="Picture 37" descr="image.png"/>
          <p:cNvPicPr>
            <a:picLocks noChangeAspect="1"/>
          </p:cNvPicPr>
          <p:nvPr/>
        </p:nvPicPr>
        <p:blipFill>
          <a:blip r:embed="rId5"/>
          <a:stretch>
            <a:fillRect/>
          </a:stretch>
        </p:blipFill>
        <p:spPr>
          <a:xfrm>
            <a:off x="3628315" y="1481328"/>
            <a:ext cx="3909447" cy="2743200"/>
          </a:xfrm>
          <a:prstGeom prst="rect">
            <a:avLst/>
          </a:prstGeom>
        </p:spPr>
      </p:pic>
      <p:sp>
        <p:nvSpPr>
          <p:cNvPr id="39" name="TextBox 38"/>
          <p:cNvSpPr txBox="1"/>
          <p:nvPr/>
        </p:nvSpPr>
        <p:spPr>
          <a:xfrm>
            <a:off x="3628315" y="4297680"/>
            <a:ext cx="3909447" cy="54864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err="1">
                <a:solidFill>
                  <a:srgbClr val="7A8494"/>
                </a:solidFill>
                <a:latin typeface="Arial"/>
              </a:rPr>
              <a:t>Fractografía</a:t>
            </a:r>
            <a:r>
              <a:rPr lang="es-ES" sz="900" b="0" i="0" noProof="0" dirty="0">
                <a:solidFill>
                  <a:srgbClr val="7A8494"/>
                </a:solidFill>
                <a:latin typeface="Arial"/>
              </a:rPr>
              <a:t>: marcas de trinquete en el diámetro menor, zona de propagación estable y área de fractura final de ~20 %.</a:t>
            </a:r>
          </a:p>
        </p:txBody>
      </p:sp>
      <p:pic>
        <p:nvPicPr>
          <p:cNvPr id="40" name="Picture 39" descr="image.png"/>
          <p:cNvPicPr>
            <a:picLocks noChangeAspect="1"/>
          </p:cNvPicPr>
          <p:nvPr/>
        </p:nvPicPr>
        <p:blipFill>
          <a:blip r:embed="rId6"/>
          <a:stretch>
            <a:fillRect/>
          </a:stretch>
        </p:blipFill>
        <p:spPr>
          <a:xfrm>
            <a:off x="7690391" y="1481328"/>
            <a:ext cx="3666456" cy="2743200"/>
          </a:xfrm>
          <a:prstGeom prst="rect">
            <a:avLst/>
          </a:prstGeom>
        </p:spPr>
      </p:pic>
      <p:sp>
        <p:nvSpPr>
          <p:cNvPr id="41" name="TextBox 40"/>
          <p:cNvSpPr txBox="1"/>
          <p:nvPr/>
        </p:nvSpPr>
        <p:spPr>
          <a:xfrm>
            <a:off x="7690391" y="4297680"/>
            <a:ext cx="3666456" cy="54864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Macrografía: discontinuidad tipo grieta en la raíz de la unión, punto de iniciación y zonas MS / ZAC / MB. Informe DIESA-AFA2023085189_00.</a:t>
            </a:r>
          </a:p>
        </p:txBody>
      </p:sp>
      <p:sp>
        <p:nvSpPr>
          <p:cNvPr id="42" name="Rectangle 41"/>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3" name="TextBox 42"/>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La grieta nuclea en la raíz de la unión soldada, y la rotura final reducida indica que el componente operó largo tiempo con la discontinuidad en propagación.</a:t>
            </a:r>
          </a:p>
        </p:txBody>
      </p:sp>
      <p:sp>
        <p:nvSpPr>
          <p:cNvPr id="44" name="TextBox 43"/>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Descarte de la operación: la data del propio equipo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10</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6" name="TextBox 35"/>
          <p:cNvSpPr txBox="1"/>
          <p:nvPr/>
        </p:nvSpPr>
        <p:spPr>
          <a:xfrm>
            <a:off x="841248" y="1389888"/>
            <a:ext cx="667512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FIGURA H2 · CM403 · REPORTE AFA 01-23040 · OS 100244324, SECCIÓN 6</a:t>
            </a:r>
          </a:p>
        </p:txBody>
      </p:sp>
      <p:pic>
        <p:nvPicPr>
          <p:cNvPr id="37" name="Picture 36" descr="fig_h2_cm403.png"/>
          <p:cNvPicPr>
            <a:picLocks noChangeAspect="1"/>
          </p:cNvPicPr>
          <p:nvPr/>
        </p:nvPicPr>
        <p:blipFill>
          <a:blip r:embed="rId3"/>
          <a:stretch>
            <a:fillRect/>
          </a:stretch>
        </p:blipFill>
        <p:spPr>
          <a:xfrm>
            <a:off x="841248" y="1700784"/>
            <a:ext cx="6675120" cy="3134960"/>
          </a:xfrm>
          <a:prstGeom prst="rect">
            <a:avLst/>
          </a:prstGeom>
        </p:spPr>
      </p:pic>
      <p:sp>
        <p:nvSpPr>
          <p:cNvPr id="38" name="TextBox 37"/>
          <p:cNvSpPr txBox="1"/>
          <p:nvPr/>
        </p:nvSpPr>
        <p:spPr>
          <a:xfrm>
            <a:off x="841248" y="4890608"/>
            <a:ext cx="6675120" cy="27432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Izq.: carga útil, velocidad y peso suspendido. Der.: grado efectivo mensual, may-2022 a abr-2023.</a:t>
            </a:r>
          </a:p>
        </p:txBody>
      </p:sp>
      <p:sp>
        <p:nvSpPr>
          <p:cNvPr id="39" name="TextBox 38"/>
          <p:cNvSpPr txBox="1"/>
          <p:nvPr/>
        </p:nvSpPr>
        <p:spPr>
          <a:xfrm>
            <a:off x="7699248" y="1389888"/>
            <a:ext cx="365760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LAS CUATRO HIPÓTESIS DE OPERACIÓN</a:t>
            </a:r>
          </a:p>
        </p:txBody>
      </p:sp>
      <p:sp>
        <p:nvSpPr>
          <p:cNvPr id="40" name="Rectangle 39"/>
          <p:cNvSpPr/>
          <p:nvPr/>
        </p:nvSpPr>
        <p:spPr>
          <a:xfrm>
            <a:off x="7699248" y="1700784"/>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Rectangle 40"/>
          <p:cNvSpPr/>
          <p:nvPr/>
        </p:nvSpPr>
        <p:spPr>
          <a:xfrm>
            <a:off x="7699248" y="1700784"/>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2" name="TextBox 41"/>
          <p:cNvSpPr txBox="1"/>
          <p:nvPr/>
        </p:nvSpPr>
        <p:spPr>
          <a:xfrm>
            <a:off x="7845552" y="1828800"/>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850" b="1" i="0" noProof="0" dirty="0">
                <a:solidFill>
                  <a:srgbClr val="4A5568"/>
                </a:solidFill>
                <a:latin typeface="Arial"/>
              </a:rPr>
              <a:t>CARGA ÚTIL (PLM)</a:t>
            </a:r>
          </a:p>
        </p:txBody>
      </p:sp>
      <p:sp>
        <p:nvSpPr>
          <p:cNvPr id="43" name="Rectangle 42"/>
          <p:cNvSpPr/>
          <p:nvPr/>
        </p:nvSpPr>
        <p:spPr>
          <a:xfrm>
            <a:off x="10332720" y="1810512"/>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4" name="TextBox 43"/>
          <p:cNvSpPr txBox="1"/>
          <p:nvPr/>
        </p:nvSpPr>
        <p:spPr>
          <a:xfrm>
            <a:off x="10332720" y="1810512"/>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lang="es-ES" sz="700" b="1" i="0" noProof="0" dirty="0">
                <a:solidFill>
                  <a:srgbClr val="FFFFFF"/>
                </a:solidFill>
                <a:latin typeface="Arial"/>
              </a:rPr>
              <a:t>DESCARTADA</a:t>
            </a:r>
          </a:p>
        </p:txBody>
      </p:sp>
      <p:sp>
        <p:nvSpPr>
          <p:cNvPr id="45" name="TextBox 44"/>
          <p:cNvSpPr txBox="1"/>
          <p:nvPr/>
        </p:nvSpPr>
        <p:spPr>
          <a:xfrm>
            <a:off x="7845552" y="2066544"/>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lang="es-ES" sz="950" b="0" i="0" noProof="0" dirty="0">
                <a:solidFill>
                  <a:srgbClr val="191919"/>
                </a:solidFill>
                <a:latin typeface="Arial"/>
              </a:rPr>
              <a:t>366,7 t de media y 0 % de ciclos sobre el 120 %. Unidades con falla: 352,1 a 366,7 t.</a:t>
            </a:r>
          </a:p>
        </p:txBody>
      </p:sp>
      <p:sp>
        <p:nvSpPr>
          <p:cNvPr id="46" name="Rectangle 45"/>
          <p:cNvSpPr/>
          <p:nvPr/>
        </p:nvSpPr>
        <p:spPr>
          <a:xfrm>
            <a:off x="7699248" y="2510028"/>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7" name="Rectangle 46"/>
          <p:cNvSpPr/>
          <p:nvPr/>
        </p:nvSpPr>
        <p:spPr>
          <a:xfrm>
            <a:off x="7699248" y="2510028"/>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8" name="TextBox 47"/>
          <p:cNvSpPr txBox="1"/>
          <p:nvPr/>
        </p:nvSpPr>
        <p:spPr>
          <a:xfrm>
            <a:off x="7845552" y="2638044"/>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850" b="1" i="0" noProof="0" dirty="0">
                <a:solidFill>
                  <a:srgbClr val="4A5568"/>
                </a:solidFill>
                <a:latin typeface="Arial"/>
              </a:rPr>
              <a:t>VELOCIDAD</a:t>
            </a:r>
          </a:p>
        </p:txBody>
      </p:sp>
      <p:sp>
        <p:nvSpPr>
          <p:cNvPr id="49" name="Rectangle 48"/>
          <p:cNvSpPr/>
          <p:nvPr/>
        </p:nvSpPr>
        <p:spPr>
          <a:xfrm>
            <a:off x="10332720" y="2619756"/>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0" name="TextBox 49"/>
          <p:cNvSpPr txBox="1"/>
          <p:nvPr/>
        </p:nvSpPr>
        <p:spPr>
          <a:xfrm>
            <a:off x="10332720" y="2619756"/>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lang="es-ES" sz="700" b="1" i="0" noProof="0" dirty="0">
                <a:solidFill>
                  <a:srgbClr val="FFFFFF"/>
                </a:solidFill>
                <a:latin typeface="Arial"/>
              </a:rPr>
              <a:t>DESCARTADA</a:t>
            </a:r>
          </a:p>
        </p:txBody>
      </p:sp>
      <p:sp>
        <p:nvSpPr>
          <p:cNvPr id="51" name="TextBox 50"/>
          <p:cNvSpPr txBox="1"/>
          <p:nvPr/>
        </p:nvSpPr>
        <p:spPr>
          <a:xfrm>
            <a:off x="7845552" y="2875788"/>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lang="es-ES" sz="950" b="0" i="0" noProof="0" dirty="0">
                <a:solidFill>
                  <a:srgbClr val="191919"/>
                </a:solidFill>
                <a:latin typeface="Arial"/>
              </a:rPr>
              <a:t>Los registros de operación no muestran exceso de velocidad.</a:t>
            </a:r>
          </a:p>
        </p:txBody>
      </p:sp>
      <p:sp>
        <p:nvSpPr>
          <p:cNvPr id="52" name="Rectangle 51"/>
          <p:cNvSpPr/>
          <p:nvPr/>
        </p:nvSpPr>
        <p:spPr>
          <a:xfrm>
            <a:off x="7699248" y="3319272"/>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3" name="Rectangle 52"/>
          <p:cNvSpPr/>
          <p:nvPr/>
        </p:nvSpPr>
        <p:spPr>
          <a:xfrm>
            <a:off x="7699248" y="3319272"/>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4" name="TextBox 53"/>
          <p:cNvSpPr txBox="1"/>
          <p:nvPr/>
        </p:nvSpPr>
        <p:spPr>
          <a:xfrm>
            <a:off x="7845552" y="3447288"/>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850" b="1" i="0" noProof="0" dirty="0">
                <a:solidFill>
                  <a:srgbClr val="4A5568"/>
                </a:solidFill>
                <a:latin typeface="Arial"/>
              </a:rPr>
              <a:t>PESO SUSPENDIDO</a:t>
            </a:r>
          </a:p>
        </p:txBody>
      </p:sp>
      <p:sp>
        <p:nvSpPr>
          <p:cNvPr id="55" name="Rectangle 54"/>
          <p:cNvSpPr/>
          <p:nvPr/>
        </p:nvSpPr>
        <p:spPr>
          <a:xfrm>
            <a:off x="10332720" y="3429000"/>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6" name="TextBox 55"/>
          <p:cNvSpPr txBox="1"/>
          <p:nvPr/>
        </p:nvSpPr>
        <p:spPr>
          <a:xfrm>
            <a:off x="10332720" y="3429000"/>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lang="es-ES" sz="700" b="1" i="0" noProof="0" dirty="0">
                <a:solidFill>
                  <a:srgbClr val="FFFFFF"/>
                </a:solidFill>
                <a:latin typeface="Arial"/>
              </a:rPr>
              <a:t>DESCARTADA</a:t>
            </a:r>
          </a:p>
        </p:txBody>
      </p:sp>
      <p:sp>
        <p:nvSpPr>
          <p:cNvPr id="57" name="TextBox 56"/>
          <p:cNvSpPr txBox="1"/>
          <p:nvPr/>
        </p:nvSpPr>
        <p:spPr>
          <a:xfrm>
            <a:off x="7845552" y="3685032"/>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lang="es-ES" sz="950" b="0" i="0" noProof="0" dirty="0">
                <a:solidFill>
                  <a:srgbClr val="191919"/>
                </a:solidFill>
                <a:latin typeface="Arial"/>
              </a:rPr>
              <a:t>Menos de 800 t en el CM403; solo el CM409 supera ese valor.</a:t>
            </a:r>
          </a:p>
        </p:txBody>
      </p:sp>
      <p:sp>
        <p:nvSpPr>
          <p:cNvPr id="58" name="Rectangle 57"/>
          <p:cNvSpPr/>
          <p:nvPr/>
        </p:nvSpPr>
        <p:spPr>
          <a:xfrm>
            <a:off x="7699248" y="4128515"/>
            <a:ext cx="3657600" cy="71780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9" name="Rectangle 58"/>
          <p:cNvSpPr/>
          <p:nvPr/>
        </p:nvSpPr>
        <p:spPr>
          <a:xfrm>
            <a:off x="7699248" y="4128515"/>
            <a:ext cx="3657600" cy="4572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0" name="TextBox 59"/>
          <p:cNvSpPr txBox="1"/>
          <p:nvPr/>
        </p:nvSpPr>
        <p:spPr>
          <a:xfrm>
            <a:off x="7845552" y="4256531"/>
            <a:ext cx="22860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850" b="1" i="0" noProof="0" dirty="0">
                <a:solidFill>
                  <a:srgbClr val="4A5568"/>
                </a:solidFill>
                <a:latin typeface="Arial"/>
              </a:rPr>
              <a:t>GRADO EFECTIVO (EG)</a:t>
            </a:r>
          </a:p>
        </p:txBody>
      </p:sp>
      <p:sp>
        <p:nvSpPr>
          <p:cNvPr id="61" name="Rectangle 60"/>
          <p:cNvSpPr/>
          <p:nvPr/>
        </p:nvSpPr>
        <p:spPr>
          <a:xfrm>
            <a:off x="10332720" y="4238244"/>
            <a:ext cx="896112" cy="219456"/>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2" name="TextBox 61"/>
          <p:cNvSpPr txBox="1"/>
          <p:nvPr/>
        </p:nvSpPr>
        <p:spPr>
          <a:xfrm>
            <a:off x="10332720" y="4238244"/>
            <a:ext cx="896112" cy="219456"/>
          </a:xfrm>
          <a:prstGeom prst="rect">
            <a:avLst/>
          </a:prstGeom>
          <a:noFill/>
        </p:spPr>
        <p:txBody>
          <a:bodyPr wrap="square" lIns="0" tIns="0" rIns="0" bIns="0" anchor="ctr">
            <a:spAutoFit/>
          </a:bodyPr>
          <a:lstStyle/>
          <a:p>
            <a:pPr algn="ctr">
              <a:lnSpc>
                <a:spcPct val="100000"/>
              </a:lnSpc>
              <a:spcBef>
                <a:spcPts val="0"/>
              </a:spcBef>
              <a:spcAft>
                <a:spcPts val="0"/>
              </a:spcAft>
            </a:pPr>
            <a:r>
              <a:rPr lang="es-ES" sz="700" b="1" i="0" noProof="0" dirty="0">
                <a:solidFill>
                  <a:srgbClr val="FFFFFF"/>
                </a:solidFill>
                <a:latin typeface="Arial"/>
              </a:rPr>
              <a:t>DESCARTADA</a:t>
            </a:r>
          </a:p>
        </p:txBody>
      </p:sp>
      <p:sp>
        <p:nvSpPr>
          <p:cNvPr id="63" name="TextBox 62"/>
          <p:cNvSpPr txBox="1"/>
          <p:nvPr/>
        </p:nvSpPr>
        <p:spPr>
          <a:xfrm>
            <a:off x="7845552" y="4494276"/>
            <a:ext cx="3383280" cy="315468"/>
          </a:xfrm>
          <a:prstGeom prst="rect">
            <a:avLst/>
          </a:prstGeom>
          <a:noFill/>
        </p:spPr>
        <p:txBody>
          <a:bodyPr wrap="square" lIns="0" tIns="0" rIns="0" bIns="0" anchor="t">
            <a:spAutoFit/>
          </a:bodyPr>
          <a:lstStyle/>
          <a:p>
            <a:pPr algn="l">
              <a:lnSpc>
                <a:spcPct val="108000"/>
              </a:lnSpc>
              <a:spcBef>
                <a:spcPts val="0"/>
              </a:spcBef>
              <a:spcAft>
                <a:spcPts val="0"/>
              </a:spcAft>
            </a:pPr>
            <a:r>
              <a:rPr lang="es-ES" sz="950" b="0" i="0" noProof="0" dirty="0">
                <a:solidFill>
                  <a:srgbClr val="191919"/>
                </a:solidFill>
                <a:latin typeface="Arial"/>
              </a:rPr>
              <a:t>Promedio del CM403 menor que el de comparación; el CM410 tiene la menor exposición.</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5" name="TextBox 6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El argumento decisivo es la distribución: una causa operacional se concentraría en las unidades con la desviación, y la fractura es transversal a la flota y a un rango amplio de horas.</a:t>
            </a:r>
          </a:p>
        </p:txBody>
      </p:sp>
      <p:sp>
        <p:nvSpPr>
          <p:cNvPr id="66" name="TextBox 65"/>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Descarte de la fabricación: material conforme y recurrencia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11</a:t>
            </a:r>
          </a:p>
        </p:txBody>
      </p:sp>
      <p:pic>
        <p:nvPicPr>
          <p:cNvPr id="35" name="Imagen 34">
            <a:extLst>
              <a:ext uri="{FF2B5EF4-FFF2-40B4-BE49-F238E27FC236}">
                <a16:creationId xmlns:a16="http://schemas.microsoft.com/office/drawing/2014/main" id="{2F9F7F49-BA85-6935-5DBC-BCB1D605210B}"/>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6" name="TextBox 35"/>
          <p:cNvSpPr txBox="1"/>
          <p:nvPr/>
        </p:nvSpPr>
        <p:spPr>
          <a:xfrm>
            <a:off x="841248" y="1389888"/>
            <a:ext cx="512064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F1 · MATERIAL NO CONFORME · TABLA H1 (% EN MASA)</a:t>
            </a:r>
          </a:p>
        </p:txBody>
      </p:sp>
      <p:graphicFrame>
        <p:nvGraphicFramePr>
          <p:cNvPr id="37" name="Table 36"/>
          <p:cNvGraphicFramePr>
            <a:graphicFrameLocks noGrp="1"/>
          </p:cNvGraphicFramePr>
          <p:nvPr>
            <p:extLst>
              <p:ext uri="{D42A27DB-BD31-4B8C-83A1-F6EECF244321}">
                <p14:modId xmlns:p14="http://schemas.microsoft.com/office/powerpoint/2010/main" val="4190388936"/>
              </p:ext>
            </p:extLst>
          </p:nvPr>
        </p:nvGraphicFramePr>
        <p:xfrm>
          <a:off x="841248" y="1700784"/>
          <a:ext cx="5120640" cy="932688"/>
        </p:xfrm>
        <a:graphic>
          <a:graphicData uri="http://schemas.openxmlformats.org/drawingml/2006/table">
            <a:tbl>
              <a:tblPr firstRow="1">
                <a:tableStyleId>{2D5ABB26-0587-4C30-8999-92F81FD0307C}</a:tableStyleId>
              </a:tblPr>
              <a:tblGrid>
                <a:gridCol w="1188720">
                  <a:extLst>
                    <a:ext uri="{9D8B030D-6E8A-4147-A177-3AD203B41FA5}">
                      <a16:colId xmlns:a16="http://schemas.microsoft.com/office/drawing/2014/main" val="20000"/>
                    </a:ext>
                  </a:extLst>
                </a:gridCol>
                <a:gridCol w="393192">
                  <a:extLst>
                    <a:ext uri="{9D8B030D-6E8A-4147-A177-3AD203B41FA5}">
                      <a16:colId xmlns:a16="http://schemas.microsoft.com/office/drawing/2014/main" val="20001"/>
                    </a:ext>
                  </a:extLst>
                </a:gridCol>
                <a:gridCol w="393192">
                  <a:extLst>
                    <a:ext uri="{9D8B030D-6E8A-4147-A177-3AD203B41FA5}">
                      <a16:colId xmlns:a16="http://schemas.microsoft.com/office/drawing/2014/main" val="20002"/>
                    </a:ext>
                  </a:extLst>
                </a:gridCol>
                <a:gridCol w="393192">
                  <a:extLst>
                    <a:ext uri="{9D8B030D-6E8A-4147-A177-3AD203B41FA5}">
                      <a16:colId xmlns:a16="http://schemas.microsoft.com/office/drawing/2014/main" val="20003"/>
                    </a:ext>
                  </a:extLst>
                </a:gridCol>
                <a:gridCol w="393192">
                  <a:extLst>
                    <a:ext uri="{9D8B030D-6E8A-4147-A177-3AD203B41FA5}">
                      <a16:colId xmlns:a16="http://schemas.microsoft.com/office/drawing/2014/main" val="20004"/>
                    </a:ext>
                  </a:extLst>
                </a:gridCol>
                <a:gridCol w="393192">
                  <a:extLst>
                    <a:ext uri="{9D8B030D-6E8A-4147-A177-3AD203B41FA5}">
                      <a16:colId xmlns:a16="http://schemas.microsoft.com/office/drawing/2014/main" val="20005"/>
                    </a:ext>
                  </a:extLst>
                </a:gridCol>
                <a:gridCol w="393192">
                  <a:extLst>
                    <a:ext uri="{9D8B030D-6E8A-4147-A177-3AD203B41FA5}">
                      <a16:colId xmlns:a16="http://schemas.microsoft.com/office/drawing/2014/main" val="20006"/>
                    </a:ext>
                  </a:extLst>
                </a:gridCol>
                <a:gridCol w="393192">
                  <a:extLst>
                    <a:ext uri="{9D8B030D-6E8A-4147-A177-3AD203B41FA5}">
                      <a16:colId xmlns:a16="http://schemas.microsoft.com/office/drawing/2014/main" val="20007"/>
                    </a:ext>
                  </a:extLst>
                </a:gridCol>
                <a:gridCol w="393192">
                  <a:extLst>
                    <a:ext uri="{9D8B030D-6E8A-4147-A177-3AD203B41FA5}">
                      <a16:colId xmlns:a16="http://schemas.microsoft.com/office/drawing/2014/main" val="20008"/>
                    </a:ext>
                  </a:extLst>
                </a:gridCol>
                <a:gridCol w="393192">
                  <a:extLst>
                    <a:ext uri="{9D8B030D-6E8A-4147-A177-3AD203B41FA5}">
                      <a16:colId xmlns:a16="http://schemas.microsoft.com/office/drawing/2014/main" val="20009"/>
                    </a:ext>
                  </a:extLst>
                </a:gridCol>
                <a:gridCol w="393192">
                  <a:extLst>
                    <a:ext uri="{9D8B030D-6E8A-4147-A177-3AD203B41FA5}">
                      <a16:colId xmlns:a16="http://schemas.microsoft.com/office/drawing/2014/main" val="20010"/>
                    </a:ext>
                  </a:extLst>
                </a:gridCol>
              </a:tblGrid>
              <a:tr h="310896">
                <a:tc>
                  <a:txBody>
                    <a:bodyPr/>
                    <a:lstStyle/>
                    <a:p>
                      <a:pPr algn="l"/>
                      <a:endParaRPr lang="es-ES" noProof="0" dirty="0"/>
                    </a:p>
                  </a:txBody>
                  <a:tcPr marL="73152" marR="7315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C</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Mn</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P</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S</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Si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Cr</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Ni</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Mo</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Cu</a:t>
                      </a:r>
                    </a:p>
                  </a:txBody>
                  <a:tcPr marL="27432" marR="27432" marT="18288" marB="18288" anchor="ctr">
                    <a:lnL w="0">
                      <a:noFill/>
                    </a:lnL>
                    <a:lnR w="0">
                      <a:noFill/>
                    </a:lnR>
                    <a:lnT w="0">
                      <a:noFill/>
                    </a:lnT>
                    <a:lnB w="6350">
                      <a:solidFill>
                        <a:srgbClr val="CFD6DF"/>
                      </a:solidFill>
                    </a:lnB>
                    <a:solidFill>
                      <a:srgbClr val="042354"/>
                    </a:solidFill>
                  </a:tcPr>
                </a:tc>
                <a:tc>
                  <a:txBody>
                    <a:bodyPr/>
                    <a:lstStyle/>
                    <a:p>
                      <a:pPr algn="ctr"/>
                      <a:r>
                        <a:rPr lang="es-ES" sz="850" b="1" noProof="0" dirty="0">
                          <a:solidFill>
                            <a:srgbClr val="FFFFFF"/>
                          </a:solidFill>
                          <a:latin typeface="Arial"/>
                        </a:rPr>
                        <a:t>V</a:t>
                      </a:r>
                    </a:p>
                  </a:txBody>
                  <a:tcPr marL="27432" marR="27432" marT="18288" marB="18288" anchor="ctr">
                    <a:lnL w="0">
                      <a:noFill/>
                    </a:lnL>
                    <a:lnR w="0">
                      <a:noFill/>
                    </a:lnR>
                    <a:lnT w="0">
                      <a:noFill/>
                    </a:lnT>
                    <a:lnB w="6350">
                      <a:solidFill>
                        <a:srgbClr val="CFD6DF"/>
                      </a:solidFill>
                    </a:lnB>
                    <a:solidFill>
                      <a:srgbClr val="042354"/>
                    </a:solidFill>
                  </a:tcPr>
                </a:tc>
                <a:extLst>
                  <a:ext uri="{0D108BD9-81ED-4DB2-BD59-A6C34878D82A}">
                    <a16:rowId xmlns:a16="http://schemas.microsoft.com/office/drawing/2014/main" val="10000"/>
                  </a:ext>
                </a:extLst>
              </a:tr>
              <a:tr h="310896">
                <a:tc>
                  <a:txBody>
                    <a:bodyPr/>
                    <a:lstStyle/>
                    <a:p>
                      <a:pPr algn="l"/>
                      <a:r>
                        <a:rPr lang="es-ES" sz="850" b="1" noProof="0" dirty="0">
                          <a:solidFill>
                            <a:srgbClr val="042354"/>
                          </a:solidFill>
                          <a:latin typeface="Arial"/>
                        </a:rPr>
                        <a:t>ASTM A618 Gr. III</a:t>
                      </a:r>
                    </a:p>
                  </a:txBody>
                  <a:tcPr marL="73152" marR="7315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0,26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 1,30</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0,035</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0,035</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0,33</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 0,18</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tc>
                  <a:txBody>
                    <a:bodyPr/>
                    <a:lstStyle/>
                    <a:p>
                      <a:pPr algn="ctr"/>
                      <a:r>
                        <a:rPr lang="es-ES" sz="850" b="0" noProof="0" dirty="0">
                          <a:solidFill>
                            <a:srgbClr val="191919"/>
                          </a:solidFill>
                          <a:latin typeface="Arial"/>
                        </a:rPr>
                        <a:t>≥ 0,01</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4F6F8"/>
                    </a:solidFill>
                  </a:tcPr>
                </a:tc>
                <a:extLst>
                  <a:ext uri="{0D108BD9-81ED-4DB2-BD59-A6C34878D82A}">
                    <a16:rowId xmlns:a16="http://schemas.microsoft.com/office/drawing/2014/main" val="10001"/>
                  </a:ext>
                </a:extLst>
              </a:tr>
              <a:tr h="310896">
                <a:tc>
                  <a:txBody>
                    <a:bodyPr/>
                    <a:lstStyle/>
                    <a:p>
                      <a:pPr algn="l"/>
                      <a:r>
                        <a:rPr lang="es-ES" sz="850" b="1" noProof="0" dirty="0">
                          <a:solidFill>
                            <a:srgbClr val="042354"/>
                          </a:solidFill>
                          <a:latin typeface="Arial"/>
                        </a:rPr>
                        <a:t>Muestra del eje</a:t>
                      </a:r>
                    </a:p>
                  </a:txBody>
                  <a:tcPr marL="73152" marR="7315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0,22</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0,79</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0,006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0,012</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0,27</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0,06</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0,10</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0,03</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0,17</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tc>
                  <a:txBody>
                    <a:bodyPr/>
                    <a:lstStyle/>
                    <a:p>
                      <a:pPr algn="ctr"/>
                      <a:r>
                        <a:rPr lang="es-ES" sz="850" b="0" noProof="0" dirty="0">
                          <a:solidFill>
                            <a:srgbClr val="C3094A"/>
                          </a:solidFill>
                          <a:latin typeface="Arial"/>
                        </a:rPr>
                        <a:t>–</a:t>
                      </a:r>
                    </a:p>
                  </a:txBody>
                  <a:tcPr marL="27432" marR="27432" marT="18288" marB="18288" anchor="ctr">
                    <a:lnL w="0">
                      <a:noFill/>
                    </a:lnL>
                    <a:lnR w="0">
                      <a:noFill/>
                    </a:lnR>
                    <a:lnT w="6350" cap="flat" cmpd="sng" algn="ctr">
                      <a:solidFill>
                        <a:srgbClr val="CFD6DF"/>
                      </a:solidFill>
                      <a:prstDash val="solid"/>
                      <a:round/>
                      <a:headEnd type="none" w="med" len="med"/>
                      <a:tailEnd type="none" w="med" len="med"/>
                    </a:lnT>
                    <a:lnB w="6350">
                      <a:solidFill>
                        <a:srgbClr val="CFD6DF"/>
                      </a:solidFill>
                    </a:lnB>
                    <a:solidFill>
                      <a:srgbClr val="FAECF0"/>
                    </a:solidFill>
                  </a:tcPr>
                </a:tc>
                <a:extLst>
                  <a:ext uri="{0D108BD9-81ED-4DB2-BD59-A6C34878D82A}">
                    <a16:rowId xmlns:a16="http://schemas.microsoft.com/office/drawing/2014/main" val="10002"/>
                  </a:ext>
                </a:extLst>
              </a:tr>
            </a:tbl>
          </a:graphicData>
        </a:graphic>
      </p:graphicFrame>
      <p:sp>
        <p:nvSpPr>
          <p:cNvPr id="38" name="TextBox 37"/>
          <p:cNvSpPr txBox="1"/>
          <p:nvPr/>
        </p:nvSpPr>
        <p:spPr>
          <a:xfrm>
            <a:off x="841248" y="2688336"/>
            <a:ext cx="5120640" cy="136384"/>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Fuente: informe DIESA</a:t>
            </a:r>
            <a:r>
              <a:rPr lang="es-ES" sz="900" noProof="0" dirty="0">
                <a:solidFill>
                  <a:srgbClr val="7A8494"/>
                </a:solidFill>
              </a:rPr>
              <a:t> -</a:t>
            </a:r>
            <a:r>
              <a:rPr lang="es-ES" sz="900" b="0" i="0" noProof="0" dirty="0">
                <a:solidFill>
                  <a:srgbClr val="7A8494"/>
                </a:solidFill>
                <a:latin typeface="Arial"/>
              </a:rPr>
              <a:t> laboratorio externo.</a:t>
            </a:r>
          </a:p>
        </p:txBody>
      </p:sp>
      <p:sp>
        <p:nvSpPr>
          <p:cNvPr id="39" name="Rectangle 38"/>
          <p:cNvSpPr/>
          <p:nvPr/>
        </p:nvSpPr>
        <p:spPr>
          <a:xfrm>
            <a:off x="8412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0" name="Rectangle 39"/>
          <p:cNvSpPr/>
          <p:nvPr/>
        </p:nvSpPr>
        <p:spPr>
          <a:xfrm>
            <a:off x="8412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TextBox 40"/>
          <p:cNvSpPr txBox="1"/>
          <p:nvPr/>
        </p:nvSpPr>
        <p:spPr>
          <a:xfrm>
            <a:off x="969264"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lang="es-ES" sz="1800" b="1" i="0" noProof="0" dirty="0">
                <a:solidFill>
                  <a:srgbClr val="C3094A"/>
                </a:solidFill>
                <a:latin typeface="Arial"/>
              </a:rPr>
              <a:t>212 HBW</a:t>
            </a:r>
          </a:p>
          <a:p>
            <a:pPr algn="l">
              <a:lnSpc>
                <a:spcPct val="105000"/>
              </a:lnSpc>
              <a:spcBef>
                <a:spcPts val="0"/>
              </a:spcBef>
              <a:spcAft>
                <a:spcPts val="0"/>
              </a:spcAft>
            </a:pPr>
            <a:r>
              <a:rPr lang="es-ES" sz="900" b="0" i="0" noProof="0" dirty="0">
                <a:solidFill>
                  <a:srgbClr val="4A5568"/>
                </a:solidFill>
                <a:latin typeface="Arial"/>
              </a:rPr>
              <a:t>Dureza</a:t>
            </a:r>
          </a:p>
        </p:txBody>
      </p:sp>
      <p:sp>
        <p:nvSpPr>
          <p:cNvPr id="42" name="Rectangle 41"/>
          <p:cNvSpPr/>
          <p:nvPr/>
        </p:nvSpPr>
        <p:spPr>
          <a:xfrm>
            <a:off x="25938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3" name="Rectangle 42"/>
          <p:cNvSpPr/>
          <p:nvPr/>
        </p:nvSpPr>
        <p:spPr>
          <a:xfrm>
            <a:off x="25938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4" name="TextBox 43"/>
          <p:cNvSpPr txBox="1"/>
          <p:nvPr/>
        </p:nvSpPr>
        <p:spPr>
          <a:xfrm>
            <a:off x="2721864"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lang="es-ES" sz="1800" b="1" i="0" noProof="0" dirty="0">
                <a:solidFill>
                  <a:srgbClr val="C3094A"/>
                </a:solidFill>
                <a:latin typeface="Arial"/>
              </a:rPr>
              <a:t>619 MPa</a:t>
            </a:r>
          </a:p>
          <a:p>
            <a:pPr algn="l">
              <a:lnSpc>
                <a:spcPct val="105000"/>
              </a:lnSpc>
              <a:spcBef>
                <a:spcPts val="0"/>
              </a:spcBef>
              <a:spcAft>
                <a:spcPts val="0"/>
              </a:spcAft>
            </a:pPr>
            <a:r>
              <a:rPr lang="es-ES" sz="900" b="0" i="0" noProof="0" dirty="0">
                <a:solidFill>
                  <a:srgbClr val="4A5568"/>
                </a:solidFill>
                <a:latin typeface="Arial"/>
              </a:rPr>
              <a:t>Esfuerzo de fluencia</a:t>
            </a:r>
          </a:p>
        </p:txBody>
      </p:sp>
      <p:sp>
        <p:nvSpPr>
          <p:cNvPr id="45" name="Rectangle 44"/>
          <p:cNvSpPr/>
          <p:nvPr/>
        </p:nvSpPr>
        <p:spPr>
          <a:xfrm>
            <a:off x="4346448" y="2999232"/>
            <a:ext cx="1615440" cy="932688"/>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6" name="Rectangle 45"/>
          <p:cNvSpPr/>
          <p:nvPr/>
        </p:nvSpPr>
        <p:spPr>
          <a:xfrm>
            <a:off x="4346448" y="2999232"/>
            <a:ext cx="161544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7" name="TextBox 46"/>
          <p:cNvSpPr txBox="1"/>
          <p:nvPr/>
        </p:nvSpPr>
        <p:spPr>
          <a:xfrm>
            <a:off x="4474463" y="3182112"/>
            <a:ext cx="1432560" cy="704088"/>
          </a:xfrm>
          <a:prstGeom prst="rect">
            <a:avLst/>
          </a:prstGeom>
          <a:noFill/>
        </p:spPr>
        <p:txBody>
          <a:bodyPr wrap="square" lIns="0" tIns="0" rIns="0" bIns="0" anchor="t">
            <a:spAutoFit/>
          </a:bodyPr>
          <a:lstStyle/>
          <a:p>
            <a:pPr algn="l">
              <a:lnSpc>
                <a:spcPct val="100000"/>
              </a:lnSpc>
              <a:spcBef>
                <a:spcPts val="0"/>
              </a:spcBef>
              <a:spcAft>
                <a:spcPts val="400"/>
              </a:spcAft>
            </a:pPr>
            <a:r>
              <a:rPr lang="es-ES" sz="1800" b="1" i="0" noProof="0" dirty="0">
                <a:solidFill>
                  <a:srgbClr val="C3094A"/>
                </a:solidFill>
                <a:latin typeface="Arial"/>
              </a:rPr>
              <a:t>717 MPa</a:t>
            </a:r>
          </a:p>
          <a:p>
            <a:pPr algn="l">
              <a:lnSpc>
                <a:spcPct val="105000"/>
              </a:lnSpc>
              <a:spcBef>
                <a:spcPts val="0"/>
              </a:spcBef>
              <a:spcAft>
                <a:spcPts val="0"/>
              </a:spcAft>
            </a:pPr>
            <a:r>
              <a:rPr lang="es-ES" sz="900" b="0" i="0" noProof="0" dirty="0">
                <a:solidFill>
                  <a:srgbClr val="4A5568"/>
                </a:solidFill>
                <a:latin typeface="Arial"/>
              </a:rPr>
              <a:t>Resistencia a la tracción</a:t>
            </a:r>
          </a:p>
        </p:txBody>
      </p:sp>
      <p:sp>
        <p:nvSpPr>
          <p:cNvPr id="48" name="Rectangle 47"/>
          <p:cNvSpPr/>
          <p:nvPr/>
        </p:nvSpPr>
        <p:spPr>
          <a:xfrm>
            <a:off x="841248" y="4059936"/>
            <a:ext cx="5120640" cy="87782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9" name="Rectangle 48"/>
          <p:cNvSpPr/>
          <p:nvPr/>
        </p:nvSpPr>
        <p:spPr>
          <a:xfrm>
            <a:off x="841248" y="4059936"/>
            <a:ext cx="45720" cy="877824"/>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0" name="TextBox 49"/>
          <p:cNvSpPr txBox="1"/>
          <p:nvPr/>
        </p:nvSpPr>
        <p:spPr>
          <a:xfrm>
            <a:off x="1042416" y="4059936"/>
            <a:ext cx="4791455" cy="877824"/>
          </a:xfrm>
          <a:prstGeom prst="rect">
            <a:avLst/>
          </a:prstGeom>
          <a:noFill/>
        </p:spPr>
        <p:txBody>
          <a:bodyPr wrap="square" lIns="0" tIns="0" rIns="0" bIns="0" anchor="ctr">
            <a:spAutoFit/>
          </a:bodyPr>
          <a:lstStyle/>
          <a:p>
            <a:pPr algn="l">
              <a:lnSpc>
                <a:spcPct val="110000"/>
              </a:lnSpc>
              <a:spcBef>
                <a:spcPts val="0"/>
              </a:spcBef>
              <a:spcAft>
                <a:spcPts val="0"/>
              </a:spcAft>
            </a:pPr>
            <a:r>
              <a:rPr lang="es-ES" sz="1000" b="0" i="0" noProof="0" dirty="0">
                <a:solidFill>
                  <a:srgbClr val="191919"/>
                </a:solidFill>
                <a:latin typeface="Arial"/>
              </a:rPr>
              <a:t>Composición compatible con ASTM A618 Gr. III.  </a:t>
            </a:r>
            <a:r>
              <a:rPr lang="es-ES" sz="1000" b="1" i="0" noProof="0" dirty="0">
                <a:solidFill>
                  <a:srgbClr val="C3094A"/>
                </a:solidFill>
                <a:latin typeface="Arial"/>
              </a:rPr>
              <a:t>F1 DESCARTADA</a:t>
            </a:r>
          </a:p>
        </p:txBody>
      </p:sp>
      <p:sp>
        <p:nvSpPr>
          <p:cNvPr id="51" name="TextBox 50"/>
          <p:cNvSpPr txBox="1"/>
          <p:nvPr/>
        </p:nvSpPr>
        <p:spPr>
          <a:xfrm>
            <a:off x="6236208" y="1389888"/>
            <a:ext cx="512064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F2 · F3 · DEFECTO DE PIEZA O DE LOTE</a:t>
            </a:r>
          </a:p>
        </p:txBody>
      </p:sp>
      <p:sp>
        <p:nvSpPr>
          <p:cNvPr id="52" name="Rectangle 51"/>
          <p:cNvSpPr/>
          <p:nvPr/>
        </p:nvSpPr>
        <p:spPr>
          <a:xfrm>
            <a:off x="6236208" y="1700784"/>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3" name="Rectangle 52"/>
          <p:cNvSpPr/>
          <p:nvPr/>
        </p:nvSpPr>
        <p:spPr>
          <a:xfrm>
            <a:off x="6236208" y="1700784"/>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4" name="TextBox 53"/>
          <p:cNvSpPr txBox="1"/>
          <p:nvPr/>
        </p:nvSpPr>
        <p:spPr>
          <a:xfrm>
            <a:off x="6236208" y="1700784"/>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042354"/>
                </a:solidFill>
                <a:latin typeface="Arial"/>
              </a:rPr>
              <a:t>1</a:t>
            </a:r>
          </a:p>
        </p:txBody>
      </p:sp>
      <p:sp>
        <p:nvSpPr>
          <p:cNvPr id="55" name="TextBox 54"/>
          <p:cNvSpPr txBox="1"/>
          <p:nvPr/>
        </p:nvSpPr>
        <p:spPr>
          <a:xfrm>
            <a:off x="6748272" y="1820604"/>
            <a:ext cx="4480559" cy="473591"/>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REPOSICIÓN</a:t>
            </a:r>
          </a:p>
          <a:p>
            <a:pPr algn="l">
              <a:lnSpc>
                <a:spcPct val="108000"/>
              </a:lnSpc>
              <a:spcBef>
                <a:spcPts val="0"/>
              </a:spcBef>
              <a:spcAft>
                <a:spcPts val="0"/>
              </a:spcAft>
            </a:pPr>
            <a:r>
              <a:rPr lang="es-ES" sz="950" b="0" i="0" noProof="0" dirty="0">
                <a:solidFill>
                  <a:srgbClr val="191919"/>
                </a:solidFill>
                <a:latin typeface="Arial"/>
              </a:rPr>
              <a:t>En los motores reparados se instaló un eje nuevo, con las mismas características y misma unión soldada.</a:t>
            </a:r>
          </a:p>
        </p:txBody>
      </p:sp>
      <p:sp>
        <p:nvSpPr>
          <p:cNvPr id="56" name="Rectangle 55"/>
          <p:cNvSpPr/>
          <p:nvPr/>
        </p:nvSpPr>
        <p:spPr>
          <a:xfrm>
            <a:off x="6236208" y="2487168"/>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7" name="Rectangle 56"/>
          <p:cNvSpPr/>
          <p:nvPr/>
        </p:nvSpPr>
        <p:spPr>
          <a:xfrm>
            <a:off x="6236208" y="2487168"/>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8" name="TextBox 57"/>
          <p:cNvSpPr txBox="1"/>
          <p:nvPr/>
        </p:nvSpPr>
        <p:spPr>
          <a:xfrm>
            <a:off x="6236208" y="2487168"/>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042354"/>
                </a:solidFill>
                <a:latin typeface="Arial"/>
              </a:rPr>
              <a:t>2</a:t>
            </a:r>
          </a:p>
        </p:txBody>
      </p:sp>
      <p:sp>
        <p:nvSpPr>
          <p:cNvPr id="59" name="TextBox 58"/>
          <p:cNvSpPr txBox="1"/>
          <p:nvPr/>
        </p:nvSpPr>
        <p:spPr>
          <a:xfrm>
            <a:off x="6748272" y="2487168"/>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RECURRENCIA</a:t>
            </a:r>
          </a:p>
          <a:p>
            <a:pPr algn="l">
              <a:lnSpc>
                <a:spcPct val="108000"/>
              </a:lnSpc>
              <a:spcBef>
                <a:spcPts val="0"/>
              </a:spcBef>
              <a:spcAft>
                <a:spcPts val="0"/>
              </a:spcAft>
            </a:pPr>
            <a:r>
              <a:rPr lang="es-ES" sz="950" b="0" i="0" noProof="0" dirty="0">
                <a:solidFill>
                  <a:srgbClr val="191919"/>
                </a:solidFill>
                <a:latin typeface="Arial"/>
              </a:rPr>
              <a:t>Tras un número de horas comparable, la fractura reapareció en la misma ubicación y con el mismo patrón.</a:t>
            </a:r>
          </a:p>
        </p:txBody>
      </p:sp>
      <p:sp>
        <p:nvSpPr>
          <p:cNvPr id="60" name="Rectangle 59"/>
          <p:cNvSpPr/>
          <p:nvPr/>
        </p:nvSpPr>
        <p:spPr>
          <a:xfrm>
            <a:off x="6236208" y="3273552"/>
            <a:ext cx="5120640" cy="71323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1" name="Rectangle 60"/>
          <p:cNvSpPr/>
          <p:nvPr/>
        </p:nvSpPr>
        <p:spPr>
          <a:xfrm>
            <a:off x="6236208" y="3273552"/>
            <a:ext cx="384048" cy="71323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2" name="TextBox 61"/>
          <p:cNvSpPr txBox="1"/>
          <p:nvPr/>
        </p:nvSpPr>
        <p:spPr>
          <a:xfrm>
            <a:off x="6236208" y="3273552"/>
            <a:ext cx="384048" cy="713232"/>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042354"/>
                </a:solidFill>
                <a:latin typeface="Arial"/>
              </a:rPr>
              <a:t>3</a:t>
            </a:r>
          </a:p>
        </p:txBody>
      </p:sp>
      <p:sp>
        <p:nvSpPr>
          <p:cNvPr id="63" name="TextBox 62"/>
          <p:cNvSpPr txBox="1"/>
          <p:nvPr/>
        </p:nvSpPr>
        <p:spPr>
          <a:xfrm>
            <a:off x="6748272" y="3273552"/>
            <a:ext cx="4480559" cy="71323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REFUTACIÓN</a:t>
            </a:r>
          </a:p>
          <a:p>
            <a:pPr algn="l">
              <a:lnSpc>
                <a:spcPct val="108000"/>
              </a:lnSpc>
              <a:spcBef>
                <a:spcPts val="0"/>
              </a:spcBef>
              <a:spcAft>
                <a:spcPts val="0"/>
              </a:spcAft>
            </a:pPr>
            <a:r>
              <a:rPr lang="es-ES" sz="950" b="0" i="0" noProof="0" dirty="0">
                <a:solidFill>
                  <a:srgbClr val="191919"/>
                </a:solidFill>
                <a:latin typeface="Arial"/>
              </a:rPr>
              <a:t>Un defecto de pieza o de lote se habría eliminado con la pieza nueva: F2 y F3 quedan refutadas.</a:t>
            </a:r>
          </a:p>
        </p:txBody>
      </p:sp>
      <p:sp>
        <p:nvSpPr>
          <p:cNvPr id="64" name="Rectangle 63"/>
          <p:cNvSpPr/>
          <p:nvPr/>
        </p:nvSpPr>
        <p:spPr>
          <a:xfrm>
            <a:off x="6236208" y="4059936"/>
            <a:ext cx="5120640" cy="87782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5" name="Rectangle 64"/>
          <p:cNvSpPr/>
          <p:nvPr/>
        </p:nvSpPr>
        <p:spPr>
          <a:xfrm>
            <a:off x="6236208" y="4059936"/>
            <a:ext cx="384048" cy="87782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6" name="TextBox 65"/>
          <p:cNvSpPr txBox="1"/>
          <p:nvPr/>
        </p:nvSpPr>
        <p:spPr>
          <a:xfrm>
            <a:off x="6236208" y="4059936"/>
            <a:ext cx="384048" cy="877824"/>
          </a:xfrm>
          <a:prstGeom prst="rect">
            <a:avLst/>
          </a:prstGeom>
          <a:noFill/>
        </p:spPr>
        <p:txBody>
          <a:bodyPr wrap="square" lIns="0" tIns="0" rIns="0" bIns="0" anchor="ctr">
            <a:spAutoFit/>
          </a:bodyPr>
          <a:lstStyle/>
          <a:p>
            <a:pPr algn="ctr">
              <a:lnSpc>
                <a:spcPct val="110000"/>
              </a:lnSpc>
              <a:spcBef>
                <a:spcPts val="0"/>
              </a:spcBef>
              <a:spcAft>
                <a:spcPts val="0"/>
              </a:spcAft>
            </a:pPr>
            <a:r>
              <a:rPr lang="es-ES" sz="1500" b="1" i="0" noProof="0" dirty="0">
                <a:solidFill>
                  <a:srgbClr val="FFFFFF"/>
                </a:solidFill>
                <a:latin typeface="Arial"/>
              </a:rPr>
              <a:t>›</a:t>
            </a:r>
          </a:p>
        </p:txBody>
      </p:sp>
      <p:sp>
        <p:nvSpPr>
          <p:cNvPr id="67" name="TextBox 66"/>
          <p:cNvSpPr txBox="1"/>
          <p:nvPr/>
        </p:nvSpPr>
        <p:spPr>
          <a:xfrm>
            <a:off x="6748272" y="4059936"/>
            <a:ext cx="4480559" cy="877824"/>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C3094A"/>
                </a:solidFill>
                <a:latin typeface="Arial"/>
              </a:rPr>
              <a:t>CAUSA EN EL DISEÑO</a:t>
            </a:r>
          </a:p>
          <a:p>
            <a:pPr algn="l">
              <a:lnSpc>
                <a:spcPct val="108000"/>
              </a:lnSpc>
              <a:spcBef>
                <a:spcPts val="0"/>
              </a:spcBef>
              <a:spcAft>
                <a:spcPts val="0"/>
              </a:spcAft>
            </a:pPr>
            <a:r>
              <a:rPr lang="es-ES" sz="1000" b="1" i="0" noProof="0" dirty="0">
                <a:solidFill>
                  <a:srgbClr val="042354"/>
                </a:solidFill>
                <a:latin typeface="Arial"/>
              </a:rPr>
              <a:t>La única condición común a todas las unidades es la geometría de la unión soldada.</a:t>
            </a:r>
          </a:p>
        </p:txBody>
      </p:sp>
      <p:sp>
        <p:nvSpPr>
          <p:cNvPr id="68" name="Rectangle 6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9" name="TextBox 6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Descartados el material, la operación y la fabricación, la causa queda en el diseño por eliminación; la verificación a fatiga lo confirma de forma independiente.</a:t>
            </a:r>
          </a:p>
        </p:txBody>
      </p:sp>
      <p:sp>
        <p:nvSpPr>
          <p:cNvPr id="70" name="TextBox 6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Verificación por resistencia de materiales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12</a:t>
            </a:r>
          </a:p>
        </p:txBody>
      </p:sp>
      <p:pic>
        <p:nvPicPr>
          <p:cNvPr id="6" name="Picture 5" descr="concentracion.png"/>
          <p:cNvPicPr>
            <a:picLocks noChangeAspect="1"/>
          </p:cNvPicPr>
          <p:nvPr/>
        </p:nvPicPr>
        <p:blipFill>
          <a:blip r:embed="rId2"/>
          <a:stretch>
            <a:fillRect/>
          </a:stretch>
        </p:blipFill>
        <p:spPr>
          <a:xfrm>
            <a:off x="1092160" y="1463039"/>
            <a:ext cx="4573095" cy="2651760"/>
          </a:xfrm>
          <a:prstGeom prst="rect">
            <a:avLst/>
          </a:prstGeom>
        </p:spPr>
      </p:pic>
      <p:sp>
        <p:nvSpPr>
          <p:cNvPr id="7" name="TextBox 6"/>
          <p:cNvSpPr txBox="1"/>
          <p:nvPr/>
        </p:nvSpPr>
        <p:spPr>
          <a:xfrm>
            <a:off x="1102379" y="4247510"/>
            <a:ext cx="5074920" cy="283219"/>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Eje palier sometido a momento </a:t>
            </a:r>
            <a:r>
              <a:rPr lang="es-ES" sz="900" b="0" i="0" noProof="0" dirty="0" err="1">
                <a:solidFill>
                  <a:srgbClr val="7A8494"/>
                </a:solidFill>
                <a:latin typeface="Arial"/>
              </a:rPr>
              <a:t>torsor</a:t>
            </a:r>
            <a:r>
              <a:rPr lang="es-ES" sz="900" b="0" i="0" noProof="0" dirty="0">
                <a:solidFill>
                  <a:srgbClr val="7A8494"/>
                </a:solidFill>
                <a:latin typeface="Arial"/>
              </a:rPr>
              <a:t>: el vértice V del cambio de sección interno actúa como concentrador de esfuerzos. Informe AFA - DIESA</a:t>
            </a:r>
          </a:p>
        </p:txBody>
      </p:sp>
      <p:sp>
        <p:nvSpPr>
          <p:cNvPr id="8" name="TextBox 7"/>
          <p:cNvSpPr txBox="1"/>
          <p:nvPr/>
        </p:nvSpPr>
        <p:spPr>
          <a:xfrm>
            <a:off x="6355080" y="1481328"/>
            <a:ext cx="5001768" cy="152799"/>
          </a:xfrm>
          <a:prstGeom prst="rect">
            <a:avLst/>
          </a:prstGeom>
          <a:noFill/>
        </p:spPr>
        <p:txBody>
          <a:bodyPr wrap="square" lIns="0" tIns="0" rIns="0" bIns="0" anchor="t">
            <a:spAutoFit/>
          </a:bodyPr>
          <a:lstStyle/>
          <a:p>
            <a:pPr algn="l">
              <a:lnSpc>
                <a:spcPct val="114000"/>
              </a:lnSpc>
              <a:spcBef>
                <a:spcPts val="0"/>
              </a:spcBef>
              <a:spcAft>
                <a:spcPts val="400"/>
              </a:spcAft>
            </a:pPr>
            <a:r>
              <a:rPr lang="es-ES" sz="950" b="1" i="0" noProof="0" dirty="0">
                <a:solidFill>
                  <a:srgbClr val="4A5568"/>
                </a:solidFill>
                <a:latin typeface="Arial"/>
              </a:rPr>
              <a:t>CADENA DE CÁLCULO </a:t>
            </a:r>
            <a:r>
              <a:rPr lang="es-ES" sz="950" b="1" dirty="0">
                <a:solidFill>
                  <a:srgbClr val="4A5568"/>
                </a:solidFill>
              </a:rPr>
              <a:t> DE COMPONENTE </a:t>
            </a:r>
            <a:r>
              <a:rPr lang="es-ES" sz="950" b="1" i="0" noProof="0" dirty="0">
                <a:solidFill>
                  <a:srgbClr val="4A5568"/>
                </a:solidFill>
                <a:latin typeface="Arial"/>
              </a:rPr>
              <a:t>OBSOLETO</a:t>
            </a:r>
          </a:p>
        </p:txBody>
      </p:sp>
      <p:sp>
        <p:nvSpPr>
          <p:cNvPr id="9" name="Rectangle 8"/>
          <p:cNvSpPr/>
          <p:nvPr/>
        </p:nvSpPr>
        <p:spPr>
          <a:xfrm>
            <a:off x="6355080" y="1810512"/>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Rectangle 9"/>
          <p:cNvSpPr/>
          <p:nvPr/>
        </p:nvSpPr>
        <p:spPr>
          <a:xfrm>
            <a:off x="6355080" y="1810512"/>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4A5568"/>
                </a:solidFill>
                <a:latin typeface="Arial"/>
              </a:rPr>
              <a:t>1</a:t>
            </a:r>
          </a:p>
        </p:txBody>
      </p:sp>
      <p:sp>
        <p:nvSpPr>
          <p:cNvPr id="11" name="TextBox 10"/>
          <p:cNvSpPr txBox="1"/>
          <p:nvPr/>
        </p:nvSpPr>
        <p:spPr>
          <a:xfrm>
            <a:off x="6839712" y="1828800"/>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ES" sz="1000" b="0" i="0" noProof="0" dirty="0">
                <a:solidFill>
                  <a:srgbClr val="191919"/>
                </a:solidFill>
                <a:latin typeface="Arial"/>
              </a:rPr>
              <a:t>Par transmitido en la posición</a:t>
            </a:r>
          </a:p>
        </p:txBody>
      </p:sp>
      <p:sp>
        <p:nvSpPr>
          <p:cNvPr id="12" name="TextBox 11"/>
          <p:cNvSpPr txBox="1"/>
          <p:nvPr/>
        </p:nvSpPr>
        <p:spPr>
          <a:xfrm>
            <a:off x="9802368" y="1828800"/>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ES" sz="1100" b="1" i="0" noProof="0" dirty="0">
                <a:solidFill>
                  <a:srgbClr val="191919"/>
                </a:solidFill>
                <a:latin typeface="Arial"/>
              </a:rPr>
              <a:t>17,81 </a:t>
            </a:r>
            <a:r>
              <a:rPr lang="es-ES" sz="1100" b="1" i="0" noProof="0" dirty="0" err="1">
                <a:solidFill>
                  <a:srgbClr val="191919"/>
                </a:solidFill>
                <a:latin typeface="Arial"/>
              </a:rPr>
              <a:t>kN·m</a:t>
            </a:r>
            <a:endParaRPr lang="es-ES" sz="1100" b="1" i="0" noProof="0" dirty="0">
              <a:solidFill>
                <a:srgbClr val="191919"/>
              </a:solidFill>
              <a:latin typeface="Arial"/>
            </a:endParaRPr>
          </a:p>
        </p:txBody>
      </p:sp>
      <p:sp>
        <p:nvSpPr>
          <p:cNvPr id="13" name="Rectangle 12"/>
          <p:cNvSpPr/>
          <p:nvPr/>
        </p:nvSpPr>
        <p:spPr>
          <a:xfrm>
            <a:off x="6355080" y="2340864"/>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4" name="Rectangle 13"/>
          <p:cNvSpPr/>
          <p:nvPr/>
        </p:nvSpPr>
        <p:spPr>
          <a:xfrm>
            <a:off x="6355080" y="2340864"/>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4A5568"/>
                </a:solidFill>
                <a:latin typeface="Arial"/>
              </a:rPr>
              <a:t>2</a:t>
            </a:r>
          </a:p>
        </p:txBody>
      </p:sp>
      <p:sp>
        <p:nvSpPr>
          <p:cNvPr id="15" name="TextBox 14"/>
          <p:cNvSpPr txBox="1"/>
          <p:nvPr/>
        </p:nvSpPr>
        <p:spPr>
          <a:xfrm>
            <a:off x="6839712" y="2359152"/>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ES" sz="1000" b="0" i="0" noProof="0" dirty="0">
                <a:solidFill>
                  <a:srgbClr val="191919"/>
                </a:solidFill>
                <a:latin typeface="Arial"/>
              </a:rPr>
              <a:t>Esfuerzo cortante nominal en la sección crítica</a:t>
            </a:r>
          </a:p>
        </p:txBody>
      </p:sp>
      <p:sp>
        <p:nvSpPr>
          <p:cNvPr id="16" name="TextBox 15"/>
          <p:cNvSpPr txBox="1"/>
          <p:nvPr/>
        </p:nvSpPr>
        <p:spPr>
          <a:xfrm>
            <a:off x="9802368" y="2359152"/>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ES" sz="1100" b="1" i="0" noProof="0" dirty="0">
                <a:solidFill>
                  <a:srgbClr val="191919"/>
                </a:solidFill>
                <a:latin typeface="Arial"/>
              </a:rPr>
              <a:t>35,7 MPa</a:t>
            </a:r>
          </a:p>
        </p:txBody>
      </p:sp>
      <p:sp>
        <p:nvSpPr>
          <p:cNvPr id="17" name="Rectangle 16"/>
          <p:cNvSpPr/>
          <p:nvPr/>
        </p:nvSpPr>
        <p:spPr>
          <a:xfrm>
            <a:off x="6355080" y="2871216"/>
            <a:ext cx="5001768" cy="4572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8" name="Rectangle 17"/>
          <p:cNvSpPr/>
          <p:nvPr/>
        </p:nvSpPr>
        <p:spPr>
          <a:xfrm>
            <a:off x="6355080" y="2871216"/>
            <a:ext cx="365760" cy="457200"/>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i="0" noProof="0" dirty="0">
                <a:solidFill>
                  <a:srgbClr val="4A5568"/>
                </a:solidFill>
                <a:latin typeface="Arial"/>
              </a:rPr>
              <a:t>3</a:t>
            </a:r>
          </a:p>
        </p:txBody>
      </p:sp>
      <p:sp>
        <p:nvSpPr>
          <p:cNvPr id="19" name="TextBox 18"/>
          <p:cNvSpPr txBox="1"/>
          <p:nvPr/>
        </p:nvSpPr>
        <p:spPr>
          <a:xfrm>
            <a:off x="6839712" y="2889504"/>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ES" sz="1000" b="0" i="0" noProof="0" dirty="0">
                <a:solidFill>
                  <a:srgbClr val="191919"/>
                </a:solidFill>
                <a:latin typeface="Arial"/>
              </a:rPr>
              <a:t>Rango de esfuerzo aplicado</a:t>
            </a:r>
          </a:p>
        </p:txBody>
      </p:sp>
      <p:sp>
        <p:nvSpPr>
          <p:cNvPr id="20" name="TextBox 19"/>
          <p:cNvSpPr txBox="1"/>
          <p:nvPr/>
        </p:nvSpPr>
        <p:spPr>
          <a:xfrm>
            <a:off x="9802368" y="2889504"/>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ES" sz="1100" b="1" i="0" noProof="0" dirty="0">
                <a:solidFill>
                  <a:srgbClr val="191919"/>
                </a:solidFill>
                <a:latin typeface="Arial"/>
              </a:rPr>
              <a:t>53,6 MPa</a:t>
            </a:r>
          </a:p>
        </p:txBody>
      </p:sp>
      <p:sp>
        <p:nvSpPr>
          <p:cNvPr id="25" name="Rectangle 24"/>
          <p:cNvSpPr/>
          <p:nvPr/>
        </p:nvSpPr>
        <p:spPr>
          <a:xfrm>
            <a:off x="6355080" y="3529584"/>
            <a:ext cx="5001768" cy="45720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6" name="Rectangle 25"/>
          <p:cNvSpPr/>
          <p:nvPr/>
        </p:nvSpPr>
        <p:spPr>
          <a:xfrm>
            <a:off x="6355080" y="3529584"/>
            <a:ext cx="36576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1000" b="1" noProof="0" dirty="0">
                <a:solidFill>
                  <a:srgbClr val="FFFFFF"/>
                </a:solidFill>
                <a:latin typeface="Arial"/>
              </a:rPr>
              <a:t>4</a:t>
            </a:r>
            <a:endParaRPr lang="es-ES" sz="1000" b="1" i="0" noProof="0" dirty="0">
              <a:solidFill>
                <a:srgbClr val="FFFFFF"/>
              </a:solidFill>
              <a:latin typeface="Arial"/>
            </a:endParaRPr>
          </a:p>
        </p:txBody>
      </p:sp>
      <p:sp>
        <p:nvSpPr>
          <p:cNvPr id="27" name="TextBox 26"/>
          <p:cNvSpPr txBox="1"/>
          <p:nvPr/>
        </p:nvSpPr>
        <p:spPr>
          <a:xfrm>
            <a:off x="6839712" y="3547871"/>
            <a:ext cx="2926080" cy="420624"/>
          </a:xfrm>
          <a:prstGeom prst="rect">
            <a:avLst/>
          </a:prstGeom>
          <a:noFill/>
        </p:spPr>
        <p:txBody>
          <a:bodyPr wrap="square" lIns="0" tIns="0" rIns="0" bIns="0" anchor="ctr">
            <a:spAutoFit/>
          </a:bodyPr>
          <a:lstStyle/>
          <a:p>
            <a:pPr algn="l">
              <a:lnSpc>
                <a:spcPct val="108000"/>
              </a:lnSpc>
              <a:spcBef>
                <a:spcPts val="0"/>
              </a:spcBef>
              <a:spcAft>
                <a:spcPts val="400"/>
              </a:spcAft>
            </a:pPr>
            <a:r>
              <a:rPr lang="es-ES" sz="1000" b="0" i="0" noProof="0" dirty="0">
                <a:solidFill>
                  <a:srgbClr val="191919"/>
                </a:solidFill>
                <a:latin typeface="Arial"/>
              </a:rPr>
              <a:t>Factor de seguridad a la vida planificada</a:t>
            </a:r>
          </a:p>
        </p:txBody>
      </p:sp>
      <p:sp>
        <p:nvSpPr>
          <p:cNvPr id="28" name="TextBox 27"/>
          <p:cNvSpPr txBox="1"/>
          <p:nvPr/>
        </p:nvSpPr>
        <p:spPr>
          <a:xfrm>
            <a:off x="9802368" y="3547871"/>
            <a:ext cx="1444752" cy="420624"/>
          </a:xfrm>
          <a:prstGeom prst="rect">
            <a:avLst/>
          </a:prstGeom>
          <a:noFill/>
        </p:spPr>
        <p:txBody>
          <a:bodyPr wrap="square" lIns="0" tIns="0" rIns="0" bIns="0" anchor="ctr">
            <a:spAutoFit/>
          </a:bodyPr>
          <a:lstStyle/>
          <a:p>
            <a:pPr algn="r">
              <a:lnSpc>
                <a:spcPct val="114000"/>
              </a:lnSpc>
              <a:spcBef>
                <a:spcPts val="0"/>
              </a:spcBef>
              <a:spcAft>
                <a:spcPts val="400"/>
              </a:spcAft>
            </a:pPr>
            <a:r>
              <a:rPr lang="es-ES" sz="1250" b="1" i="0" noProof="0" dirty="0">
                <a:solidFill>
                  <a:srgbClr val="C3094A"/>
                </a:solidFill>
                <a:latin typeface="Arial"/>
              </a:rPr>
              <a:t>0,31</a:t>
            </a:r>
          </a:p>
        </p:txBody>
      </p:sp>
      <p:sp>
        <p:nvSpPr>
          <p:cNvPr id="29" name="TextBox 28"/>
          <p:cNvSpPr txBox="1"/>
          <p:nvPr/>
        </p:nvSpPr>
        <p:spPr>
          <a:xfrm>
            <a:off x="6355080" y="4095880"/>
            <a:ext cx="5001768" cy="274320"/>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Cadena analítica completa: Anexo D.</a:t>
            </a:r>
          </a:p>
        </p:txBody>
      </p:sp>
      <p:sp>
        <p:nvSpPr>
          <p:cNvPr id="30" name="Rectangle 2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1" name="TextBox 3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1" i="0" noProof="0" dirty="0">
                <a:solidFill>
                  <a:srgbClr val="042354"/>
                </a:solidFill>
                <a:latin typeface="Arial"/>
              </a:rPr>
              <a:t>Un factor de seguridad inferior a la unidad significa que la unión, tal como estaba diseñada, no podía alcanzar la vida planificada bajo el par nominal.</a:t>
            </a:r>
          </a:p>
        </p:txBody>
      </p:sp>
      <p:pic>
        <p:nvPicPr>
          <p:cNvPr id="32" name="Imagen 31">
            <a:extLst>
              <a:ext uri="{FF2B5EF4-FFF2-40B4-BE49-F238E27FC236}">
                <a16:creationId xmlns:a16="http://schemas.microsoft.com/office/drawing/2014/main" id="{6A5E642A-A9B0-605B-6CD0-A636BC332064}"/>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3" name="TextBox 32"/>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Del mecanismo físico a la causa latente</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14</a:t>
            </a:r>
          </a:p>
        </p:txBody>
      </p:sp>
      <p:sp>
        <p:nvSpPr>
          <p:cNvPr id="6" name="TextBox 5"/>
          <p:cNvSpPr txBox="1"/>
          <p:nvPr/>
        </p:nvSpPr>
        <p:spPr>
          <a:xfrm>
            <a:off x="841248" y="1426464"/>
            <a:ext cx="10515600" cy="292608"/>
          </a:xfrm>
          <a:prstGeom prst="rect">
            <a:avLst/>
          </a:prstGeom>
          <a:noFill/>
        </p:spPr>
        <p:txBody>
          <a:bodyPr wrap="square" lIns="0" tIns="0" rIns="0" bIns="0" anchor="t">
            <a:spAutoFit/>
          </a:bodyPr>
          <a:lstStyle/>
          <a:p>
            <a:pPr algn="l">
              <a:lnSpc>
                <a:spcPct val="110000"/>
              </a:lnSpc>
              <a:spcBef>
                <a:spcPts val="0"/>
              </a:spcBef>
              <a:spcAft>
                <a:spcPts val="400"/>
              </a:spcAft>
            </a:pPr>
            <a:r>
              <a:rPr lang="es-ES" sz="1200" b="0" i="1" noProof="0" dirty="0">
                <a:solidFill>
                  <a:srgbClr val="4A5568"/>
                </a:solidFill>
                <a:latin typeface="Arial"/>
              </a:rPr>
              <a:t>¿Por qué la organización convivió tres años con un modo de falla de criticidad máxima?</a:t>
            </a:r>
          </a:p>
        </p:txBody>
      </p:sp>
      <p:sp>
        <p:nvSpPr>
          <p:cNvPr id="7" name="Rectangle 6"/>
          <p:cNvSpPr/>
          <p:nvPr/>
        </p:nvSpPr>
        <p:spPr>
          <a:xfrm>
            <a:off x="841248" y="1828800"/>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8" name="Rectangle 7"/>
          <p:cNvSpPr/>
          <p:nvPr/>
        </p:nvSpPr>
        <p:spPr>
          <a:xfrm>
            <a:off x="841248" y="1828800"/>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TextBox 8"/>
          <p:cNvSpPr txBox="1"/>
          <p:nvPr/>
        </p:nvSpPr>
        <p:spPr>
          <a:xfrm>
            <a:off x="1060704" y="1938528"/>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500" b="1" i="0" noProof="0" dirty="0">
                <a:solidFill>
                  <a:srgbClr val="7A8494"/>
                </a:solidFill>
                <a:latin typeface="Arial"/>
              </a:rPr>
              <a:t>1</a:t>
            </a:r>
          </a:p>
        </p:txBody>
      </p:sp>
      <p:sp>
        <p:nvSpPr>
          <p:cNvPr id="10" name="TextBox 9"/>
          <p:cNvSpPr txBox="1"/>
          <p:nvPr/>
        </p:nvSpPr>
        <p:spPr>
          <a:xfrm>
            <a:off x="1444752" y="1920240"/>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042354"/>
                </a:solidFill>
                <a:latin typeface="Arial"/>
              </a:rPr>
              <a:t>¿Por qué se fracturó el eje palier?</a:t>
            </a:r>
          </a:p>
          <a:p>
            <a:pPr algn="l">
              <a:lnSpc>
                <a:spcPct val="110000"/>
              </a:lnSpc>
              <a:spcBef>
                <a:spcPts val="0"/>
              </a:spcBef>
              <a:spcAft>
                <a:spcPts val="400"/>
              </a:spcAft>
            </a:pPr>
            <a:r>
              <a:rPr lang="es-ES" sz="950" b="0" i="0" noProof="0" dirty="0">
                <a:solidFill>
                  <a:srgbClr val="4A5568"/>
                </a:solidFill>
                <a:latin typeface="Arial"/>
              </a:rPr>
              <a:t>La raíz sin fusión concentra el esfuerzo y nuclea una grieta de fatiga bajo el par nominal.</a:t>
            </a:r>
          </a:p>
        </p:txBody>
      </p:sp>
      <p:sp>
        <p:nvSpPr>
          <p:cNvPr id="11" name="TextBox 10"/>
          <p:cNvSpPr txBox="1"/>
          <p:nvPr/>
        </p:nvSpPr>
        <p:spPr>
          <a:xfrm>
            <a:off x="5733288" y="1920240"/>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ES" sz="1000" b="0" i="0" noProof="0" dirty="0">
                <a:solidFill>
                  <a:srgbClr val="191919"/>
                </a:solidFill>
                <a:latin typeface="Arial"/>
              </a:rPr>
              <a:t>› Rediseño de la unión: penetración completa y mayor sección resistente.</a:t>
            </a:r>
          </a:p>
        </p:txBody>
      </p:sp>
      <p:sp>
        <p:nvSpPr>
          <p:cNvPr id="12" name="Rectangle 11"/>
          <p:cNvSpPr/>
          <p:nvPr/>
        </p:nvSpPr>
        <p:spPr>
          <a:xfrm>
            <a:off x="9756648" y="2048256"/>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850" b="1" i="0" noProof="0" dirty="0">
                <a:solidFill>
                  <a:srgbClr val="4A5568"/>
                </a:solidFill>
                <a:latin typeface="Arial"/>
              </a:rPr>
              <a:t>FÍSICO</a:t>
            </a:r>
          </a:p>
        </p:txBody>
      </p:sp>
      <p:sp>
        <p:nvSpPr>
          <p:cNvPr id="13" name="Rectangle 12"/>
          <p:cNvSpPr/>
          <p:nvPr/>
        </p:nvSpPr>
        <p:spPr>
          <a:xfrm>
            <a:off x="841248" y="2670048"/>
            <a:ext cx="1051560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4" name="Rectangle 13"/>
          <p:cNvSpPr/>
          <p:nvPr/>
        </p:nvSpPr>
        <p:spPr>
          <a:xfrm>
            <a:off x="841248" y="2670048"/>
            <a:ext cx="45720" cy="768096"/>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5" name="TextBox 14"/>
          <p:cNvSpPr txBox="1"/>
          <p:nvPr/>
        </p:nvSpPr>
        <p:spPr>
          <a:xfrm>
            <a:off x="1060704" y="2779776"/>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500" b="1" i="0" noProof="0" dirty="0">
                <a:solidFill>
                  <a:srgbClr val="7A8494"/>
                </a:solidFill>
                <a:latin typeface="Arial"/>
              </a:rPr>
              <a:t>2</a:t>
            </a:r>
          </a:p>
        </p:txBody>
      </p:sp>
      <p:sp>
        <p:nvSpPr>
          <p:cNvPr id="16" name="TextBox 15"/>
          <p:cNvSpPr txBox="1"/>
          <p:nvPr/>
        </p:nvSpPr>
        <p:spPr>
          <a:xfrm>
            <a:off x="1444752" y="2761488"/>
            <a:ext cx="4069080" cy="703141"/>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042354"/>
                </a:solidFill>
                <a:latin typeface="Arial"/>
              </a:rPr>
              <a:t>¿Por qué permaneció en servicio una unión que no alcanza la vida planificada?</a:t>
            </a:r>
          </a:p>
          <a:p>
            <a:pPr algn="l">
              <a:lnSpc>
                <a:spcPct val="110000"/>
              </a:lnSpc>
              <a:spcBef>
                <a:spcPts val="0"/>
              </a:spcBef>
              <a:spcAft>
                <a:spcPts val="400"/>
              </a:spcAft>
            </a:pPr>
            <a:r>
              <a:rPr lang="es-ES" sz="950" b="0" i="0" noProof="0" dirty="0">
                <a:solidFill>
                  <a:srgbClr val="4A5568"/>
                </a:solidFill>
                <a:latin typeface="Arial"/>
              </a:rPr>
              <a:t>El componente se recibe con el diseño predeterminado y no se verifica el concentrador.</a:t>
            </a:r>
          </a:p>
        </p:txBody>
      </p:sp>
      <p:sp>
        <p:nvSpPr>
          <p:cNvPr id="17" name="TextBox 16"/>
          <p:cNvSpPr txBox="1"/>
          <p:nvPr/>
        </p:nvSpPr>
        <p:spPr>
          <a:xfrm>
            <a:off x="5733288" y="2982865"/>
            <a:ext cx="3794760" cy="160750"/>
          </a:xfrm>
          <a:prstGeom prst="rect">
            <a:avLst/>
          </a:prstGeom>
          <a:noFill/>
        </p:spPr>
        <p:txBody>
          <a:bodyPr wrap="square" lIns="0" tIns="0" rIns="0" bIns="0" anchor="ctr">
            <a:spAutoFit/>
          </a:bodyPr>
          <a:lstStyle/>
          <a:p>
            <a:pPr algn="l">
              <a:lnSpc>
                <a:spcPct val="114000"/>
              </a:lnSpc>
              <a:spcBef>
                <a:spcPts val="0"/>
              </a:spcBef>
              <a:spcAft>
                <a:spcPts val="400"/>
              </a:spcAft>
            </a:pPr>
            <a:r>
              <a:rPr lang="es-ES" sz="1000" b="0" i="0" noProof="0" dirty="0">
                <a:solidFill>
                  <a:srgbClr val="191919"/>
                </a:solidFill>
                <a:latin typeface="Arial"/>
              </a:rPr>
              <a:t>› Verificación del </a:t>
            </a:r>
            <a:r>
              <a:rPr lang="es-ES" sz="1000" noProof="0" dirty="0">
                <a:solidFill>
                  <a:srgbClr val="191919"/>
                </a:solidFill>
              </a:rPr>
              <a:t>detalle de concentrado</a:t>
            </a:r>
            <a:r>
              <a:rPr lang="es-ES" sz="1000" b="0" i="0" noProof="0" dirty="0">
                <a:solidFill>
                  <a:srgbClr val="191919"/>
                </a:solidFill>
                <a:latin typeface="Arial"/>
              </a:rPr>
              <a:t> del componente.</a:t>
            </a:r>
          </a:p>
        </p:txBody>
      </p:sp>
      <p:sp>
        <p:nvSpPr>
          <p:cNvPr id="18" name="Rectangle 17"/>
          <p:cNvSpPr/>
          <p:nvPr/>
        </p:nvSpPr>
        <p:spPr>
          <a:xfrm>
            <a:off x="9756648" y="2889504"/>
            <a:ext cx="1298448" cy="329184"/>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850" b="1" i="0" noProof="0" dirty="0">
                <a:solidFill>
                  <a:srgbClr val="4A5568"/>
                </a:solidFill>
                <a:latin typeface="Arial"/>
              </a:rPr>
              <a:t>HUMANO</a:t>
            </a:r>
          </a:p>
        </p:txBody>
      </p:sp>
      <p:sp>
        <p:nvSpPr>
          <p:cNvPr id="19" name="Rectangle 18"/>
          <p:cNvSpPr/>
          <p:nvPr/>
        </p:nvSpPr>
        <p:spPr>
          <a:xfrm>
            <a:off x="841248" y="3511296"/>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0" name="Rectangle 19"/>
          <p:cNvSpPr/>
          <p:nvPr/>
        </p:nvSpPr>
        <p:spPr>
          <a:xfrm>
            <a:off x="841248" y="3511296"/>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1" name="TextBox 20"/>
          <p:cNvSpPr txBox="1"/>
          <p:nvPr/>
        </p:nvSpPr>
        <p:spPr>
          <a:xfrm>
            <a:off x="1060704" y="3621024"/>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500" b="1" i="0" noProof="0" dirty="0">
                <a:solidFill>
                  <a:srgbClr val="C3094A"/>
                </a:solidFill>
                <a:latin typeface="Arial"/>
              </a:rPr>
              <a:t>3</a:t>
            </a:r>
          </a:p>
        </p:txBody>
      </p:sp>
      <p:sp>
        <p:nvSpPr>
          <p:cNvPr id="22" name="TextBox 21"/>
          <p:cNvSpPr txBox="1"/>
          <p:nvPr/>
        </p:nvSpPr>
        <p:spPr>
          <a:xfrm>
            <a:off x="1444752" y="3602736"/>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042354"/>
                </a:solidFill>
                <a:latin typeface="Arial"/>
              </a:rPr>
              <a:t>¿Por qué no se detectó que la falla era recurrente?</a:t>
            </a:r>
          </a:p>
          <a:p>
            <a:pPr algn="l">
              <a:lnSpc>
                <a:spcPct val="110000"/>
              </a:lnSpc>
              <a:spcBef>
                <a:spcPts val="0"/>
              </a:spcBef>
              <a:spcAft>
                <a:spcPts val="400"/>
              </a:spcAft>
            </a:pPr>
            <a:r>
              <a:rPr lang="es-ES" sz="950" b="0" i="0" noProof="0" dirty="0">
                <a:solidFill>
                  <a:srgbClr val="4A5568"/>
                </a:solidFill>
                <a:latin typeface="Arial"/>
              </a:rPr>
              <a:t>Cada análisis de falla se ejecutó por evento y ninguno consolidó el conjunto de casos.</a:t>
            </a:r>
          </a:p>
        </p:txBody>
      </p:sp>
      <p:sp>
        <p:nvSpPr>
          <p:cNvPr id="23" name="TextBox 22"/>
          <p:cNvSpPr txBox="1"/>
          <p:nvPr/>
        </p:nvSpPr>
        <p:spPr>
          <a:xfrm>
            <a:off x="5733288" y="3736397"/>
            <a:ext cx="3794760" cy="336182"/>
          </a:xfrm>
          <a:prstGeom prst="rect">
            <a:avLst/>
          </a:prstGeom>
          <a:noFill/>
        </p:spPr>
        <p:txBody>
          <a:bodyPr wrap="square" lIns="0" tIns="0" rIns="0" bIns="0" anchor="ctr">
            <a:spAutoFit/>
          </a:bodyPr>
          <a:lstStyle/>
          <a:p>
            <a:pPr algn="l">
              <a:lnSpc>
                <a:spcPct val="114000"/>
              </a:lnSpc>
              <a:spcBef>
                <a:spcPts val="0"/>
              </a:spcBef>
              <a:spcAft>
                <a:spcPts val="400"/>
              </a:spcAft>
            </a:pPr>
            <a:r>
              <a:rPr lang="es-ES" sz="1000" b="0" i="0" noProof="0" dirty="0">
                <a:solidFill>
                  <a:srgbClr val="191919"/>
                </a:solidFill>
                <a:latin typeface="Arial"/>
              </a:rPr>
              <a:t>› Consolidación periódica de los análisis por tipo de falla, no por evento.</a:t>
            </a:r>
          </a:p>
        </p:txBody>
      </p:sp>
      <p:sp>
        <p:nvSpPr>
          <p:cNvPr id="24" name="Rectangle 23"/>
          <p:cNvSpPr/>
          <p:nvPr/>
        </p:nvSpPr>
        <p:spPr>
          <a:xfrm>
            <a:off x="9756648" y="3730752"/>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850" b="1" i="0" noProof="0" dirty="0">
                <a:solidFill>
                  <a:srgbClr val="FFFFFF"/>
                </a:solidFill>
                <a:latin typeface="Arial"/>
              </a:rPr>
              <a:t>LATENTE</a:t>
            </a:r>
          </a:p>
        </p:txBody>
      </p:sp>
      <p:sp>
        <p:nvSpPr>
          <p:cNvPr id="25" name="Rectangle 24"/>
          <p:cNvSpPr/>
          <p:nvPr/>
        </p:nvSpPr>
        <p:spPr>
          <a:xfrm>
            <a:off x="841248" y="4352544"/>
            <a:ext cx="10515600" cy="76809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6" name="Rectangle 25"/>
          <p:cNvSpPr/>
          <p:nvPr/>
        </p:nvSpPr>
        <p:spPr>
          <a:xfrm>
            <a:off x="841248" y="4352544"/>
            <a:ext cx="45720" cy="76809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7" name="TextBox 26"/>
          <p:cNvSpPr txBox="1"/>
          <p:nvPr/>
        </p:nvSpPr>
        <p:spPr>
          <a:xfrm>
            <a:off x="1060704" y="4462272"/>
            <a:ext cx="365760" cy="457200"/>
          </a:xfrm>
          <a:prstGeom prst="rect">
            <a:avLst/>
          </a:prstGeom>
          <a:noFill/>
        </p:spPr>
        <p:txBody>
          <a:bodyPr wrap="square" lIns="0" tIns="0" rIns="0" bIns="0" anchor="t">
            <a:spAutoFit/>
          </a:bodyPr>
          <a:lstStyle/>
          <a:p>
            <a:pPr algn="l">
              <a:lnSpc>
                <a:spcPct val="114000"/>
              </a:lnSpc>
              <a:spcBef>
                <a:spcPts val="0"/>
              </a:spcBef>
              <a:spcAft>
                <a:spcPts val="400"/>
              </a:spcAft>
            </a:pPr>
            <a:r>
              <a:rPr lang="es-ES" sz="1500" b="1" i="0" noProof="0" dirty="0">
                <a:solidFill>
                  <a:srgbClr val="C3094A"/>
                </a:solidFill>
                <a:latin typeface="Arial"/>
              </a:rPr>
              <a:t>4</a:t>
            </a:r>
          </a:p>
        </p:txBody>
      </p:sp>
      <p:sp>
        <p:nvSpPr>
          <p:cNvPr id="28" name="TextBox 27"/>
          <p:cNvSpPr txBox="1"/>
          <p:nvPr/>
        </p:nvSpPr>
        <p:spPr>
          <a:xfrm>
            <a:off x="1444752" y="4443983"/>
            <a:ext cx="4069080" cy="621792"/>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042354"/>
                </a:solidFill>
                <a:latin typeface="Arial"/>
              </a:rPr>
              <a:t>¿Por qué las recomendaciones de los análisis no se ejecutaron?</a:t>
            </a:r>
          </a:p>
          <a:p>
            <a:pPr algn="l">
              <a:lnSpc>
                <a:spcPct val="110000"/>
              </a:lnSpc>
              <a:spcBef>
                <a:spcPts val="0"/>
              </a:spcBef>
              <a:spcAft>
                <a:spcPts val="400"/>
              </a:spcAft>
            </a:pPr>
            <a:r>
              <a:rPr lang="es-ES" sz="950" b="0" i="0" noProof="0" dirty="0">
                <a:solidFill>
                  <a:srgbClr val="4A5568"/>
                </a:solidFill>
                <a:latin typeface="Arial"/>
              </a:rPr>
              <a:t>No existía un proceso que asignara responsable, plazo ni cierre verificado.</a:t>
            </a:r>
          </a:p>
        </p:txBody>
      </p:sp>
      <p:sp>
        <p:nvSpPr>
          <p:cNvPr id="29" name="TextBox 28"/>
          <p:cNvSpPr txBox="1"/>
          <p:nvPr/>
        </p:nvSpPr>
        <p:spPr>
          <a:xfrm>
            <a:off x="5733288" y="4443983"/>
            <a:ext cx="3794760" cy="603504"/>
          </a:xfrm>
          <a:prstGeom prst="rect">
            <a:avLst/>
          </a:prstGeom>
          <a:noFill/>
        </p:spPr>
        <p:txBody>
          <a:bodyPr wrap="square" lIns="0" tIns="0" rIns="0" bIns="0" anchor="ctr">
            <a:spAutoFit/>
          </a:bodyPr>
          <a:lstStyle/>
          <a:p>
            <a:pPr algn="l">
              <a:lnSpc>
                <a:spcPct val="114000"/>
              </a:lnSpc>
              <a:spcBef>
                <a:spcPts val="0"/>
              </a:spcBef>
              <a:spcAft>
                <a:spcPts val="400"/>
              </a:spcAft>
            </a:pPr>
            <a:r>
              <a:rPr lang="es-ES" sz="1000" b="0" i="0" noProof="0" dirty="0">
                <a:solidFill>
                  <a:srgbClr val="191919"/>
                </a:solidFill>
                <a:latin typeface="Arial"/>
              </a:rPr>
              <a:t>› Proceso de gestión de hallazgos con responsable, plazo y cierre verificado.</a:t>
            </a:r>
          </a:p>
        </p:txBody>
      </p:sp>
      <p:sp>
        <p:nvSpPr>
          <p:cNvPr id="30" name="Rectangle 29"/>
          <p:cNvSpPr/>
          <p:nvPr/>
        </p:nvSpPr>
        <p:spPr>
          <a:xfrm>
            <a:off x="9756648" y="4572000"/>
            <a:ext cx="1298448" cy="329184"/>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00000"/>
              </a:lnSpc>
              <a:spcBef>
                <a:spcPts val="0"/>
              </a:spcBef>
              <a:spcAft>
                <a:spcPts val="400"/>
              </a:spcAft>
            </a:pPr>
            <a:r>
              <a:rPr lang="es-ES" sz="850" b="1" i="0" noProof="0" dirty="0">
                <a:solidFill>
                  <a:srgbClr val="FFFFFF"/>
                </a:solidFill>
                <a:latin typeface="Arial"/>
              </a:rPr>
              <a:t>LATENTE</a:t>
            </a:r>
          </a:p>
        </p:txBody>
      </p:sp>
      <p:sp>
        <p:nvSpPr>
          <p:cNvPr id="31" name="Rectangle 30"/>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2" name="TextBox 31"/>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400"/>
              </a:spcAft>
            </a:pPr>
            <a:r>
              <a:rPr lang="es-ES" sz="1150" b="1" i="0" noProof="0" dirty="0">
                <a:solidFill>
                  <a:srgbClr val="042354"/>
                </a:solidFill>
                <a:latin typeface="Arial"/>
              </a:rPr>
              <a:t>Causa raíz latente: la ausencia de un mecanismo que convierta el hallazgo de un análisis de falla en un cambio del diseño del componente.</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2"/>
          <a:stretch>
            <a:fillRect/>
          </a:stretch>
        </p:blipFill>
        <p:spPr>
          <a:xfrm>
            <a:off x="158617" y="5943600"/>
            <a:ext cx="5620013" cy="550672"/>
          </a:xfrm>
          <a:prstGeom prst="rect">
            <a:avLst/>
          </a:prstGeom>
        </p:spPr>
      </p:pic>
      <p:sp>
        <p:nvSpPr>
          <p:cNvPr id="34" name="TextBox 33"/>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Preguntas 4 y 5: efectos y consecuencias de la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15</a:t>
            </a:r>
          </a:p>
        </p:txBody>
      </p:sp>
      <p:pic>
        <p:nvPicPr>
          <p:cNvPr id="33" name="Imagen 32">
            <a:extLst>
              <a:ext uri="{FF2B5EF4-FFF2-40B4-BE49-F238E27FC236}">
                <a16:creationId xmlns:a16="http://schemas.microsoft.com/office/drawing/2014/main" id="{6A70E9B0-85ED-7947-5ABB-9FE744523619}"/>
              </a:ext>
            </a:extLst>
          </p:cNvPr>
          <p:cNvPicPr>
            <a:picLocks noChangeAspect="1"/>
          </p:cNvPicPr>
          <p:nvPr/>
        </p:nvPicPr>
        <p:blipFill>
          <a:blip r:embed="rId3"/>
          <a:stretch>
            <a:fillRect/>
          </a:stretch>
        </p:blipFill>
        <p:spPr>
          <a:xfrm>
            <a:off x="158617" y="5943600"/>
            <a:ext cx="5620013" cy="550672"/>
          </a:xfrm>
          <a:prstGeom prst="rect">
            <a:avLst/>
          </a:prstGeom>
        </p:spPr>
      </p:pic>
      <p:sp>
        <p:nvSpPr>
          <p:cNvPr id="34" name="TextBox 33"/>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sp>
        <p:nvSpPr>
          <p:cNvPr id="35" name="TextBox 34"/>
          <p:cNvSpPr txBox="1"/>
          <p:nvPr/>
        </p:nvSpPr>
        <p:spPr>
          <a:xfrm>
            <a:off x="841248" y="1389888"/>
            <a:ext cx="635508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P4 · EFECTOS: QUÉ SUCEDE CUANDO OCURRE LA FALLA</a:t>
            </a:r>
          </a:p>
        </p:txBody>
      </p:sp>
      <p:sp>
        <p:nvSpPr>
          <p:cNvPr id="36" name="Rectangle 35"/>
          <p:cNvSpPr/>
          <p:nvPr/>
        </p:nvSpPr>
        <p:spPr>
          <a:xfrm>
            <a:off x="841248" y="1682496"/>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7" name="Oval 36"/>
          <p:cNvSpPr/>
          <p:nvPr/>
        </p:nvSpPr>
        <p:spPr>
          <a:xfrm>
            <a:off x="987552" y="1883664"/>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8" name="TextBox 37"/>
          <p:cNvSpPr txBox="1"/>
          <p:nvPr/>
        </p:nvSpPr>
        <p:spPr>
          <a:xfrm>
            <a:off x="987552" y="1883664"/>
            <a:ext cx="365760" cy="365760"/>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FFFFFF"/>
                </a:solidFill>
                <a:latin typeface="Arial"/>
              </a:rPr>
              <a:t>1</a:t>
            </a:r>
          </a:p>
        </p:txBody>
      </p:sp>
      <p:sp>
        <p:nvSpPr>
          <p:cNvPr id="39" name="TextBox 38"/>
          <p:cNvSpPr txBox="1"/>
          <p:nvPr/>
        </p:nvSpPr>
        <p:spPr>
          <a:xfrm>
            <a:off x="1517904" y="1682496"/>
            <a:ext cx="5532120" cy="768096"/>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SIN AVISO</a:t>
            </a:r>
          </a:p>
          <a:p>
            <a:pPr algn="l">
              <a:lnSpc>
                <a:spcPct val="108000"/>
              </a:lnSpc>
              <a:spcBef>
                <a:spcPts val="0"/>
              </a:spcBef>
              <a:spcAft>
                <a:spcPts val="0"/>
              </a:spcAft>
            </a:pPr>
            <a:r>
              <a:rPr lang="es-ES" sz="950" b="0" i="0" noProof="0" dirty="0">
                <a:solidFill>
                  <a:srgbClr val="191919"/>
                </a:solidFill>
                <a:latin typeface="Arial"/>
              </a:rPr>
              <a:t>Ninguna tarea vigente la anticipa: el operador reporta pérdida de propulsión y la rueda queda en giro libre. 10 de los 13 eventos se detectaron en operación.</a:t>
            </a:r>
          </a:p>
        </p:txBody>
      </p:sp>
      <p:sp>
        <p:nvSpPr>
          <p:cNvPr id="40" name="Rectangle 39"/>
          <p:cNvSpPr/>
          <p:nvPr/>
        </p:nvSpPr>
        <p:spPr>
          <a:xfrm>
            <a:off x="841248" y="2523744"/>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Oval 40"/>
          <p:cNvSpPr/>
          <p:nvPr/>
        </p:nvSpPr>
        <p:spPr>
          <a:xfrm>
            <a:off x="987552" y="2724911"/>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2" name="TextBox 41"/>
          <p:cNvSpPr txBox="1"/>
          <p:nvPr/>
        </p:nvSpPr>
        <p:spPr>
          <a:xfrm>
            <a:off x="987552" y="2724911"/>
            <a:ext cx="365760" cy="365760"/>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FFFFFF"/>
                </a:solidFill>
                <a:latin typeface="Arial"/>
              </a:rPr>
              <a:t>2</a:t>
            </a:r>
          </a:p>
        </p:txBody>
      </p:sp>
      <p:sp>
        <p:nvSpPr>
          <p:cNvPr id="43" name="TextBox 42"/>
          <p:cNvSpPr txBox="1"/>
          <p:nvPr/>
        </p:nvSpPr>
        <p:spPr>
          <a:xfrm>
            <a:off x="1517904" y="2523744"/>
            <a:ext cx="5532120" cy="768096"/>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SEGURIDAD</a:t>
            </a:r>
          </a:p>
          <a:p>
            <a:pPr algn="l">
              <a:lnSpc>
                <a:spcPct val="108000"/>
              </a:lnSpc>
              <a:spcBef>
                <a:spcPts val="0"/>
              </a:spcBef>
              <a:spcAft>
                <a:spcPts val="0"/>
              </a:spcAft>
            </a:pPr>
            <a:r>
              <a:rPr lang="es-ES" sz="950" b="0" i="0" noProof="0" dirty="0">
                <a:solidFill>
                  <a:srgbClr val="191919"/>
                </a:solidFill>
                <a:latin typeface="Arial"/>
              </a:rPr>
              <a:t>Se pierden a la vez la tracción y el retardo dinámico: el frenado eléctrico queda en una sola posición, en el descenso cargado de un equipo de 628 t.</a:t>
            </a:r>
          </a:p>
        </p:txBody>
      </p:sp>
      <p:sp>
        <p:nvSpPr>
          <p:cNvPr id="44" name="Rectangle 43"/>
          <p:cNvSpPr/>
          <p:nvPr/>
        </p:nvSpPr>
        <p:spPr>
          <a:xfrm>
            <a:off x="841248" y="3364991"/>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5" name="Oval 44"/>
          <p:cNvSpPr/>
          <p:nvPr/>
        </p:nvSpPr>
        <p:spPr>
          <a:xfrm>
            <a:off x="987552" y="3566159"/>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6" name="TextBox 45"/>
          <p:cNvSpPr txBox="1"/>
          <p:nvPr/>
        </p:nvSpPr>
        <p:spPr>
          <a:xfrm>
            <a:off x="987552" y="3566159"/>
            <a:ext cx="365760" cy="365760"/>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FFFFFF"/>
                </a:solidFill>
                <a:latin typeface="Arial"/>
              </a:rPr>
              <a:t>3</a:t>
            </a:r>
          </a:p>
        </p:txBody>
      </p:sp>
      <p:sp>
        <p:nvSpPr>
          <p:cNvPr id="47" name="TextBox 46"/>
          <p:cNvSpPr txBox="1"/>
          <p:nvPr/>
        </p:nvSpPr>
        <p:spPr>
          <a:xfrm>
            <a:off x="1517904" y="3364991"/>
            <a:ext cx="5532120" cy="768096"/>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OPERACIÓN</a:t>
            </a:r>
          </a:p>
          <a:p>
            <a:pPr algn="l">
              <a:lnSpc>
                <a:spcPct val="108000"/>
              </a:lnSpc>
              <a:spcBef>
                <a:spcPts val="0"/>
              </a:spcBef>
              <a:spcAft>
                <a:spcPts val="0"/>
              </a:spcAft>
            </a:pPr>
            <a:r>
              <a:rPr lang="es-ES" sz="950" b="0" i="0" noProof="0" dirty="0">
                <a:solidFill>
                  <a:srgbClr val="191919"/>
                </a:solidFill>
                <a:latin typeface="Arial"/>
              </a:rPr>
              <a:t>La unidad sale del ciclo de acarreo 59,3 h en promedio: no hay reparación en campo y se sustituye el motor de tracción completo.</a:t>
            </a:r>
          </a:p>
        </p:txBody>
      </p:sp>
      <p:sp>
        <p:nvSpPr>
          <p:cNvPr id="48" name="Rectangle 47"/>
          <p:cNvSpPr/>
          <p:nvPr/>
        </p:nvSpPr>
        <p:spPr>
          <a:xfrm>
            <a:off x="841248" y="4206240"/>
            <a:ext cx="6355080" cy="76809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9" name="Oval 48"/>
          <p:cNvSpPr/>
          <p:nvPr/>
        </p:nvSpPr>
        <p:spPr>
          <a:xfrm>
            <a:off x="987552" y="4407407"/>
            <a:ext cx="365760" cy="365760"/>
          </a:xfrm>
          <a:prstGeom prst="ellipse">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0" name="TextBox 49"/>
          <p:cNvSpPr txBox="1"/>
          <p:nvPr/>
        </p:nvSpPr>
        <p:spPr>
          <a:xfrm>
            <a:off x="987552" y="4407407"/>
            <a:ext cx="365760" cy="365760"/>
          </a:xfrm>
          <a:prstGeom prst="rect">
            <a:avLst/>
          </a:prstGeom>
          <a:noFill/>
        </p:spPr>
        <p:txBody>
          <a:bodyPr wrap="square" lIns="0" tIns="0" rIns="0" bIns="0" anchor="ctr">
            <a:spAutoFit/>
          </a:bodyPr>
          <a:lstStyle/>
          <a:p>
            <a:pPr algn="ctr">
              <a:lnSpc>
                <a:spcPct val="110000"/>
              </a:lnSpc>
              <a:spcBef>
                <a:spcPts val="0"/>
              </a:spcBef>
              <a:spcAft>
                <a:spcPts val="0"/>
              </a:spcAft>
            </a:pPr>
            <a:r>
              <a:rPr lang="es-ES" sz="1200" b="1" i="0" noProof="0" dirty="0">
                <a:solidFill>
                  <a:srgbClr val="FFFFFF"/>
                </a:solidFill>
                <a:latin typeface="Arial"/>
              </a:rPr>
              <a:t>4</a:t>
            </a:r>
          </a:p>
        </p:txBody>
      </p:sp>
      <p:sp>
        <p:nvSpPr>
          <p:cNvPr id="51" name="TextBox 50"/>
          <p:cNvSpPr txBox="1"/>
          <p:nvPr/>
        </p:nvSpPr>
        <p:spPr>
          <a:xfrm>
            <a:off x="1517904" y="4206240"/>
            <a:ext cx="5532120" cy="768096"/>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4A5568"/>
                </a:solidFill>
                <a:latin typeface="Arial"/>
              </a:rPr>
              <a:t>DAÑO FÍSICO</a:t>
            </a:r>
          </a:p>
          <a:p>
            <a:pPr algn="l">
              <a:lnSpc>
                <a:spcPct val="108000"/>
              </a:lnSpc>
              <a:spcBef>
                <a:spcPts val="0"/>
              </a:spcBef>
              <a:spcAft>
                <a:spcPts val="0"/>
              </a:spcAft>
            </a:pPr>
            <a:r>
              <a:rPr lang="es-ES" sz="950" b="0" i="0" noProof="0" dirty="0">
                <a:solidFill>
                  <a:srgbClr val="191919"/>
                </a:solidFill>
                <a:latin typeface="Arial"/>
              </a:rPr>
              <a:t>El eje roto sigue girando y daña el estriado, los planetarios, la placa de acople, el piñón solar, la corona y los rodamientos.</a:t>
            </a:r>
          </a:p>
        </p:txBody>
      </p:sp>
      <p:sp>
        <p:nvSpPr>
          <p:cNvPr id="52" name="TextBox 51"/>
          <p:cNvSpPr txBox="1"/>
          <p:nvPr/>
        </p:nvSpPr>
        <p:spPr>
          <a:xfrm>
            <a:off x="7470648" y="1389888"/>
            <a:ext cx="388620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P5 · CONSECUENCIAS (SAE JA1011)</a:t>
            </a:r>
          </a:p>
        </p:txBody>
      </p:sp>
      <p:sp>
        <p:nvSpPr>
          <p:cNvPr id="53" name="Rectangle 52"/>
          <p:cNvSpPr/>
          <p:nvPr/>
        </p:nvSpPr>
        <p:spPr>
          <a:xfrm>
            <a:off x="7470648" y="1682496"/>
            <a:ext cx="3886200" cy="658368"/>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4" name="TextBox 53"/>
          <p:cNvSpPr txBox="1"/>
          <p:nvPr/>
        </p:nvSpPr>
        <p:spPr>
          <a:xfrm>
            <a:off x="7635240" y="1682496"/>
            <a:ext cx="3611880" cy="658368"/>
          </a:xfrm>
          <a:prstGeom prst="rect">
            <a:avLst/>
          </a:prstGeom>
          <a:noFill/>
        </p:spPr>
        <p:txBody>
          <a:bodyPr wrap="square" lIns="0" tIns="0" rIns="0" bIns="0" anchor="ctr">
            <a:spAutoFit/>
          </a:bodyPr>
          <a:lstStyle/>
          <a:p>
            <a:pPr algn="l">
              <a:lnSpc>
                <a:spcPct val="110000"/>
              </a:lnSpc>
              <a:spcBef>
                <a:spcPts val="0"/>
              </a:spcBef>
              <a:spcAft>
                <a:spcPts val="200"/>
              </a:spcAft>
            </a:pPr>
            <a:r>
              <a:rPr lang="es-ES" sz="800" b="1" i="0" noProof="0" dirty="0">
                <a:solidFill>
                  <a:srgbClr val="9FB3D9"/>
                </a:solidFill>
                <a:latin typeface="Arial"/>
              </a:rPr>
              <a:t>CLASIFICACIÓN</a:t>
            </a:r>
          </a:p>
          <a:p>
            <a:pPr algn="l">
              <a:lnSpc>
                <a:spcPct val="105000"/>
              </a:lnSpc>
              <a:spcBef>
                <a:spcPts val="0"/>
              </a:spcBef>
              <a:spcAft>
                <a:spcPts val="0"/>
              </a:spcAft>
            </a:pPr>
            <a:r>
              <a:rPr lang="es-ES" sz="1050" b="1" i="0" noProof="0" dirty="0">
                <a:solidFill>
                  <a:srgbClr val="FFFFFF"/>
                </a:solidFill>
                <a:latin typeface="Arial"/>
              </a:rPr>
              <a:t>Operacional, con implicación de seguridad y efecto contractual</a:t>
            </a:r>
          </a:p>
        </p:txBody>
      </p:sp>
      <p:sp>
        <p:nvSpPr>
          <p:cNvPr id="55" name="Rectangle 54"/>
          <p:cNvSpPr/>
          <p:nvPr/>
        </p:nvSpPr>
        <p:spPr>
          <a:xfrm>
            <a:off x="7470648" y="2414016"/>
            <a:ext cx="3886200" cy="804672"/>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6" name="Rectangle 55"/>
          <p:cNvSpPr/>
          <p:nvPr/>
        </p:nvSpPr>
        <p:spPr>
          <a:xfrm>
            <a:off x="7470648" y="2414016"/>
            <a:ext cx="45720" cy="804672"/>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7" name="TextBox 56"/>
          <p:cNvSpPr txBox="1"/>
          <p:nvPr/>
        </p:nvSpPr>
        <p:spPr>
          <a:xfrm>
            <a:off x="7635240" y="2414016"/>
            <a:ext cx="3611880" cy="80467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C3094A"/>
                </a:solidFill>
                <a:latin typeface="Arial"/>
              </a:rPr>
              <a:t>OPERACIONAL</a:t>
            </a:r>
          </a:p>
          <a:p>
            <a:pPr algn="l">
              <a:lnSpc>
                <a:spcPct val="106000"/>
              </a:lnSpc>
              <a:spcBef>
                <a:spcPts val="0"/>
              </a:spcBef>
              <a:spcAft>
                <a:spcPts val="0"/>
              </a:spcAft>
            </a:pPr>
            <a:r>
              <a:rPr lang="es-ES" sz="900" b="0" i="0" noProof="0" dirty="0">
                <a:solidFill>
                  <a:srgbClr val="191919"/>
                </a:solidFill>
                <a:latin typeface="Arial"/>
              </a:rPr>
              <a:t>59,3 h por evento, reparación mayor del motor y retiro antes de las 20 000 h de TBO.</a:t>
            </a:r>
          </a:p>
        </p:txBody>
      </p:sp>
      <p:sp>
        <p:nvSpPr>
          <p:cNvPr id="58" name="Rectangle 57"/>
          <p:cNvSpPr/>
          <p:nvPr/>
        </p:nvSpPr>
        <p:spPr>
          <a:xfrm>
            <a:off x="7470648" y="3291840"/>
            <a:ext cx="3886200" cy="804672"/>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59" name="Rectangle 58"/>
          <p:cNvSpPr/>
          <p:nvPr/>
        </p:nvSpPr>
        <p:spPr>
          <a:xfrm>
            <a:off x="7470648" y="3291840"/>
            <a:ext cx="45720" cy="804672"/>
          </a:xfrm>
          <a:prstGeom prst="rect">
            <a:avLst/>
          </a:prstGeom>
          <a:solidFill>
            <a:srgbClr val="CFD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0" name="TextBox 59"/>
          <p:cNvSpPr txBox="1"/>
          <p:nvPr/>
        </p:nvSpPr>
        <p:spPr>
          <a:xfrm>
            <a:off x="7635240" y="3291840"/>
            <a:ext cx="3611880" cy="80467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042354"/>
                </a:solidFill>
                <a:latin typeface="Arial"/>
              </a:rPr>
              <a:t>IMPLICACIÓN DE SEGURIDAD</a:t>
            </a:r>
          </a:p>
          <a:p>
            <a:pPr algn="l">
              <a:lnSpc>
                <a:spcPct val="106000"/>
              </a:lnSpc>
              <a:spcBef>
                <a:spcPts val="0"/>
              </a:spcBef>
              <a:spcAft>
                <a:spcPts val="0"/>
              </a:spcAft>
            </a:pPr>
            <a:r>
              <a:rPr lang="es-ES" sz="900" b="0" i="0" noProof="0" dirty="0">
                <a:solidFill>
                  <a:srgbClr val="191919"/>
                </a:solidFill>
                <a:latin typeface="Arial"/>
              </a:rPr>
              <a:t>Compromete el control de velocidad en descenso. Sin daños a personas en 13 eventos, pero la norma evalúa la consecuencia potencial.</a:t>
            </a:r>
          </a:p>
        </p:txBody>
      </p:sp>
      <p:sp>
        <p:nvSpPr>
          <p:cNvPr id="61" name="Rectangle 60"/>
          <p:cNvSpPr/>
          <p:nvPr/>
        </p:nvSpPr>
        <p:spPr>
          <a:xfrm>
            <a:off x="7470648" y="4169664"/>
            <a:ext cx="38862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2" name="Rectangle 61"/>
          <p:cNvSpPr/>
          <p:nvPr/>
        </p:nvSpPr>
        <p:spPr>
          <a:xfrm>
            <a:off x="7470648" y="416966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3" name="TextBox 62"/>
          <p:cNvSpPr txBox="1"/>
          <p:nvPr/>
        </p:nvSpPr>
        <p:spPr>
          <a:xfrm>
            <a:off x="7635240" y="4169664"/>
            <a:ext cx="3611880" cy="804672"/>
          </a:xfrm>
          <a:prstGeom prst="rect">
            <a:avLst/>
          </a:prstGeom>
          <a:noFill/>
        </p:spPr>
        <p:txBody>
          <a:bodyPr wrap="square" lIns="0" tIns="0" rIns="0" bIns="0" anchor="ctr">
            <a:spAutoFit/>
          </a:bodyPr>
          <a:lstStyle/>
          <a:p>
            <a:pPr algn="l">
              <a:lnSpc>
                <a:spcPct val="110000"/>
              </a:lnSpc>
              <a:spcBef>
                <a:spcPts val="0"/>
              </a:spcBef>
              <a:spcAft>
                <a:spcPts val="200"/>
              </a:spcAft>
            </a:pPr>
            <a:r>
              <a:rPr lang="es-ES" sz="850" b="1" i="0" noProof="0" dirty="0">
                <a:solidFill>
                  <a:srgbClr val="2841DD"/>
                </a:solidFill>
                <a:latin typeface="Arial"/>
              </a:rPr>
              <a:t>EFECTO CONTRACTUAL</a:t>
            </a:r>
          </a:p>
          <a:p>
            <a:pPr algn="l">
              <a:lnSpc>
                <a:spcPct val="106000"/>
              </a:lnSpc>
              <a:spcBef>
                <a:spcPts val="0"/>
              </a:spcBef>
              <a:spcAft>
                <a:spcPts val="0"/>
              </a:spcAft>
            </a:pPr>
            <a:r>
              <a:rPr lang="es-ES" sz="900" b="0" i="0" noProof="0" dirty="0">
                <a:solidFill>
                  <a:srgbClr val="191919"/>
                </a:solidFill>
                <a:latin typeface="Arial"/>
              </a:rPr>
              <a:t>Las horas fuera de servicio erosionan la disponibilidad y el MTBF comprometidos.</a:t>
            </a:r>
          </a:p>
        </p:txBody>
      </p:sp>
      <p:sp>
        <p:nvSpPr>
          <p:cNvPr id="64" name="Rectangle 63"/>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65" name="TextBox 64"/>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La clasificación es determinante: sin tarea proactiva aplicable, una consecuencia operacional con implicación de seguridad lleva la norma a prescribir el rediseño.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Preguntas 6 y 7: ninguna tarea proactiva cumple ambos criterios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16</a:t>
            </a:r>
          </a:p>
        </p:txBody>
      </p:sp>
      <p:sp>
        <p:nvSpPr>
          <p:cNvPr id="6" name="TextBox 5"/>
          <p:cNvSpPr txBox="1"/>
          <p:nvPr/>
        </p:nvSpPr>
        <p:spPr>
          <a:xfrm>
            <a:off x="841248" y="1444752"/>
            <a:ext cx="10515600" cy="457200"/>
          </a:xfrm>
          <a:prstGeom prst="rect">
            <a:avLst/>
          </a:prstGeom>
          <a:noFill/>
        </p:spPr>
        <p:txBody>
          <a:bodyPr wrap="square" lIns="0" tIns="0" rIns="0" bIns="0" anchor="t">
            <a:spAutoFit/>
          </a:bodyPr>
          <a:lstStyle/>
          <a:p>
            <a:pPr algn="l">
              <a:lnSpc>
                <a:spcPct val="116000"/>
              </a:lnSpc>
              <a:spcBef>
                <a:spcPts val="0"/>
              </a:spcBef>
              <a:spcAft>
                <a:spcPts val="400"/>
              </a:spcAft>
            </a:pPr>
            <a:r>
              <a:rPr lang="es-ES" sz="1200" b="0" i="0" noProof="0" dirty="0">
                <a:solidFill>
                  <a:srgbClr val="4A5568"/>
                </a:solidFill>
                <a:latin typeface="Arial"/>
              </a:rPr>
              <a:t>Una tarea proactiva se adopta solo si es técnicamente factible y si el costo de ejecutarla es menor que el de las consecuencias que evita.</a:t>
            </a:r>
          </a:p>
        </p:txBody>
      </p:sp>
      <p:pic>
        <p:nvPicPr>
          <p:cNvPr id="7" name="Picture 6" descr="pu_g8_logica.png"/>
          <p:cNvPicPr>
            <a:picLocks noChangeAspect="1"/>
          </p:cNvPicPr>
          <p:nvPr/>
        </p:nvPicPr>
        <p:blipFill>
          <a:blip r:embed="rId2"/>
          <a:stretch>
            <a:fillRect/>
          </a:stretch>
        </p:blipFill>
        <p:spPr>
          <a:xfrm>
            <a:off x="2368296" y="1883664"/>
            <a:ext cx="7461503" cy="2331720"/>
          </a:xfrm>
          <a:prstGeom prst="rect">
            <a:avLst/>
          </a:prstGeom>
        </p:spPr>
      </p:pic>
      <p:sp>
        <p:nvSpPr>
          <p:cNvPr id="8" name="Rectangle 7"/>
          <p:cNvSpPr/>
          <p:nvPr/>
        </p:nvSpPr>
        <p:spPr>
          <a:xfrm>
            <a:off x="841248" y="4352544"/>
            <a:ext cx="10515600" cy="804672"/>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9" name="Rectangle 8"/>
          <p:cNvSpPr/>
          <p:nvPr/>
        </p:nvSpPr>
        <p:spPr>
          <a:xfrm>
            <a:off x="841248" y="4352544"/>
            <a:ext cx="45720" cy="804672"/>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0" name="TextBox 9"/>
          <p:cNvSpPr txBox="1"/>
          <p:nvPr/>
        </p:nvSpPr>
        <p:spPr>
          <a:xfrm>
            <a:off x="1078992" y="4462272"/>
            <a:ext cx="10040112" cy="603504"/>
          </a:xfrm>
          <a:prstGeom prst="rect">
            <a:avLst/>
          </a:prstGeom>
          <a:noFill/>
        </p:spPr>
        <p:txBody>
          <a:bodyPr wrap="square" lIns="0" tIns="0" rIns="0" bIns="0" anchor="t">
            <a:spAutoFit/>
          </a:bodyPr>
          <a:lstStyle/>
          <a:p>
            <a:pPr algn="l">
              <a:lnSpc>
                <a:spcPct val="114000"/>
              </a:lnSpc>
              <a:spcBef>
                <a:spcPts val="0"/>
              </a:spcBef>
              <a:spcAft>
                <a:spcPts val="400"/>
              </a:spcAft>
            </a:pPr>
            <a:r>
              <a:rPr lang="es-ES" sz="1200" b="1" i="0" noProof="0" dirty="0">
                <a:solidFill>
                  <a:srgbClr val="2841DD"/>
                </a:solidFill>
                <a:latin typeface="Arial"/>
              </a:rPr>
              <a:t>El rediseño es el resultado del proceso RCM.</a:t>
            </a:r>
          </a:p>
          <a:p>
            <a:pPr algn="l">
              <a:lnSpc>
                <a:spcPct val="114000"/>
              </a:lnSpc>
              <a:spcBef>
                <a:spcPts val="0"/>
              </a:spcBef>
              <a:spcAft>
                <a:spcPts val="400"/>
              </a:spcAft>
            </a:pPr>
            <a:r>
              <a:rPr lang="es-ES" sz="1000" b="0" i="0" noProof="0" dirty="0">
                <a:solidFill>
                  <a:srgbClr val="191919"/>
                </a:solidFill>
                <a:latin typeface="Arial"/>
              </a:rPr>
              <a:t>Se siguió la secuencia completa, incluso se realizó el cambio de componente ( ejecución de la tarea disponible) y la comprobación de que la falla volvió a presentarse, se llegó al rediseño solo después de haber agotado y documentado las demás alternativas.</a:t>
            </a:r>
          </a:p>
        </p:txBody>
      </p:sp>
      <p:sp>
        <p:nvSpPr>
          <p:cNvPr id="11" name="TextBox 10"/>
          <p:cNvSpPr txBox="1"/>
          <p:nvPr/>
        </p:nvSpPr>
        <p:spPr>
          <a:xfrm>
            <a:off x="841248" y="5303520"/>
            <a:ext cx="10515600" cy="274320"/>
          </a:xfrm>
          <a:prstGeom prst="rect">
            <a:avLst/>
          </a:prstGeom>
          <a:noFill/>
        </p:spPr>
        <p:txBody>
          <a:bodyPr wrap="square" lIns="0" tIns="0" rIns="0" bIns="0" anchor="t">
            <a:spAutoFit/>
          </a:bodyPr>
          <a:lstStyle/>
          <a:p>
            <a:pPr algn="l">
              <a:lnSpc>
                <a:spcPct val="106000"/>
              </a:lnSpc>
              <a:spcBef>
                <a:spcPts val="0"/>
              </a:spcBef>
              <a:spcAft>
                <a:spcPts val="400"/>
              </a:spcAft>
            </a:pPr>
            <a:r>
              <a:rPr lang="es-ES" sz="900" b="0" i="0" noProof="0" dirty="0">
                <a:solidFill>
                  <a:srgbClr val="7A8494"/>
                </a:solidFill>
                <a:latin typeface="Arial"/>
              </a:rPr>
              <a:t>Umbral de indiferencia declarado: si el costo de una reparación mayor programada bajara de US$ 424 mil, la sustitución cíclica sí sería conveniente.</a:t>
            </a:r>
          </a:p>
        </p:txBody>
      </p:sp>
      <p:pic>
        <p:nvPicPr>
          <p:cNvPr id="12" name="Imagen 11">
            <a:extLst>
              <a:ext uri="{FF2B5EF4-FFF2-40B4-BE49-F238E27FC236}">
                <a16:creationId xmlns:a16="http://schemas.microsoft.com/office/drawing/2014/main" id="{01F7DA6E-4097-00ED-42AE-00EE20CCF02C}"/>
              </a:ext>
            </a:extLst>
          </p:cNvPr>
          <p:cNvPicPr>
            <a:picLocks noChangeAspect="1"/>
          </p:cNvPicPr>
          <p:nvPr/>
        </p:nvPicPr>
        <p:blipFill>
          <a:blip r:embed="rId3"/>
          <a:stretch>
            <a:fillRect/>
          </a:stretch>
        </p:blipFill>
        <p:spPr>
          <a:xfrm>
            <a:off x="158617" y="5943600"/>
            <a:ext cx="5620013" cy="550672"/>
          </a:xfrm>
          <a:prstGeom prst="rect">
            <a:avLst/>
          </a:prstGeom>
        </p:spPr>
      </p:pic>
      <p:sp>
        <p:nvSpPr>
          <p:cNvPr id="13" name="TextBox 12"/>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04 · DESARROLLO</a:t>
            </a:r>
          </a:p>
        </p:txBody>
      </p:sp>
      <p:pic>
        <p:nvPicPr>
          <p:cNvPr id="14" name="Picture 6" descr="pu_g8_logica.png">
            <a:extLst>
              <a:ext uri="{FF2B5EF4-FFF2-40B4-BE49-F238E27FC236}">
                <a16:creationId xmlns:a16="http://schemas.microsoft.com/office/drawing/2014/main" id="{6DDDDAB7-C08B-90D8-73A0-1A425909A213}"/>
              </a:ext>
            </a:extLst>
          </p:cNvPr>
          <p:cNvPicPr>
            <a:picLocks noChangeAspect="1"/>
          </p:cNvPicPr>
          <p:nvPr/>
        </p:nvPicPr>
        <p:blipFill>
          <a:blip r:embed="rId2"/>
          <a:srcRect l="50470" t="45686" r="31556" b="46144"/>
          <a:stretch>
            <a:fillRect/>
          </a:stretch>
        </p:blipFill>
        <p:spPr>
          <a:xfrm>
            <a:off x="6156961" y="2779776"/>
            <a:ext cx="1341120" cy="190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La solución: rediseño de la unión soldada y su implementación</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17</a:t>
            </a:r>
          </a:p>
        </p:txBody>
      </p:sp>
      <p:pic>
        <p:nvPicPr>
          <p:cNvPr id="19" name="Imagen 18">
            <a:extLst>
              <a:ext uri="{FF2B5EF4-FFF2-40B4-BE49-F238E27FC236}">
                <a16:creationId xmlns:a16="http://schemas.microsoft.com/office/drawing/2014/main" id="{96A3C54D-2A70-4746-BEA4-6D4F03EB5F6D}"/>
              </a:ext>
            </a:extLst>
          </p:cNvPr>
          <p:cNvPicPr>
            <a:picLocks noChangeAspect="1"/>
          </p:cNvPicPr>
          <p:nvPr/>
        </p:nvPicPr>
        <p:blipFill>
          <a:blip r:embed="rId3"/>
          <a:stretch>
            <a:fillRect/>
          </a:stretch>
        </p:blipFill>
        <p:spPr>
          <a:xfrm>
            <a:off x="158617" y="5943600"/>
            <a:ext cx="5620013" cy="550672"/>
          </a:xfrm>
          <a:prstGeom prst="rect">
            <a:avLst/>
          </a:prstGeom>
        </p:spPr>
      </p:pic>
      <p:pic>
        <p:nvPicPr>
          <p:cNvPr id="20" name="Picture 19" descr="crop_union_ab.png"/>
          <p:cNvPicPr>
            <a:picLocks noChangeAspect="1"/>
          </p:cNvPicPr>
          <p:nvPr/>
        </p:nvPicPr>
        <p:blipFill>
          <a:blip r:embed="rId4"/>
          <a:stretch>
            <a:fillRect/>
          </a:stretch>
        </p:blipFill>
        <p:spPr>
          <a:xfrm>
            <a:off x="841248" y="1481328"/>
            <a:ext cx="5577840" cy="2980944"/>
          </a:xfrm>
          <a:prstGeom prst="rect">
            <a:avLst/>
          </a:prstGeom>
        </p:spPr>
      </p:pic>
      <p:sp>
        <p:nvSpPr>
          <p:cNvPr id="21" name="TextBox 20"/>
          <p:cNvSpPr txBox="1"/>
          <p:nvPr/>
        </p:nvSpPr>
        <p:spPr>
          <a:xfrm>
            <a:off x="841248" y="4517136"/>
            <a:ext cx="5577840" cy="36576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Comparación de la unión soldada: (a) original y (b) modificada. Media sección longitudinal. Elaboración propia.</a:t>
            </a:r>
          </a:p>
        </p:txBody>
      </p:sp>
      <p:sp>
        <p:nvSpPr>
          <p:cNvPr id="22" name="TextBox 21"/>
          <p:cNvSpPr txBox="1"/>
          <p:nvPr/>
        </p:nvSpPr>
        <p:spPr>
          <a:xfrm>
            <a:off x="6675120" y="1389888"/>
            <a:ext cx="4681728"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CONTROL DE CONFIGURACIÓN DEL NÚMERO DE PARTE</a:t>
            </a:r>
          </a:p>
        </p:txBody>
      </p:sp>
      <p:sp>
        <p:nvSpPr>
          <p:cNvPr id="23" name="Rectangle 22"/>
          <p:cNvSpPr/>
          <p:nvPr/>
        </p:nvSpPr>
        <p:spPr>
          <a:xfrm>
            <a:off x="6675120" y="1700784"/>
            <a:ext cx="2272284" cy="1188720"/>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4" name="Rectangle 23"/>
          <p:cNvSpPr/>
          <p:nvPr/>
        </p:nvSpPr>
        <p:spPr>
          <a:xfrm>
            <a:off x="6675120" y="1700784"/>
            <a:ext cx="2272284"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5" name="TextBox 24"/>
          <p:cNvSpPr txBox="1"/>
          <p:nvPr/>
        </p:nvSpPr>
        <p:spPr>
          <a:xfrm>
            <a:off x="6803136" y="1828800"/>
            <a:ext cx="2034539" cy="1005840"/>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C3094A"/>
                </a:solidFill>
                <a:latin typeface="Arial"/>
              </a:rPr>
              <a:t>Componente obsoleto</a:t>
            </a:r>
          </a:p>
          <a:p>
            <a:pPr algn="l">
              <a:lnSpc>
                <a:spcPct val="108000"/>
              </a:lnSpc>
              <a:spcBef>
                <a:spcPts val="0"/>
              </a:spcBef>
              <a:spcAft>
                <a:spcPts val="400"/>
              </a:spcAft>
            </a:pPr>
            <a:r>
              <a:rPr lang="es-ES" sz="900" b="0" i="0" noProof="0" dirty="0">
                <a:solidFill>
                  <a:srgbClr val="191919"/>
                </a:solidFill>
                <a:latin typeface="Arial"/>
              </a:rPr>
              <a:t>Penetración parcial; raíz sin fusión en el diámetro interior</a:t>
            </a:r>
          </a:p>
          <a:p>
            <a:pPr algn="l">
              <a:lnSpc>
                <a:spcPct val="110000"/>
              </a:lnSpc>
              <a:spcBef>
                <a:spcPts val="0"/>
              </a:spcBef>
              <a:spcAft>
                <a:spcPts val="0"/>
              </a:spcAft>
            </a:pPr>
            <a:r>
              <a:rPr lang="es-ES" sz="1500" b="1" i="0" noProof="0" dirty="0">
                <a:solidFill>
                  <a:srgbClr val="C3094A"/>
                </a:solidFill>
                <a:latin typeface="Arial"/>
              </a:rPr>
              <a:t>FS = 0,31</a:t>
            </a:r>
          </a:p>
        </p:txBody>
      </p:sp>
      <p:sp>
        <p:nvSpPr>
          <p:cNvPr id="26" name="Rectangle 25"/>
          <p:cNvSpPr/>
          <p:nvPr/>
        </p:nvSpPr>
        <p:spPr>
          <a:xfrm>
            <a:off x="9093707" y="1738503"/>
            <a:ext cx="2272284"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7" name="Rectangle 26"/>
          <p:cNvSpPr/>
          <p:nvPr/>
        </p:nvSpPr>
        <p:spPr>
          <a:xfrm>
            <a:off x="9084563" y="1700784"/>
            <a:ext cx="2272284" cy="45720"/>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8" name="TextBox 27"/>
          <p:cNvSpPr txBox="1"/>
          <p:nvPr/>
        </p:nvSpPr>
        <p:spPr>
          <a:xfrm>
            <a:off x="9212580" y="1828800"/>
            <a:ext cx="2034539" cy="800925"/>
          </a:xfrm>
          <a:prstGeom prst="rect">
            <a:avLst/>
          </a:prstGeom>
          <a:noFill/>
        </p:spPr>
        <p:txBody>
          <a:bodyPr wrap="square" lIns="0" tIns="0" rIns="0" bIns="0" anchor="t">
            <a:spAutoFit/>
          </a:bodyPr>
          <a:lstStyle/>
          <a:p>
            <a:pPr algn="l">
              <a:lnSpc>
                <a:spcPct val="110000"/>
              </a:lnSpc>
              <a:spcBef>
                <a:spcPts val="0"/>
              </a:spcBef>
              <a:spcAft>
                <a:spcPts val="300"/>
              </a:spcAft>
            </a:pPr>
            <a:r>
              <a:rPr lang="es-ES" sz="1050" b="1" i="0" noProof="0" dirty="0">
                <a:solidFill>
                  <a:srgbClr val="2841DD"/>
                </a:solidFill>
                <a:latin typeface="Arial"/>
              </a:rPr>
              <a:t>Componente </a:t>
            </a:r>
            <a:r>
              <a:rPr lang="es-ES" sz="1050" b="1" dirty="0">
                <a:solidFill>
                  <a:srgbClr val="2841DD"/>
                </a:solidFill>
              </a:rPr>
              <a:t>rediseñad</a:t>
            </a:r>
            <a:r>
              <a:rPr lang="es-ES" sz="1050" b="1" i="0" noProof="0" dirty="0">
                <a:solidFill>
                  <a:srgbClr val="2841DD"/>
                </a:solidFill>
                <a:latin typeface="Arial"/>
              </a:rPr>
              <a:t>o</a:t>
            </a:r>
          </a:p>
          <a:p>
            <a:pPr algn="l">
              <a:lnSpc>
                <a:spcPct val="108000"/>
              </a:lnSpc>
              <a:spcBef>
                <a:spcPts val="0"/>
              </a:spcBef>
              <a:spcAft>
                <a:spcPts val="400"/>
              </a:spcAft>
            </a:pPr>
            <a:r>
              <a:rPr lang="es-ES" sz="900" b="0" i="0" noProof="0" dirty="0">
                <a:solidFill>
                  <a:srgbClr val="191919"/>
                </a:solidFill>
                <a:latin typeface="Arial"/>
              </a:rPr>
              <a:t>Penetración completa sobre sección mayor; sin cambio de material</a:t>
            </a:r>
          </a:p>
          <a:p>
            <a:pPr algn="l">
              <a:lnSpc>
                <a:spcPct val="110000"/>
              </a:lnSpc>
              <a:spcBef>
                <a:spcPts val="0"/>
              </a:spcBef>
              <a:spcAft>
                <a:spcPts val="0"/>
              </a:spcAft>
            </a:pPr>
            <a:r>
              <a:rPr lang="es-ES" sz="1500" b="1" i="0" noProof="0" dirty="0">
                <a:solidFill>
                  <a:srgbClr val="2841DD"/>
                </a:solidFill>
                <a:latin typeface="Arial"/>
              </a:rPr>
              <a:t>FS = 2,23</a:t>
            </a:r>
          </a:p>
        </p:txBody>
      </p:sp>
      <p:sp>
        <p:nvSpPr>
          <p:cNvPr id="29" name="TextBox 28"/>
          <p:cNvSpPr txBox="1"/>
          <p:nvPr/>
        </p:nvSpPr>
        <p:spPr>
          <a:xfrm>
            <a:off x="6675120" y="3035808"/>
            <a:ext cx="4681728"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IMPLEMENTACIÓN COMO CAMBIO CONTROLADO</a:t>
            </a:r>
          </a:p>
        </p:txBody>
      </p:sp>
      <p:sp>
        <p:nvSpPr>
          <p:cNvPr id="30" name="Rectangle 29"/>
          <p:cNvSpPr/>
          <p:nvPr/>
        </p:nvSpPr>
        <p:spPr>
          <a:xfrm>
            <a:off x="6675120" y="3328416"/>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1" name="TextBox 30"/>
          <p:cNvSpPr txBox="1"/>
          <p:nvPr/>
        </p:nvSpPr>
        <p:spPr>
          <a:xfrm>
            <a:off x="6784848" y="3328416"/>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lang="es-ES" sz="1200" b="1" i="0" noProof="0" dirty="0">
                <a:solidFill>
                  <a:srgbClr val="C3094A"/>
                </a:solidFill>
                <a:latin typeface="Arial"/>
              </a:rPr>
              <a:t>01</a:t>
            </a:r>
          </a:p>
        </p:txBody>
      </p:sp>
      <p:sp>
        <p:nvSpPr>
          <p:cNvPr id="32" name="TextBox 31"/>
          <p:cNvSpPr txBox="1"/>
          <p:nvPr/>
        </p:nvSpPr>
        <p:spPr>
          <a:xfrm>
            <a:off x="7223759" y="3328416"/>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lang="es-ES" sz="950" b="1" i="0" noProof="0" dirty="0">
                <a:solidFill>
                  <a:srgbClr val="042354"/>
                </a:solidFill>
                <a:latin typeface="Arial"/>
              </a:rPr>
              <a:t>Priorización por horómetro y riesgo</a:t>
            </a:r>
          </a:p>
          <a:p>
            <a:pPr algn="l">
              <a:lnSpc>
                <a:spcPct val="105000"/>
              </a:lnSpc>
              <a:spcBef>
                <a:spcPts val="0"/>
              </a:spcBef>
              <a:spcAft>
                <a:spcPts val="0"/>
              </a:spcAft>
            </a:pPr>
            <a:r>
              <a:rPr lang="es-ES" sz="850" b="0" i="0" noProof="0" dirty="0">
                <a:solidFill>
                  <a:srgbClr val="191919"/>
                </a:solidFill>
                <a:latin typeface="Arial"/>
              </a:rPr>
              <a:t>Primero las posiciones con mayor vida acumulada, las más próximas al rango de fracturas.</a:t>
            </a:r>
          </a:p>
        </p:txBody>
      </p:sp>
      <p:sp>
        <p:nvSpPr>
          <p:cNvPr id="33" name="Rectangle 32"/>
          <p:cNvSpPr/>
          <p:nvPr/>
        </p:nvSpPr>
        <p:spPr>
          <a:xfrm>
            <a:off x="6675120" y="3895344"/>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4" name="TextBox 33"/>
          <p:cNvSpPr txBox="1"/>
          <p:nvPr/>
        </p:nvSpPr>
        <p:spPr>
          <a:xfrm>
            <a:off x="6784848" y="3895344"/>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lang="es-ES" sz="1200" b="1" i="0" noProof="0" dirty="0">
                <a:solidFill>
                  <a:srgbClr val="C3094A"/>
                </a:solidFill>
                <a:latin typeface="Arial"/>
              </a:rPr>
              <a:t>02</a:t>
            </a:r>
          </a:p>
        </p:txBody>
      </p:sp>
      <p:sp>
        <p:nvSpPr>
          <p:cNvPr id="35" name="TextBox 34"/>
          <p:cNvSpPr txBox="1"/>
          <p:nvPr/>
        </p:nvSpPr>
        <p:spPr>
          <a:xfrm>
            <a:off x="7223759" y="3895344"/>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lang="es-ES" sz="950" b="1" i="0" noProof="0" dirty="0">
                <a:solidFill>
                  <a:srgbClr val="042354"/>
                </a:solidFill>
                <a:latin typeface="Arial"/>
              </a:rPr>
              <a:t>Sustitución del conjunto</a:t>
            </a:r>
          </a:p>
          <a:p>
            <a:pPr algn="l">
              <a:lnSpc>
                <a:spcPct val="105000"/>
              </a:lnSpc>
              <a:spcBef>
                <a:spcPts val="0"/>
              </a:spcBef>
              <a:spcAft>
                <a:spcPts val="0"/>
              </a:spcAft>
            </a:pPr>
            <a:r>
              <a:rPr lang="es-ES" sz="850" b="0" i="0" noProof="0" dirty="0">
                <a:solidFill>
                  <a:srgbClr val="191919"/>
                </a:solidFill>
                <a:latin typeface="Arial"/>
              </a:rPr>
              <a:t>Reemplazo del motor de tracción por uno de intercambio con el P/N mejorado.</a:t>
            </a:r>
          </a:p>
        </p:txBody>
      </p:sp>
      <p:sp>
        <p:nvSpPr>
          <p:cNvPr id="36" name="Rectangle 35"/>
          <p:cNvSpPr/>
          <p:nvPr/>
        </p:nvSpPr>
        <p:spPr>
          <a:xfrm>
            <a:off x="6675120" y="4462272"/>
            <a:ext cx="4681728" cy="51206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7" name="TextBox 36"/>
          <p:cNvSpPr txBox="1"/>
          <p:nvPr/>
        </p:nvSpPr>
        <p:spPr>
          <a:xfrm>
            <a:off x="6784848" y="4462272"/>
            <a:ext cx="411480" cy="512064"/>
          </a:xfrm>
          <a:prstGeom prst="rect">
            <a:avLst/>
          </a:prstGeom>
          <a:noFill/>
        </p:spPr>
        <p:txBody>
          <a:bodyPr wrap="square" lIns="0" tIns="0" rIns="0" bIns="0" anchor="ctr">
            <a:spAutoFit/>
          </a:bodyPr>
          <a:lstStyle/>
          <a:p>
            <a:pPr algn="l">
              <a:lnSpc>
                <a:spcPct val="110000"/>
              </a:lnSpc>
              <a:spcBef>
                <a:spcPts val="0"/>
              </a:spcBef>
              <a:spcAft>
                <a:spcPts val="0"/>
              </a:spcAft>
            </a:pPr>
            <a:r>
              <a:rPr lang="es-ES" sz="1200" b="1" i="0" noProof="0" dirty="0">
                <a:solidFill>
                  <a:srgbClr val="C3094A"/>
                </a:solidFill>
                <a:latin typeface="Arial"/>
              </a:rPr>
              <a:t>03</a:t>
            </a:r>
          </a:p>
        </p:txBody>
      </p:sp>
      <p:sp>
        <p:nvSpPr>
          <p:cNvPr id="38" name="TextBox 37"/>
          <p:cNvSpPr txBox="1"/>
          <p:nvPr/>
        </p:nvSpPr>
        <p:spPr>
          <a:xfrm>
            <a:off x="7223759" y="4462272"/>
            <a:ext cx="4023360" cy="512064"/>
          </a:xfrm>
          <a:prstGeom prst="rect">
            <a:avLst/>
          </a:prstGeom>
          <a:noFill/>
        </p:spPr>
        <p:txBody>
          <a:bodyPr wrap="square" lIns="0" tIns="0" rIns="0" bIns="0" anchor="ctr">
            <a:spAutoFit/>
          </a:bodyPr>
          <a:lstStyle/>
          <a:p>
            <a:pPr algn="l">
              <a:lnSpc>
                <a:spcPct val="110000"/>
              </a:lnSpc>
              <a:spcBef>
                <a:spcPts val="0"/>
              </a:spcBef>
              <a:spcAft>
                <a:spcPts val="100"/>
              </a:spcAft>
            </a:pPr>
            <a:r>
              <a:rPr lang="es-ES" sz="950" b="1" i="0" noProof="0" dirty="0">
                <a:solidFill>
                  <a:srgbClr val="042354"/>
                </a:solidFill>
                <a:latin typeface="Arial"/>
              </a:rPr>
              <a:t>Control de la mejora instalada</a:t>
            </a:r>
          </a:p>
          <a:p>
            <a:pPr algn="l">
              <a:lnSpc>
                <a:spcPct val="105000"/>
              </a:lnSpc>
              <a:spcBef>
                <a:spcPts val="0"/>
              </a:spcBef>
              <a:spcAft>
                <a:spcPts val="0"/>
              </a:spcAft>
            </a:pPr>
            <a:r>
              <a:rPr lang="es-ES" sz="850" b="0" i="0" noProof="0" dirty="0">
                <a:solidFill>
                  <a:srgbClr val="191919"/>
                </a:solidFill>
                <a:latin typeface="Arial"/>
              </a:rPr>
              <a:t>Registro del P/N montado y su fecha por posición: impide reponer el obsoleto.</a:t>
            </a:r>
          </a:p>
        </p:txBody>
      </p:sp>
      <p:sp>
        <p:nvSpPr>
          <p:cNvPr id="39" name="Rectangle 38"/>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0" name="TextBox 39"/>
          <p:cNvSpPr txBox="1"/>
          <p:nvPr/>
        </p:nvSpPr>
        <p:spPr>
          <a:xfrm>
            <a:off x="1024128" y="5157216"/>
            <a:ext cx="10277856" cy="386581"/>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Un rediseño adoptado, no un desarrollo propio: surgió de las recomendaciones de los AFA y esta operación fue la primera en implementarla, en 2025.</a:t>
            </a:r>
          </a:p>
        </p:txBody>
      </p:sp>
      <p:sp>
        <p:nvSpPr>
          <p:cNvPr id="41" name="TextBox 40"/>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05 · SOLUCIÓN DE INGENIERÍA ADOPTADA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Verificación del componente: no recurrencia del modo de falla</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18</a:t>
            </a:r>
          </a:p>
        </p:txBody>
      </p:sp>
      <p:pic>
        <p:nvPicPr>
          <p:cNvPr id="6" name="Picture 5" descr="pu_g4_norecurrencia.png"/>
          <p:cNvPicPr>
            <a:picLocks noChangeAspect="1"/>
          </p:cNvPicPr>
          <p:nvPr/>
        </p:nvPicPr>
        <p:blipFill>
          <a:blip r:embed="rId3"/>
          <a:stretch>
            <a:fillRect/>
          </a:stretch>
        </p:blipFill>
        <p:spPr>
          <a:xfrm>
            <a:off x="841248" y="1481328"/>
            <a:ext cx="5760720" cy="3257258"/>
          </a:xfrm>
          <a:prstGeom prst="rect">
            <a:avLst/>
          </a:prstGeom>
        </p:spPr>
      </p:pic>
      <p:pic>
        <p:nvPicPr>
          <p:cNvPr id="20" name="Imagen 19">
            <a:extLst>
              <a:ext uri="{FF2B5EF4-FFF2-40B4-BE49-F238E27FC236}">
                <a16:creationId xmlns:a16="http://schemas.microsoft.com/office/drawing/2014/main" id="{D9461018-720B-F8FC-DBE1-205133E6BF15}"/>
              </a:ext>
            </a:extLst>
          </p:cNvPr>
          <p:cNvPicPr>
            <a:picLocks noChangeAspect="1"/>
          </p:cNvPicPr>
          <p:nvPr/>
        </p:nvPicPr>
        <p:blipFill>
          <a:blip r:embed="rId4"/>
          <a:stretch>
            <a:fillRect/>
          </a:stretch>
        </p:blipFill>
        <p:spPr>
          <a:xfrm>
            <a:off x="158617" y="5943600"/>
            <a:ext cx="5620013" cy="550672"/>
          </a:xfrm>
          <a:prstGeom prst="rect">
            <a:avLst/>
          </a:prstGeom>
        </p:spPr>
      </p:pic>
      <p:sp>
        <p:nvSpPr>
          <p:cNvPr id="21" name="TextBox 20"/>
          <p:cNvSpPr txBox="1"/>
          <p:nvPr/>
        </p:nvSpPr>
        <p:spPr>
          <a:xfrm>
            <a:off x="841248" y="4793450"/>
            <a:ext cx="5760720" cy="228600"/>
          </a:xfrm>
          <a:prstGeom prst="rect">
            <a:avLst/>
          </a:prstGeom>
          <a:noFill/>
        </p:spPr>
        <p:txBody>
          <a:bodyPr wrap="square" lIns="0" tIns="0" rIns="0" bIns="0" anchor="t">
            <a:spAutoFit/>
          </a:bodyPr>
          <a:lstStyle/>
          <a:p>
            <a:pPr algn="l">
              <a:lnSpc>
                <a:spcPct val="106000"/>
              </a:lnSpc>
              <a:spcBef>
                <a:spcPts val="0"/>
              </a:spcBef>
              <a:spcAft>
                <a:spcPts val="300"/>
              </a:spcAft>
            </a:pPr>
            <a:r>
              <a:rPr lang="es-ES" sz="900" b="0" i="0" noProof="0" dirty="0">
                <a:solidFill>
                  <a:srgbClr val="7A8494"/>
                </a:solidFill>
                <a:latin typeface="Arial"/>
              </a:rPr>
              <a:t>Verificación abierta hasta superar las 24 540 h, límite superior del rango de vidas observado.</a:t>
            </a:r>
          </a:p>
        </p:txBody>
      </p:sp>
      <p:sp>
        <p:nvSpPr>
          <p:cNvPr id="22" name="TextBox 21"/>
          <p:cNvSpPr txBox="1"/>
          <p:nvPr/>
        </p:nvSpPr>
        <p:spPr>
          <a:xfrm>
            <a:off x="7150608" y="1389888"/>
            <a:ext cx="420624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CRITERIO DE VERIFICACIÓN</a:t>
            </a:r>
          </a:p>
        </p:txBody>
      </p:sp>
      <p:sp>
        <p:nvSpPr>
          <p:cNvPr id="23" name="Rectangle 22"/>
          <p:cNvSpPr/>
          <p:nvPr/>
        </p:nvSpPr>
        <p:spPr>
          <a:xfrm>
            <a:off x="7150608" y="1700784"/>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4" name="Rectangle 23"/>
          <p:cNvSpPr/>
          <p:nvPr/>
        </p:nvSpPr>
        <p:spPr>
          <a:xfrm>
            <a:off x="7150608" y="1700784"/>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5" name="TextBox 24"/>
          <p:cNvSpPr txBox="1"/>
          <p:nvPr/>
        </p:nvSpPr>
        <p:spPr>
          <a:xfrm>
            <a:off x="7296912" y="1700784"/>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lang="es-ES" sz="1500" b="1" i="0" noProof="0" dirty="0">
                <a:solidFill>
                  <a:srgbClr val="2841DD"/>
                </a:solidFill>
                <a:latin typeface="Arial"/>
              </a:rPr>
              <a:t>96 000 h</a:t>
            </a:r>
          </a:p>
        </p:txBody>
      </p:sp>
      <p:sp>
        <p:nvSpPr>
          <p:cNvPr id="26" name="TextBox 25"/>
          <p:cNvSpPr txBox="1"/>
          <p:nvPr/>
        </p:nvSpPr>
        <p:spPr>
          <a:xfrm>
            <a:off x="8723376" y="1700784"/>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lang="es-ES" sz="900" b="0" i="0" noProof="0" dirty="0">
                <a:solidFill>
                  <a:srgbClr val="191919"/>
                </a:solidFill>
                <a:latin typeface="Arial"/>
              </a:rPr>
              <a:t>de operación de flota acumuladas con el P/N mejorado</a:t>
            </a:r>
          </a:p>
        </p:txBody>
      </p:sp>
      <p:sp>
        <p:nvSpPr>
          <p:cNvPr id="27" name="Rectangle 26"/>
          <p:cNvSpPr/>
          <p:nvPr/>
        </p:nvSpPr>
        <p:spPr>
          <a:xfrm>
            <a:off x="7150608" y="2450592"/>
            <a:ext cx="4206240" cy="67665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8" name="Rectangle 27"/>
          <p:cNvSpPr/>
          <p:nvPr/>
        </p:nvSpPr>
        <p:spPr>
          <a:xfrm>
            <a:off x="7150608" y="2450592"/>
            <a:ext cx="4206240" cy="36576"/>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9" name="TextBox 28"/>
          <p:cNvSpPr txBox="1"/>
          <p:nvPr/>
        </p:nvSpPr>
        <p:spPr>
          <a:xfrm>
            <a:off x="7296912" y="2450592"/>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lang="es-ES" sz="1500" b="1" i="0" noProof="0" dirty="0">
                <a:solidFill>
                  <a:srgbClr val="2841DD"/>
                </a:solidFill>
                <a:latin typeface="Arial"/>
              </a:rPr>
              <a:t>0</a:t>
            </a:r>
          </a:p>
        </p:txBody>
      </p:sp>
      <p:sp>
        <p:nvSpPr>
          <p:cNvPr id="30" name="TextBox 29"/>
          <p:cNvSpPr txBox="1"/>
          <p:nvPr/>
        </p:nvSpPr>
        <p:spPr>
          <a:xfrm>
            <a:off x="8723376" y="2450592"/>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lang="es-ES" sz="900" b="0" i="0" noProof="0" dirty="0">
                <a:solidFill>
                  <a:srgbClr val="191919"/>
                </a:solidFill>
                <a:latin typeface="Arial"/>
              </a:rPr>
              <a:t>fracturas del eje palier desde el 14 de diciembre de 2024</a:t>
            </a:r>
          </a:p>
        </p:txBody>
      </p:sp>
      <p:sp>
        <p:nvSpPr>
          <p:cNvPr id="31" name="Rectangle 30"/>
          <p:cNvSpPr/>
          <p:nvPr/>
        </p:nvSpPr>
        <p:spPr>
          <a:xfrm>
            <a:off x="7150608" y="3200400"/>
            <a:ext cx="4206240" cy="676656"/>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2" name="Rectangle 31"/>
          <p:cNvSpPr/>
          <p:nvPr/>
        </p:nvSpPr>
        <p:spPr>
          <a:xfrm>
            <a:off x="7150608" y="3200400"/>
            <a:ext cx="4206240" cy="3657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3" name="TextBox 32"/>
          <p:cNvSpPr txBox="1"/>
          <p:nvPr/>
        </p:nvSpPr>
        <p:spPr>
          <a:xfrm>
            <a:off x="7296912" y="3200400"/>
            <a:ext cx="1417320" cy="676656"/>
          </a:xfrm>
          <a:prstGeom prst="rect">
            <a:avLst/>
          </a:prstGeom>
          <a:noFill/>
        </p:spPr>
        <p:txBody>
          <a:bodyPr wrap="square" lIns="0" tIns="0" rIns="0" bIns="0" anchor="ctr">
            <a:spAutoFit/>
          </a:bodyPr>
          <a:lstStyle/>
          <a:p>
            <a:pPr algn="l">
              <a:lnSpc>
                <a:spcPct val="110000"/>
              </a:lnSpc>
              <a:spcBef>
                <a:spcPts val="0"/>
              </a:spcBef>
              <a:spcAft>
                <a:spcPts val="0"/>
              </a:spcAft>
            </a:pPr>
            <a:r>
              <a:rPr lang="es-ES" sz="1500" b="1" i="0" noProof="0" dirty="0">
                <a:solidFill>
                  <a:srgbClr val="C3094A"/>
                </a:solidFill>
                <a:latin typeface="Arial"/>
              </a:rPr>
              <a:t>p = 0,0018</a:t>
            </a:r>
          </a:p>
        </p:txBody>
      </p:sp>
      <p:sp>
        <p:nvSpPr>
          <p:cNvPr id="34" name="TextBox 33"/>
          <p:cNvSpPr txBox="1"/>
          <p:nvPr/>
        </p:nvSpPr>
        <p:spPr>
          <a:xfrm>
            <a:off x="8723376" y="3200400"/>
            <a:ext cx="2505455" cy="676656"/>
          </a:xfrm>
          <a:prstGeom prst="rect">
            <a:avLst/>
          </a:prstGeom>
          <a:noFill/>
        </p:spPr>
        <p:txBody>
          <a:bodyPr wrap="square" lIns="0" tIns="0" rIns="0" bIns="0" anchor="ctr">
            <a:spAutoFit/>
          </a:bodyPr>
          <a:lstStyle/>
          <a:p>
            <a:pPr algn="l">
              <a:lnSpc>
                <a:spcPct val="108000"/>
              </a:lnSpc>
              <a:spcBef>
                <a:spcPts val="0"/>
              </a:spcBef>
              <a:spcAft>
                <a:spcPts val="0"/>
              </a:spcAft>
            </a:pPr>
            <a:r>
              <a:rPr lang="es-ES" sz="900" b="0" i="0" noProof="0" dirty="0">
                <a:solidFill>
                  <a:srgbClr val="191919"/>
                </a:solidFill>
                <a:latin typeface="Arial"/>
              </a:rPr>
              <a:t>probabilidad de observar cero si la tasa previa persistiera</a:t>
            </a:r>
          </a:p>
        </p:txBody>
      </p:sp>
      <p:sp>
        <p:nvSpPr>
          <p:cNvPr id="35" name="TextBox 34"/>
          <p:cNvSpPr txBox="1"/>
          <p:nvPr/>
        </p:nvSpPr>
        <p:spPr>
          <a:xfrm>
            <a:off x="7150608" y="4005072"/>
            <a:ext cx="420624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RECUPERACIÓN DE LOS INDICADORES</a:t>
            </a:r>
          </a:p>
        </p:txBody>
      </p:sp>
      <p:sp>
        <p:nvSpPr>
          <p:cNvPr id="36" name="Rectangle 35"/>
          <p:cNvSpPr/>
          <p:nvPr/>
        </p:nvSpPr>
        <p:spPr>
          <a:xfrm>
            <a:off x="7150608"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7" name="TextBox 36"/>
          <p:cNvSpPr txBox="1"/>
          <p:nvPr/>
        </p:nvSpPr>
        <p:spPr>
          <a:xfrm>
            <a:off x="7260336" y="4353954"/>
            <a:ext cx="1865375" cy="509242"/>
          </a:xfrm>
          <a:prstGeom prst="rect">
            <a:avLst/>
          </a:prstGeom>
          <a:noFill/>
        </p:spPr>
        <p:txBody>
          <a:bodyPr wrap="square" lIns="0" tIns="0" rIns="0" bIns="0" anchor="ctr">
            <a:spAutoFit/>
          </a:bodyPr>
          <a:lstStyle/>
          <a:p>
            <a:pPr algn="l">
              <a:lnSpc>
                <a:spcPct val="110000"/>
              </a:lnSpc>
              <a:spcBef>
                <a:spcPts val="0"/>
              </a:spcBef>
              <a:spcAft>
                <a:spcPts val="200"/>
              </a:spcAft>
            </a:pPr>
            <a:r>
              <a:rPr lang="es-ES" sz="800" b="1" i="0" noProof="0" dirty="0">
                <a:solidFill>
                  <a:srgbClr val="4A5568"/>
                </a:solidFill>
                <a:latin typeface="Arial"/>
              </a:rPr>
              <a:t>MTBF DE LA FALLA</a:t>
            </a:r>
          </a:p>
          <a:p>
            <a:pPr algn="l">
              <a:lnSpc>
                <a:spcPct val="110000"/>
              </a:lnSpc>
              <a:spcBef>
                <a:spcPts val="0"/>
              </a:spcBef>
              <a:spcAft>
                <a:spcPts val="200"/>
              </a:spcAft>
            </a:pPr>
            <a:r>
              <a:rPr lang="es-ES" sz="1150" b="1" i="0" noProof="0" dirty="0">
                <a:solidFill>
                  <a:srgbClr val="042354"/>
                </a:solidFill>
                <a:latin typeface="Arial"/>
              </a:rPr>
              <a:t>32 046 h</a:t>
            </a:r>
          </a:p>
          <a:p>
            <a:pPr algn="l">
              <a:lnSpc>
                <a:spcPct val="105000"/>
              </a:lnSpc>
              <a:spcBef>
                <a:spcPts val="0"/>
              </a:spcBef>
              <a:spcAft>
                <a:spcPts val="0"/>
              </a:spcAft>
            </a:pPr>
            <a:r>
              <a:rPr lang="es-ES" sz="850" b="0" i="0" noProof="0" dirty="0">
                <a:solidFill>
                  <a:srgbClr val="4A5568"/>
                </a:solidFill>
                <a:latin typeface="Arial"/>
              </a:rPr>
              <a:t>sobre el TBO de 20 000 h</a:t>
            </a:r>
          </a:p>
        </p:txBody>
      </p:sp>
      <p:sp>
        <p:nvSpPr>
          <p:cNvPr id="38" name="Rectangle 37"/>
          <p:cNvSpPr/>
          <p:nvPr/>
        </p:nvSpPr>
        <p:spPr>
          <a:xfrm>
            <a:off x="9308592" y="4279392"/>
            <a:ext cx="2048255" cy="658367"/>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39" name="TextBox 38"/>
          <p:cNvSpPr txBox="1"/>
          <p:nvPr/>
        </p:nvSpPr>
        <p:spPr>
          <a:xfrm>
            <a:off x="9418319" y="4279392"/>
            <a:ext cx="1865375" cy="658367"/>
          </a:xfrm>
          <a:prstGeom prst="rect">
            <a:avLst/>
          </a:prstGeom>
          <a:noFill/>
        </p:spPr>
        <p:txBody>
          <a:bodyPr wrap="square" lIns="0" tIns="0" rIns="0" bIns="0" anchor="ctr">
            <a:spAutoFit/>
          </a:bodyPr>
          <a:lstStyle/>
          <a:p>
            <a:pPr algn="l">
              <a:lnSpc>
                <a:spcPct val="110000"/>
              </a:lnSpc>
              <a:spcBef>
                <a:spcPts val="0"/>
              </a:spcBef>
              <a:spcAft>
                <a:spcPts val="200"/>
              </a:spcAft>
            </a:pPr>
            <a:r>
              <a:rPr lang="es-ES" sz="800" b="1" i="0" noProof="0" dirty="0">
                <a:solidFill>
                  <a:srgbClr val="4A5568"/>
                </a:solidFill>
                <a:latin typeface="Arial"/>
              </a:rPr>
              <a:t>MTTR DEL SISTEMA</a:t>
            </a:r>
          </a:p>
          <a:p>
            <a:pPr algn="l">
              <a:lnSpc>
                <a:spcPct val="110000"/>
              </a:lnSpc>
              <a:spcBef>
                <a:spcPts val="0"/>
              </a:spcBef>
              <a:spcAft>
                <a:spcPts val="200"/>
              </a:spcAft>
            </a:pPr>
            <a:r>
              <a:rPr lang="es-ES" sz="1150" b="1" i="0" noProof="0" dirty="0">
                <a:solidFill>
                  <a:srgbClr val="042354"/>
                </a:solidFill>
                <a:latin typeface="Arial"/>
              </a:rPr>
              <a:t>6,2 h → 3,3 h</a:t>
            </a:r>
          </a:p>
          <a:p>
            <a:pPr algn="l">
              <a:lnSpc>
                <a:spcPct val="105000"/>
              </a:lnSpc>
              <a:spcBef>
                <a:spcPts val="0"/>
              </a:spcBef>
              <a:spcAft>
                <a:spcPts val="0"/>
              </a:spcAft>
            </a:pPr>
            <a:r>
              <a:rPr lang="es-ES" sz="850" b="0" i="0" noProof="0" dirty="0">
                <a:solidFill>
                  <a:srgbClr val="4A5568"/>
                </a:solidFill>
                <a:latin typeface="Arial"/>
              </a:rPr>
              <a:t>−46 % sin el modo de 59,3 h</a:t>
            </a:r>
          </a:p>
        </p:txBody>
      </p:sp>
      <p:sp>
        <p:nvSpPr>
          <p:cNvPr id="40" name="Rectangle 39"/>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41" name="TextBox 40"/>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Se rechaza con 95 % de confianza que el modo persista con su frecuencia anterior: el MTBF del modo supera las 32 046 h, por encima del TBO de referencia.</a:t>
            </a:r>
          </a:p>
        </p:txBody>
      </p:sp>
      <p:sp>
        <p:nvSpPr>
          <p:cNvPr id="42" name="TextBox 41"/>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06 · RESULTADOS Y VERIFICACIÓN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Verificación de la flota y costo evitado</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19</a:t>
            </a:r>
          </a:p>
        </p:txBody>
      </p:sp>
      <p:pic>
        <p:nvPicPr>
          <p:cNvPr id="6" name="Picture 5" descr="pu_g6_contractuales.png"/>
          <p:cNvPicPr>
            <a:picLocks noChangeAspect="1"/>
          </p:cNvPicPr>
          <p:nvPr/>
        </p:nvPicPr>
        <p:blipFill>
          <a:blip r:embed="rId3"/>
          <a:stretch>
            <a:fillRect/>
          </a:stretch>
        </p:blipFill>
        <p:spPr>
          <a:xfrm>
            <a:off x="841248" y="1700784"/>
            <a:ext cx="6126480" cy="2503133"/>
          </a:xfrm>
          <a:prstGeom prst="rect">
            <a:avLst/>
          </a:prstGeom>
        </p:spPr>
      </p:pic>
      <p:pic>
        <p:nvPicPr>
          <p:cNvPr id="13" name="Imagen 12">
            <a:extLst>
              <a:ext uri="{FF2B5EF4-FFF2-40B4-BE49-F238E27FC236}">
                <a16:creationId xmlns:a16="http://schemas.microsoft.com/office/drawing/2014/main" id="{80B665C9-1153-4F4C-99AB-B3F4D252B2E5}"/>
              </a:ext>
            </a:extLst>
          </p:cNvPr>
          <p:cNvPicPr>
            <a:picLocks noChangeAspect="1"/>
          </p:cNvPicPr>
          <p:nvPr/>
        </p:nvPicPr>
        <p:blipFill>
          <a:blip r:embed="rId4"/>
          <a:stretch>
            <a:fillRect/>
          </a:stretch>
        </p:blipFill>
        <p:spPr>
          <a:xfrm>
            <a:off x="158617" y="5943600"/>
            <a:ext cx="5620013" cy="550672"/>
          </a:xfrm>
          <a:prstGeom prst="rect">
            <a:avLst/>
          </a:prstGeom>
        </p:spPr>
      </p:pic>
      <p:sp>
        <p:nvSpPr>
          <p:cNvPr id="14" name="TextBox 13"/>
          <p:cNvSpPr txBox="1"/>
          <p:nvPr/>
        </p:nvSpPr>
        <p:spPr>
          <a:xfrm>
            <a:off x="841248" y="1389888"/>
            <a:ext cx="612648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INDICADORES CONTRACTUALES DE LA FLOTA</a:t>
            </a:r>
          </a:p>
        </p:txBody>
      </p:sp>
      <p:sp>
        <p:nvSpPr>
          <p:cNvPr id="15" name="Rectangle 14"/>
          <p:cNvSpPr/>
          <p:nvPr/>
        </p:nvSpPr>
        <p:spPr>
          <a:xfrm>
            <a:off x="841248" y="4313645"/>
            <a:ext cx="6126480" cy="624114"/>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16" name="Rectangle 15"/>
          <p:cNvSpPr/>
          <p:nvPr/>
        </p:nvSpPr>
        <p:spPr>
          <a:xfrm>
            <a:off x="841248" y="4313645"/>
            <a:ext cx="45720" cy="624114"/>
          </a:xfrm>
          <a:prstGeom prst="rect">
            <a:avLst/>
          </a:prstGeom>
          <a:solidFill>
            <a:srgbClr val="284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17" name="TextBox 16"/>
          <p:cNvSpPr txBox="1"/>
          <p:nvPr/>
        </p:nvSpPr>
        <p:spPr>
          <a:xfrm>
            <a:off x="1042416" y="4471108"/>
            <a:ext cx="5797296" cy="309187"/>
          </a:xfrm>
          <a:prstGeom prst="rect">
            <a:avLst/>
          </a:prstGeom>
          <a:noFill/>
        </p:spPr>
        <p:txBody>
          <a:bodyPr wrap="square" lIns="0" tIns="0" rIns="0" bIns="0" anchor="ctr">
            <a:spAutoFit/>
          </a:bodyPr>
          <a:lstStyle/>
          <a:p>
            <a:pPr algn="l">
              <a:lnSpc>
                <a:spcPct val="110000"/>
              </a:lnSpc>
              <a:spcBef>
                <a:spcPts val="0"/>
              </a:spcBef>
              <a:spcAft>
                <a:spcPts val="0"/>
              </a:spcAft>
            </a:pPr>
            <a:r>
              <a:rPr lang="es-ES" sz="950" b="1" i="0" noProof="0" dirty="0">
                <a:solidFill>
                  <a:srgbClr val="2841DD"/>
                </a:solidFill>
                <a:latin typeface="Arial"/>
              </a:rPr>
              <a:t>Atribución del efecto. </a:t>
            </a:r>
            <a:r>
              <a:rPr lang="es-ES" sz="950" b="0" i="0" noProof="0" dirty="0">
                <a:solidFill>
                  <a:srgbClr val="191919"/>
                </a:solidFill>
                <a:latin typeface="Arial"/>
              </a:rPr>
              <a:t>Una intervención concurrente sobre el motor diésel (fisura de culatas) explica parte de la recuperación; el eje palier aporta 0,36 puntos de disponibilidad. </a:t>
            </a:r>
          </a:p>
        </p:txBody>
      </p:sp>
      <p:sp>
        <p:nvSpPr>
          <p:cNvPr id="18" name="TextBox 17"/>
          <p:cNvSpPr txBox="1"/>
          <p:nvPr/>
        </p:nvSpPr>
        <p:spPr>
          <a:xfrm>
            <a:off x="7242048" y="1389888"/>
            <a:ext cx="4114800" cy="256032"/>
          </a:xfrm>
          <a:prstGeom prst="rect">
            <a:avLst/>
          </a:prstGeom>
          <a:noFill/>
        </p:spPr>
        <p:txBody>
          <a:bodyPr wrap="square" lIns="0" tIns="0" rIns="0" bIns="0" anchor="t">
            <a:spAutoFit/>
          </a:bodyPr>
          <a:lstStyle/>
          <a:p>
            <a:pPr algn="l">
              <a:lnSpc>
                <a:spcPct val="110000"/>
              </a:lnSpc>
              <a:spcBef>
                <a:spcPts val="0"/>
              </a:spcBef>
              <a:spcAft>
                <a:spcPts val="300"/>
              </a:spcAft>
            </a:pPr>
            <a:r>
              <a:rPr lang="es-ES" sz="950" b="1" i="0" noProof="0" dirty="0">
                <a:solidFill>
                  <a:srgbClr val="4A5568"/>
                </a:solidFill>
                <a:latin typeface="Arial"/>
              </a:rPr>
              <a:t>COSTO EVITADO</a:t>
            </a:r>
          </a:p>
        </p:txBody>
      </p:sp>
      <p:sp>
        <p:nvSpPr>
          <p:cNvPr id="19" name="Rectangle 18"/>
          <p:cNvSpPr/>
          <p:nvPr/>
        </p:nvSpPr>
        <p:spPr>
          <a:xfrm>
            <a:off x="7242048" y="170078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0" name="Rectangle 19"/>
          <p:cNvSpPr/>
          <p:nvPr/>
        </p:nvSpPr>
        <p:spPr>
          <a:xfrm>
            <a:off x="7242048" y="170078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1" name="TextBox 20"/>
          <p:cNvSpPr txBox="1"/>
          <p:nvPr/>
        </p:nvSpPr>
        <p:spPr>
          <a:xfrm>
            <a:off x="7406640" y="174650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lang="es-ES" sz="1800" b="1" i="0" noProof="0" dirty="0">
                <a:solidFill>
                  <a:srgbClr val="C3094A"/>
                </a:solidFill>
                <a:latin typeface="Arial"/>
              </a:rPr>
              <a:t>US$ 3,05 M</a:t>
            </a:r>
          </a:p>
          <a:p>
            <a:pPr algn="l">
              <a:lnSpc>
                <a:spcPct val="105000"/>
              </a:lnSpc>
              <a:spcBef>
                <a:spcPts val="0"/>
              </a:spcBef>
              <a:spcAft>
                <a:spcPts val="0"/>
              </a:spcAft>
            </a:pPr>
            <a:r>
              <a:rPr lang="es-ES" sz="900" b="0" i="0" noProof="0" dirty="0">
                <a:solidFill>
                  <a:srgbClr val="4A5568"/>
                </a:solidFill>
                <a:latin typeface="Arial"/>
              </a:rPr>
              <a:t>costo recurrente anual del modo de falla eliminado</a:t>
            </a:r>
          </a:p>
        </p:txBody>
      </p:sp>
      <p:sp>
        <p:nvSpPr>
          <p:cNvPr id="22" name="Rectangle 21"/>
          <p:cNvSpPr/>
          <p:nvPr/>
        </p:nvSpPr>
        <p:spPr>
          <a:xfrm>
            <a:off x="7242048" y="279806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3" name="Rectangle 22"/>
          <p:cNvSpPr/>
          <p:nvPr/>
        </p:nvSpPr>
        <p:spPr>
          <a:xfrm>
            <a:off x="7242048" y="279806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4" name="TextBox 23"/>
          <p:cNvSpPr txBox="1"/>
          <p:nvPr/>
        </p:nvSpPr>
        <p:spPr>
          <a:xfrm>
            <a:off x="7406640" y="284378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lang="es-ES" sz="1800" b="1" i="0" noProof="0" dirty="0">
                <a:solidFill>
                  <a:srgbClr val="C3094A"/>
                </a:solidFill>
                <a:latin typeface="Arial"/>
              </a:rPr>
              <a:t>12 eventos</a:t>
            </a:r>
          </a:p>
          <a:p>
            <a:pPr algn="l">
              <a:lnSpc>
                <a:spcPct val="105000"/>
              </a:lnSpc>
              <a:spcBef>
                <a:spcPts val="0"/>
              </a:spcBef>
              <a:spcAft>
                <a:spcPts val="0"/>
              </a:spcAft>
            </a:pPr>
            <a:r>
              <a:rPr lang="es-ES" sz="900" b="0" i="0" noProof="0" dirty="0">
                <a:solidFill>
                  <a:srgbClr val="4A5568"/>
                </a:solidFill>
                <a:latin typeface="Arial"/>
              </a:rPr>
              <a:t>detectados en operación en 36 meses</a:t>
            </a:r>
          </a:p>
        </p:txBody>
      </p:sp>
      <p:sp>
        <p:nvSpPr>
          <p:cNvPr id="25" name="Rectangle 24"/>
          <p:cNvSpPr/>
          <p:nvPr/>
        </p:nvSpPr>
        <p:spPr>
          <a:xfrm>
            <a:off x="7242048" y="3895344"/>
            <a:ext cx="4114800" cy="969264"/>
          </a:xfrm>
          <a:prstGeom prst="rect">
            <a:avLst/>
          </a:prstGeom>
          <a:solidFill>
            <a:srgbClr val="FAE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6" name="Rectangle 25"/>
          <p:cNvSpPr/>
          <p:nvPr/>
        </p:nvSpPr>
        <p:spPr>
          <a:xfrm>
            <a:off x="7242048" y="3895344"/>
            <a:ext cx="4114800" cy="4572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7" name="TextBox 26"/>
          <p:cNvSpPr txBox="1"/>
          <p:nvPr/>
        </p:nvSpPr>
        <p:spPr>
          <a:xfrm>
            <a:off x="7406640" y="3941064"/>
            <a:ext cx="3840480" cy="923544"/>
          </a:xfrm>
          <a:prstGeom prst="rect">
            <a:avLst/>
          </a:prstGeom>
          <a:noFill/>
        </p:spPr>
        <p:txBody>
          <a:bodyPr wrap="square" lIns="0" tIns="0" rIns="0" bIns="0" anchor="ctr">
            <a:spAutoFit/>
          </a:bodyPr>
          <a:lstStyle/>
          <a:p>
            <a:pPr algn="l">
              <a:lnSpc>
                <a:spcPct val="100000"/>
              </a:lnSpc>
              <a:spcBef>
                <a:spcPts val="0"/>
              </a:spcBef>
              <a:spcAft>
                <a:spcPts val="300"/>
              </a:spcAft>
            </a:pPr>
            <a:r>
              <a:rPr lang="es-ES" sz="1800" b="1" i="0" noProof="0" dirty="0">
                <a:solidFill>
                  <a:srgbClr val="C3094A"/>
                </a:solidFill>
                <a:latin typeface="Arial"/>
              </a:rPr>
              <a:t>1,41 : 1</a:t>
            </a:r>
          </a:p>
          <a:p>
            <a:pPr algn="l">
              <a:lnSpc>
                <a:spcPct val="105000"/>
              </a:lnSpc>
              <a:spcBef>
                <a:spcPts val="0"/>
              </a:spcBef>
              <a:spcAft>
                <a:spcPts val="0"/>
              </a:spcAft>
            </a:pPr>
            <a:r>
              <a:rPr lang="es-ES" sz="900" b="0" i="0" noProof="0" dirty="0">
                <a:solidFill>
                  <a:srgbClr val="4A5568"/>
                </a:solidFill>
                <a:latin typeface="Arial"/>
              </a:rPr>
              <a:t>relación de costo de la alternativa descartada (sustitución cíclica)</a:t>
            </a:r>
          </a:p>
        </p:txBody>
      </p:sp>
      <p:sp>
        <p:nvSpPr>
          <p:cNvPr id="28" name="Rectangle 27"/>
          <p:cNvSpPr/>
          <p:nvPr/>
        </p:nvSpPr>
        <p:spPr>
          <a:xfrm>
            <a:off x="841248" y="5175504"/>
            <a:ext cx="45720" cy="457200"/>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s-ES" noProof="0" dirty="0"/>
          </a:p>
        </p:txBody>
      </p:sp>
      <p:sp>
        <p:nvSpPr>
          <p:cNvPr id="29" name="TextBox 28"/>
          <p:cNvSpPr txBox="1"/>
          <p:nvPr/>
        </p:nvSpPr>
        <p:spPr>
          <a:xfrm>
            <a:off x="1024128" y="5157216"/>
            <a:ext cx="10277856" cy="493776"/>
          </a:xfrm>
          <a:prstGeom prst="rect">
            <a:avLst/>
          </a:prstGeom>
          <a:noFill/>
        </p:spPr>
        <p:txBody>
          <a:bodyPr wrap="square" lIns="0" tIns="0" rIns="0" bIns="0" anchor="t">
            <a:spAutoFit/>
          </a:bodyPr>
          <a:lstStyle/>
          <a:p>
            <a:pPr algn="l">
              <a:lnSpc>
                <a:spcPct val="114000"/>
              </a:lnSpc>
              <a:spcBef>
                <a:spcPts val="0"/>
              </a:spcBef>
              <a:spcAft>
                <a:spcPts val="300"/>
              </a:spcAft>
            </a:pPr>
            <a:r>
              <a:rPr lang="es-ES" sz="1150" b="1" i="0" noProof="0" dirty="0">
                <a:solidFill>
                  <a:srgbClr val="042354"/>
                </a:solidFill>
                <a:latin typeface="Arial"/>
              </a:rPr>
              <a:t>2025 supera por primera vez en el período analizado ambos compromisos contractuales: 93,6 % de disponibilidad y 108,4 h de MTBF.</a:t>
            </a:r>
          </a:p>
        </p:txBody>
      </p:sp>
      <p:sp>
        <p:nvSpPr>
          <p:cNvPr id="30" name="TextBox 29"/>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06 · RESULTADOS Y VERIFICACIÓN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384048"/>
            <a:ext cx="10515600" cy="804672"/>
          </a:xfrm>
        </p:spPr>
        <p:txBody>
          <a:bodyPr wrap="square" lIns="0" tIns="0" rIns="0" bIns="0" anchor="t"/>
          <a:lstStyle/>
          <a:p>
            <a:pPr algn="l">
              <a:lnSpc>
                <a:spcPct val="106000"/>
              </a:lnSpc>
              <a:spcBef>
                <a:spcPts val="0"/>
              </a:spcBef>
              <a:spcAft>
                <a:spcPts val="400"/>
              </a:spcAft>
            </a:pPr>
            <a:r>
              <a:rPr lang="es-ES" sz="2200" b="1" i="0" noProof="0" dirty="0">
                <a:solidFill>
                  <a:srgbClr val="042354"/>
                </a:solidFill>
                <a:latin typeface="Arial"/>
              </a:rPr>
              <a:t>Conclusiones</a:t>
            </a:r>
          </a:p>
        </p:txBody>
      </p:sp>
      <p:cxnSp>
        <p:nvCxnSpPr>
          <p:cNvPr id="3" name="Connector 2"/>
          <p:cNvCxnSpPr/>
          <p:nvPr/>
        </p:nvCxnSpPr>
        <p:spPr>
          <a:xfrm>
            <a:off x="841248" y="1261872"/>
            <a:ext cx="10515600" cy="0"/>
          </a:xfrm>
          <a:prstGeom prst="line">
            <a:avLst/>
          </a:prstGeom>
          <a:ln w="12700">
            <a:solidFill>
              <a:srgbClr val="CFD6DF"/>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41248" y="1261872"/>
            <a:ext cx="1051559" cy="0"/>
          </a:xfrm>
          <a:prstGeom prst="line">
            <a:avLst/>
          </a:prstGeom>
          <a:ln w="33020">
            <a:solidFill>
              <a:srgbClr val="C3094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92256" y="6053328"/>
            <a:ext cx="621792" cy="310896"/>
          </a:xfrm>
          <a:prstGeom prst="rect">
            <a:avLst/>
          </a:prstGeom>
          <a:noFill/>
        </p:spPr>
        <p:txBody>
          <a:bodyPr wrap="square" lIns="0" tIns="0" rIns="0" bIns="0" anchor="ctr">
            <a:spAutoFit/>
          </a:bodyPr>
          <a:lstStyle/>
          <a:p>
            <a:pPr algn="ctr">
              <a:lnSpc>
                <a:spcPct val="100000"/>
              </a:lnSpc>
              <a:spcBef>
                <a:spcPts val="0"/>
              </a:spcBef>
              <a:spcAft>
                <a:spcPts val="400"/>
              </a:spcAft>
            </a:pPr>
            <a:r>
              <a:rPr lang="es-ES" sz="1100" b="1" i="0" noProof="0" dirty="0">
                <a:solidFill>
                  <a:srgbClr val="FFFFFF"/>
                </a:solidFill>
                <a:latin typeface="Arial"/>
              </a:rPr>
              <a:t>20</a:t>
            </a:r>
          </a:p>
        </p:txBody>
      </p:sp>
      <p:sp>
        <p:nvSpPr>
          <p:cNvPr id="6" name="Rectangle 5"/>
          <p:cNvSpPr/>
          <p:nvPr/>
        </p:nvSpPr>
        <p:spPr>
          <a:xfrm>
            <a:off x="841248" y="1444752"/>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7" name="Rectangle 6"/>
          <p:cNvSpPr/>
          <p:nvPr/>
        </p:nvSpPr>
        <p:spPr>
          <a:xfrm>
            <a:off x="841248" y="1444752"/>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8" name="TextBox 7"/>
          <p:cNvSpPr txBox="1"/>
          <p:nvPr/>
        </p:nvSpPr>
        <p:spPr>
          <a:xfrm>
            <a:off x="1078992" y="1554480"/>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ES" sz="1700" b="1" i="0" noProof="0" dirty="0">
                <a:solidFill>
                  <a:srgbClr val="C3094A"/>
                </a:solidFill>
                <a:latin typeface="Arial"/>
              </a:rPr>
              <a:t>01</a:t>
            </a:r>
          </a:p>
        </p:txBody>
      </p:sp>
      <p:sp>
        <p:nvSpPr>
          <p:cNvPr id="9" name="TextBox 8"/>
          <p:cNvSpPr txBox="1"/>
          <p:nvPr/>
        </p:nvSpPr>
        <p:spPr>
          <a:xfrm>
            <a:off x="1773936" y="1545336"/>
            <a:ext cx="9418320" cy="578620"/>
          </a:xfrm>
          <a:prstGeom prst="rect">
            <a:avLst/>
          </a:prstGeom>
          <a:noFill/>
        </p:spPr>
        <p:txBody>
          <a:bodyPr wrap="square" lIns="0" tIns="0" rIns="0" bIns="0" anchor="t">
            <a:spAutoFit/>
          </a:bodyPr>
          <a:lstStyle/>
          <a:p>
            <a:pPr algn="l">
              <a:lnSpc>
                <a:spcPct val="108000"/>
              </a:lnSpc>
              <a:spcBef>
                <a:spcPts val="0"/>
              </a:spcBef>
              <a:spcAft>
                <a:spcPts val="400"/>
              </a:spcAft>
            </a:pPr>
            <a:r>
              <a:rPr lang="es-ES" sz="1150" b="1" i="0" noProof="0" dirty="0">
                <a:solidFill>
                  <a:srgbClr val="042354"/>
                </a:solidFill>
                <a:latin typeface="Arial"/>
              </a:rPr>
              <a:t>El modo de falla y su impacto</a:t>
            </a:r>
          </a:p>
          <a:p>
            <a:pPr algn="l">
              <a:lnSpc>
                <a:spcPct val="114000"/>
              </a:lnSpc>
              <a:spcBef>
                <a:spcPts val="0"/>
              </a:spcBef>
              <a:spcAft>
                <a:spcPts val="400"/>
              </a:spcAft>
            </a:pPr>
            <a:r>
              <a:rPr lang="es-ES" sz="1000" b="0" i="0" noProof="0" dirty="0">
                <a:solidFill>
                  <a:srgbClr val="4A5568"/>
                </a:solidFill>
                <a:latin typeface="Arial"/>
              </a:rPr>
              <a:t>Trece ocurrencias entre 2022 y 2024 (4,33 por año), con un MTBF del modo de 15 231 h, un MTTR de 59,3 h y 315 h anuales de indisponibilidad, equivalentes a 0,36% de disponibilidad.</a:t>
            </a:r>
          </a:p>
        </p:txBody>
      </p:sp>
      <p:sp>
        <p:nvSpPr>
          <p:cNvPr id="10" name="Rectangle 9"/>
          <p:cNvSpPr/>
          <p:nvPr/>
        </p:nvSpPr>
        <p:spPr>
          <a:xfrm>
            <a:off x="841248" y="2377440"/>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1" name="Rectangle 10"/>
          <p:cNvSpPr/>
          <p:nvPr/>
        </p:nvSpPr>
        <p:spPr>
          <a:xfrm>
            <a:off x="841248" y="2377440"/>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2" name="TextBox 11"/>
          <p:cNvSpPr txBox="1"/>
          <p:nvPr/>
        </p:nvSpPr>
        <p:spPr>
          <a:xfrm>
            <a:off x="1078992" y="2487168"/>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ES" sz="1700" b="1" i="0" noProof="0" dirty="0">
                <a:solidFill>
                  <a:srgbClr val="C3094A"/>
                </a:solidFill>
                <a:latin typeface="Arial"/>
              </a:rPr>
              <a:t>02</a:t>
            </a:r>
          </a:p>
        </p:txBody>
      </p:sp>
      <p:sp>
        <p:nvSpPr>
          <p:cNvPr id="13" name="TextBox 12"/>
          <p:cNvSpPr txBox="1"/>
          <p:nvPr/>
        </p:nvSpPr>
        <p:spPr>
          <a:xfrm>
            <a:off x="1773936" y="2478024"/>
            <a:ext cx="9308592" cy="578620"/>
          </a:xfrm>
          <a:prstGeom prst="rect">
            <a:avLst/>
          </a:prstGeom>
          <a:noFill/>
        </p:spPr>
        <p:txBody>
          <a:bodyPr wrap="square" lIns="0" tIns="0" rIns="0" bIns="0" anchor="t">
            <a:spAutoFit/>
          </a:bodyPr>
          <a:lstStyle/>
          <a:p>
            <a:pPr algn="l">
              <a:lnSpc>
                <a:spcPct val="108000"/>
              </a:lnSpc>
              <a:spcBef>
                <a:spcPts val="0"/>
              </a:spcBef>
              <a:spcAft>
                <a:spcPts val="400"/>
              </a:spcAft>
            </a:pPr>
            <a:r>
              <a:rPr lang="es-ES" sz="1150" b="1" i="0" noProof="0" dirty="0">
                <a:solidFill>
                  <a:srgbClr val="042354"/>
                </a:solidFill>
                <a:latin typeface="Arial"/>
              </a:rPr>
              <a:t>Las causas latentes de la recurrencia</a:t>
            </a:r>
          </a:p>
          <a:p>
            <a:pPr algn="l">
              <a:lnSpc>
                <a:spcPct val="114000"/>
              </a:lnSpc>
              <a:spcBef>
                <a:spcPts val="0"/>
              </a:spcBef>
              <a:spcAft>
                <a:spcPts val="400"/>
              </a:spcAft>
            </a:pPr>
            <a:r>
              <a:rPr lang="es-ES" sz="1000" b="0" i="0" noProof="0" dirty="0">
                <a:solidFill>
                  <a:srgbClr val="4A5568"/>
                </a:solidFill>
                <a:latin typeface="Arial"/>
              </a:rPr>
              <a:t>La causa física es la nucleación en la raíz sin fusión, con FS = 0,31 bajo el par nominal de 17,81 </a:t>
            </a:r>
            <a:r>
              <a:rPr lang="es-ES" sz="1000" b="0" i="0" noProof="0" dirty="0" err="1">
                <a:solidFill>
                  <a:srgbClr val="4A5568"/>
                </a:solidFill>
                <a:latin typeface="Arial"/>
              </a:rPr>
              <a:t>kN·m</a:t>
            </a:r>
            <a:r>
              <a:rPr lang="es-ES" sz="1000" b="0" i="0" noProof="0" dirty="0">
                <a:solidFill>
                  <a:srgbClr val="4A5568"/>
                </a:solidFill>
                <a:latin typeface="Arial"/>
              </a:rPr>
              <a:t>. Por debajo de ella, tres causas de sistema: análisis por evento, creación del evento en la taxonomía del registro y ausencia de cierre de los hallazgos.</a:t>
            </a:r>
          </a:p>
        </p:txBody>
      </p:sp>
      <p:sp>
        <p:nvSpPr>
          <p:cNvPr id="14" name="Rectangle 13"/>
          <p:cNvSpPr/>
          <p:nvPr/>
        </p:nvSpPr>
        <p:spPr>
          <a:xfrm>
            <a:off x="841248" y="3310128"/>
            <a:ext cx="10515600" cy="859536"/>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5" name="Rectangle 14"/>
          <p:cNvSpPr/>
          <p:nvPr/>
        </p:nvSpPr>
        <p:spPr>
          <a:xfrm>
            <a:off x="841248" y="3310128"/>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6" name="TextBox 15"/>
          <p:cNvSpPr txBox="1"/>
          <p:nvPr/>
        </p:nvSpPr>
        <p:spPr>
          <a:xfrm>
            <a:off x="1078992" y="3419856"/>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ES" sz="1700" b="1" i="0" noProof="0" dirty="0">
                <a:solidFill>
                  <a:srgbClr val="C3094A"/>
                </a:solidFill>
                <a:latin typeface="Arial"/>
              </a:rPr>
              <a:t>03</a:t>
            </a:r>
          </a:p>
        </p:txBody>
      </p:sp>
      <p:sp>
        <p:nvSpPr>
          <p:cNvPr id="17" name="TextBox 16"/>
          <p:cNvSpPr txBox="1"/>
          <p:nvPr/>
        </p:nvSpPr>
        <p:spPr>
          <a:xfrm>
            <a:off x="1773936" y="3410712"/>
            <a:ext cx="9576816" cy="578620"/>
          </a:xfrm>
          <a:prstGeom prst="rect">
            <a:avLst/>
          </a:prstGeom>
          <a:noFill/>
        </p:spPr>
        <p:txBody>
          <a:bodyPr wrap="square" lIns="0" tIns="0" rIns="0" bIns="0" anchor="t">
            <a:spAutoFit/>
          </a:bodyPr>
          <a:lstStyle/>
          <a:p>
            <a:pPr algn="l">
              <a:lnSpc>
                <a:spcPct val="108000"/>
              </a:lnSpc>
              <a:spcBef>
                <a:spcPts val="0"/>
              </a:spcBef>
              <a:spcAft>
                <a:spcPts val="400"/>
              </a:spcAft>
            </a:pPr>
            <a:r>
              <a:rPr lang="es-ES" sz="1150" b="1" i="0" noProof="0" dirty="0">
                <a:solidFill>
                  <a:srgbClr val="042354"/>
                </a:solidFill>
                <a:latin typeface="Arial"/>
              </a:rPr>
              <a:t>El rediseño como desenlace de la lógica RCM</a:t>
            </a:r>
          </a:p>
          <a:p>
            <a:pPr algn="l">
              <a:lnSpc>
                <a:spcPct val="114000"/>
              </a:lnSpc>
              <a:spcBef>
                <a:spcPts val="0"/>
              </a:spcBef>
              <a:spcAft>
                <a:spcPts val="400"/>
              </a:spcAft>
            </a:pPr>
            <a:r>
              <a:rPr lang="es-ES" sz="1000" b="0" i="0" noProof="0" dirty="0">
                <a:solidFill>
                  <a:srgbClr val="4A5568"/>
                </a:solidFill>
                <a:latin typeface="Arial"/>
              </a:rPr>
              <a:t>Descartadas las tres familias de tareas proactivas y siendo la consecuencia operacional con implicación de seguridad, la norma prescribe el cambio de diseño. El FS se eleva de 0,31 a 2,23 sin modificar el material.</a:t>
            </a:r>
          </a:p>
        </p:txBody>
      </p:sp>
      <p:sp>
        <p:nvSpPr>
          <p:cNvPr id="18" name="Rectangle 17"/>
          <p:cNvSpPr/>
          <p:nvPr/>
        </p:nvSpPr>
        <p:spPr>
          <a:xfrm>
            <a:off x="841248" y="4242816"/>
            <a:ext cx="10515600" cy="859536"/>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19" name="Rectangle 18"/>
          <p:cNvSpPr/>
          <p:nvPr/>
        </p:nvSpPr>
        <p:spPr>
          <a:xfrm>
            <a:off x="841248" y="4242816"/>
            <a:ext cx="45720" cy="859536"/>
          </a:xfrm>
          <a:prstGeom prst="rect">
            <a:avLst/>
          </a:prstGeom>
          <a:solidFill>
            <a:srgbClr val="C3094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0" name="TextBox 19"/>
          <p:cNvSpPr txBox="1"/>
          <p:nvPr/>
        </p:nvSpPr>
        <p:spPr>
          <a:xfrm>
            <a:off x="1078992" y="4352544"/>
            <a:ext cx="658368" cy="512064"/>
          </a:xfrm>
          <a:prstGeom prst="rect">
            <a:avLst/>
          </a:prstGeom>
          <a:noFill/>
        </p:spPr>
        <p:txBody>
          <a:bodyPr wrap="square" lIns="0" tIns="0" rIns="0" bIns="0" anchor="t">
            <a:spAutoFit/>
          </a:bodyPr>
          <a:lstStyle/>
          <a:p>
            <a:pPr algn="l">
              <a:lnSpc>
                <a:spcPct val="114000"/>
              </a:lnSpc>
              <a:spcBef>
                <a:spcPts val="0"/>
              </a:spcBef>
              <a:spcAft>
                <a:spcPts val="400"/>
              </a:spcAft>
            </a:pPr>
            <a:r>
              <a:rPr lang="es-ES" sz="1700" b="1" i="0" noProof="0" dirty="0">
                <a:solidFill>
                  <a:srgbClr val="C3094A"/>
                </a:solidFill>
                <a:latin typeface="Arial"/>
              </a:rPr>
              <a:t>04</a:t>
            </a:r>
          </a:p>
        </p:txBody>
      </p:sp>
      <p:sp>
        <p:nvSpPr>
          <p:cNvPr id="21" name="TextBox 20"/>
          <p:cNvSpPr txBox="1"/>
          <p:nvPr/>
        </p:nvSpPr>
        <p:spPr>
          <a:xfrm>
            <a:off x="1773936" y="4343400"/>
            <a:ext cx="9308592" cy="694944"/>
          </a:xfrm>
          <a:prstGeom prst="rect">
            <a:avLst/>
          </a:prstGeom>
          <a:noFill/>
        </p:spPr>
        <p:txBody>
          <a:bodyPr wrap="square" lIns="0" tIns="0" rIns="0" bIns="0" anchor="t">
            <a:spAutoFit/>
          </a:bodyPr>
          <a:lstStyle/>
          <a:p>
            <a:pPr algn="l">
              <a:lnSpc>
                <a:spcPct val="108000"/>
              </a:lnSpc>
              <a:spcBef>
                <a:spcPts val="0"/>
              </a:spcBef>
              <a:spcAft>
                <a:spcPts val="400"/>
              </a:spcAft>
            </a:pPr>
            <a:r>
              <a:rPr lang="es-ES" sz="1150" b="1" i="0" noProof="0" dirty="0">
                <a:solidFill>
                  <a:srgbClr val="042354"/>
                </a:solidFill>
                <a:latin typeface="Arial"/>
              </a:rPr>
              <a:t>La recuperación verificada</a:t>
            </a:r>
          </a:p>
          <a:p>
            <a:pPr algn="l">
              <a:lnSpc>
                <a:spcPct val="114000"/>
              </a:lnSpc>
              <a:spcBef>
                <a:spcPts val="0"/>
              </a:spcBef>
              <a:spcAft>
                <a:spcPts val="400"/>
              </a:spcAft>
            </a:pPr>
            <a:r>
              <a:rPr lang="es-ES" sz="1000" b="0" i="0" noProof="0" dirty="0">
                <a:solidFill>
                  <a:srgbClr val="4A5568"/>
                </a:solidFill>
                <a:latin typeface="Arial"/>
              </a:rPr>
              <a:t>96 000 h sin nuevas ocurrencias frente a las 6,3 que predecía la tasa previa (p = 0,0018). El MTTR del sistema desciende de 6,2 a 3,3 h y se recuperan 0,36 puntos de disponibilidad.</a:t>
            </a:r>
          </a:p>
        </p:txBody>
      </p:sp>
      <p:sp>
        <p:nvSpPr>
          <p:cNvPr id="22" name="Rectangle 21"/>
          <p:cNvSpPr/>
          <p:nvPr/>
        </p:nvSpPr>
        <p:spPr>
          <a:xfrm>
            <a:off x="841248" y="5193792"/>
            <a:ext cx="10515600" cy="4572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23" name="TextBox 22"/>
          <p:cNvSpPr txBox="1"/>
          <p:nvPr/>
        </p:nvSpPr>
        <p:spPr>
          <a:xfrm>
            <a:off x="1060704" y="5248656"/>
            <a:ext cx="10076688" cy="347472"/>
          </a:xfrm>
          <a:prstGeom prst="rect">
            <a:avLst/>
          </a:prstGeom>
          <a:noFill/>
        </p:spPr>
        <p:txBody>
          <a:bodyPr wrap="square" lIns="0" tIns="0" rIns="0" bIns="0" anchor="ctr">
            <a:spAutoFit/>
          </a:bodyPr>
          <a:lstStyle/>
          <a:p>
            <a:pPr algn="l">
              <a:lnSpc>
                <a:spcPct val="110000"/>
              </a:lnSpc>
              <a:spcBef>
                <a:spcPts val="0"/>
              </a:spcBef>
              <a:spcAft>
                <a:spcPts val="400"/>
              </a:spcAft>
            </a:pPr>
            <a:r>
              <a:rPr lang="es-ES" sz="1100" b="1" i="0" noProof="0" dirty="0">
                <a:solidFill>
                  <a:srgbClr val="FFFFFF"/>
                </a:solidFill>
                <a:latin typeface="Arial"/>
              </a:rPr>
              <a:t>El aporte de la ingeniería de confiabilidad no consistió en explicar por qué se fracturaba el eje, sino en eliminar el modo de falla usando la lógica de decisión del RCM.</a:t>
            </a:r>
          </a:p>
        </p:txBody>
      </p:sp>
      <p:pic>
        <p:nvPicPr>
          <p:cNvPr id="24" name="Imagen 23">
            <a:extLst>
              <a:ext uri="{FF2B5EF4-FFF2-40B4-BE49-F238E27FC236}">
                <a16:creationId xmlns:a16="http://schemas.microsoft.com/office/drawing/2014/main" id="{16E0653B-9B52-4D58-64D8-892AD9593C17}"/>
              </a:ext>
            </a:extLst>
          </p:cNvPr>
          <p:cNvPicPr>
            <a:picLocks noChangeAspect="1"/>
          </p:cNvPicPr>
          <p:nvPr/>
        </p:nvPicPr>
        <p:blipFill>
          <a:blip r:embed="rId2"/>
          <a:stretch>
            <a:fillRect/>
          </a:stretch>
        </p:blipFill>
        <p:spPr>
          <a:xfrm>
            <a:off x="158617" y="5943600"/>
            <a:ext cx="5620013" cy="550672"/>
          </a:xfrm>
          <a:prstGeom prst="rect">
            <a:avLst/>
          </a:prstGeom>
        </p:spPr>
      </p:pic>
      <p:sp>
        <p:nvSpPr>
          <p:cNvPr id="25" name="TextBox 24"/>
          <p:cNvSpPr txBox="1"/>
          <p:nvPr/>
        </p:nvSpPr>
        <p:spPr>
          <a:xfrm>
            <a:off x="841248" y="128016"/>
            <a:ext cx="7315200" cy="201168"/>
          </a:xfrm>
          <a:prstGeom prst="rect">
            <a:avLst/>
          </a:prstGeom>
          <a:noFill/>
        </p:spPr>
        <p:txBody>
          <a:bodyPr wrap="square" lIns="0" tIns="0" rIns="0" bIns="0" anchor="t">
            <a:spAutoFit/>
          </a:bodyPr>
          <a:lstStyle/>
          <a:p>
            <a:pPr algn="l">
              <a:lnSpc>
                <a:spcPct val="110000"/>
              </a:lnSpc>
              <a:spcBef>
                <a:spcPts val="0"/>
              </a:spcBef>
              <a:spcAft>
                <a:spcPts val="0"/>
              </a:spcAft>
            </a:pPr>
            <a:r>
              <a:rPr lang="es-ES" sz="900" b="1" i="0" noProof="0" dirty="0">
                <a:solidFill>
                  <a:srgbClr val="C3094A"/>
                </a:solidFill>
                <a:latin typeface="Arial"/>
              </a:rPr>
              <a:t>07 · CONCLUSIONES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04235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3" name="Rectangle 2"/>
          <p:cNvSpPr/>
          <p:nvPr/>
        </p:nvSpPr>
        <p:spPr>
          <a:xfrm>
            <a:off x="841248" y="2834640"/>
            <a:ext cx="530352" cy="68580"/>
          </a:xfrm>
          <a:prstGeom prst="rect">
            <a:avLst/>
          </a:prstGeom>
          <a:solidFill>
            <a:srgbClr val="16C78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lang="es-ES" noProof="0" dirty="0"/>
          </a:p>
        </p:txBody>
      </p:sp>
      <p:sp>
        <p:nvSpPr>
          <p:cNvPr id="4" name="TextBox 3"/>
          <p:cNvSpPr txBox="1"/>
          <p:nvPr/>
        </p:nvSpPr>
        <p:spPr>
          <a:xfrm>
            <a:off x="841248" y="3127248"/>
            <a:ext cx="10515600" cy="914400"/>
          </a:xfrm>
          <a:prstGeom prst="rect">
            <a:avLst/>
          </a:prstGeom>
          <a:noFill/>
        </p:spPr>
        <p:txBody>
          <a:bodyPr wrap="square" lIns="0" tIns="0" rIns="0" bIns="0" anchor="t">
            <a:spAutoFit/>
          </a:bodyPr>
          <a:lstStyle/>
          <a:p>
            <a:pPr algn="l">
              <a:lnSpc>
                <a:spcPct val="100000"/>
              </a:lnSpc>
              <a:spcBef>
                <a:spcPts val="0"/>
              </a:spcBef>
              <a:spcAft>
                <a:spcPts val="400"/>
              </a:spcAft>
            </a:pPr>
            <a:r>
              <a:rPr lang="es-ES" sz="4200" b="1" i="0" noProof="0" dirty="0">
                <a:solidFill>
                  <a:srgbClr val="FFFFFF"/>
                </a:solidFill>
                <a:latin typeface="Arial"/>
              </a:rPr>
              <a:t>MUCHAS GRACIAS</a:t>
            </a:r>
          </a:p>
        </p:txBody>
      </p:sp>
      <p:sp>
        <p:nvSpPr>
          <p:cNvPr id="5" name="TextBox 4"/>
          <p:cNvSpPr txBox="1"/>
          <p:nvPr/>
        </p:nvSpPr>
        <p:spPr>
          <a:xfrm>
            <a:off x="841248" y="4187952"/>
            <a:ext cx="10515600" cy="289438"/>
          </a:xfrm>
          <a:prstGeom prst="rect">
            <a:avLst/>
          </a:prstGeom>
          <a:noFill/>
        </p:spPr>
        <p:txBody>
          <a:bodyPr wrap="square" lIns="0" tIns="0" rIns="0" bIns="0" anchor="t">
            <a:spAutoFit/>
          </a:bodyPr>
          <a:lstStyle/>
          <a:p>
            <a:pPr algn="l">
              <a:lnSpc>
                <a:spcPct val="114000"/>
              </a:lnSpc>
              <a:spcBef>
                <a:spcPts val="0"/>
              </a:spcBef>
              <a:spcAft>
                <a:spcPts val="400"/>
              </a:spcAft>
            </a:pPr>
            <a:r>
              <a:rPr lang="es-ES" sz="1800" b="0" i="0" noProof="0" dirty="0">
                <a:solidFill>
                  <a:srgbClr val="B9C6DC"/>
                </a:solidFill>
                <a:latin typeface="Arial"/>
              </a:rPr>
              <a:t>Preguntas y comentarios</a:t>
            </a:r>
          </a:p>
        </p:txBody>
      </p:sp>
      <p:pic>
        <p:nvPicPr>
          <p:cNvPr id="6" name="Picture 5" descr="pucp_blanco.png"/>
          <p:cNvPicPr>
            <a:picLocks noChangeAspect="1"/>
          </p:cNvPicPr>
          <p:nvPr/>
        </p:nvPicPr>
        <p:blipFill>
          <a:blip r:embed="rId2"/>
          <a:stretch>
            <a:fillRect/>
          </a:stretch>
        </p:blipFill>
        <p:spPr>
          <a:xfrm>
            <a:off x="841248" y="5870448"/>
            <a:ext cx="1389888" cy="457200"/>
          </a:xfrm>
          <a:prstGeom prst="rect">
            <a:avLst/>
          </a:prstGeom>
        </p:spPr>
      </p:pic>
    </p:spTree>
  </p:cSld>
  <p:clrMapOvr>
    <a:masterClrMapping/>
  </p:clrMapOvr>
</p:sld>
</file>

<file path=ppt/theme/theme1.xml><?xml version="1.0" encoding="utf-8"?>
<a:theme xmlns:a="http://schemas.openxmlformats.org/drawingml/2006/main" name="Tema de Office">
  <a:themeElements>
    <a:clrScheme name="PUCP">
      <a:dk1>
        <a:srgbClr val="191919"/>
      </a:dk1>
      <a:lt1>
        <a:srgbClr val="FFFFFF"/>
      </a:lt1>
      <a:dk2>
        <a:srgbClr val="042354"/>
      </a:dk2>
      <a:lt2>
        <a:srgbClr val="E7EDED"/>
      </a:lt2>
      <a:accent1>
        <a:srgbClr val="2841DD"/>
      </a:accent1>
      <a:accent2>
        <a:srgbClr val="FF9929"/>
      </a:accent2>
      <a:accent3>
        <a:srgbClr val="7F32C8"/>
      </a:accent3>
      <a:accent4>
        <a:srgbClr val="F0AE19"/>
      </a:accent4>
      <a:accent5>
        <a:srgbClr val="0A7BC2"/>
      </a:accent5>
      <a:accent6>
        <a:srgbClr val="16C78E"/>
      </a:accent6>
      <a:hlink>
        <a:srgbClr val="004EA8"/>
      </a:hlink>
      <a:folHlink>
        <a:srgbClr val="C309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1963</TotalTime>
  <Words>4264</Words>
  <Application>Microsoft Office PowerPoint</Application>
  <PresentationFormat>Panorámica</PresentationFormat>
  <Paragraphs>440</Paragraphs>
  <Slides>21</Slides>
  <Notes>7</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21</vt:i4>
      </vt:variant>
    </vt:vector>
  </HeadingPairs>
  <TitlesOfParts>
    <vt:vector size="24" baseType="lpstr">
      <vt:lpstr>Arial</vt:lpstr>
      <vt:lpstr>Calibri</vt:lpstr>
      <vt:lpstr>Tema de Office</vt:lpstr>
      <vt:lpstr>Presentación de PowerPoint</vt:lpstr>
      <vt:lpstr>Contenido</vt:lpstr>
      <vt:lpstr>El problema</vt:lpstr>
      <vt:lpstr>Objetivos</vt:lpstr>
      <vt:lpstr>Etapas de la metodología</vt:lpstr>
      <vt:lpstr>Focalización</vt:lpstr>
      <vt:lpstr>Preguntas 1 y 2: función, estándar y falla funcional</vt:lpstr>
      <vt:lpstr>Pregunta 3: hipótesis sometidas a verificación</vt:lpstr>
      <vt:lpstr>Evidencia de base: el aporte de cada análisis de falla (AFA)</vt:lpstr>
      <vt:lpstr>Verificación de la causa física: fractura y metalografía</vt:lpstr>
      <vt:lpstr>Descarte de la operación: la data del propio equipo</vt:lpstr>
      <vt:lpstr>Descarte de la fabricación: material conforme y recurrencia</vt:lpstr>
      <vt:lpstr>Verificación por resistencia de materiales</vt:lpstr>
      <vt:lpstr>Del mecanismo físico a la causa latente</vt:lpstr>
      <vt:lpstr>Preguntas 4 y 5: efectos y consecuencias de la falla</vt:lpstr>
      <vt:lpstr>Preguntas 6 y 7: ninguna tarea proactiva cumple ambos criterios</vt:lpstr>
      <vt:lpstr>La solución: rediseño de la unión soldada y su implementación</vt:lpstr>
      <vt:lpstr>Verificación del componente: no recurrencia del modo de falla</vt:lpstr>
      <vt:lpstr>Verificación de la flota y costo evitado</vt:lpstr>
      <vt:lpstr>Conclusiones</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SAMIR</dc:creator>
  <cp:lastModifiedBy>Samir Cedillo Preciado</cp:lastModifiedBy>
  <cp:revision>28</cp:revision>
  <dcterms:modified xsi:type="dcterms:W3CDTF">2026-09-29T02:21:47Z</dcterms:modified>
</cp:coreProperties>
</file>