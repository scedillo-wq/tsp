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60" r:id="rId2"/>
    <p:sldId id="261" r:id="rId3"/>
    <p:sldId id="263" r:id="rId4"/>
    <p:sldId id="265" r:id="rId5"/>
    <p:sldId id="267" r:id="rId6"/>
    <p:sldId id="269" r:id="rId7"/>
    <p:sldId id="270" r:id="rId8"/>
    <p:sldId id="287" r:id="rId10"/>
    <p:sldId id="291" r:id="rId11"/>
    <p:sldId id="273" r:id="rId14"/>
    <p:sldId id="271" r:id="rId9"/>
    <p:sldId id="289" r:id="rId12"/>
    <p:sldId id="288" r:id="rId13"/>
    <p:sldId id="275" r:id="rId15"/>
    <p:sldId id="292" r:id="rId16"/>
    <p:sldId id="276" r:id="rId17"/>
    <p:sldId id="278" r:id="rId18"/>
    <p:sldId id="280" r:id="rId19"/>
    <p:sldId id="293" r:id="rId28"/>
    <p:sldId id="282" r:id="rId20"/>
    <p:sldId id="284" r:id="rId21"/>
    <p:sldId id="28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058" autoAdjust="0"/>
  </p:normalViewPr>
  <p:slideViewPr>
    <p:cSldViewPr snapToGrid="0">
      <p:cViewPr>
        <p:scale>
          <a:sx n="75" d="100"/>
          <a:sy n="75" d="100"/>
        </p:scale>
        <p:origin x="946" y="-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~90 s (acumulado ≈ 2:20)</a:t>
            </a:r>
          </a:p>
          <a:p>
            <a:r>
              <a:t>Máximo 1–2 min: es lo que engancha. Situación y coyuntura: diez camiones, tres metas contractuales (91,0 % / 64,5 h / 4,0 h) incumplidas en disponibilidad y MTBF entre 2022 y 2024. La falla más crítica: fractura del eje palier, 13 eventos, 59,3 h por evento, US$ 763 393 por evento. No explicar aquí por qué el camión no avanza: es obvio.</a:t>
            </a:r>
          </a:p>
          <a:p/>
          <a:p>
            <a:r>
              <a:t>——— APOYO (no leer) ———</a:t>
            </a:r>
          </a:p>
          <a:p>
            <a:r>
              <a:t>Metas contractuales: flota de diez camiones 980E-5 de 400 t con propulsión eléctrica, cuyo mantenimiento integral está a cargo de una empresa contratista especializada. El desempeño del contrato se mide con tres indicadores: disponibilidad física (meta 91,0 %), MTBF (64,5 h) y MTTR (límite 4,0 h); su incumplimiento expone a penalización. Entre 2022 y 2024 la disponibilidad fue de 90,5 %, 90,2 % y 90,6 %, y el MTBF de 57,6 h, 57,6 h y 60,5 h, por debajo de sus objetivos; el MTTR (3,1 h, 3,7 h y 3,1 h) se mantuvo dentro del límite.</a:t>
            </a:r>
          </a:p>
          <a:p/>
          <a:p>
            <a:r>
              <a:t>La falla más crítica: cada evento contó con un análisis de falla (AFA) y con un informe metalográfico externo, pero la falla persistió y reapareció en posiciones ya intervenidas.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~45 s (acumulado ≈ 7:50)</a:t>
            </a:r>
          </a:p>
          <a:p>
            <a:r>
              <a:t>"Paso 2 del ACR: verificación física." Origen en la raíz de la unión soldada, marcas de trinquete y rotura final reducida: el eje operó largo tiempo con la grieta en propagación.</a:t>
            </a:r>
          </a:p>
          <a:p/>
          <a:p>
            <a:r>
              <a:t>——— APOYO (no leer) ———</a:t>
            </a:r>
          </a:p>
          <a:p>
            <a:r>
              <a:t>Figura H1, lectura de la superficie de fractura del eje F1 (inspección visual, reportes AFA):</a:t>
            </a:r>
          </a:p>
          <a:p>
            <a:r>
              <a:t>1. Sector oscuro y liso, propagación estable: bandas concéntricas al diámetro interior por el avance progresivo de la grieta bajo los ciclos de par; el oscurecimiento es oxidación durante su larga exposición en servicio.</a:t>
            </a:r>
          </a:p>
          <a:p>
            <a:r>
              <a:t>2. Sector claro y granular, rotura final: metal recién expuesto; la sección remanente rompió de forma instantánea cuando la grieta redujo el área resistente.</a:t>
            </a:r>
          </a:p>
          <a:p>
            <a:r>
              <a:t>3. Diámetro interior, localización del origen: perímetro interno de la unión soldada; el AFA sitúa aquí el inicio, con marcas de trinquete de nucleación múltiple sobre la raíz sin fusión.</a:t>
            </a:r>
          </a:p>
          <a:p>
            <a:r>
              <a:t>4. Borde interno deformado, contacto posterior: rebaba y desgarro por el rozamiento entre las caras tras la separación; el motor siguió operando en free wheeling.</a:t>
            </a:r>
          </a:p>
          <a:p/>
          <a:p>
            <a:r>
              <a:t>Metalografía (informe DIESA-AFA2023085189_00): microestructuras a 40× con grieta secundaria junto al punto de iniciación. La nucleación se produce en la raíz de la unión y propaga radialmente hacia el exterior.</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~30 s (acumulado ≈ 10:20)</a:t>
            </a:r>
          </a:p>
          <a:p>
            <a:r>
              <a:t>"Paso 6 del ACR: descarte de la fabricación." Material conforme; el eje nuevo volvió a fallar en el mismo lugar: no es un defecto de pieza. Queda el diseño, coherente con el FS = 0,31.</a:t>
            </a:r>
          </a:p>
          <a:p/>
          <a:p>
            <a:r>
              <a:t>——— APOYO (no leer) ———</a:t>
            </a:r>
          </a:p>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~40 s (acumulado ≈ 12:15)</a:t>
            </a:r>
          </a:p>
          <a:p>
            <a:r>
              <a:t>"Tercer bloque: la decisión de rediseño. Etapa 3, preguntas 4 y 5, en breve." Efectos: sin aviso, pérdida de tracción y retardo, 59,3 h fuera de servicio. Lo que importa es la clasificación: operacional con implicación de seguridad; eso decide la pregunta 7.</a:t>
            </a:r>
          </a:p>
          <a:p/>
          <a:p>
            <a:r>
              <a:t>——— APOYO (no leer) ———</a:t>
            </a:r>
          </a:p>
          <a:p>
            <a:r>
              <a:t>DISCURSO (~45 s)</a:t>
            </a:r>
          </a:p>
          <a:p>
            <a:r>
              <a:t>Las preguntas 4 y 5 describen qué pasa cuando la falla ocurre y por qué importa. La fractura llega sin aviso: el operador reporta pérdida de propulsión y la rueda queda en giro libre. La posición afectada pierde a la vez tracción y retardo dinámico, justo lo que controla la velocidad de un equipo de 628 toneladas en el descenso cargado. La unidad sale del ciclo de acarreo durante 59,3 horas, porque hay que sustituir el motor completo, y el eje roto sigue girando y daña el tren de engranajes. Por eso la consecuencia es operacional, con implicación de seguridad y efecto contractual, y esa clasificación es la que decide la acción a falta de.</a:t>
            </a:r>
          </a:p>
          <a:p/>
          <a:p>
            <a:r>
              <a:t>APOYO (no leer; para preguntas del jurado)</a:t>
            </a:r>
          </a:p>
          <a:p>
            <a:r>
              <a:t>Informe, 3.4.4 Pregunta 4: efectos de falla.</a:t>
            </a:r>
          </a:p>
          <a:p>
            <a:r>
              <a:t>Evidencia de la ocurrencia: ninguna tarea del programa vigente anticipaba ni detectaba esta falla. Diez de los trece eventos se identificaron en operación; los otros tres (casos 5, 8 y 11 de la Tabla 5) corresponden a retiros en una parada programada. La evaluación en campo verifica que el eje del motor se revoluciona sin transmitir par (desacople entre el rotor y la reducción planetaria).</a:t>
            </a:r>
          </a:p>
          <a:p>
            <a:r>
              <a:t>Seguridad: se pierden a la vez la tracción y el retardo dinámico; el frenado eléctrico se reduce a una sola posición motriz. La exposición se concentra en el descenso cargado por rampa (628 t de peso bruto); el freno de servicio interviene como respaldo.</a:t>
            </a:r>
          </a:p>
          <a:p>
            <a:r>
              <a:t>Operación: tolva descargada en el lugar, traslado fuera del área y 59,3 h fuera de servicio en promedio. No hay reparación en campo: se sustituye el motor de tracción completo por uno de intercambio. La espera por motor de intercambio, equipo de izaje y personal de neumáticos queda registrada como demora de la misma detención.</a:t>
            </a:r>
          </a:p>
          <a:p>
            <a:r>
              <a:t>Daño físico: dentado fracturado y daño en los portadores planetarios; reducción de espesor, fisura y fractura en la placa de acople; desprendimiento de material y pérdida de dureza en el piñón solar; desprendimiento de material en la corona; hierro en las pistas de los rodamientos. Esa contaminación aparece después de la fractura y no la precede.</a:t>
            </a:r>
          </a:p>
          <a:p/>
          <a:p>
            <a:r>
              <a:t>Informe, 3.4.5 Pregunta 5: consecuencias de falla.</a:t>
            </a:r>
          </a:p>
          <a:p>
            <a:r>
              <a:t>Operacional, con implicación de seguridad y con efecto contractual. Ninguna de las trece ocurrencias derivó en daño a personas, pero la norma evalúa la consecuencia potencial, no el resultado observado. No alcanzar las 20 000 h entre reparaciones mayores también es consecuencia directa: cada ocurrencia retira el motor con una fracción de la vida de referencia e interrumpe el ciclo de reparaciones planificado.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~60 s (acumulado ≈ 14:45)</a:t>
            </a:r>
          </a:p>
          <a:p>
            <a:r>
              <a:t>"Etapa 4: implementación." Penetración completa y pared de 0,75 a 1,00 in: FS de 0,31 a 2,23. Se implementó como cambio controlado: prioridad por horómetro, sustitución del conjunto y control del P/N.</a:t>
            </a:r>
          </a:p>
          <a:p/>
          <a:p>
            <a:r>
              <a:t>——— APOYO (no leer) ———</a:t>
            </a:r>
          </a:p>
          <a:p>
            <a:r>
              <a:t>La casa matriz adoptó la mejora propuesta en los AFA (modificar el proceso de soldadura y eliminar el concentrador); esta operación fue la primera en implementarla, en 2025.</a:t>
            </a:r>
          </a:p>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~75 s (acumulado ≈ 16:00)</a:t>
            </a:r>
          </a:p>
          <a:p>
            <a:r>
              <a:t>"Cuarto bloque: recuperación de indicadores. Etapa 4, verificación del componente." 96 000 h sin fracturas frente a 6,3 esperadas, p = 0,0018. Decir explícitamente: esto es lo observado; la verificación sigue abierta porque ningún motor intervenido supera aún 24 540 h.</a:t>
            </a:r>
          </a:p>
          <a:p/>
          <a:p>
            <a:r>
              <a:t>——— APOYO (no leer) ———</a:t>
            </a:r>
          </a:p>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GUION · ~75 s (acumulado ≈ 18:15)</a:t>
            </a:r>
          </a:p>
          <a:p>
            <a:r>
              <a:t>"Etapa 4, verificación de la flota y costo evitado." La parte más fuerte: disponibilidad de 90,6 % a 93,6 % y MTBF de 60,5 h a 108,4 h; por primera vez se cumplen ambas metas. Atribución honesta: la intervención del motor diésel también aporta; el eje palier aporta 0,36 puntos. Costo evitado: US$ 3,31 M por año.</a:t>
            </a:r>
          </a:p>
          <a:p/>
          <a:p>
            <a:r>
              <a:t>——— APOYO (no leer) ———</a:t>
            </a:r>
          </a:p>
          <a:p>
            <a:r>
              <a:t>El MTTR de flota no mejora, y no debía hacerlo: la acción implementada elimina eventos, no reduce la duración de las intervenciones que subsisten.</a:t>
            </a:r>
          </a:p>
          <a:p/>
          <a:p>
            <a:r>
              <a:t>La concurrencia con la intervención del motor diésel no debilita la verificación: lo que acredita el rediseño es el criterio del nivel del componente.</a:t>
            </a:r>
          </a:p>
          <a:p/>
          <a:p>
            <a:r>
              <a:t>Costo por evento: US$ 763 393 por evaluación y reparación mayor del motor; costo anual del modo US$ 3,31 M frente a US$ 4,30 M de la sustitución cíclica (relación 1,30 : 1). Umbral de indiferencia declarado: US$ 459 mil por reparación mayor programada.</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~20 s (acumulado ≈ 0:20)</a:t>
            </a:r>
          </a:p>
          <a:p>
            <a:r>
              <a:t>Presentarse y leer el título. Nada más.</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~30 s (acumulado ≈ 0:50)</a:t>
            </a:r>
          </a:p>
          <a:p>
            <a:r>
              <a:t>Anunciar el orden: problemática, objetivos y metodología. El desarrollo va en cuatro bloques: causa física, análisis de causa raíz, decisión de rediseño y recuperación de indicadores con costo evitado. Cierro con las conclusiones, una por objetivo.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~60 s (acumulado ≈ 3:20)</a:t>
            </a:r>
          </a:p>
          <a:p>
            <a:r>
              <a:t>"Frente a este problema, mi compromiso fue..." Leer el objetivo general y los cuatro específicos. Las conclusiones responden a cada OE en este mismo orden.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~90 s (acumulado ≈ 4:50)</a:t>
            </a:r>
          </a:p>
          <a:p>
            <a:r>
              <a:t>Aquí anuncio la estructura. Cuatro etapas: desempeño previo, focalización, proceso RCM e implementación y verificación. Decirlo con énfasis: el RCM de la SAE JA1011, con el ACR dentro de la pregunta 3, es la ESTRUCTURA DE REFERENCIA que usé para ordenar el trabajo, no el método en sí; son marcos pensados para anticipar fallas y este caso es reactivo. Las preguntas 1, 2, 4 y 5 se mencionan; el tiempo va a la 3 (causa física y ACR) y a la 6 y 7 (decisión de rediseño).</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~45 s (acumulado ≈ 5:35)</a:t>
            </a:r>
          </a:p>
          <a:p>
            <a:r>
              <a:t>"Paso a la etapa 2 de la metodología: la focalización." F = 5, C = 4 y D = 5: criticidad alta. Mensaje: al cuadrante alto le corresponde eliminar la causa raíz, no inspeccionar más.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~30 s (acumulado ≈ 6:05)</a:t>
            </a:r>
          </a:p>
          <a:p>
            <a:r>
              <a:t>"Entro a la etapa 3, el proceso RCM. Preguntas 1 y 2, en breve." Función: transmitir el par a la rueda durante 20 000 h. Falla funcional: el eje se fractura, no transmite potencia y el camión no avanza. Un minuto como máximo y pasar a la pregunta 3.</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~60 s (acumulado ≈ 7:05)</a:t>
            </a:r>
          </a:p>
          <a:p>
            <a:r>
              <a:t>"Etapa 3, pregunta 3, modos de falla. Primer bloque del desarrollo: la causa física. Empiezo por aquí porque de ella salen todas las demás evaluaciones. Paso 1 del ACR: la evidencia de los AFA." Cada AFA explicó el mecanismo, ninguno consolidó la recurrencia.</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~45 s (acumulado ≈ 8:35)</a:t>
            </a:r>
          </a:p>
          <a:p>
            <a:r>
              <a:t>"Paso 3 del ACR: verificación cuantitativa." Par 17,81 kN·m, FS = 0,31: la unión, tal como estaba diseñada, no podía alcanzar la vida planificada. Con esto cierro la causa física.</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~45 s (acumulado ≈ 9:20)</a:t>
            </a:r>
          </a:p>
          <a:p>
            <a:r>
              <a:t>"Segundo bloque: análisis de causa raíz. Seguimos en la pregunta 3, paso 4 del ACR: las hipótesis." Partiendo de la causa física, se contrastó cada rama; solo se descartó lo incompatible con la evidencia. Quedan D1 y D2, ambas en diseño.</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~30 s (acumulado ≈ 9:50)</a:t>
            </a:r>
          </a:p>
          <a:p>
            <a:r>
              <a:t>"Paso 5 del ACR: descarte de la operación con la data del equipo." La fractura es transversal a la flota y a un rango amplio de horas: no es operación.</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~75 s (acumulado ≈ 11:35)</a:t>
            </a:r>
          </a:p>
          <a:p>
            <a:r>
              <a:t>"Paso 7 del ACR: del mecanismo físico a la causa latente." Leer las cuatro preguntas. Causa raíz latente: no existía un mecanismo que convirtiera el hallazgo de un AFA en un cambio de diseño.</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~90 s (acumulado ≈ 13:45)</a:t>
            </a:r>
          </a:p>
          <a:p>
            <a:r>
              <a:t>"Preguntas 6 y 7." Tarea a condición: no factible. Reacondicionamiento: no factible. Sustitución cíclica: factible pero no conveniente (US$ 4,3 M/año frente a US$ 3,31 M/año evitados). Sin tarea proactiva y con esa consecuencia, la norma prescribe el cambio de diseño.</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~60 s (acumulado ≈ 17:00)</a:t>
            </a:r>
          </a:p>
          <a:p>
            <a:r>
              <a:t>No dejar que el jurado suponga. La intervención por sí sola no garantiza la eliminación: separo lo que ya ocurrió (medido), lo que aún no está demostrado (proyectado) y cómo se asegura (seguimiento del horómetro, control del P/N y contramedidas del ACR). Condición de cierre: ambos criterios cumplidos y actualización del programa de mantenimiento.</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~90 s (acumulado ≈ 19:45)</a:t>
            </a:r>
          </a:p>
          <a:p>
            <a:r>
              <a:t>Primero la conclusión general: se recuperaron los KPIs (de 90,6 % a 93,6 % y de 60,5 h a 108,4 h). Luego una respuesta directa por objetivo, en el mismo orden, sin volver a explicar el desarrollo. Cierre opcional: el aporte no fue explicar por qué se fracturaba el eje, sino eliminar el modo de falla con la lógica de decisión del RCM.</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GUION · ~0 s (acumulado ≈ 19:45)</a:t>
            </a:r>
          </a:p>
          <a:p>
            <a:r>
              <a:t>Preguntas del jurado.</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3.png"/><Relationship Id="rId4"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20.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9.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ES" sz="1300" b="1" i="0" noProof="0" dirty="0">
                <a:solidFill>
                  <a:srgbClr val="042354"/>
                </a:solidFill>
                <a:latin typeface="Arial"/>
              </a:rPr>
              <a:t>PONTIFICIA UNIVERSIDAD CATÓLICA DEL PERÚ</a:t>
            </a:r>
          </a:p>
          <a:p>
            <a:pPr algn="l">
              <a:lnSpc>
                <a:spcPct val="114000"/>
              </a:lnSpc>
              <a:spcBef>
                <a:spcPts val="0"/>
              </a:spcBef>
              <a:spcAft>
                <a:spcPts val="400"/>
              </a:spcAft>
            </a:pPr>
            <a:r>
              <a:rPr lang="es-ES"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7" y="1956816"/>
            <a:ext cx="10515599" cy="1257973"/>
          </a:xfrm>
          <a:prstGeom prst="rect">
            <a:avLst/>
          </a:prstGeom>
          <a:noFill/>
        </p:spPr>
        <p:txBody>
          <a:bodyPr wrap="square" lIns="0" tIns="0" rIns="0" bIns="0" anchor="t">
            <a:spAutoFit/>
          </a:bodyPr>
          <a:lstStyle/>
          <a:p>
            <a:pPr algn="l">
              <a:lnSpc>
                <a:spcPct val="112000"/>
              </a:lnSpc>
              <a:spcBef>
                <a:spcPts val="0"/>
              </a:spcBef>
              <a:spcAft>
                <a:spcPts val="400"/>
              </a:spcAft>
            </a:pPr>
            <a:r>
              <a:rPr lang="es-ES"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7A8494"/>
                </a:solidFill>
                <a:latin typeface="Arial"/>
              </a:rPr>
              <a:t>AUTOR</a:t>
            </a:r>
          </a:p>
          <a:p>
            <a:pPr algn="l">
              <a:lnSpc>
                <a:spcPct val="114000"/>
              </a:lnSpc>
              <a:spcBef>
                <a:spcPts val="0"/>
              </a:spcBef>
              <a:spcAft>
                <a:spcPts val="400"/>
              </a:spcAft>
            </a:pPr>
            <a:r>
              <a:rPr lang="es-ES"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7A8494"/>
                </a:solidFill>
                <a:latin typeface="Arial"/>
              </a:rPr>
              <a:t>ASESOR</a:t>
            </a:r>
          </a:p>
          <a:p>
            <a:pPr algn="l">
              <a:lnSpc>
                <a:spcPct val="114000"/>
              </a:lnSpc>
              <a:spcBef>
                <a:spcPts val="0"/>
              </a:spcBef>
              <a:spcAft>
                <a:spcPts val="400"/>
              </a:spcAft>
            </a:pPr>
            <a:r>
              <a:rPr lang="es-ES" sz="1300" b="1" i="0" noProof="0" dirty="0">
                <a:solidFill>
                  <a:srgbClr val="042354"/>
                </a:solidFill>
                <a:latin typeface="Arial"/>
              </a:rPr>
              <a:t>Ing. Carlos Alberto Juárez </a:t>
            </a:r>
            <a:r>
              <a:rPr lang="es-ES" sz="1300" b="1" i="0" noProof="0" dirty="0" err="1">
                <a:solidFill>
                  <a:srgbClr val="042354"/>
                </a:solidFill>
                <a:latin typeface="Arial"/>
              </a:rPr>
              <a:t>Aparcana</a:t>
            </a:r>
            <a:endParaRPr lang="es-ES"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ES"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Problemática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Metodología</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9" name="Fila 04"/>
          <p:cNvSpPr/>
          <p:nvPr/>
        </p:nvSpPr>
        <p:spPr>
          <a:xfrm>
            <a:off x="841248" y="3364992"/>
            <a:ext cx="10515600" cy="1225296"/>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30" name="Num 04"/>
          <p:cNvSpPr/>
          <p:nvPr/>
        </p:nvSpPr>
        <p:spPr>
          <a:xfrm>
            <a:off x="841248" y="3364992"/>
            <a:ext cx="475488" cy="1225296"/>
          </a:xfrm>
          <a:prstGeom prst="rect">
            <a:avLst/>
          </a:prstGeom>
          <a:solidFill>
            <a:srgbClr val="042354"/>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marL="0" indent="0">
              <a:lnSpc>
                <a:spcPct val="100000"/>
              </a:lnSpc>
              <a:spcBef>
                <a:spcPts val="0"/>
              </a:spcBef>
              <a:spcAft>
                <a:spcPts val="0"/>
              </a:spcAft>
              <a:buNone/>
            </a:pPr>
            <a:r>
              <a:rPr lang="es-PE" sz="1200" b="1" i="0" dirty="0">
                <a:solidFill>
                  <a:srgbClr val="FFFFFF"/>
                </a:solidFill>
                <a:latin typeface="Arial"/>
                <a:cs typeface="Arial"/>
              </a:rPr>
              <a:t>04</a:t>
            </a:r>
          </a:p>
        </p:txBody>
      </p:sp>
      <p:sp>
        <p:nvSpPr>
          <p:cNvPr id="31" name="Desarrollo"/>
          <p:cNvSpPr txBox="1"/>
          <p:nvPr/>
        </p:nvSpPr>
        <p:spPr>
          <a:xfrm>
            <a:off x="1536192" y="3456432"/>
            <a:ext cx="5486400" cy="256032"/>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1400" b="0" i="0" dirty="0">
                <a:solidFill>
                  <a:srgbClr val="042354"/>
                </a:solidFill>
                <a:latin typeface="Arial"/>
                <a:cs typeface="Arial"/>
              </a:rPr>
              <a:t>Desarrollo</a:t>
            </a:r>
          </a:p>
        </p:txBody>
      </p:sp>
      <p:sp>
        <p:nvSpPr>
          <p:cNvPr id="32" name="Desarrollo nota"/>
          <p:cNvSpPr txBox="1"/>
          <p:nvPr/>
        </p:nvSpPr>
        <p:spPr>
          <a:xfrm>
            <a:off x="5943600" y="3474720"/>
            <a:ext cx="5266944" cy="237744"/>
          </a:xfrm>
          <a:prstGeom prst="rect">
            <a:avLst/>
          </a:prstGeom>
          <a:noFill/>
          <a:ln>
            <a:noFill/>
          </a:ln>
          <a:effectLst/>
        </p:spPr>
        <p:txBody>
          <a:bodyPr wrap="square" lIns="0" tIns="0" rIns="0" bIns="0" rtlCol="0" anchor="t">
            <a:noAutofit/>
          </a:bodyPr>
          <a:lstStyle/>
          <a:p>
            <a:pPr algn="r" marL="0" indent="0">
              <a:lnSpc>
                <a:spcPct val="100000"/>
              </a:lnSpc>
              <a:spcBef>
                <a:spcPts val="0"/>
              </a:spcBef>
              <a:spcAft>
                <a:spcPts val="0"/>
              </a:spcAft>
              <a:buNone/>
            </a:pPr>
            <a:r>
              <a:rPr lang="es-PE" sz="900" b="0" i="1" dirty="0">
                <a:solidFill>
                  <a:srgbClr val="7A8494"/>
                </a:solidFill>
                <a:latin typeface="Arial"/>
                <a:cs typeface="Arial"/>
              </a:rPr>
              <a:t>orden de la exposición</a:t>
            </a:r>
          </a:p>
        </p:txBody>
      </p:sp>
      <p:sp>
        <p:nvSpPr>
          <p:cNvPr id="33" name="Chip 0"/>
          <p:cNvSpPr/>
          <p:nvPr/>
        </p:nvSpPr>
        <p:spPr>
          <a:xfrm>
            <a:off x="1536192" y="3803904"/>
            <a:ext cx="1517904" cy="676656"/>
          </a:xfrm>
          <a:prstGeom prst="rect">
            <a:avLst/>
          </a:prstGeom>
          <a:solidFill>
            <a:srgbClr val="FFFFFF"/>
          </a:solidFill>
          <a:ln w="9525">
            <a:solidFill>
              <a:srgbClr val="CFD6DF"/>
            </a:solidFill>
          </a:ln>
          <a:effectLst/>
        </p:spPr>
        <p:txBody>
          <a:bodyPr wrap="square" lIns="109728" tIns="36576" rIns="73152" bIns="36576" rtlCol="0" anchor="ctr">
            <a:noAutofit/>
          </a:bodyPr>
          <a:lstStyle/>
          <a:p>
            <a:pPr algn="l" marL="0" indent="0">
              <a:lnSpc>
                <a:spcPct val="100000"/>
              </a:lnSpc>
              <a:spcBef>
                <a:spcPts val="0"/>
              </a:spcBef>
              <a:spcAft>
                <a:spcPts val="150"/>
              </a:spcAft>
              <a:buNone/>
            </a:pPr>
            <a:r>
              <a:rPr lang="es-PE" sz="850" b="1" i="0" dirty="0">
                <a:solidFill>
                  <a:srgbClr val="7A8494"/>
                </a:solidFill>
                <a:latin typeface="Arial"/>
                <a:cs typeface="Arial"/>
              </a:rPr>
              <a:t>ETAPA 2 · P1–P2</a:t>
            </a:r>
          </a:p>
          <a:p>
            <a:pPr algn="l" marL="0" indent="0">
              <a:lnSpc>
                <a:spcPct val="100000"/>
              </a:lnSpc>
              <a:spcBef>
                <a:spcPts val="0"/>
              </a:spcBef>
              <a:spcAft>
                <a:spcPts val="0"/>
              </a:spcAft>
              <a:buNone/>
            </a:pPr>
            <a:r>
              <a:rPr lang="es-PE" sz="950" b="0" i="0" dirty="0">
                <a:solidFill>
                  <a:srgbClr val="7A8494"/>
                </a:solidFill>
                <a:latin typeface="Arial"/>
                <a:cs typeface="Arial"/>
              </a:rPr>
              <a:t>Focalización y función</a:t>
            </a:r>
          </a:p>
        </p:txBody>
      </p:sp>
      <p:sp>
        <p:nvSpPr>
          <p:cNvPr id="34" name="Chev 0"/>
          <p:cNvSpPr txBox="1"/>
          <p:nvPr/>
        </p:nvSpPr>
        <p:spPr>
          <a:xfrm>
            <a:off x="3054096" y="3986784"/>
            <a:ext cx="182880"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400" b="1" i="0" dirty="0">
                <a:solidFill>
                  <a:srgbClr val="7A8494"/>
                </a:solidFill>
                <a:latin typeface="Arial"/>
                <a:cs typeface="Arial"/>
              </a:rPr>
              <a:t>›</a:t>
            </a:r>
          </a:p>
        </p:txBody>
      </p:sp>
      <p:sp>
        <p:nvSpPr>
          <p:cNvPr id="35" name="Chip 1"/>
          <p:cNvSpPr/>
          <p:nvPr/>
        </p:nvSpPr>
        <p:spPr>
          <a:xfrm>
            <a:off x="3236976" y="3803904"/>
            <a:ext cx="1737360" cy="676656"/>
          </a:xfrm>
          <a:prstGeom prst="rect">
            <a:avLst/>
          </a:prstGeom>
          <a:solidFill>
            <a:srgbClr val="FFFFFF"/>
          </a:solidFill>
          <a:ln w="9525">
            <a:solidFill>
              <a:srgbClr val="CFD6DF"/>
            </a:solidFill>
          </a:ln>
          <a:effectLst/>
        </p:spPr>
        <p:txBody>
          <a:bodyPr wrap="square" lIns="109728" tIns="36576" rIns="73152" bIns="36576" rtlCol="0" anchor="ctr">
            <a:noAutofit/>
          </a:bodyPr>
          <a:lstStyle/>
          <a:p>
            <a:pPr algn="l" marL="0" indent="0">
              <a:lnSpc>
                <a:spcPct val="100000"/>
              </a:lnSpc>
              <a:spcBef>
                <a:spcPts val="0"/>
              </a:spcBef>
              <a:spcAft>
                <a:spcPts val="150"/>
              </a:spcAft>
              <a:buNone/>
            </a:pPr>
            <a:r>
              <a:rPr lang="es-PE" sz="1000" b="1" i="0" dirty="0">
                <a:solidFill>
                  <a:srgbClr val="C3094A"/>
                </a:solidFill>
                <a:latin typeface="Arial"/>
                <a:cs typeface="Arial"/>
              </a:rPr>
              <a:t>4.1</a:t>
            </a:r>
          </a:p>
          <a:p>
            <a:pPr algn="l" marL="0" indent="0">
              <a:lnSpc>
                <a:spcPct val="100000"/>
              </a:lnSpc>
              <a:spcBef>
                <a:spcPts val="0"/>
              </a:spcBef>
              <a:spcAft>
                <a:spcPts val="0"/>
              </a:spcAft>
              <a:buNone/>
            </a:pPr>
            <a:r>
              <a:rPr lang="es-PE" sz="1050" b="1" i="0" dirty="0">
                <a:solidFill>
                  <a:srgbClr val="042354"/>
                </a:solidFill>
                <a:latin typeface="Arial"/>
                <a:cs typeface="Arial"/>
              </a:rPr>
              <a:t>Causa física</a:t>
            </a:r>
          </a:p>
        </p:txBody>
      </p:sp>
      <p:sp>
        <p:nvSpPr>
          <p:cNvPr id="36" name="Chev 1"/>
          <p:cNvSpPr txBox="1"/>
          <p:nvPr/>
        </p:nvSpPr>
        <p:spPr>
          <a:xfrm>
            <a:off x="4974336" y="3986784"/>
            <a:ext cx="182880"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400" b="1" i="0" dirty="0">
                <a:solidFill>
                  <a:srgbClr val="7A8494"/>
                </a:solidFill>
                <a:latin typeface="Arial"/>
                <a:cs typeface="Arial"/>
              </a:rPr>
              <a:t>›</a:t>
            </a:r>
          </a:p>
        </p:txBody>
      </p:sp>
      <p:sp>
        <p:nvSpPr>
          <p:cNvPr id="37" name="Chip 2"/>
          <p:cNvSpPr/>
          <p:nvPr/>
        </p:nvSpPr>
        <p:spPr>
          <a:xfrm>
            <a:off x="5157216" y="3803904"/>
            <a:ext cx="1737360" cy="676656"/>
          </a:xfrm>
          <a:prstGeom prst="rect">
            <a:avLst/>
          </a:prstGeom>
          <a:solidFill>
            <a:srgbClr val="FFFFFF"/>
          </a:solidFill>
          <a:ln w="9525">
            <a:solidFill>
              <a:srgbClr val="CFD6DF"/>
            </a:solidFill>
          </a:ln>
          <a:effectLst/>
        </p:spPr>
        <p:txBody>
          <a:bodyPr wrap="square" lIns="109728" tIns="36576" rIns="73152" bIns="36576" rtlCol="0" anchor="ctr">
            <a:noAutofit/>
          </a:bodyPr>
          <a:lstStyle/>
          <a:p>
            <a:pPr algn="l" marL="0" indent="0">
              <a:lnSpc>
                <a:spcPct val="100000"/>
              </a:lnSpc>
              <a:spcBef>
                <a:spcPts val="0"/>
              </a:spcBef>
              <a:spcAft>
                <a:spcPts val="150"/>
              </a:spcAft>
              <a:buNone/>
            </a:pPr>
            <a:r>
              <a:rPr lang="es-PE" sz="1000" b="1" i="0" dirty="0">
                <a:solidFill>
                  <a:srgbClr val="C3094A"/>
                </a:solidFill>
                <a:latin typeface="Arial"/>
                <a:cs typeface="Arial"/>
              </a:rPr>
              <a:t>4.2</a:t>
            </a:r>
          </a:p>
          <a:p>
            <a:pPr algn="l" marL="0" indent="0">
              <a:lnSpc>
                <a:spcPct val="100000"/>
              </a:lnSpc>
              <a:spcBef>
                <a:spcPts val="0"/>
              </a:spcBef>
              <a:spcAft>
                <a:spcPts val="0"/>
              </a:spcAft>
              <a:buNone/>
            </a:pPr>
            <a:r>
              <a:rPr lang="es-PE" sz="1050" b="1" i="0" dirty="0">
                <a:solidFill>
                  <a:srgbClr val="042354"/>
                </a:solidFill>
                <a:latin typeface="Arial"/>
                <a:cs typeface="Arial"/>
              </a:rPr>
              <a:t>Análisis de causa raíz</a:t>
            </a:r>
          </a:p>
        </p:txBody>
      </p:sp>
      <p:sp>
        <p:nvSpPr>
          <p:cNvPr id="38" name="Chev 2"/>
          <p:cNvSpPr txBox="1"/>
          <p:nvPr/>
        </p:nvSpPr>
        <p:spPr>
          <a:xfrm>
            <a:off x="6894576" y="3986784"/>
            <a:ext cx="182880"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400" b="1" i="0" dirty="0">
                <a:solidFill>
                  <a:srgbClr val="7A8494"/>
                </a:solidFill>
                <a:latin typeface="Arial"/>
                <a:cs typeface="Arial"/>
              </a:rPr>
              <a:t>›</a:t>
            </a:r>
          </a:p>
        </p:txBody>
      </p:sp>
      <p:sp>
        <p:nvSpPr>
          <p:cNvPr id="39" name="Chip 3"/>
          <p:cNvSpPr/>
          <p:nvPr/>
        </p:nvSpPr>
        <p:spPr>
          <a:xfrm>
            <a:off x="7077456" y="3803904"/>
            <a:ext cx="1737360" cy="676656"/>
          </a:xfrm>
          <a:prstGeom prst="rect">
            <a:avLst/>
          </a:prstGeom>
          <a:solidFill>
            <a:srgbClr val="FFFFFF"/>
          </a:solidFill>
          <a:ln w="9525">
            <a:solidFill>
              <a:srgbClr val="CFD6DF"/>
            </a:solidFill>
          </a:ln>
          <a:effectLst/>
        </p:spPr>
        <p:txBody>
          <a:bodyPr wrap="square" lIns="109728" tIns="36576" rIns="73152" bIns="36576" rtlCol="0" anchor="ctr">
            <a:noAutofit/>
          </a:bodyPr>
          <a:lstStyle/>
          <a:p>
            <a:pPr algn="l" marL="0" indent="0">
              <a:lnSpc>
                <a:spcPct val="100000"/>
              </a:lnSpc>
              <a:spcBef>
                <a:spcPts val="0"/>
              </a:spcBef>
              <a:spcAft>
                <a:spcPts val="150"/>
              </a:spcAft>
              <a:buNone/>
            </a:pPr>
            <a:r>
              <a:rPr lang="es-PE" sz="1000" b="1" i="0" dirty="0">
                <a:solidFill>
                  <a:srgbClr val="C3094A"/>
                </a:solidFill>
                <a:latin typeface="Arial"/>
                <a:cs typeface="Arial"/>
              </a:rPr>
              <a:t>4.3</a:t>
            </a:r>
          </a:p>
          <a:p>
            <a:pPr algn="l" marL="0" indent="0">
              <a:lnSpc>
                <a:spcPct val="100000"/>
              </a:lnSpc>
              <a:spcBef>
                <a:spcPts val="0"/>
              </a:spcBef>
              <a:spcAft>
                <a:spcPts val="0"/>
              </a:spcAft>
              <a:buNone/>
            </a:pPr>
            <a:r>
              <a:rPr lang="es-PE" sz="1050" b="1" i="0" dirty="0">
                <a:solidFill>
                  <a:srgbClr val="042354"/>
                </a:solidFill>
                <a:latin typeface="Arial"/>
                <a:cs typeface="Arial"/>
              </a:rPr>
              <a:t>Decisión de rediseño</a:t>
            </a:r>
          </a:p>
        </p:txBody>
      </p:sp>
      <p:sp>
        <p:nvSpPr>
          <p:cNvPr id="40" name="Chev 3"/>
          <p:cNvSpPr txBox="1"/>
          <p:nvPr/>
        </p:nvSpPr>
        <p:spPr>
          <a:xfrm>
            <a:off x="8814816" y="3986784"/>
            <a:ext cx="182880"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400" b="1" i="0" dirty="0">
                <a:solidFill>
                  <a:srgbClr val="7A8494"/>
                </a:solidFill>
                <a:latin typeface="Arial"/>
                <a:cs typeface="Arial"/>
              </a:rPr>
              <a:t>›</a:t>
            </a:r>
          </a:p>
        </p:txBody>
      </p:sp>
      <p:sp>
        <p:nvSpPr>
          <p:cNvPr id="41" name="Chip 4"/>
          <p:cNvSpPr/>
          <p:nvPr/>
        </p:nvSpPr>
        <p:spPr>
          <a:xfrm>
            <a:off x="8997696" y="3803904"/>
            <a:ext cx="2103120" cy="676656"/>
          </a:xfrm>
          <a:prstGeom prst="rect">
            <a:avLst/>
          </a:prstGeom>
          <a:solidFill>
            <a:srgbClr val="FFFFFF"/>
          </a:solidFill>
          <a:ln w="9525">
            <a:solidFill>
              <a:srgbClr val="CFD6DF"/>
            </a:solidFill>
          </a:ln>
          <a:effectLst/>
        </p:spPr>
        <p:txBody>
          <a:bodyPr wrap="square" lIns="109728" tIns="36576" rIns="73152" bIns="36576" rtlCol="0" anchor="ctr">
            <a:noAutofit/>
          </a:bodyPr>
          <a:lstStyle/>
          <a:p>
            <a:pPr algn="l" marL="0" indent="0">
              <a:lnSpc>
                <a:spcPct val="100000"/>
              </a:lnSpc>
              <a:spcBef>
                <a:spcPts val="0"/>
              </a:spcBef>
              <a:spcAft>
                <a:spcPts val="150"/>
              </a:spcAft>
              <a:buNone/>
            </a:pPr>
            <a:r>
              <a:rPr lang="es-PE" sz="1000" b="1" i="0" dirty="0">
                <a:solidFill>
                  <a:srgbClr val="C3094A"/>
                </a:solidFill>
                <a:latin typeface="Arial"/>
                <a:cs typeface="Arial"/>
              </a:rPr>
              <a:t>4.4</a:t>
            </a:r>
          </a:p>
          <a:p>
            <a:pPr algn="l" marL="0" indent="0">
              <a:lnSpc>
                <a:spcPct val="100000"/>
              </a:lnSpc>
              <a:spcBef>
                <a:spcPts val="0"/>
              </a:spcBef>
              <a:spcAft>
                <a:spcPts val="0"/>
              </a:spcAft>
              <a:buNone/>
            </a:pPr>
            <a:r>
              <a:rPr lang="es-PE" sz="1050" b="1" i="0" dirty="0">
                <a:solidFill>
                  <a:srgbClr val="042354"/>
                </a:solidFill>
                <a:latin typeface="Arial"/>
                <a:cs typeface="Arial"/>
              </a:rPr>
              <a:t>Recuperación de indicadores y costo evitado</a:t>
            </a:r>
          </a:p>
        </p:txBody>
      </p:sp>
      <p:sp>
        <p:nvSpPr>
          <p:cNvPr id="42" name="Fila 05"/>
          <p:cNvSpPr/>
          <p:nvPr/>
        </p:nvSpPr>
        <p:spPr>
          <a:xfrm>
            <a:off x="841248" y="4681728"/>
            <a:ext cx="10515600" cy="475488"/>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43" name="Num 05"/>
          <p:cNvSpPr/>
          <p:nvPr/>
        </p:nvSpPr>
        <p:spPr>
          <a:xfrm>
            <a:off x="841248" y="4681728"/>
            <a:ext cx="475488" cy="475488"/>
          </a:xfrm>
          <a:prstGeom prst="rect">
            <a:avLst/>
          </a:prstGeom>
          <a:solidFill>
            <a:srgbClr val="042354"/>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marL="0" indent="0">
              <a:lnSpc>
                <a:spcPct val="100000"/>
              </a:lnSpc>
              <a:spcBef>
                <a:spcPts val="0"/>
              </a:spcBef>
              <a:spcAft>
                <a:spcPts val="0"/>
              </a:spcAft>
              <a:buNone/>
            </a:pPr>
            <a:r>
              <a:rPr lang="es-PE" sz="1200" b="1" i="0" dirty="0">
                <a:solidFill>
                  <a:srgbClr val="FFFFFF"/>
                </a:solidFill>
                <a:latin typeface="Arial"/>
                <a:cs typeface="Arial"/>
              </a:rPr>
              <a:t>05</a:t>
            </a:r>
          </a:p>
        </p:txBody>
      </p:sp>
      <p:sp>
        <p:nvSpPr>
          <p:cNvPr id="44" name="Conclusiones"/>
          <p:cNvSpPr txBox="1"/>
          <p:nvPr/>
        </p:nvSpPr>
        <p:spPr>
          <a:xfrm>
            <a:off x="1536192" y="4791456"/>
            <a:ext cx="9601200" cy="256032"/>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1400" b="0" i="0" dirty="0">
                <a:solidFill>
                  <a:srgbClr val="042354"/>
                </a:solidFill>
                <a:latin typeface="Arial"/>
                <a:cs typeface="Arial"/>
              </a:rPr>
              <a:t>Conclusiones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Problemática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3</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41248" y="1426464"/>
            <a:ext cx="3353799" cy="3346704"/>
          </a:xfrm>
          <a:prstGeom prst="rect">
            <a:avLst/>
          </a:prstGeom>
          <a:noFill/>
          <a:ln>
            <a:noFill/>
          </a:ln>
        </p:spPr>
      </p:pic>
      <p:sp>
        <p:nvSpPr>
          <p:cNvPr id="19" name="TextBox 18"/>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01 · PROBLEMÁTICA  |  ETAPA 1 · DESEMPEÑO PREVIO</a:t>
            </a:r>
          </a:p>
        </p:txBody>
      </p:sp>
      <p:sp>
        <p:nvSpPr>
          <p:cNvPr id="20" name="TextBox 19"/>
          <p:cNvSpPr txBox="1"/>
          <p:nvPr/>
        </p:nvSpPr>
        <p:spPr>
          <a:xfrm>
            <a:off x="841248" y="4809744"/>
            <a:ext cx="3536679" cy="18288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Indicadores de la flota 2022-2024. Fuente: registro de paradas.</a:t>
            </a:r>
          </a:p>
        </p:txBody>
      </p:sp>
      <p:sp>
        <p:nvSpPr>
          <p:cNvPr id="21" name="TextBox 20"/>
          <p:cNvSpPr txBox="1"/>
          <p:nvPr/>
        </p:nvSpPr>
        <p:spPr>
          <a:xfrm>
            <a:off x="4487655" y="1389888"/>
            <a:ext cx="6869192"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METAS CONTRACTUALES · DIEZ CAMIONES 980E-5 DE 400 t</a:t>
            </a:r>
          </a:p>
        </p:txBody>
      </p:sp>
      <p:sp>
        <p:nvSpPr>
          <p:cNvPr id="22" name="Rectangle 21"/>
          <p:cNvSpPr/>
          <p:nvPr/>
        </p:nvSpPr>
        <p:spPr>
          <a:xfrm>
            <a:off x="4487655" y="1664208"/>
            <a:ext cx="2216578"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3" name="Rectangle 22"/>
          <p:cNvSpPr/>
          <p:nvPr/>
        </p:nvSpPr>
        <p:spPr>
          <a:xfrm>
            <a:off x="4487655" y="1664208"/>
            <a:ext cx="2216578"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TextBox 23"/>
          <p:cNvSpPr txBox="1"/>
          <p:nvPr/>
        </p:nvSpPr>
        <p:spPr>
          <a:xfrm>
            <a:off x="4615671" y="1700784"/>
            <a:ext cx="2033698" cy="566928"/>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C3094A"/>
                </a:solidFill>
                <a:latin typeface="Arial"/>
              </a:rPr>
              <a:t>91,0 %</a:t>
            </a:r>
          </a:p>
          <a:p>
            <a:pPr algn="l">
              <a:lnSpc>
                <a:spcPct val="100000"/>
              </a:lnSpc>
              <a:spcBef>
                <a:spcPts val="0"/>
              </a:spcBef>
              <a:spcAft>
                <a:spcPts val="0"/>
              </a:spcAft>
            </a:pPr>
            <a:r>
              <a:rPr lang="es-ES" sz="800" b="0" i="0" noProof="0" dirty="0">
                <a:solidFill>
                  <a:srgbClr val="4A5568"/>
                </a:solidFill>
                <a:latin typeface="Arial"/>
              </a:rPr>
              <a:t>meta de disponibilidad</a:t>
            </a:r>
          </a:p>
        </p:txBody>
      </p:sp>
      <p:sp>
        <p:nvSpPr>
          <p:cNvPr id="25" name="Rectangle 24"/>
          <p:cNvSpPr/>
          <p:nvPr/>
        </p:nvSpPr>
        <p:spPr>
          <a:xfrm>
            <a:off x="6813962" y="1664208"/>
            <a:ext cx="2216578"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6" name="Rectangle 25"/>
          <p:cNvSpPr/>
          <p:nvPr/>
        </p:nvSpPr>
        <p:spPr>
          <a:xfrm>
            <a:off x="6813962" y="1664208"/>
            <a:ext cx="2216578"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7" name="TextBox 26"/>
          <p:cNvSpPr txBox="1"/>
          <p:nvPr/>
        </p:nvSpPr>
        <p:spPr>
          <a:xfrm>
            <a:off x="6941978" y="1700784"/>
            <a:ext cx="2033698" cy="566928"/>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C3094A"/>
                </a:solidFill>
                <a:latin typeface="Arial"/>
              </a:rPr>
              <a:t>64,5 h</a:t>
            </a:r>
          </a:p>
          <a:p>
            <a:pPr algn="l">
              <a:lnSpc>
                <a:spcPct val="100000"/>
              </a:lnSpc>
              <a:spcBef>
                <a:spcPts val="0"/>
              </a:spcBef>
              <a:spcAft>
                <a:spcPts val="0"/>
              </a:spcAft>
            </a:pPr>
            <a:r>
              <a:rPr lang="es-ES" sz="800" b="0" i="0" noProof="0" dirty="0">
                <a:solidFill>
                  <a:srgbClr val="4A5568"/>
                </a:solidFill>
                <a:latin typeface="Arial"/>
              </a:rPr>
              <a:t>objetivo de MTBF</a:t>
            </a:r>
          </a:p>
        </p:txBody>
      </p:sp>
      <p:sp>
        <p:nvSpPr>
          <p:cNvPr id="28" name="Rectangle 27"/>
          <p:cNvSpPr/>
          <p:nvPr/>
        </p:nvSpPr>
        <p:spPr>
          <a:xfrm>
            <a:off x="9140269" y="1664208"/>
            <a:ext cx="2216578"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9" name="Rectangle 28"/>
          <p:cNvSpPr/>
          <p:nvPr/>
        </p:nvSpPr>
        <p:spPr>
          <a:xfrm>
            <a:off x="9140269" y="1664208"/>
            <a:ext cx="2216578"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0" name="TextBox 29"/>
          <p:cNvSpPr txBox="1"/>
          <p:nvPr/>
        </p:nvSpPr>
        <p:spPr>
          <a:xfrm>
            <a:off x="9268285" y="1700784"/>
            <a:ext cx="2033698" cy="566928"/>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C3094A"/>
                </a:solidFill>
                <a:latin typeface="Arial"/>
              </a:rPr>
              <a:t>4,0 h</a:t>
            </a:r>
          </a:p>
          <a:p>
            <a:pPr algn="l">
              <a:lnSpc>
                <a:spcPct val="100000"/>
              </a:lnSpc>
              <a:spcBef>
                <a:spcPts val="0"/>
              </a:spcBef>
              <a:spcAft>
                <a:spcPts val="0"/>
              </a:spcAft>
            </a:pPr>
            <a:r>
              <a:rPr lang="es-ES" sz="800" b="0" i="0" noProof="0" dirty="0">
                <a:solidFill>
                  <a:srgbClr val="4A5568"/>
                </a:solidFill>
                <a:latin typeface="Arial"/>
              </a:rPr>
              <a:t>límite de MTTR</a:t>
            </a:r>
          </a:p>
        </p:txBody>
      </p:sp>
      <p:sp>
        <p:nvSpPr>
          <p:cNvPr id="31" name="TextBox 30"/>
          <p:cNvSpPr txBox="1"/>
          <p:nvPr/>
        </p:nvSpPr>
        <p:spPr>
          <a:xfrm>
            <a:off x="4487655" y="2414016"/>
            <a:ext cx="6869192"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LA FALLA MÁS CRÍTICA · FRACTURA POR FATIGA DEL EJE PALIER</a:t>
            </a:r>
          </a:p>
        </p:txBody>
      </p:sp>
      <p:pic>
        <p:nvPicPr>
          <p:cNvPr id="32" name="Picture 31" descr="image.png"/>
          <p:cNvPicPr>
            <a:picLocks noChangeAspect="1"/>
          </p:cNvPicPr>
          <p:nvPr/>
        </p:nvPicPr>
        <p:blipFill>
          <a:blip r:embed="rId5"/>
          <a:stretch>
            <a:fillRect/>
          </a:stretch>
        </p:blipFill>
        <p:spPr>
          <a:xfrm>
            <a:off x="5041891" y="2688336"/>
            <a:ext cx="5760720" cy="1418088"/>
          </a:xfrm>
          <a:prstGeom prst="rect">
            <a:avLst/>
          </a:prstGeom>
        </p:spPr>
      </p:pic>
      <p:sp>
        <p:nvSpPr>
          <p:cNvPr id="33" name="TextBox 32"/>
          <p:cNvSpPr txBox="1"/>
          <p:nvPr/>
        </p:nvSpPr>
        <p:spPr>
          <a:xfrm>
            <a:off x="5041891" y="4133856"/>
            <a:ext cx="5760720" cy="136384"/>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Eje palier fracturado. Informe DIESA</a:t>
            </a:r>
          </a:p>
        </p:txBody>
      </p:sp>
      <p:sp>
        <p:nvSpPr>
          <p:cNvPr id="34" name="Rectangle 33"/>
          <p:cNvSpPr/>
          <p:nvPr/>
        </p:nvSpPr>
        <p:spPr>
          <a:xfrm>
            <a:off x="4487655"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5" name="Rectangle 34"/>
          <p:cNvSpPr/>
          <p:nvPr/>
        </p:nvSpPr>
        <p:spPr>
          <a:xfrm>
            <a:off x="4487655"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6" name="TextBox 35"/>
          <p:cNvSpPr txBox="1"/>
          <p:nvPr/>
        </p:nvSpPr>
        <p:spPr>
          <a:xfrm>
            <a:off x="4597383"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042354"/>
                </a:solidFill>
                <a:latin typeface="Arial"/>
              </a:rPr>
              <a:t>13</a:t>
            </a:r>
          </a:p>
          <a:p>
            <a:pPr algn="l">
              <a:lnSpc>
                <a:spcPct val="100000"/>
              </a:lnSpc>
              <a:spcBef>
                <a:spcPts val="0"/>
              </a:spcBef>
              <a:spcAft>
                <a:spcPts val="0"/>
              </a:spcAft>
            </a:pPr>
            <a:r>
              <a:rPr lang="es-ES" sz="800" b="0" i="0" noProof="0" dirty="0">
                <a:solidFill>
                  <a:srgbClr val="4A5568"/>
                </a:solidFill>
                <a:latin typeface="Arial"/>
              </a:rPr>
              <a:t>eventos en 36 meses</a:t>
            </a:r>
          </a:p>
        </p:txBody>
      </p:sp>
      <p:sp>
        <p:nvSpPr>
          <p:cNvPr id="37" name="Rectangle 36"/>
          <p:cNvSpPr/>
          <p:nvPr/>
        </p:nvSpPr>
        <p:spPr>
          <a:xfrm>
            <a:off x="6227813"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8" name="Rectangle 37"/>
          <p:cNvSpPr/>
          <p:nvPr/>
        </p:nvSpPr>
        <p:spPr>
          <a:xfrm>
            <a:off x="6227813"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9" name="TextBox 38"/>
          <p:cNvSpPr txBox="1"/>
          <p:nvPr/>
        </p:nvSpPr>
        <p:spPr>
          <a:xfrm>
            <a:off x="6337541"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042354"/>
                </a:solidFill>
                <a:latin typeface="Arial"/>
              </a:rPr>
              <a:t>59,3 h</a:t>
            </a:r>
          </a:p>
          <a:p>
            <a:pPr algn="l">
              <a:lnSpc>
                <a:spcPct val="100000"/>
              </a:lnSpc>
              <a:spcBef>
                <a:spcPts val="0"/>
              </a:spcBef>
              <a:spcAft>
                <a:spcPts val="0"/>
              </a:spcAft>
            </a:pPr>
            <a:r>
              <a:rPr lang="es-ES" sz="800" b="0" i="0" noProof="0" dirty="0">
                <a:solidFill>
                  <a:srgbClr val="4A5568"/>
                </a:solidFill>
                <a:latin typeface="Arial"/>
              </a:rPr>
              <a:t>de detención por evento</a:t>
            </a:r>
          </a:p>
        </p:txBody>
      </p:sp>
      <p:sp>
        <p:nvSpPr>
          <p:cNvPr id="40" name="Rectangle 39"/>
          <p:cNvSpPr/>
          <p:nvPr/>
        </p:nvSpPr>
        <p:spPr>
          <a:xfrm>
            <a:off x="7967971"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Rectangle 40"/>
          <p:cNvSpPr/>
          <p:nvPr/>
        </p:nvSpPr>
        <p:spPr>
          <a:xfrm>
            <a:off x="7967971"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8077699"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300" b="1" i="0" noProof="0" dirty="0">
                <a:solidFill>
                  <a:srgbClr val="042354"/>
                </a:solidFill>
                <a:latin typeface="Arial"/>
              </a:rPr>
              <a:t>US$ 763 393</a:t>
            </a:r>
          </a:p>
          <a:p>
            <a:pPr algn="l">
              <a:lnSpc>
                <a:spcPct val="100000"/>
              </a:lnSpc>
              <a:spcBef>
                <a:spcPts val="0"/>
              </a:spcBef>
              <a:spcAft>
                <a:spcPts val="0"/>
              </a:spcAft>
            </a:pPr>
            <a:r>
              <a:rPr lang="es-ES" sz="800" b="0" i="0" noProof="0" dirty="0">
                <a:solidFill>
                  <a:srgbClr val="4A5568"/>
                </a:solidFill>
                <a:latin typeface="Arial"/>
              </a:rPr>
              <a:t>por evento: evaluación y reparación mayor</a:t>
            </a:r>
          </a:p>
        </p:txBody>
      </p:sp>
      <p:sp>
        <p:nvSpPr>
          <p:cNvPr id="43" name="Rectangle 42"/>
          <p:cNvSpPr/>
          <p:nvPr/>
        </p:nvSpPr>
        <p:spPr>
          <a:xfrm>
            <a:off x="9708129"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4" name="Rectangle 43"/>
          <p:cNvSpPr/>
          <p:nvPr/>
        </p:nvSpPr>
        <p:spPr>
          <a:xfrm>
            <a:off x="9708129"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5" name="TextBox 44"/>
          <p:cNvSpPr txBox="1"/>
          <p:nvPr/>
        </p:nvSpPr>
        <p:spPr>
          <a:xfrm>
            <a:off x="9817857"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042354"/>
                </a:solidFill>
                <a:latin typeface="Arial"/>
              </a:rPr>
              <a:t>0,36 %</a:t>
            </a:r>
          </a:p>
          <a:p>
            <a:pPr algn="l">
              <a:lnSpc>
                <a:spcPct val="100000"/>
              </a:lnSpc>
              <a:spcBef>
                <a:spcPts val="0"/>
              </a:spcBef>
              <a:spcAft>
                <a:spcPts val="0"/>
              </a:spcAft>
            </a:pPr>
            <a:r>
              <a:rPr lang="es-ES" sz="800" b="0" i="0" noProof="0" dirty="0">
                <a:solidFill>
                  <a:srgbClr val="4A5568"/>
                </a:solidFill>
                <a:latin typeface="Arial"/>
              </a:rPr>
              <a:t>de disponibilidad de flota</a:t>
            </a:r>
          </a:p>
        </p:txBody>
      </p:sp>
      <p:sp>
        <p:nvSpPr>
          <p:cNvPr id="46" name="Rectangle 45"/>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7" name="TextBox 46"/>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La brecha contractual se debe a la frecuencia de fallas y a reparaciones largas; la más crítica, la fractura del eje palier, ocurría entre 7 000 y 17 000 h, frente a un TBO de 20 000 h.</a:t>
            </a:r>
          </a:p>
        </p:txBody>
      </p:sp>
      <p:sp>
        <p:nvSpPr>
          <p:cNvPr id="48"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49" name="Tracker E1"/>
          <p:cNvSpPr/>
          <p:nvPr/>
        </p:nvSpPr>
        <p:spPr>
          <a:xfrm>
            <a:off x="133502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1</a:t>
            </a:r>
          </a:p>
        </p:txBody>
      </p:sp>
      <p:sp>
        <p:nvSpPr>
          <p:cNvPr id="50"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51" name="Tracker E3"/>
          <p:cNvSpPr/>
          <p:nvPr/>
        </p:nvSpPr>
        <p:spPr>
          <a:xfrm>
            <a:off x="188366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52"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53"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54"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55"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56"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57"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58"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59"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60"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61"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01 · PROBLEMÁTICA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4</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ES" sz="900" b="1" i="0" noProof="0" dirty="0">
                <a:solidFill>
                  <a:srgbClr val="8FE4C6"/>
                </a:solidFill>
                <a:latin typeface="Arial"/>
              </a:rPr>
              <a:t>OBJETIVO GENERAL</a:t>
            </a:r>
          </a:p>
          <a:p>
            <a:pPr algn="l">
              <a:lnSpc>
                <a:spcPct val="116000"/>
              </a:lnSpc>
              <a:spcBef>
                <a:spcPts val="0"/>
              </a:spcBef>
              <a:spcAft>
                <a:spcPts val="400"/>
              </a:spcAft>
            </a:pPr>
            <a:r>
              <a:rPr lang="es-ES" sz="1200" b="0" i="0" noProof="0" dirty="0">
                <a:solidFill>
                  <a:srgbClr val="FFFFFF"/>
                </a:solidFill>
                <a:latin typeface="Arial"/>
              </a:rPr>
              <a:t>Recuperar los indicadores de mantenimiento </a:t>
            </a:r>
            <a:r>
              <a:rPr lang="es-ES" sz="1200" noProof="0" dirty="0">
                <a:solidFill>
                  <a:srgbClr val="FFFFFF"/>
                </a:solidFill>
              </a:rPr>
              <a:t>(</a:t>
            </a:r>
            <a:r>
              <a:rPr lang="es-ES" sz="1200" b="0" i="0" noProof="0" dirty="0">
                <a:solidFill>
                  <a:srgbClr val="FFFFFF"/>
                </a:solidFill>
                <a:latin typeface="Arial"/>
              </a:rPr>
              <a:t>MTBF, MTTR y disponibilidad</a:t>
            </a:r>
            <a:r>
              <a:rPr lang="es-ES" sz="1200" noProof="0" dirty="0">
                <a:solidFill>
                  <a:srgbClr val="FFFFFF"/>
                </a:solidFill>
              </a:rPr>
              <a:t>) </a:t>
            </a:r>
            <a:r>
              <a:rPr lang="es-ES"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02 · OBJETIVOS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noProof="0" dirty="0">
                <a:solidFill>
                  <a:srgbClr val="042354"/>
                </a:solidFill>
              </a:rPr>
              <a:t>Metodología y estructura del desarrollo</a:t>
            </a:r>
            <a:endParaRPr lang="es-ES"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5</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1</a:t>
            </a:r>
          </a:p>
          <a:p>
            <a:pPr algn="l">
              <a:lnSpc>
                <a:spcPct val="106000"/>
              </a:lnSpc>
              <a:spcBef>
                <a:spcPts val="0"/>
              </a:spcBef>
              <a:spcAft>
                <a:spcPts val="400"/>
              </a:spcAft>
            </a:pPr>
            <a:r>
              <a:rPr lang="es-ES" sz="1200" b="1" i="0" noProof="0" dirty="0">
                <a:solidFill>
                  <a:srgbClr val="042354"/>
                </a:solidFill>
                <a:latin typeface="Arial"/>
              </a:rPr>
              <a:t>Desempeño previo</a:t>
            </a:r>
          </a:p>
          <a:p>
            <a:pPr algn="l">
              <a:lnSpc>
                <a:spcPct val="112000"/>
              </a:lnSpc>
              <a:spcBef>
                <a:spcPts val="0"/>
              </a:spcBef>
              <a:spcAft>
                <a:spcPts val="400"/>
              </a:spcAft>
            </a:pPr>
            <a:r>
              <a:rPr lang="es-ES"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ES"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2</a:t>
            </a:r>
          </a:p>
          <a:p>
            <a:pPr algn="l">
              <a:lnSpc>
                <a:spcPct val="106000"/>
              </a:lnSpc>
              <a:spcBef>
                <a:spcPts val="0"/>
              </a:spcBef>
              <a:spcAft>
                <a:spcPts val="400"/>
              </a:spcAft>
            </a:pPr>
            <a:r>
              <a:rPr lang="es-ES" sz="1200" b="1" i="0" noProof="0" dirty="0">
                <a:solidFill>
                  <a:srgbClr val="042354"/>
                </a:solidFill>
                <a:latin typeface="Arial"/>
              </a:rPr>
              <a:t>Focalización</a:t>
            </a:r>
          </a:p>
          <a:p>
            <a:pPr algn="l">
              <a:lnSpc>
                <a:spcPct val="112000"/>
              </a:lnSpc>
              <a:spcBef>
                <a:spcPts val="0"/>
              </a:spcBef>
              <a:spcAft>
                <a:spcPts val="400"/>
              </a:spcAft>
            </a:pPr>
            <a:r>
              <a:rPr lang="es-ES"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ES"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3</a:t>
            </a:r>
          </a:p>
          <a:p>
            <a:pPr algn="l">
              <a:lnSpc>
                <a:spcPct val="106000"/>
              </a:lnSpc>
              <a:spcBef>
                <a:spcPts val="0"/>
              </a:spcBef>
              <a:spcAft>
                <a:spcPts val="400"/>
              </a:spcAft>
            </a:pPr>
            <a:r>
              <a:rPr lang="es-ES" sz="1200" b="1" i="0" noProof="0" dirty="0">
                <a:solidFill>
                  <a:srgbClr val="042354"/>
                </a:solidFill>
                <a:latin typeface="Arial"/>
              </a:rPr>
              <a:t>Proceso RCM</a:t>
            </a:r>
          </a:p>
          <a:p>
            <a:pPr algn="l">
              <a:lnSpc>
                <a:spcPct val="112000"/>
              </a:lnSpc>
              <a:spcBef>
                <a:spcPts val="0"/>
              </a:spcBef>
              <a:spcAft>
                <a:spcPts val="400"/>
              </a:spcAft>
            </a:pPr>
            <a:r>
              <a:rPr lang="es-ES"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ES"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4</a:t>
            </a:r>
          </a:p>
          <a:p>
            <a:pPr algn="l">
              <a:lnSpc>
                <a:spcPct val="106000"/>
              </a:lnSpc>
              <a:spcBef>
                <a:spcPts val="0"/>
              </a:spcBef>
              <a:spcAft>
                <a:spcPts val="400"/>
              </a:spcAft>
            </a:pPr>
            <a:r>
              <a:rPr lang="es-ES" sz="1200" b="1" i="0" noProof="0" dirty="0">
                <a:solidFill>
                  <a:srgbClr val="042354"/>
                </a:solidFill>
                <a:latin typeface="Arial"/>
              </a:rPr>
              <a:t>Implementación
y verificación</a:t>
            </a:r>
          </a:p>
          <a:p>
            <a:pPr algn="l">
              <a:lnSpc>
                <a:spcPct val="112000"/>
              </a:lnSpc>
              <a:spcBef>
                <a:spcPts val="0"/>
              </a:spcBef>
              <a:spcAft>
                <a:spcPts val="400"/>
              </a:spcAft>
            </a:pPr>
            <a:r>
              <a:rPr lang="es-ES" sz="950" b="0" i="0" noProof="0" dirty="0">
                <a:solidFill>
                  <a:srgbClr val="4A5568"/>
                </a:solidFill>
                <a:latin typeface="Arial"/>
              </a:rPr>
              <a:t>Validación, control de
cambio y verificación</a:t>
            </a:r>
          </a:p>
        </p:txBody>
      </p:sp>
      <p:sp>
        <p:nvSpPr>
          <p:cNvPr id="21" name="TextBox 20"/>
          <p:cNvSpPr txBox="1"/>
          <p:nvPr/>
        </p:nvSpPr>
        <p:spPr>
          <a:xfrm>
            <a:off x="841248" y="304495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ETAPA 3 · LAS SIETE PREGUNTAS DE LA SAE JA1011 · EL ANÁLISIS SE CONCENTRA EN LAS PREGUNTAS 3, 6 Y 7</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1</a:t>
            </a:r>
          </a:p>
          <a:p>
            <a:pPr algn="l">
              <a:lnSpc>
                <a:spcPct val="112000"/>
              </a:lnSpc>
              <a:spcBef>
                <a:spcPts val="0"/>
              </a:spcBef>
              <a:spcAft>
                <a:spcPts val="400"/>
              </a:spcAft>
            </a:pPr>
            <a:r>
              <a:rPr lang="es-ES"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2</a:t>
            </a:r>
          </a:p>
          <a:p>
            <a:pPr algn="l">
              <a:lnSpc>
                <a:spcPct val="112000"/>
              </a:lnSpc>
              <a:spcBef>
                <a:spcPts val="0"/>
              </a:spcBef>
              <a:spcAft>
                <a:spcPts val="400"/>
              </a:spcAft>
            </a:pPr>
            <a:r>
              <a:rPr lang="es-ES"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8" name="TextBox 27"/>
          <p:cNvSpPr txBox="1"/>
          <p:nvPr/>
        </p:nvSpPr>
        <p:spPr>
          <a:xfrm>
            <a:off x="3984171" y="3547872"/>
            <a:ext cx="1196557" cy="484492"/>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FFFFFF"/>
                </a:solidFill>
                <a:latin typeface="Arial"/>
              </a:rPr>
              <a:t>3</a:t>
            </a:r>
          </a:p>
          <a:p>
            <a:pPr algn="l">
              <a:lnSpc>
                <a:spcPct val="112000"/>
              </a:lnSpc>
              <a:spcBef>
                <a:spcPts val="0"/>
              </a:spcBef>
              <a:spcAft>
                <a:spcPts val="400"/>
              </a:spcAft>
            </a:pPr>
            <a:r>
              <a:rPr lang="es-ES" sz="900" b="0" i="0" noProof="0" dirty="0">
                <a:solidFill>
                  <a:srgbClr val="FFFFFF"/>
                </a:solidFill>
                <a:latin typeface="Arial"/>
              </a:rPr>
              <a:t>Modos de falla</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4</a:t>
            </a:r>
          </a:p>
          <a:p>
            <a:pPr algn="l">
              <a:lnSpc>
                <a:spcPct val="112000"/>
              </a:lnSpc>
              <a:spcBef>
                <a:spcPts val="0"/>
              </a:spcBef>
              <a:spcAft>
                <a:spcPts val="400"/>
              </a:spcAft>
            </a:pPr>
            <a:r>
              <a:rPr lang="es-ES"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5</a:t>
            </a:r>
          </a:p>
          <a:p>
            <a:pPr algn="l">
              <a:lnSpc>
                <a:spcPct val="112000"/>
              </a:lnSpc>
              <a:spcBef>
                <a:spcPts val="0"/>
              </a:spcBef>
              <a:spcAft>
                <a:spcPts val="400"/>
              </a:spcAft>
            </a:pPr>
            <a:r>
              <a:rPr lang="es-ES"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FFFFFF"/>
                </a:solidFill>
                <a:latin typeface="Arial"/>
              </a:rPr>
              <a:t>6</a:t>
            </a:r>
          </a:p>
          <a:p>
            <a:pPr algn="l">
              <a:lnSpc>
                <a:spcPct val="112000"/>
              </a:lnSpc>
              <a:spcBef>
                <a:spcPts val="0"/>
              </a:spcBef>
              <a:spcAft>
                <a:spcPts val="400"/>
              </a:spcAft>
            </a:pPr>
            <a:r>
              <a:rPr lang="es-ES"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FFFFFF"/>
                </a:solidFill>
                <a:latin typeface="Arial"/>
              </a:rPr>
              <a:t>7</a:t>
            </a:r>
          </a:p>
          <a:p>
            <a:pPr algn="l">
              <a:lnSpc>
                <a:spcPct val="112000"/>
              </a:lnSpc>
              <a:spcBef>
                <a:spcPts val="0"/>
              </a:spcBef>
              <a:spcAft>
                <a:spcPts val="400"/>
              </a:spcAft>
            </a:pPr>
            <a:r>
              <a:rPr lang="es-ES" sz="900" b="0" i="0" noProof="0" dirty="0">
                <a:solidFill>
                  <a:srgbClr val="FFFFFF"/>
                </a:solidFill>
                <a:latin typeface="Arial"/>
              </a:rPr>
              <a:t>Acción "a falta de"</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03 · METODOLOGÍA</a:t>
            </a:r>
          </a:p>
        </p:txBody>
      </p:sp>
      <p:sp>
        <p:nvSpPr>
          <p:cNvPr id="42" name="Etapa tag 1"/>
          <p:cNvSpPr txBox="1"/>
          <p:nvPr/>
        </p:nvSpPr>
        <p:spPr>
          <a:xfrm>
            <a:off x="841248" y="2788920"/>
            <a:ext cx="269748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C3094A"/>
                </a:solidFill>
                <a:latin typeface="Arial"/>
                <a:cs typeface="Arial"/>
              </a:rPr>
              <a:t>→ 01 Problemática</a:t>
            </a:r>
          </a:p>
        </p:txBody>
      </p:sp>
      <p:sp>
        <p:nvSpPr>
          <p:cNvPr id="43" name="Etapa tag 2"/>
          <p:cNvSpPr txBox="1"/>
          <p:nvPr/>
        </p:nvSpPr>
        <p:spPr>
          <a:xfrm>
            <a:off x="3538728" y="2788920"/>
            <a:ext cx="269748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C3094A"/>
                </a:solidFill>
                <a:latin typeface="Arial"/>
                <a:cs typeface="Arial"/>
              </a:rPr>
              <a:t>→ 04 Desarrollo: focalización</a:t>
            </a:r>
          </a:p>
        </p:txBody>
      </p:sp>
      <p:sp>
        <p:nvSpPr>
          <p:cNvPr id="44" name="Etapa tag 3"/>
          <p:cNvSpPr txBox="1"/>
          <p:nvPr/>
        </p:nvSpPr>
        <p:spPr>
          <a:xfrm>
            <a:off x="6236208" y="2788920"/>
            <a:ext cx="269748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C3094A"/>
                </a:solidFill>
                <a:latin typeface="Arial"/>
                <a:cs typeface="Arial"/>
              </a:rPr>
              <a:t>→ 4.1 Causa física · 4.2 ACR · 4.3 Rediseño</a:t>
            </a:r>
          </a:p>
        </p:txBody>
      </p:sp>
      <p:sp>
        <p:nvSpPr>
          <p:cNvPr id="45" name="Etapa tag 4"/>
          <p:cNvSpPr txBox="1"/>
          <p:nvPr/>
        </p:nvSpPr>
        <p:spPr>
          <a:xfrm>
            <a:off x="8933688" y="2788920"/>
            <a:ext cx="269748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C3094A"/>
                </a:solidFill>
                <a:latin typeface="Arial"/>
                <a:cs typeface="Arial"/>
              </a:rPr>
              <a:t>→ 4.4 Recuperación y costo evitado</a:t>
            </a:r>
          </a:p>
        </p:txBody>
      </p:sp>
      <p:sp>
        <p:nvSpPr>
          <p:cNvPr id="46" name="Pregunta tag 1"/>
          <p:cNvSpPr txBox="1"/>
          <p:nvPr/>
        </p:nvSpPr>
        <p:spPr>
          <a:xfrm>
            <a:off x="950976" y="4498848"/>
            <a:ext cx="123444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7A8494"/>
                </a:solidFill>
                <a:latin typeface="Arial"/>
                <a:cs typeface="Arial"/>
              </a:rPr>
              <a:t>Breve</a:t>
            </a:r>
          </a:p>
        </p:txBody>
      </p:sp>
      <p:sp>
        <p:nvSpPr>
          <p:cNvPr id="47" name="Pregunta tag 2"/>
          <p:cNvSpPr txBox="1"/>
          <p:nvPr/>
        </p:nvSpPr>
        <p:spPr>
          <a:xfrm>
            <a:off x="2468880" y="4498848"/>
            <a:ext cx="123444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7A8494"/>
                </a:solidFill>
                <a:latin typeface="Arial"/>
                <a:cs typeface="Arial"/>
              </a:rPr>
              <a:t>Breve</a:t>
            </a:r>
          </a:p>
        </p:txBody>
      </p:sp>
      <p:sp>
        <p:nvSpPr>
          <p:cNvPr id="48" name="Pregunta tag 3"/>
          <p:cNvSpPr txBox="1"/>
          <p:nvPr/>
        </p:nvSpPr>
        <p:spPr>
          <a:xfrm>
            <a:off x="3986784" y="4343400"/>
            <a:ext cx="1234440" cy="36576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16C78E"/>
                </a:solidFill>
                <a:latin typeface="Arial"/>
                <a:cs typeface="Arial"/>
              </a:rPr>
              <a:t>4.1 Causa física</a:t>
            </a:r>
          </a:p>
          <a:p>
            <a:pPr algn="l" marL="0" indent="0">
              <a:lnSpc>
                <a:spcPct val="100000"/>
              </a:lnSpc>
              <a:spcBef>
                <a:spcPts val="0"/>
              </a:spcBef>
              <a:spcAft>
                <a:spcPts val="0"/>
              </a:spcAft>
              <a:buNone/>
            </a:pPr>
            <a:r>
              <a:rPr lang="es-PE" sz="850" b="1" i="0" dirty="0">
                <a:solidFill>
                  <a:srgbClr val="16C78E"/>
                </a:solidFill>
                <a:latin typeface="Arial"/>
                <a:cs typeface="Arial"/>
              </a:rPr>
              <a:t>4.2 ACR</a:t>
            </a:r>
          </a:p>
        </p:txBody>
      </p:sp>
      <p:sp>
        <p:nvSpPr>
          <p:cNvPr id="49" name="Pregunta tag 4"/>
          <p:cNvSpPr txBox="1"/>
          <p:nvPr/>
        </p:nvSpPr>
        <p:spPr>
          <a:xfrm>
            <a:off x="5504688" y="4498848"/>
            <a:ext cx="123444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7A8494"/>
                </a:solidFill>
                <a:latin typeface="Arial"/>
                <a:cs typeface="Arial"/>
              </a:rPr>
              <a:t>Breve</a:t>
            </a:r>
          </a:p>
        </p:txBody>
      </p:sp>
      <p:sp>
        <p:nvSpPr>
          <p:cNvPr id="50" name="Pregunta tag 5"/>
          <p:cNvSpPr txBox="1"/>
          <p:nvPr/>
        </p:nvSpPr>
        <p:spPr>
          <a:xfrm>
            <a:off x="7013448" y="4498848"/>
            <a:ext cx="123444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7A8494"/>
                </a:solidFill>
                <a:latin typeface="Arial"/>
                <a:cs typeface="Arial"/>
              </a:rPr>
              <a:t>Breve · sustenta P7</a:t>
            </a:r>
          </a:p>
        </p:txBody>
      </p:sp>
      <p:sp>
        <p:nvSpPr>
          <p:cNvPr id="51" name="Pregunta tag 6"/>
          <p:cNvSpPr txBox="1"/>
          <p:nvPr/>
        </p:nvSpPr>
        <p:spPr>
          <a:xfrm>
            <a:off x="8531352" y="4498848"/>
            <a:ext cx="123444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16C78E"/>
                </a:solidFill>
                <a:latin typeface="Arial"/>
                <a:cs typeface="Arial"/>
              </a:rPr>
              <a:t>4.3 Decisión</a:t>
            </a:r>
          </a:p>
        </p:txBody>
      </p:sp>
      <p:sp>
        <p:nvSpPr>
          <p:cNvPr id="52" name="Pregunta tag 7"/>
          <p:cNvSpPr txBox="1"/>
          <p:nvPr/>
        </p:nvSpPr>
        <p:spPr>
          <a:xfrm>
            <a:off x="10049256" y="4498848"/>
            <a:ext cx="1234440" cy="18288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850" b="1" i="0" dirty="0">
                <a:solidFill>
                  <a:srgbClr val="16C78E"/>
                </a:solidFill>
                <a:latin typeface="Arial"/>
                <a:cs typeface="Arial"/>
              </a:rPr>
              <a:t>4.3 Rediseño</a:t>
            </a:r>
          </a:p>
        </p:txBody>
      </p:sp>
      <p:sp>
        <p:nvSpPr>
          <p:cNvPr id="53" name="Enfasis barra"/>
          <p:cNvSpPr/>
          <p:nvPr/>
        </p:nvSpPr>
        <p:spPr>
          <a:xfrm>
            <a:off x="841248" y="4937760"/>
            <a:ext cx="45720" cy="585216"/>
          </a:xfrm>
          <a:prstGeom prst="rect">
            <a:avLst/>
          </a:prstGeom>
          <a:solidFill>
            <a:srgbClr val="C3094A"/>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54" name="Enfasis"/>
          <p:cNvSpPr txBox="1"/>
          <p:nvPr/>
        </p:nvSpPr>
        <p:spPr>
          <a:xfrm>
            <a:off x="1024128" y="4919472"/>
            <a:ext cx="10277856" cy="640080"/>
          </a:xfrm>
          <a:prstGeom prst="rect">
            <a:avLst/>
          </a:prstGeom>
          <a:noFill/>
          <a:ln>
            <a:noFill/>
          </a:ln>
          <a:effectLst/>
        </p:spPr>
        <p:txBody>
          <a:bodyPr wrap="square" lIns="0" tIns="0" rIns="0" bIns="0" rtlCol="0" anchor="t">
            <a:noAutofit/>
          </a:bodyPr>
          <a:lstStyle/>
          <a:p>
            <a:pPr algn="l" marL="0" indent="0">
              <a:lnSpc>
                <a:spcPct val="114000"/>
              </a:lnSpc>
              <a:spcBef>
                <a:spcPts val="0"/>
              </a:spcBef>
              <a:spcAft>
                <a:spcPts val="0"/>
              </a:spcAft>
              <a:buNone/>
            </a:pPr>
            <a:r>
              <a:rPr lang="es-PE" sz="1100" b="0" i="0" dirty="0">
                <a:solidFill>
                  <a:srgbClr val="042354"/>
                </a:solidFill>
                <a:latin typeface="Arial"/>
                <a:cs typeface="Arial"/>
              </a:rPr>
              <a:t>El RCM (SAE JA1011) —y el ACR dentro de la pregunta 3— es la </a:t>
            </a:r>
            <a:r>
              <a:rPr lang="es-PE" sz="1100" b="1" i="0" dirty="0">
                <a:solidFill>
                  <a:srgbClr val="042354"/>
                </a:solidFill>
                <a:latin typeface="Arial"/>
                <a:cs typeface="Arial"/>
              </a:rPr>
              <a:t>estructura de referencia que ordena el trabajo, no el método en sí</a:t>
            </a:r>
            <a:r>
              <a:rPr lang="es-PE" sz="1100" b="0" i="0" dirty="0">
                <a:solidFill>
                  <a:srgbClr val="042354"/>
                </a:solidFill>
                <a:latin typeface="Arial"/>
                <a:cs typeface="Arial"/>
              </a:rPr>
              <a:t>: son marcos pensados para anticipar fallas y este caso es reactivo, una falla recurrente que ya había ocurrido.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Focalización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6</a:t>
            </a:r>
          </a:p>
        </p:txBody>
      </p:sp>
      <p:pic>
        <p:nvPicPr>
          <p:cNvPr id="6" name="Picture 5" descr="pu_g2_criticidad.png"/>
          <p:cNvPicPr>
            <a:picLocks noChangeAspect="1"/>
          </p:cNvPicPr>
          <p:nvPr/>
        </p:nvPicPr>
        <p:blipFill>
          <a:blip r:embed="rId2"/>
          <a:stretch>
            <a:fillRect/>
          </a:stretch>
        </p:blipFill>
        <p:spPr>
          <a:xfrm>
            <a:off x="521208" y="1225296"/>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13" name="TextBox 12"/>
          <p:cNvSpPr txBox="1"/>
          <p:nvPr/>
        </p:nvSpPr>
        <p:spPr>
          <a:xfrm>
            <a:off x="7242048" y="2322631"/>
            <a:ext cx="4114800" cy="146194"/>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pérdida de tracción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Consecuencia consolidada C = </a:t>
            </a:r>
            <a:r>
              <a:rPr lang="es-ES" sz="900" b="0" i="0" noProof="0" dirty="0" err="1">
                <a:solidFill>
                  <a:srgbClr val="7A8494"/>
                </a:solidFill>
                <a:latin typeface="Arial"/>
              </a:rPr>
              <a:t>máx</a:t>
            </a:r>
            <a:r>
              <a:rPr lang="es-ES"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8" name="TextBox 27"/>
          <p:cNvSpPr txBox="1"/>
          <p:nvPr/>
        </p:nvSpPr>
        <p:spPr>
          <a:xfrm>
            <a:off x="1024128" y="5157216"/>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La acción que corresponde al cuadrante de criticidad alta es la eliminación de la causa raíz,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  |  ETAPA 2 · FOCALIZACIÓN</a:t>
            </a:r>
          </a:p>
        </p:txBody>
      </p:sp>
      <p:sp>
        <p:nvSpPr>
          <p:cNvPr id="31"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32"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3" name="Tracker E2"/>
          <p:cNvSpPr/>
          <p:nvPr/>
        </p:nvSpPr>
        <p:spPr>
          <a:xfrm>
            <a:off x="160934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2</a:t>
            </a:r>
          </a:p>
        </p:txBody>
      </p:sp>
      <p:sp>
        <p:nvSpPr>
          <p:cNvPr id="34" name="Tracker E3"/>
          <p:cNvSpPr/>
          <p:nvPr/>
        </p:nvSpPr>
        <p:spPr>
          <a:xfrm>
            <a:off x="188366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35"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36"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37"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8"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39"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40"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1"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42"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43"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44"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04 · DESARROLLO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Preguntas 1 y 2: función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7</a:t>
            </a:r>
          </a:p>
        </p:txBody>
      </p:sp>
      <p:pic>
        <p:nvPicPr>
          <p:cNvPr id="6" name="Picture 5" descr="motor_corte.png"/>
          <p:cNvPicPr>
            <a:picLocks noChangeAspect="1"/>
          </p:cNvPicPr>
          <p:nvPr/>
        </p:nvPicPr>
        <p:blipFill>
          <a:blip r:embed="rId2"/>
          <a:stretch>
            <a:fillRect/>
          </a:stretch>
        </p:blipFill>
        <p:spPr>
          <a:xfrm>
            <a:off x="624839" y="1362844"/>
            <a:ext cx="7004958" cy="3940289"/>
          </a:xfrm>
          <a:prstGeom prst="rect">
            <a:avLst/>
          </a:prstGeom>
        </p:spPr>
      </p:pic>
      <p:sp>
        <p:nvSpPr>
          <p:cNvPr id="7" name="TextBox 6"/>
          <p:cNvSpPr txBox="1"/>
          <p:nvPr/>
        </p:nvSpPr>
        <p:spPr>
          <a:xfrm>
            <a:off x="624839" y="5418790"/>
            <a:ext cx="603504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Configuración del tren de potencia del motor de tracción.</a:t>
            </a:r>
          </a:p>
        </p:txBody>
      </p:sp>
      <p:sp>
        <p:nvSpPr>
          <p:cNvPr id="8" name="Rectangle 7"/>
          <p:cNvSpPr/>
          <p:nvPr/>
        </p:nvSpPr>
        <p:spPr>
          <a:xfrm>
            <a:off x="7794390" y="1528571"/>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Rectangle 8"/>
          <p:cNvSpPr/>
          <p:nvPr/>
        </p:nvSpPr>
        <p:spPr>
          <a:xfrm>
            <a:off x="7794390" y="1528571"/>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TextBox 9"/>
          <p:cNvSpPr txBox="1"/>
          <p:nvPr/>
        </p:nvSpPr>
        <p:spPr>
          <a:xfrm>
            <a:off x="8013845" y="1656587"/>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ES" sz="900" b="1" i="0" noProof="0" dirty="0">
                <a:solidFill>
                  <a:srgbClr val="C3094A"/>
                </a:solidFill>
                <a:latin typeface="Arial"/>
              </a:rPr>
              <a:t>P1 · FUNCIÓN Y ESTÁNDAR</a:t>
            </a:r>
          </a:p>
          <a:p>
            <a:pPr algn="l">
              <a:lnSpc>
                <a:spcPct val="116000"/>
              </a:lnSpc>
              <a:spcBef>
                <a:spcPts val="0"/>
              </a:spcBef>
              <a:spcAft>
                <a:spcPts val="400"/>
              </a:spcAft>
            </a:pPr>
            <a:r>
              <a:rPr lang="es-ES" sz="1050" b="0" i="0" noProof="0" dirty="0">
                <a:solidFill>
                  <a:srgbClr val="191919"/>
                </a:solidFill>
                <a:latin typeface="Arial"/>
              </a:rPr>
              <a:t>Transmitir el par del motor eléctrico a la rueda (reducción 35 : 1), con tracción y retardo dinámico, durante 20 000 h entre reparaciones mayores.</a:t>
            </a:r>
          </a:p>
        </p:txBody>
      </p:sp>
      <p:sp>
        <p:nvSpPr>
          <p:cNvPr id="11" name="Rectangle 10"/>
          <p:cNvSpPr/>
          <p:nvPr/>
        </p:nvSpPr>
        <p:spPr>
          <a:xfrm>
            <a:off x="7794390" y="3083051"/>
            <a:ext cx="4224528" cy="11308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2" name="Rectangle 11"/>
          <p:cNvSpPr/>
          <p:nvPr/>
        </p:nvSpPr>
        <p:spPr>
          <a:xfrm>
            <a:off x="7794390" y="3083051"/>
            <a:ext cx="45720" cy="11308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3" name="TextBox 12"/>
          <p:cNvSpPr txBox="1"/>
          <p:nvPr/>
        </p:nvSpPr>
        <p:spPr>
          <a:xfrm>
            <a:off x="8013845" y="3211067"/>
            <a:ext cx="3840480" cy="768095"/>
          </a:xfrm>
          <a:prstGeom prst="rect">
            <a:avLst/>
          </a:prstGeom>
          <a:noFill/>
        </p:spPr>
        <p:txBody>
          <a:bodyPr wrap="square" lIns="0" tIns="0" rIns="0" bIns="0" anchor="t">
            <a:spAutoFit/>
          </a:bodyPr>
          <a:lstStyle/>
          <a:p>
            <a:pPr algn="l">
              <a:lnSpc>
                <a:spcPct val="114000"/>
              </a:lnSpc>
              <a:spcBef>
                <a:spcPts val="0"/>
              </a:spcBef>
              <a:spcAft>
                <a:spcPts val="500"/>
              </a:spcAft>
            </a:pPr>
            <a:r>
              <a:rPr lang="es-ES" sz="900" b="1" i="0" noProof="0" dirty="0">
                <a:solidFill>
                  <a:srgbClr val="2841DD"/>
                </a:solidFill>
                <a:latin typeface="Arial"/>
              </a:rPr>
              <a:t>P2 · FALLA FUNCIONAL</a:t>
            </a:r>
          </a:p>
          <a:p>
            <a:pPr algn="l">
              <a:lnSpc>
                <a:spcPct val="116000"/>
              </a:lnSpc>
              <a:spcBef>
                <a:spcPts val="0"/>
              </a:spcBef>
              <a:spcAft>
                <a:spcPts val="500"/>
              </a:spcAft>
            </a:pPr>
            <a:r>
              <a:rPr lang="es-ES" sz="1050" b="0" i="0" noProof="0" dirty="0">
                <a:solidFill>
                  <a:srgbClr val="191919"/>
                </a:solidFill>
                <a:latin typeface="Arial"/>
              </a:rPr>
              <a:t>El eje palier se fractura y el motor deja de transmitir par: la rueda queda libre y el camión pierde tracción.</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  |  ETAPA 3 (RCM) · PREGUNTAS 1 Y 2</a:t>
            </a:r>
          </a:p>
        </p:txBody>
      </p:sp>
      <p:sp>
        <p:nvSpPr>
          <p:cNvPr id="18" name="Foco"/>
          <p:cNvSpPr/>
          <p:nvPr/>
        </p:nvSpPr>
        <p:spPr>
          <a:xfrm>
            <a:off x="7790688" y="4407408"/>
            <a:ext cx="4224528" cy="896112"/>
          </a:xfrm>
          <a:prstGeom prst="rect">
            <a:avLst/>
          </a:prstGeom>
          <a:solidFill>
            <a:srgbClr val="042354"/>
          </a:solidFill>
          <a:ln>
            <a:noFill/>
          </a:ln>
        </p:spPr>
        <p:style>
          <a:lnRef idx="1">
            <a:schemeClr val="accent1"/>
          </a:lnRef>
          <a:fillRef idx="3">
            <a:schemeClr val="accent1"/>
          </a:fillRef>
          <a:effectRef idx="2">
            <a:schemeClr val="accent1"/>
          </a:effectRef>
          <a:fontRef idx="minor">
            <a:schemeClr val="lt1"/>
          </a:fontRef>
        </p:style>
        <p:txBody>
          <a:bodyPr wrap="square" lIns="201168" tIns="73152" rIns="164592" bIns="73152" rtlCol="0" anchor="ctr">
            <a:noAutofit/>
          </a:bodyPr>
          <a:lstStyle/>
          <a:p>
            <a:pPr algn="l" marL="0" indent="0">
              <a:lnSpc>
                <a:spcPct val="112000"/>
              </a:lnSpc>
              <a:spcBef>
                <a:spcPts val="0"/>
              </a:spcBef>
              <a:spcAft>
                <a:spcPts val="0"/>
              </a:spcAft>
              <a:buNone/>
            </a:pPr>
            <a:r>
              <a:rPr lang="es-PE" sz="1100" b="0" i="0" dirty="0">
                <a:solidFill>
                  <a:srgbClr val="FFFFFF"/>
                </a:solidFill>
                <a:latin typeface="Arial"/>
                <a:cs typeface="Arial"/>
              </a:rPr>
              <a:t>La falla funcional es evidente. El análisis se concentra en la </a:t>
            </a:r>
            <a:r>
              <a:rPr lang="es-PE" sz="1100" b="1" i="0" dirty="0">
                <a:solidFill>
                  <a:srgbClr val="FFFFFF"/>
                </a:solidFill>
                <a:latin typeface="Arial"/>
                <a:cs typeface="Arial"/>
              </a:rPr>
              <a:t>pregunta 3</a:t>
            </a:r>
            <a:r>
              <a:rPr lang="es-PE" sz="1100" b="0" i="0" dirty="0">
                <a:solidFill>
                  <a:srgbClr val="FFFFFF"/>
                </a:solidFill>
                <a:latin typeface="Arial"/>
                <a:cs typeface="Arial"/>
              </a:rPr>
              <a:t> (causa) y en las </a:t>
            </a:r>
            <a:r>
              <a:rPr lang="es-PE" sz="1100" b="1" i="0" dirty="0">
                <a:solidFill>
                  <a:srgbClr val="FFFFFF"/>
                </a:solidFill>
                <a:latin typeface="Arial"/>
                <a:cs typeface="Arial"/>
              </a:rPr>
              <a:t>preguntas 6 y 7</a:t>
            </a:r>
            <a:r>
              <a:rPr lang="es-PE" sz="1100" b="0" i="0" dirty="0">
                <a:solidFill>
                  <a:srgbClr val="FFFFFF"/>
                </a:solidFill>
                <a:latin typeface="Arial"/>
                <a:cs typeface="Arial"/>
              </a:rPr>
              <a:t> (decisión).</a:t>
            </a:r>
          </a:p>
        </p:txBody>
      </p:sp>
      <p:sp>
        <p:nvSpPr>
          <p:cNvPr id="19"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20"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21"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22"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23"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24"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25" name="Tracker P1"/>
          <p:cNvSpPr/>
          <p:nvPr/>
        </p:nvSpPr>
        <p:spPr>
          <a:xfrm>
            <a:off x="376732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1</a:t>
            </a:r>
          </a:p>
        </p:txBody>
      </p:sp>
      <p:sp>
        <p:nvSpPr>
          <p:cNvPr id="26" name="Tracker P2"/>
          <p:cNvSpPr/>
          <p:nvPr/>
        </p:nvSpPr>
        <p:spPr>
          <a:xfrm>
            <a:off x="404164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2</a:t>
            </a:r>
          </a:p>
        </p:txBody>
      </p:sp>
      <p:sp>
        <p:nvSpPr>
          <p:cNvPr id="27"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28"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29"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30"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31"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32"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04 · DESARROLLO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Análisis de causa raíz: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11</a:t>
            </a:r>
          </a:p>
        </p:txBody>
      </p:sp>
      <p:sp>
        <p:nvSpPr>
          <p:cNvPr id="21" name="TextBox 20"/>
          <p:cNvSpPr txBox="1"/>
          <p:nvPr/>
        </p:nvSpPr>
        <p:spPr>
          <a:xfrm>
            <a:off x="8568158" y="1379325"/>
            <a:ext cx="347472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LAS DOS HIPÓTESIS CONFIRMADAS</a:t>
            </a:r>
          </a:p>
        </p:txBody>
      </p:sp>
      <p:sp>
        <p:nvSpPr>
          <p:cNvPr id="23" name="Rectangle 22"/>
          <p:cNvSpPr/>
          <p:nvPr/>
        </p:nvSpPr>
        <p:spPr>
          <a:xfrm>
            <a:off x="8516343" y="1866177"/>
            <a:ext cx="3474489"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4" name="Rectangle 23"/>
          <p:cNvSpPr/>
          <p:nvPr/>
        </p:nvSpPr>
        <p:spPr>
          <a:xfrm>
            <a:off x="8530592" y="1872654"/>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5" name="TextBox 24"/>
          <p:cNvSpPr txBox="1"/>
          <p:nvPr/>
        </p:nvSpPr>
        <p:spPr>
          <a:xfrm>
            <a:off x="8625727" y="2009791"/>
            <a:ext cx="685800" cy="554895"/>
          </a:xfrm>
          <a:prstGeom prst="rect">
            <a:avLst/>
          </a:prstGeom>
          <a:noFill/>
        </p:spPr>
        <p:txBody>
          <a:bodyPr wrap="square" lIns="0" tIns="0" rIns="0" bIns="0" anchor="t">
            <a:spAutoFit/>
          </a:bodyPr>
          <a:lstStyle/>
          <a:p>
            <a:pPr algn="l">
              <a:lnSpc>
                <a:spcPct val="95000"/>
              </a:lnSpc>
              <a:spcBef>
                <a:spcPts val="0"/>
              </a:spcBef>
              <a:spcAft>
                <a:spcPts val="200"/>
              </a:spcAft>
            </a:pPr>
            <a:r>
              <a:rPr lang="es-ES" sz="1700" b="1" i="0" noProof="0" dirty="0">
                <a:solidFill>
                  <a:srgbClr val="C3094A"/>
                </a:solidFill>
                <a:latin typeface="Arial"/>
              </a:rPr>
              <a:t>D1</a:t>
            </a:r>
          </a:p>
          <a:p>
            <a:pPr algn="l">
              <a:lnSpc>
                <a:spcPct val="105000"/>
              </a:lnSpc>
              <a:spcBef>
                <a:spcPts val="0"/>
              </a:spcBef>
              <a:spcAft>
                <a:spcPts val="400"/>
              </a:spcAft>
            </a:pPr>
            <a:r>
              <a:rPr lang="es-ES" sz="900" b="0" i="0" noProof="0" dirty="0">
                <a:solidFill>
                  <a:srgbClr val="4A5568"/>
                </a:solidFill>
                <a:latin typeface="Arial"/>
              </a:rPr>
              <a:t>Causa determinante</a:t>
            </a:r>
          </a:p>
        </p:txBody>
      </p:sp>
      <p:sp>
        <p:nvSpPr>
          <p:cNvPr id="26" name="TextBox 25"/>
          <p:cNvSpPr txBox="1"/>
          <p:nvPr/>
        </p:nvSpPr>
        <p:spPr>
          <a:xfrm>
            <a:off x="9595335" y="1894163"/>
            <a:ext cx="2285769" cy="803490"/>
          </a:xfrm>
          <a:prstGeom prst="rect">
            <a:avLst/>
          </a:prstGeom>
          <a:noFill/>
        </p:spPr>
        <p:txBody>
          <a:bodyPr wrap="square" lIns="0" tIns="0" rIns="0" bIns="0" anchor="ctr">
            <a:spAutoFit/>
          </a:bodyPr>
          <a:lstStyle/>
          <a:p>
            <a:pPr algn="just">
              <a:lnSpc>
                <a:spcPct val="116000"/>
              </a:lnSpc>
              <a:spcBef>
                <a:spcPts val="0"/>
              </a:spcBef>
              <a:spcAft>
                <a:spcPts val="400"/>
              </a:spcAft>
            </a:pPr>
            <a:r>
              <a:rPr lang="es-ES" sz="1150" b="0" i="0" noProof="0" dirty="0">
                <a:solidFill>
                  <a:srgbClr val="191919"/>
                </a:solidFill>
                <a:latin typeface="Arial"/>
              </a:rPr>
              <a:t>La unión soldada de penetración parcial deja una raíz sin fusión que actúa como concentrador de esfuerzos.</a:t>
            </a:r>
          </a:p>
        </p:txBody>
      </p:sp>
      <p:sp>
        <p:nvSpPr>
          <p:cNvPr id="28" name="Rectangle 27"/>
          <p:cNvSpPr/>
          <p:nvPr/>
        </p:nvSpPr>
        <p:spPr>
          <a:xfrm>
            <a:off x="8522438" y="3030132"/>
            <a:ext cx="347449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9" name="Rectangle 28"/>
          <p:cNvSpPr/>
          <p:nvPr/>
        </p:nvSpPr>
        <p:spPr>
          <a:xfrm>
            <a:off x="8524470" y="3036609"/>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0" name="TextBox 29"/>
          <p:cNvSpPr txBox="1"/>
          <p:nvPr/>
        </p:nvSpPr>
        <p:spPr>
          <a:xfrm>
            <a:off x="8698599" y="3209719"/>
            <a:ext cx="959728" cy="554895"/>
          </a:xfrm>
          <a:prstGeom prst="rect">
            <a:avLst/>
          </a:prstGeom>
          <a:noFill/>
        </p:spPr>
        <p:txBody>
          <a:bodyPr wrap="square" lIns="0" tIns="0" rIns="0" bIns="0" anchor="t">
            <a:spAutoFit/>
          </a:bodyPr>
          <a:lstStyle/>
          <a:p>
            <a:pPr algn="l">
              <a:lnSpc>
                <a:spcPct val="95000"/>
              </a:lnSpc>
              <a:spcBef>
                <a:spcPts val="0"/>
              </a:spcBef>
              <a:spcAft>
                <a:spcPts val="200"/>
              </a:spcAft>
            </a:pPr>
            <a:r>
              <a:rPr lang="es-ES" sz="1700" b="1" i="0" noProof="0" dirty="0">
                <a:solidFill>
                  <a:srgbClr val="2841DD"/>
                </a:solidFill>
                <a:latin typeface="Arial"/>
              </a:rPr>
              <a:t>D2</a:t>
            </a:r>
          </a:p>
          <a:p>
            <a:pPr algn="l">
              <a:lnSpc>
                <a:spcPct val="105000"/>
              </a:lnSpc>
              <a:spcBef>
                <a:spcPts val="0"/>
              </a:spcBef>
              <a:spcAft>
                <a:spcPts val="400"/>
              </a:spcAft>
            </a:pPr>
            <a:r>
              <a:rPr lang="es-ES" sz="900" b="0" i="0" noProof="0" dirty="0">
                <a:solidFill>
                  <a:srgbClr val="4A5568"/>
                </a:solidFill>
                <a:latin typeface="Arial"/>
              </a:rPr>
              <a:t>Causa contribuyente</a:t>
            </a:r>
          </a:p>
        </p:txBody>
      </p:sp>
      <p:sp>
        <p:nvSpPr>
          <p:cNvPr id="31" name="TextBox 30"/>
          <p:cNvSpPr txBox="1"/>
          <p:nvPr/>
        </p:nvSpPr>
        <p:spPr>
          <a:xfrm>
            <a:off x="9656295" y="3028569"/>
            <a:ext cx="2334537" cy="803490"/>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La sección resistente del tubo es insuficiente para el par nominal transmitido; su corrección recupera el margen por vía geométrica.</a:t>
            </a:r>
          </a:p>
        </p:txBody>
      </p:sp>
      <p:sp>
        <p:nvSpPr>
          <p:cNvPr id="33" name="Rectangle 32"/>
          <p:cNvSpPr/>
          <p:nvPr/>
        </p:nvSpPr>
        <p:spPr>
          <a:xfrm>
            <a:off x="8516343" y="4194085"/>
            <a:ext cx="53847" cy="99174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4" name="TextBox 33"/>
          <p:cNvSpPr txBox="1"/>
          <p:nvPr/>
        </p:nvSpPr>
        <p:spPr>
          <a:xfrm>
            <a:off x="8625727" y="4216800"/>
            <a:ext cx="3436848" cy="588303"/>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A partir de la causa física, una hipótesis se descartó solo cuando resultó incompatible con la evidencia.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4.2 · ANÁLISIS DE CAUSA RAÍZ  |  ETAPA 3 (RCM) · PREGUNTA 3: MODOS DE FALLA · ACR PASO 4 DE 7</a:t>
            </a:r>
          </a:p>
        </p:txBody>
      </p:sp>
      <p:pic>
        <p:nvPicPr>
          <p:cNvPr id="37" name="Imagen 36">
            <a:extLst>
              <a:ext uri="{FF2B5EF4-FFF2-40B4-BE49-F238E27FC236}">
                <a16:creationId xmlns:a16="http://schemas.microsoft.com/office/drawing/2014/main" id="{13F4D859-4A0C-730F-88FA-FEE53810373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472" y="1451206"/>
            <a:ext cx="7606128" cy="4208925"/>
          </a:xfrm>
          <a:prstGeom prst="rect">
            <a:avLst/>
          </a:prstGeom>
          <a:noFill/>
          <a:ln>
            <a:noFill/>
          </a:ln>
        </p:spPr>
      </p:pic>
      <p:sp>
        <p:nvSpPr>
          <p:cNvPr id="38"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39"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0"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1"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42"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3"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44"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5"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6"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47"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8"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49"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50"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51"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4.2 ANÁLISIS DE CAUSA RAÍZ</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Causa física: lo que aportó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8</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1024128" y="1773936"/>
            <a:ext cx="2194560" cy="467820"/>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err="1">
                <a:solidFill>
                  <a:srgbClr val="C3094A"/>
                </a:solidFill>
                <a:latin typeface="Arial"/>
              </a:rPr>
              <a:t>Análisis de falla</a:t>
            </a:r>
          </a:p>
          <a:p>
            <a:pPr algn="l">
              <a:lnSpc>
                <a:spcPct val="105000"/>
              </a:lnSpc>
              <a:spcBef>
                <a:spcPts val="0"/>
              </a:spcBef>
              <a:spcAft>
                <a:spcPts val="0"/>
              </a:spcAft>
            </a:pPr>
            <a:r>
              <a:rPr lang="es-ES" sz="850" b="0" i="0" noProof="0" dirty="0">
                <a:solidFill>
                  <a:srgbClr val="4A5568"/>
                </a:solidFill>
                <a:latin typeface="Arial"/>
              </a:rPr>
              <a:t>Inspección visual de la empresa contratista (portadas en el Anexo E)</a:t>
            </a:r>
          </a:p>
        </p:txBody>
      </p:sp>
      <p:sp>
        <p:nvSpPr>
          <p:cNvPr id="43" name="TextBox 42"/>
          <p:cNvSpPr txBox="1"/>
          <p:nvPr/>
        </p:nvSpPr>
        <p:spPr>
          <a:xfrm>
            <a:off x="3355848" y="1664208"/>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Superficie de fractura de cada evento</a:t>
            </a:r>
          </a:p>
        </p:txBody>
      </p:sp>
      <p:sp>
        <p:nvSpPr>
          <p:cNvPr id="44" name="TextBox 43"/>
          <p:cNvSpPr txBox="1"/>
          <p:nvPr/>
        </p:nvSpPr>
        <p:spPr>
          <a:xfrm>
            <a:off x="6144768" y="1892002"/>
            <a:ext cx="3657600" cy="330796"/>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6" name="TextBox 45"/>
          <p:cNvSpPr txBox="1"/>
          <p:nvPr/>
        </p:nvSpPr>
        <p:spPr>
          <a:xfrm>
            <a:off x="9985248" y="1819656"/>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CONFIRMA</a:t>
            </a:r>
          </a:p>
          <a:p>
            <a:pPr algn="ctr">
              <a:lnSpc>
                <a:spcPct val="100000"/>
              </a:lnSpc>
              <a:spcBef>
                <a:spcPts val="0"/>
              </a:spcBef>
              <a:spcAft>
                <a:spcPts val="0"/>
              </a:spcAft>
            </a:pPr>
            <a:r>
              <a:rPr lang="es-ES" sz="800" b="1" i="0" noProof="0" dirty="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9" name="TextBox 48"/>
          <p:cNvSpPr txBox="1"/>
          <p:nvPr/>
        </p:nvSpPr>
        <p:spPr>
          <a:xfrm>
            <a:off x="1024128" y="2633472"/>
            <a:ext cx="2194560" cy="333425"/>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a:solidFill>
                  <a:srgbClr val="042354"/>
                </a:solidFill>
                <a:latin typeface="Arial"/>
              </a:rPr>
              <a:t>DIESA</a:t>
            </a:r>
          </a:p>
          <a:p>
            <a:pPr algn="l">
              <a:lnSpc>
                <a:spcPct val="100000"/>
              </a:lnSpc>
              <a:spcBef>
                <a:spcPts val="0"/>
              </a:spcBef>
              <a:spcAft>
                <a:spcPts val="200"/>
              </a:spcAft>
            </a:pPr>
            <a:r>
              <a:rPr lang="es-ES" sz="850" b="0" i="0" noProof="0" dirty="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3" name="TextBox 52"/>
          <p:cNvSpPr txBox="1"/>
          <p:nvPr/>
        </p:nvSpPr>
        <p:spPr>
          <a:xfrm>
            <a:off x="9985248" y="2679191"/>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DESCARTA</a:t>
            </a:r>
          </a:p>
          <a:p>
            <a:pPr algn="ctr">
              <a:lnSpc>
                <a:spcPct val="100000"/>
              </a:lnSpc>
              <a:spcBef>
                <a:spcPts val="0"/>
              </a:spcBef>
              <a:spcAft>
                <a:spcPts val="0"/>
              </a:spcAft>
            </a:pPr>
            <a:r>
              <a:rPr lang="es-ES" sz="800" b="1" i="0" noProof="0" dirty="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6" name="TextBox 55"/>
          <p:cNvSpPr txBox="1"/>
          <p:nvPr/>
        </p:nvSpPr>
        <p:spPr>
          <a:xfrm>
            <a:off x="1024128" y="3493008"/>
            <a:ext cx="2194560" cy="176972"/>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a:solidFill>
                  <a:srgbClr val="042354"/>
                </a:solidFill>
                <a:latin typeface="Arial"/>
              </a:rPr>
              <a:t>Data del equipo</a:t>
            </a:r>
          </a:p>
        </p:txBody>
      </p:sp>
      <p:sp>
        <p:nvSpPr>
          <p:cNvPr id="57" name="TextBox 56"/>
          <p:cNvSpPr txBox="1"/>
          <p:nvPr/>
        </p:nvSpPr>
        <p:spPr>
          <a:xfrm>
            <a:off x="3355848" y="3621877"/>
            <a:ext cx="2606040" cy="309187"/>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Carga útil, velocidad, peso suspendido y grado efectivo</a:t>
            </a:r>
          </a:p>
        </p:txBody>
      </p:sp>
      <p:sp>
        <p:nvSpPr>
          <p:cNvPr id="58" name="TextBox 57"/>
          <p:cNvSpPr txBox="1"/>
          <p:nvPr/>
        </p:nvSpPr>
        <p:spPr>
          <a:xfrm>
            <a:off x="6144768" y="3383279"/>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Operación dentro de parámetros: 366,7 t de carga útil media, sin ciclos sobre el 120 %, sin </a:t>
            </a:r>
            <a:r>
              <a:rPr lang="es-ES" sz="1000" b="0" i="0" noProof="0" dirty="0" err="1">
                <a:solidFill>
                  <a:srgbClr val="191919"/>
                </a:solidFill>
                <a:latin typeface="Arial"/>
              </a:rPr>
              <a:t>sobrevelocidad</a:t>
            </a:r>
            <a:r>
              <a:rPr lang="es-ES" sz="1000" b="0" i="0" noProof="0" dirty="0">
                <a:solidFill>
                  <a:srgbClr val="191919"/>
                </a:solidFill>
                <a:latin typeface="Arial"/>
              </a:rPr>
              <a:t>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0" name="TextBox 59"/>
          <p:cNvSpPr txBox="1"/>
          <p:nvPr/>
        </p:nvSpPr>
        <p:spPr>
          <a:xfrm>
            <a:off x="9985248" y="3538727"/>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DESCARTA</a:t>
            </a:r>
          </a:p>
          <a:p>
            <a:pPr algn="ctr">
              <a:lnSpc>
                <a:spcPct val="100000"/>
              </a:lnSpc>
              <a:spcBef>
                <a:spcPts val="0"/>
              </a:spcBef>
              <a:spcAft>
                <a:spcPts val="0"/>
              </a:spcAft>
            </a:pPr>
            <a:r>
              <a:rPr lang="es-ES" sz="800" b="1" i="0" noProof="0" dirty="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3" name="TextBox 62"/>
          <p:cNvSpPr txBox="1"/>
          <p:nvPr/>
        </p:nvSpPr>
        <p:spPr>
          <a:xfrm>
            <a:off x="1024128" y="4352544"/>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a:solidFill>
                  <a:srgbClr val="2841DD"/>
                </a:solidFill>
                <a:latin typeface="Arial"/>
              </a:rPr>
              <a:t>Recomendación común</a:t>
            </a:r>
          </a:p>
          <a:p>
            <a:pPr algn="l">
              <a:lnSpc>
                <a:spcPct val="105000"/>
              </a:lnSpc>
              <a:spcBef>
                <a:spcPts val="0"/>
              </a:spcBef>
              <a:spcAft>
                <a:spcPts val="0"/>
              </a:spcAft>
            </a:pPr>
            <a:r>
              <a:rPr lang="es-ES" sz="850" b="0" i="0" noProof="0" dirty="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Acción propuesta al cierre de los análisis</a:t>
            </a:r>
          </a:p>
        </p:txBody>
      </p:sp>
      <p:sp>
        <p:nvSpPr>
          <p:cNvPr id="65" name="TextBox 64"/>
          <p:cNvSpPr txBox="1"/>
          <p:nvPr/>
        </p:nvSpPr>
        <p:spPr>
          <a:xfrm>
            <a:off x="6144768" y="4470610"/>
            <a:ext cx="3657600" cy="330796"/>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Modificar el proceso de soldadura y eliminar el concentrador (a cargo del fabricante).</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7" name="TextBox 66"/>
          <p:cNvSpPr txBox="1"/>
          <p:nvPr/>
        </p:nvSpPr>
        <p:spPr>
          <a:xfrm>
            <a:off x="9985248" y="4398264"/>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ORIGEN DEL</a:t>
            </a:r>
          </a:p>
          <a:p>
            <a:pPr algn="ctr">
              <a:lnSpc>
                <a:spcPct val="100000"/>
              </a:lnSpc>
              <a:spcBef>
                <a:spcPts val="0"/>
              </a:spcBef>
              <a:spcAft>
                <a:spcPts val="0"/>
              </a:spcAft>
            </a:pPr>
            <a:r>
              <a:rPr lang="es-ES" sz="800" b="1" i="0" noProof="0" dirty="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9" name="TextBox 68"/>
          <p:cNvSpPr txBox="1"/>
          <p:nvPr/>
        </p:nvSpPr>
        <p:spPr>
          <a:xfrm>
            <a:off x="1024128" y="5157216"/>
            <a:ext cx="10277856" cy="184859"/>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Cada AFA resolvió bien el mecanismo de falla, pero ninguno consolidó la recurrencia: ese vacío es la causa latente que se retoma en el análisis de causa raíz (4.2).</a:t>
            </a:r>
          </a:p>
        </p:txBody>
      </p:sp>
      <p:sp>
        <p:nvSpPr>
          <p:cNvPr id="70" name="TextBox 69"/>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4.1 · CAUSA FÍSICA  |  ETAPA 3 (RCM) · PREGUNTA 3: MODOS DE FALLA · ACR PASO 1 DE 7</a:t>
            </a:r>
          </a:p>
        </p:txBody>
      </p:sp>
      <p:sp>
        <p:nvSpPr>
          <p:cNvPr id="71"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72"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73"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4"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75"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76"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77"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78"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9"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80"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81"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82"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83"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84"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4.1 CAUSA FÍSICA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4"/>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Figura H1 · Eje F1 en campo: (1) propagación estable, (2) rotura final, (3) origen en el diámetro interior, (4) borde deformado por free </a:t>
            </a:r>
            <a:r>
              <a:rPr lang="es-ES" sz="900" b="0" i="0" noProof="0" dirty="0" err="1">
                <a:solidFill>
                  <a:srgbClr val="7A8494"/>
                </a:solidFill>
                <a:latin typeface="Arial"/>
              </a:rPr>
              <a:t>wheeling</a:t>
            </a:r>
            <a:r>
              <a:rPr lang="es-ES" sz="900" b="0" i="0" noProof="0" dirty="0">
                <a:solidFill>
                  <a:srgbClr val="7A8494"/>
                </a:solidFill>
                <a:latin typeface="Arial"/>
              </a:rPr>
              <a:t>.</a:t>
            </a:r>
          </a:p>
        </p:txBody>
      </p:sp>
      <p:pic>
        <p:nvPicPr>
          <p:cNvPr id="38" name="Picture 37" descr="image.png"/>
          <p:cNvPicPr>
            <a:picLocks noChangeAspect="1"/>
          </p:cNvPicPr>
          <p:nvPr/>
        </p:nvPicPr>
        <p:blipFill>
          <a:blip r:embed="rId5"/>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err="1">
                <a:solidFill>
                  <a:srgbClr val="7A8494"/>
                </a:solidFill>
                <a:latin typeface="Arial"/>
              </a:rPr>
              <a:t>Fractografía</a:t>
            </a:r>
            <a:r>
              <a:rPr lang="es-ES" sz="900" b="0" i="0" noProof="0" dirty="0">
                <a:solidFill>
                  <a:srgbClr val="7A8494"/>
                </a:solidFill>
                <a:latin typeface="Arial"/>
              </a:rPr>
              <a:t>: marcas de trinquete en el diámetro menor, zona de propagación estable y área de fractura final de ~20 %.</a:t>
            </a:r>
          </a:p>
        </p:txBody>
      </p:sp>
      <p:pic>
        <p:nvPicPr>
          <p:cNvPr id="40" name="Picture 39" descr="image.png"/>
          <p:cNvPicPr>
            <a:picLocks noChangeAspect="1"/>
          </p:cNvPicPr>
          <p:nvPr/>
        </p:nvPicPr>
        <p:blipFill>
          <a:blip r:embed="rId6"/>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3" name="TextBox 42"/>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4.1 · CAUSA FÍSICA  |  ETAPA 3 (RCM) · PREGUNTA 3: MODOS DE FALLA · ACR PASO 2 DE 7</a:t>
            </a:r>
          </a:p>
        </p:txBody>
      </p:sp>
      <p:sp>
        <p:nvSpPr>
          <p:cNvPr id="45"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46"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7"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8"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49"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50"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51"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52"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53"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54"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55"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56"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57"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58"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4.1 CAUSA FÍSICA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12</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7845552" y="1828800"/>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4" name="TextBox 43"/>
          <p:cNvSpPr txBox="1"/>
          <p:nvPr/>
        </p:nvSpPr>
        <p:spPr>
          <a:xfrm>
            <a:off x="10332720" y="1810512"/>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8" name="TextBox 47"/>
          <p:cNvSpPr txBox="1"/>
          <p:nvPr/>
        </p:nvSpPr>
        <p:spPr>
          <a:xfrm>
            <a:off x="7845552" y="2638044"/>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0" name="TextBox 49"/>
          <p:cNvSpPr txBox="1"/>
          <p:nvPr/>
        </p:nvSpPr>
        <p:spPr>
          <a:xfrm>
            <a:off x="10332720" y="2619756"/>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4" name="TextBox 53"/>
          <p:cNvSpPr txBox="1"/>
          <p:nvPr/>
        </p:nvSpPr>
        <p:spPr>
          <a:xfrm>
            <a:off x="7845552" y="3447288"/>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6" name="TextBox 55"/>
          <p:cNvSpPr txBox="1"/>
          <p:nvPr/>
        </p:nvSpPr>
        <p:spPr>
          <a:xfrm>
            <a:off x="10332720" y="3429000"/>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0" name="TextBox 59"/>
          <p:cNvSpPr txBox="1"/>
          <p:nvPr/>
        </p:nvSpPr>
        <p:spPr>
          <a:xfrm>
            <a:off x="7845552" y="4256531"/>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TextBox 61"/>
          <p:cNvSpPr txBox="1"/>
          <p:nvPr/>
        </p:nvSpPr>
        <p:spPr>
          <a:xfrm>
            <a:off x="10332720" y="4238244"/>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5" name="TextBox 6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4.2 · ANÁLISIS DE CAUSA RAÍZ  |  ETAPA 3 (RCM) · PREGUNTA 3: MODOS DE FALLA · ACR PASO 5 DE 7</a:t>
            </a:r>
          </a:p>
        </p:txBody>
      </p:sp>
      <p:sp>
        <p:nvSpPr>
          <p:cNvPr id="67"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68"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69"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0"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71"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72"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73"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74"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5"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76"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77"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78"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79"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80"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4.2 ANÁLISIS DE CAUSA RAÍZ</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13</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F1 · MATERIAL NO CONFORME · TABLA H1 (% EN MASA)</a:t>
            </a:r>
          </a:p>
        </p:txBody>
      </p:sp>
      <p:graphicFrame>
        <p:nvGraphicFramePr>
          <p:cNvPr id="37" name="Table 36"/>
          <p:cNvGraphicFramePr>
            <a:graphicFrameLocks noGrp="1"/>
          </p:cNvGraphicFramePr>
          <p:nvPr>
            <p:extLst>
              <p:ext uri="{D42A27DB-BD31-4B8C-83A1-F6EECF244321}">
                <p14:modId xmlns:p14="http://schemas.microsoft.com/office/powerpoint/2010/main" val="4190388936"/>
              </p:ext>
            </p:extLst>
          </p:nvPr>
        </p:nvGraphicFramePr>
        <p:xfrm>
          <a:off x="841248" y="1700784"/>
          <a:ext cx="5120640" cy="932688"/>
        </p:xfrm>
        <a:graphic>
          <a:graphicData uri="http://schemas.openxmlformats.org/drawingml/2006/table">
            <a:tbl>
              <a:tblPr firstRow="1">
                <a:tableStyleId>{2D5ABB26-0587-4C30-8999-92F81FD0307C}</a:tableStyleId>
              </a:tblPr>
              <a:tblGrid>
                <a:gridCol w="1188720">
                  <a:extLst>
                    <a:ext uri="{9D8B030D-6E8A-4147-A177-3AD203B41FA5}">
                      <a16:colId xmlns:a16="http://schemas.microsoft.com/office/drawing/2014/main" val="20000"/>
                    </a:ext>
                  </a:extLst>
                </a:gridCol>
                <a:gridCol w="393192">
                  <a:extLst>
                    <a:ext uri="{9D8B030D-6E8A-4147-A177-3AD203B41FA5}">
                      <a16:colId xmlns:a16="http://schemas.microsoft.com/office/drawing/2014/main" val="20001"/>
                    </a:ext>
                  </a:extLst>
                </a:gridCol>
                <a:gridCol w="393192">
                  <a:extLst>
                    <a:ext uri="{9D8B030D-6E8A-4147-A177-3AD203B41FA5}">
                      <a16:colId xmlns:a16="http://schemas.microsoft.com/office/drawing/2014/main" val="20002"/>
                    </a:ext>
                  </a:extLst>
                </a:gridCol>
                <a:gridCol w="393192">
                  <a:extLst>
                    <a:ext uri="{9D8B030D-6E8A-4147-A177-3AD203B41FA5}">
                      <a16:colId xmlns:a16="http://schemas.microsoft.com/office/drawing/2014/main" val="20003"/>
                    </a:ext>
                  </a:extLst>
                </a:gridCol>
                <a:gridCol w="393192">
                  <a:extLst>
                    <a:ext uri="{9D8B030D-6E8A-4147-A177-3AD203B41FA5}">
                      <a16:colId xmlns:a16="http://schemas.microsoft.com/office/drawing/2014/main" val="20004"/>
                    </a:ext>
                  </a:extLst>
                </a:gridCol>
                <a:gridCol w="393192">
                  <a:extLst>
                    <a:ext uri="{9D8B030D-6E8A-4147-A177-3AD203B41FA5}">
                      <a16:colId xmlns:a16="http://schemas.microsoft.com/office/drawing/2014/main" val="20005"/>
                    </a:ext>
                  </a:extLst>
                </a:gridCol>
                <a:gridCol w="393192">
                  <a:extLst>
                    <a:ext uri="{9D8B030D-6E8A-4147-A177-3AD203B41FA5}">
                      <a16:colId xmlns:a16="http://schemas.microsoft.com/office/drawing/2014/main" val="20006"/>
                    </a:ext>
                  </a:extLst>
                </a:gridCol>
                <a:gridCol w="393192">
                  <a:extLst>
                    <a:ext uri="{9D8B030D-6E8A-4147-A177-3AD203B41FA5}">
                      <a16:colId xmlns:a16="http://schemas.microsoft.com/office/drawing/2014/main" val="20007"/>
                    </a:ext>
                  </a:extLst>
                </a:gridCol>
                <a:gridCol w="393192">
                  <a:extLst>
                    <a:ext uri="{9D8B030D-6E8A-4147-A177-3AD203B41FA5}">
                      <a16:colId xmlns:a16="http://schemas.microsoft.com/office/drawing/2014/main" val="20008"/>
                    </a:ext>
                  </a:extLst>
                </a:gridCol>
                <a:gridCol w="393192">
                  <a:extLst>
                    <a:ext uri="{9D8B030D-6E8A-4147-A177-3AD203B41FA5}">
                      <a16:colId xmlns:a16="http://schemas.microsoft.com/office/drawing/2014/main" val="20009"/>
                    </a:ext>
                  </a:extLst>
                </a:gridCol>
                <a:gridCol w="393192">
                  <a:extLst>
                    <a:ext uri="{9D8B030D-6E8A-4147-A177-3AD203B41FA5}">
                      <a16:colId xmlns:a16="http://schemas.microsoft.com/office/drawing/2014/main" val="20010"/>
                    </a:ext>
                  </a:extLst>
                </a:gridCol>
              </a:tblGrid>
              <a:tr h="310896">
                <a:tc>
                  <a:txBody>
                    <a:bodyPr/>
                    <a:lstStyle/>
                    <a:p>
                      <a:pPr algn="l"/>
                      <a:endParaRPr lang="es-ES" noProof="0" dirty="0"/>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extLst>
                  <a:ext uri="{0D108BD9-81ED-4DB2-BD59-A6C34878D82A}">
                    <a16:rowId xmlns:a16="http://schemas.microsoft.com/office/drawing/2014/main" val="10000"/>
                  </a:ext>
                </a:extLst>
              </a:tr>
              <a:tr h="310896">
                <a:tc>
                  <a:txBody>
                    <a:bodyPr/>
                    <a:lstStyle/>
                    <a:p>
                      <a:pPr algn="l"/>
                      <a:r>
                        <a:rPr lang="es-ES" sz="850" b="1" noProof="0" dirty="0">
                          <a:solidFill>
                            <a:srgbClr val="042354"/>
                          </a:solidFill>
                          <a:latin typeface="Arial"/>
                        </a:rPr>
                        <a:t>ASTM A618 Gr. III</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0,26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 1,30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0,33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 0,18</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 0,01</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extLst>
                  <a:ext uri="{0D108BD9-81ED-4DB2-BD59-A6C34878D82A}">
                    <a16:rowId xmlns:a16="http://schemas.microsoft.com/office/drawing/2014/main" val="10001"/>
                  </a:ext>
                </a:extLst>
              </a:tr>
              <a:tr h="310896">
                <a:tc>
                  <a:txBody>
                    <a:bodyPr/>
                    <a:lstStyle/>
                    <a:p>
                      <a:pPr algn="l"/>
                      <a:r>
                        <a:rPr lang="es-ES" sz="850" b="1" noProof="0" dirty="0">
                          <a:solidFill>
                            <a:srgbClr val="042354"/>
                          </a:solidFill>
                          <a:latin typeface="Arial"/>
                        </a:rPr>
                        <a:t>Muestra del eje</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0,22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0,79</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0,012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0,27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0,10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0,17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841248" y="2688336"/>
            <a:ext cx="5120640" cy="136384"/>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Fuente: informe DIESA</a:t>
            </a:r>
            <a:r>
              <a:rPr lang="es-ES" sz="900" noProof="0" dirty="0">
                <a:solidFill>
                  <a:srgbClr val="7A8494"/>
                </a:solidFill>
              </a:rPr>
              <a:t> -</a:t>
            </a:r>
            <a:r>
              <a:rPr lang="es-ES" sz="900" b="0" i="0" noProof="0" dirty="0">
                <a:solidFill>
                  <a:srgbClr val="7A8494"/>
                </a:solidFill>
                <a:latin typeface="Arial"/>
              </a:rPr>
              <a:t>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TextBox 40"/>
          <p:cNvSpPr txBox="1"/>
          <p:nvPr/>
        </p:nvSpPr>
        <p:spPr>
          <a:xfrm>
            <a:off x="9692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lang="es-ES" sz="1800" b="1" i="0" noProof="0" dirty="0">
                <a:solidFill>
                  <a:srgbClr val="C3094A"/>
                </a:solidFill>
                <a:latin typeface="Arial"/>
              </a:rPr>
              <a:t>212 HBW</a:t>
            </a:r>
          </a:p>
          <a:p>
            <a:pPr algn="l">
              <a:lnSpc>
                <a:spcPct val="105000"/>
              </a:lnSpc>
              <a:spcBef>
                <a:spcPts val="0"/>
              </a:spcBef>
              <a:spcAft>
                <a:spcPts val="0"/>
              </a:spcAft>
            </a:pPr>
            <a:r>
              <a:rPr lang="es-ES" sz="900" b="0" i="0" noProof="0" dirty="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4" name="TextBox 43"/>
          <p:cNvSpPr txBox="1"/>
          <p:nvPr/>
        </p:nvSpPr>
        <p:spPr>
          <a:xfrm>
            <a:off x="27218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lang="es-ES" sz="1800" b="1" i="0" noProof="0" dirty="0">
                <a:solidFill>
                  <a:srgbClr val="C3094A"/>
                </a:solidFill>
                <a:latin typeface="Arial"/>
              </a:rPr>
              <a:t>619 MPa</a:t>
            </a:r>
          </a:p>
          <a:p>
            <a:pPr algn="l">
              <a:lnSpc>
                <a:spcPct val="105000"/>
              </a:lnSpc>
              <a:spcBef>
                <a:spcPts val="0"/>
              </a:spcBef>
              <a:spcAft>
                <a:spcPts val="0"/>
              </a:spcAft>
            </a:pPr>
            <a:r>
              <a:rPr lang="es-ES" sz="900" b="0" i="0" noProof="0" dirty="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7" name="TextBox 46"/>
          <p:cNvSpPr txBox="1"/>
          <p:nvPr/>
        </p:nvSpPr>
        <p:spPr>
          <a:xfrm>
            <a:off x="4474463"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lang="es-ES" sz="1800" b="1" i="0" noProof="0" dirty="0">
                <a:solidFill>
                  <a:srgbClr val="C3094A"/>
                </a:solidFill>
                <a:latin typeface="Arial"/>
              </a:rPr>
              <a:t>717 MPa</a:t>
            </a:r>
          </a:p>
          <a:p>
            <a:pPr algn="l">
              <a:lnSpc>
                <a:spcPct val="105000"/>
              </a:lnSpc>
              <a:spcBef>
                <a:spcPts val="0"/>
              </a:spcBef>
              <a:spcAft>
                <a:spcPts val="0"/>
              </a:spcAft>
            </a:pPr>
            <a:r>
              <a:rPr lang="es-ES" sz="900" b="0" i="0" noProof="0" dirty="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0" name="TextBox 49"/>
          <p:cNvSpPr txBox="1"/>
          <p:nvPr/>
        </p:nvSpPr>
        <p:spPr>
          <a:xfrm>
            <a:off x="1042416" y="4059936"/>
            <a:ext cx="4791455" cy="877824"/>
          </a:xfrm>
          <a:prstGeom prst="rect">
            <a:avLst/>
          </a:prstGeom>
          <a:noFill/>
        </p:spPr>
        <p:txBody>
          <a:bodyPr wrap="square" lIns="0" tIns="0" rIns="0" bIns="0" anchor="ctr">
            <a:spAutoFit/>
          </a:bodyPr>
          <a:lstStyle/>
          <a:p>
            <a:pPr algn="l">
              <a:lnSpc>
                <a:spcPct val="110000"/>
              </a:lnSpc>
              <a:spcBef>
                <a:spcPts val="0"/>
              </a:spcBef>
              <a:spcAft>
                <a:spcPts val="0"/>
              </a:spcAft>
            </a:pPr>
            <a:r>
              <a:rPr lang="es-ES" sz="1000" b="0" i="0" noProof="0" dirty="0">
                <a:solidFill>
                  <a:srgbClr val="191919"/>
                </a:solidFill>
                <a:latin typeface="Arial"/>
              </a:rPr>
              <a:t>Composición compatible con ASTM A618 Gr. III.  </a:t>
            </a:r>
            <a:r>
              <a:rPr lang="es-ES" sz="1000" b="1" i="0" noProof="0" dirty="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F2 · F3 · DEFECTO DE PIEZA O DE LOTE</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4" name="TextBox 53"/>
          <p:cNvSpPr txBox="1"/>
          <p:nvPr/>
        </p:nvSpPr>
        <p:spPr>
          <a:xfrm>
            <a:off x="6236208" y="1700784"/>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042354"/>
                </a:solidFill>
                <a:latin typeface="Arial"/>
              </a:rPr>
              <a:t>1</a:t>
            </a:r>
          </a:p>
        </p:txBody>
      </p:sp>
      <p:sp>
        <p:nvSpPr>
          <p:cNvPr id="55" name="TextBox 54"/>
          <p:cNvSpPr txBox="1"/>
          <p:nvPr/>
        </p:nvSpPr>
        <p:spPr>
          <a:xfrm>
            <a:off x="6748272" y="1820604"/>
            <a:ext cx="4480559" cy="473591"/>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REPOSICIÓN</a:t>
            </a:r>
          </a:p>
          <a:p>
            <a:pPr algn="l">
              <a:lnSpc>
                <a:spcPct val="108000"/>
              </a:lnSpc>
              <a:spcBef>
                <a:spcPts val="0"/>
              </a:spcBef>
              <a:spcAft>
                <a:spcPts val="0"/>
              </a:spcAft>
            </a:pPr>
            <a:r>
              <a:rPr lang="es-ES" sz="950" b="0" i="0" noProof="0" dirty="0">
                <a:solidFill>
                  <a:srgbClr val="191919"/>
                </a:solidFill>
                <a:latin typeface="Arial"/>
              </a:rPr>
              <a:t>En los motores reparados se instaló un eje nuevo, con las mismas características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8" name="TextBox 57"/>
          <p:cNvSpPr txBox="1"/>
          <p:nvPr/>
        </p:nvSpPr>
        <p:spPr>
          <a:xfrm>
            <a:off x="6236208" y="2487168"/>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RECURRENCIA</a:t>
            </a:r>
          </a:p>
          <a:p>
            <a:pPr algn="l">
              <a:lnSpc>
                <a:spcPct val="108000"/>
              </a:lnSpc>
              <a:spcBef>
                <a:spcPts val="0"/>
              </a:spcBef>
              <a:spcAft>
                <a:spcPts val="0"/>
              </a:spcAft>
            </a:pPr>
            <a:r>
              <a:rPr lang="es-ES" sz="950" b="0" i="0" noProof="0" dirty="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TextBox 61"/>
          <p:cNvSpPr txBox="1"/>
          <p:nvPr/>
        </p:nvSpPr>
        <p:spPr>
          <a:xfrm>
            <a:off x="6236208" y="3273552"/>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REFUTACIÓN</a:t>
            </a:r>
          </a:p>
          <a:p>
            <a:pPr algn="l">
              <a:lnSpc>
                <a:spcPct val="108000"/>
              </a:lnSpc>
              <a:spcBef>
                <a:spcPts val="0"/>
              </a:spcBef>
              <a:spcAft>
                <a:spcPts val="0"/>
              </a:spcAft>
            </a:pPr>
            <a:r>
              <a:rPr lang="es-ES" sz="950" b="0" i="0" noProof="0" dirty="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6" name="TextBox 65"/>
          <p:cNvSpPr txBox="1"/>
          <p:nvPr/>
        </p:nvSpPr>
        <p:spPr>
          <a:xfrm>
            <a:off x="6236208" y="4059936"/>
            <a:ext cx="384048" cy="877824"/>
          </a:xfrm>
          <a:prstGeom prst="rect">
            <a:avLst/>
          </a:prstGeom>
          <a:noFill/>
        </p:spPr>
        <p:txBody>
          <a:bodyPr wrap="square" lIns="0" tIns="0" rIns="0" bIns="0" anchor="ctr">
            <a:spAutoFit/>
          </a:bodyPr>
          <a:lstStyle/>
          <a:p>
            <a:pPr algn="ctr">
              <a:lnSpc>
                <a:spcPct val="110000"/>
              </a:lnSpc>
              <a:spcBef>
                <a:spcPts val="0"/>
              </a:spcBef>
              <a:spcAft>
                <a:spcPts val="0"/>
              </a:spcAft>
            </a:pPr>
            <a:r>
              <a:rPr lang="es-ES" sz="1500" b="1" i="0" noProof="0" dirty="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C3094A"/>
                </a:solidFill>
                <a:latin typeface="Arial"/>
              </a:rPr>
              <a:t>CAUSA EN EL DISEÑO</a:t>
            </a:r>
          </a:p>
          <a:p>
            <a:pPr algn="l">
              <a:lnSpc>
                <a:spcPct val="108000"/>
              </a:lnSpc>
              <a:spcBef>
                <a:spcPts val="0"/>
              </a:spcBef>
              <a:spcAft>
                <a:spcPts val="0"/>
              </a:spcAft>
            </a:pPr>
            <a:r>
              <a:rPr lang="es-ES" sz="1000" b="1" i="0" noProof="0" dirty="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9" name="TextBox 6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Descartados el material, la operación y la fabricación, la causa queda en el diseño por eliminación, lo que coincide con el FS = 0,31 calculado para la causa física (4.1).</a:t>
            </a:r>
          </a:p>
        </p:txBody>
      </p:sp>
      <p:sp>
        <p:nvSpPr>
          <p:cNvPr id="70" name="TextBox 69"/>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4.2 · ANÁLISIS DE CAUSA RAÍZ  |  ETAPA 3 (RCM) · PREGUNTA 3: MODOS DE FALLA · ACR PASO 6 DE 7</a:t>
            </a:r>
          </a:p>
        </p:txBody>
      </p:sp>
      <p:sp>
        <p:nvSpPr>
          <p:cNvPr id="71"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72"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73"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4"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75"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76"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77"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78"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9"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80"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81"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82"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83"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84"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4.2 ANÁLISIS DE CAUSA RAÍZ</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de la causa física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10</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Eje palier sometido a momento </a:t>
            </a:r>
            <a:r>
              <a:rPr lang="es-ES" sz="900" b="0" i="0" noProof="0" dirty="0" err="1">
                <a:solidFill>
                  <a:srgbClr val="7A8494"/>
                </a:solidFill>
                <a:latin typeface="Arial"/>
              </a:rPr>
              <a:t>torsor</a:t>
            </a:r>
            <a:r>
              <a:rPr lang="es-ES"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152799"/>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CADENA DE CÁLCULO </a:t>
            </a:r>
            <a:r>
              <a:rPr lang="es-ES" sz="950" b="1" dirty="0">
                <a:solidFill>
                  <a:srgbClr val="4A5568"/>
                </a:solidFill>
              </a:rPr>
              <a:t> DE COMPONENTE </a:t>
            </a:r>
            <a:r>
              <a:rPr lang="es-ES" sz="950" b="1" i="0" noProof="0" dirty="0">
                <a:solidFill>
                  <a:srgbClr val="4A5568"/>
                </a:solidFill>
                <a:latin typeface="Arial"/>
              </a:rPr>
              <a:t>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100" b="1" i="0" noProof="0" dirty="0">
                <a:solidFill>
                  <a:srgbClr val="191919"/>
                </a:solidFill>
                <a:latin typeface="Arial"/>
              </a:rPr>
              <a:t>17,81 </a:t>
            </a:r>
            <a:r>
              <a:rPr lang="es-ES" sz="1100" b="1" i="0" noProof="0" dirty="0" err="1">
                <a:solidFill>
                  <a:srgbClr val="191919"/>
                </a:solidFill>
                <a:latin typeface="Arial"/>
              </a:rPr>
              <a:t>kN·m</a:t>
            </a:r>
            <a:endParaRPr lang="es-ES"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100" b="1" i="0" noProof="0" dirty="0">
                <a:solidFill>
                  <a:srgbClr val="191919"/>
                </a:solidFill>
                <a:latin typeface="Arial"/>
              </a:rPr>
              <a:t>53,6 MPa</a:t>
            </a:r>
          </a:p>
        </p:txBody>
      </p:sp>
      <p:sp>
        <p:nvSpPr>
          <p:cNvPr id="25" name="Rectangle 24"/>
          <p:cNvSpPr/>
          <p:nvPr/>
        </p:nvSpPr>
        <p:spPr>
          <a:xfrm>
            <a:off x="6355080" y="3529584"/>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6" name="Rectangle 25"/>
          <p:cNvSpPr/>
          <p:nvPr/>
        </p:nvSpPr>
        <p:spPr>
          <a:xfrm>
            <a:off x="6355080" y="3529584"/>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noProof="0" dirty="0">
                <a:solidFill>
                  <a:srgbClr val="FFFFFF"/>
                </a:solidFill>
                <a:latin typeface="Arial"/>
              </a:rPr>
              <a:t>4</a:t>
            </a:r>
            <a:endParaRPr lang="es-ES" sz="1000" b="1" i="0" noProof="0" dirty="0">
              <a:solidFill>
                <a:srgbClr val="FFFFFF"/>
              </a:solidFill>
              <a:latin typeface="Arial"/>
            </a:endParaRPr>
          </a:p>
        </p:txBody>
      </p:sp>
      <p:sp>
        <p:nvSpPr>
          <p:cNvPr id="27" name="TextBox 26"/>
          <p:cNvSpPr txBox="1"/>
          <p:nvPr/>
        </p:nvSpPr>
        <p:spPr>
          <a:xfrm>
            <a:off x="6839712" y="3547871"/>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Factor de seguridad a la vida planificada</a:t>
            </a:r>
          </a:p>
        </p:txBody>
      </p:sp>
      <p:sp>
        <p:nvSpPr>
          <p:cNvPr id="28" name="TextBox 27"/>
          <p:cNvSpPr txBox="1"/>
          <p:nvPr/>
        </p:nvSpPr>
        <p:spPr>
          <a:xfrm>
            <a:off x="9802368" y="3547871"/>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250" b="1" i="0" noProof="0" dirty="0">
                <a:solidFill>
                  <a:srgbClr val="C3094A"/>
                </a:solidFill>
                <a:latin typeface="Arial"/>
              </a:rPr>
              <a:t>0,31</a:t>
            </a:r>
          </a:p>
        </p:txBody>
      </p:sp>
      <p:sp>
        <p:nvSpPr>
          <p:cNvPr id="29" name="TextBox 28"/>
          <p:cNvSpPr txBox="1"/>
          <p:nvPr/>
        </p:nvSpPr>
        <p:spPr>
          <a:xfrm>
            <a:off x="6355080" y="4095880"/>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Un factor de seguridad de 0,31,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4.1 · CAUSA FÍSICA  |  ETAPA 3 (RCM) · PREGUNTA 3: MODOS DE FALLA · ACR PASO 3 DE 7</a:t>
            </a:r>
          </a:p>
        </p:txBody>
      </p:sp>
      <p:sp>
        <p:nvSpPr>
          <p:cNvPr id="34"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35"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6"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37"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38"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39"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40"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1"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2"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43"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4"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45"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46"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47"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4.1 CAUSA FÍSICA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14</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ES"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se fracturó el eje palier?</a:t>
            </a:r>
          </a:p>
          <a:p>
            <a:pPr algn="l">
              <a:lnSpc>
                <a:spcPct val="110000"/>
              </a:lnSpc>
              <a:spcBef>
                <a:spcPts val="0"/>
              </a:spcBef>
              <a:spcAft>
                <a:spcPts val="400"/>
              </a:spcAft>
            </a:pPr>
            <a:r>
              <a:rPr lang="es-ES"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7A8494"/>
                </a:solidFill>
                <a:latin typeface="Arial"/>
              </a:rPr>
              <a:t>2</a:t>
            </a:r>
          </a:p>
        </p:txBody>
      </p:sp>
      <p:sp>
        <p:nvSpPr>
          <p:cNvPr id="16" name="TextBox 15"/>
          <p:cNvSpPr txBox="1"/>
          <p:nvPr/>
        </p:nvSpPr>
        <p:spPr>
          <a:xfrm>
            <a:off x="1444752" y="2761488"/>
            <a:ext cx="4069080" cy="703141"/>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siguió en servicio una unión insuficiente?</a:t>
            </a:r>
          </a:p>
          <a:p>
            <a:pPr algn="l">
              <a:lnSpc>
                <a:spcPct val="110000"/>
              </a:lnSpc>
              <a:spcBef>
                <a:spcPts val="0"/>
              </a:spcBef>
              <a:spcAft>
                <a:spcPts val="400"/>
              </a:spcAft>
            </a:pPr>
            <a:r>
              <a:rPr lang="es-ES" sz="950" b="0" i="0" noProof="0" dirty="0">
                <a:solidFill>
                  <a:srgbClr val="4A5568"/>
                </a:solidFill>
                <a:latin typeface="Arial"/>
              </a:rPr>
              <a:t>El componente se recibe con el diseño predeterminado y no se verifica frente al par real.</a:t>
            </a:r>
          </a:p>
        </p:txBody>
      </p:sp>
      <p:sp>
        <p:nvSpPr>
          <p:cNvPr id="17" name="TextBox 16"/>
          <p:cNvSpPr txBox="1"/>
          <p:nvPr/>
        </p:nvSpPr>
        <p:spPr>
          <a:xfrm>
            <a:off x="5733288" y="2871216"/>
            <a:ext cx="3794760" cy="365760"/>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Verificar la resistencia a fatiga del diseño frente al par nominal antes de aceptar el componente.</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ES" sz="950" b="0" i="0" noProof="0" dirty="0">
                <a:solidFill>
                  <a:srgbClr val="4A5568"/>
                </a:solidFill>
                <a:latin typeface="Arial"/>
              </a:rPr>
              <a:t>Cada análisis se hizo por evento y el registro de paradas no codificaba la falla: el patrón no se veía ni se medía.</a:t>
            </a:r>
          </a:p>
        </p:txBody>
      </p:sp>
      <p:sp>
        <p:nvSpPr>
          <p:cNvPr id="23" name="TextBox 22"/>
          <p:cNvSpPr txBox="1"/>
          <p:nvPr/>
        </p:nvSpPr>
        <p:spPr>
          <a:xfrm>
            <a:off x="5733288" y="3736397"/>
            <a:ext cx="3794760" cy="336182"/>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Consolidar los análisis por modo de falla y codificar la falla en el registro de paradas.</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ES"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4.2 · ANÁLISIS DE CAUSA RAÍZ  |  ETAPA 3 (RCM) · PREGUNTA 3: MODOS DE FALLA · ACR PASO 7 DE 7</a:t>
            </a:r>
          </a:p>
        </p:txBody>
      </p:sp>
      <p:sp>
        <p:nvSpPr>
          <p:cNvPr id="35"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36"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7"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38"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39"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0"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41"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2"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3" name="Tracker P3"/>
          <p:cNvSpPr/>
          <p:nvPr/>
        </p:nvSpPr>
        <p:spPr>
          <a:xfrm>
            <a:off x="431596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44"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5"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46"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47"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48"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4.2 ANÁLISIS DE CAUSA RAÍZ</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Preguntas 4 y 5: efectos y consecuencias de la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15</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4" name="TextBox 33"/>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4.3 · DECISIÓN DE REDISEÑO  |  ETAPA 3 (RCM) · PREGUNTAS 4 Y 5</a:t>
            </a:r>
          </a:p>
        </p:txBody>
      </p:sp>
      <p:sp>
        <p:nvSpPr>
          <p:cNvPr id="35" name="TextBox 34"/>
          <p:cNvSpPr txBox="1"/>
          <p:nvPr/>
        </p:nvSpPr>
        <p:spPr>
          <a:xfrm>
            <a:off x="841248" y="1389888"/>
            <a:ext cx="635508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P4 · EFECTOS: QUÉ SUCEDE CUANDO OCURRE LA FALLA</a:t>
            </a:r>
          </a:p>
        </p:txBody>
      </p:sp>
      <p:sp>
        <p:nvSpPr>
          <p:cNvPr id="36" name="Rectangle 35"/>
          <p:cNvSpPr/>
          <p:nvPr/>
        </p:nvSpPr>
        <p:spPr>
          <a:xfrm>
            <a:off x="841248" y="1682496"/>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7" name="Oval 36"/>
          <p:cNvSpPr/>
          <p:nvPr/>
        </p:nvSpPr>
        <p:spPr>
          <a:xfrm>
            <a:off x="987552" y="1883664"/>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8" name="TextBox 37"/>
          <p:cNvSpPr txBox="1"/>
          <p:nvPr/>
        </p:nvSpPr>
        <p:spPr>
          <a:xfrm>
            <a:off x="987552" y="1883664"/>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1</a:t>
            </a:r>
          </a:p>
        </p:txBody>
      </p:sp>
      <p:sp>
        <p:nvSpPr>
          <p:cNvPr id="39" name="TextBox 38"/>
          <p:cNvSpPr txBox="1"/>
          <p:nvPr/>
        </p:nvSpPr>
        <p:spPr>
          <a:xfrm>
            <a:off x="1517904" y="1682496"/>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SIN AVISO</a:t>
            </a:r>
          </a:p>
          <a:p>
            <a:pPr algn="l">
              <a:lnSpc>
                <a:spcPct val="108000"/>
              </a:lnSpc>
              <a:spcBef>
                <a:spcPts val="0"/>
              </a:spcBef>
              <a:spcAft>
                <a:spcPts val="0"/>
              </a:spcAft>
            </a:pPr>
            <a:r>
              <a:rPr lang="es-ES" sz="950" b="0" i="0" noProof="0" dirty="0">
                <a:solidFill>
                  <a:srgbClr val="191919"/>
                </a:solidFill>
                <a:latin typeface="Arial"/>
              </a:rPr>
              <a:t>Ninguna tarea vigente la anticipa: 10 de los 13 eventos se detectaron en operación.</a:t>
            </a:r>
          </a:p>
        </p:txBody>
      </p:sp>
      <p:sp>
        <p:nvSpPr>
          <p:cNvPr id="40" name="Rectangle 39"/>
          <p:cNvSpPr/>
          <p:nvPr/>
        </p:nvSpPr>
        <p:spPr>
          <a:xfrm>
            <a:off x="841248" y="2523744"/>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Oval 40"/>
          <p:cNvSpPr/>
          <p:nvPr/>
        </p:nvSpPr>
        <p:spPr>
          <a:xfrm>
            <a:off x="987552" y="2724911"/>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987552" y="2724911"/>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2</a:t>
            </a:r>
          </a:p>
        </p:txBody>
      </p:sp>
      <p:sp>
        <p:nvSpPr>
          <p:cNvPr id="43" name="TextBox 42"/>
          <p:cNvSpPr txBox="1"/>
          <p:nvPr/>
        </p:nvSpPr>
        <p:spPr>
          <a:xfrm>
            <a:off x="1517904" y="2523744"/>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SEGURIDAD</a:t>
            </a:r>
          </a:p>
          <a:p>
            <a:pPr algn="l">
              <a:lnSpc>
                <a:spcPct val="108000"/>
              </a:lnSpc>
              <a:spcBef>
                <a:spcPts val="0"/>
              </a:spcBef>
              <a:spcAft>
                <a:spcPts val="0"/>
              </a:spcAft>
            </a:pPr>
            <a:r>
              <a:rPr lang="es-ES" sz="950" b="0" i="0" noProof="0" dirty="0">
                <a:solidFill>
                  <a:srgbClr val="191919"/>
                </a:solidFill>
                <a:latin typeface="Arial"/>
              </a:rPr>
              <a:t>Se pierden la tracción y el retardo dinámico en el descenso cargado (628 t).</a:t>
            </a:r>
          </a:p>
        </p:txBody>
      </p:sp>
      <p:sp>
        <p:nvSpPr>
          <p:cNvPr id="44" name="Rectangle 43"/>
          <p:cNvSpPr/>
          <p:nvPr/>
        </p:nvSpPr>
        <p:spPr>
          <a:xfrm>
            <a:off x="841248" y="3364991"/>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5" name="Oval 44"/>
          <p:cNvSpPr/>
          <p:nvPr/>
        </p:nvSpPr>
        <p:spPr>
          <a:xfrm>
            <a:off x="987552" y="3566159"/>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6" name="TextBox 45"/>
          <p:cNvSpPr txBox="1"/>
          <p:nvPr/>
        </p:nvSpPr>
        <p:spPr>
          <a:xfrm>
            <a:off x="987552" y="3566159"/>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3</a:t>
            </a:r>
          </a:p>
        </p:txBody>
      </p:sp>
      <p:sp>
        <p:nvSpPr>
          <p:cNvPr id="47" name="TextBox 46"/>
          <p:cNvSpPr txBox="1"/>
          <p:nvPr/>
        </p:nvSpPr>
        <p:spPr>
          <a:xfrm>
            <a:off x="1517904" y="3364991"/>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OPERACIÓN</a:t>
            </a:r>
          </a:p>
          <a:p>
            <a:pPr algn="l">
              <a:lnSpc>
                <a:spcPct val="108000"/>
              </a:lnSpc>
              <a:spcBef>
                <a:spcPts val="0"/>
              </a:spcBef>
              <a:spcAft>
                <a:spcPts val="0"/>
              </a:spcAft>
            </a:pPr>
            <a:r>
              <a:rPr lang="es-ES" sz="950" b="0" i="0" noProof="0" dirty="0">
                <a:solidFill>
                  <a:srgbClr val="191919"/>
                </a:solidFill>
                <a:latin typeface="Arial"/>
              </a:rPr>
              <a:t>59,3 h fuera de servicio: se sustituye el motor de tracción completo.</a:t>
            </a:r>
          </a:p>
        </p:txBody>
      </p:sp>
      <p:sp>
        <p:nvSpPr>
          <p:cNvPr id="48" name="Rectangle 47"/>
          <p:cNvSpPr/>
          <p:nvPr/>
        </p:nvSpPr>
        <p:spPr>
          <a:xfrm>
            <a:off x="841248" y="4206240"/>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9" name="Oval 48"/>
          <p:cNvSpPr/>
          <p:nvPr/>
        </p:nvSpPr>
        <p:spPr>
          <a:xfrm>
            <a:off x="987552" y="4407407"/>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0" name="TextBox 49"/>
          <p:cNvSpPr txBox="1"/>
          <p:nvPr/>
        </p:nvSpPr>
        <p:spPr>
          <a:xfrm>
            <a:off x="987552" y="4407407"/>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4</a:t>
            </a:r>
          </a:p>
        </p:txBody>
      </p:sp>
      <p:sp>
        <p:nvSpPr>
          <p:cNvPr id="51" name="TextBox 50"/>
          <p:cNvSpPr txBox="1"/>
          <p:nvPr/>
        </p:nvSpPr>
        <p:spPr>
          <a:xfrm>
            <a:off x="1517904" y="4206240"/>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DAÑO FÍSICO</a:t>
            </a:r>
          </a:p>
          <a:p>
            <a:pPr algn="l">
              <a:lnSpc>
                <a:spcPct val="108000"/>
              </a:lnSpc>
              <a:spcBef>
                <a:spcPts val="0"/>
              </a:spcBef>
              <a:spcAft>
                <a:spcPts val="0"/>
              </a:spcAft>
            </a:pPr>
            <a:r>
              <a:rPr lang="es-ES" sz="950" b="0" i="0" noProof="0" dirty="0">
                <a:solidFill>
                  <a:srgbClr val="191919"/>
                </a:solidFill>
                <a:latin typeface="Arial"/>
              </a:rPr>
              <a:t>El eje roto sigue girando y daña el tren planetario y los rodamientos.</a:t>
            </a:r>
          </a:p>
        </p:txBody>
      </p:sp>
      <p:sp>
        <p:nvSpPr>
          <p:cNvPr id="52" name="TextBox 51"/>
          <p:cNvSpPr txBox="1"/>
          <p:nvPr/>
        </p:nvSpPr>
        <p:spPr>
          <a:xfrm>
            <a:off x="7470648" y="1389888"/>
            <a:ext cx="388620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P5 · CONSECUENCIAS (SAE JA1011)</a:t>
            </a:r>
          </a:p>
        </p:txBody>
      </p:sp>
      <p:sp>
        <p:nvSpPr>
          <p:cNvPr id="53" name="Rectangle 52"/>
          <p:cNvSpPr/>
          <p:nvPr/>
        </p:nvSpPr>
        <p:spPr>
          <a:xfrm>
            <a:off x="7470648" y="1682496"/>
            <a:ext cx="3886200" cy="65836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4" name="TextBox 53"/>
          <p:cNvSpPr txBox="1"/>
          <p:nvPr/>
        </p:nvSpPr>
        <p:spPr>
          <a:xfrm>
            <a:off x="7635240" y="1682496"/>
            <a:ext cx="3611880" cy="658368"/>
          </a:xfrm>
          <a:prstGeom prst="rect">
            <a:avLst/>
          </a:prstGeom>
          <a:noFill/>
        </p:spPr>
        <p:txBody>
          <a:bodyPr wrap="square" lIns="0" tIns="0" rIns="0" bIns="0" anchor="ctr">
            <a:spAutoFit/>
          </a:bodyPr>
          <a:lstStyle/>
          <a:p>
            <a:pPr algn="l">
              <a:lnSpc>
                <a:spcPct val="110000"/>
              </a:lnSpc>
              <a:spcBef>
                <a:spcPts val="0"/>
              </a:spcBef>
              <a:spcAft>
                <a:spcPts val="200"/>
              </a:spcAft>
            </a:pPr>
            <a:r>
              <a:rPr lang="es-ES" sz="800" b="1" i="0" noProof="0" dirty="0">
                <a:solidFill>
                  <a:srgbClr val="9FB3D9"/>
                </a:solidFill>
                <a:latin typeface="Arial"/>
              </a:rPr>
              <a:t>CLASIFICACIÓN</a:t>
            </a:r>
          </a:p>
          <a:p>
            <a:pPr algn="l">
              <a:lnSpc>
                <a:spcPct val="105000"/>
              </a:lnSpc>
              <a:spcBef>
                <a:spcPts val="0"/>
              </a:spcBef>
              <a:spcAft>
                <a:spcPts val="0"/>
              </a:spcAft>
            </a:pPr>
            <a:r>
              <a:rPr lang="es-ES" sz="1050" b="1" i="0" noProof="0" dirty="0">
                <a:solidFill>
                  <a:srgbClr val="FFFFFF"/>
                </a:solidFill>
                <a:latin typeface="Arial"/>
              </a:rPr>
              <a:t>Operacional, con implicación de seguridad y efecto contractual</a:t>
            </a:r>
          </a:p>
        </p:txBody>
      </p:sp>
      <p:sp>
        <p:nvSpPr>
          <p:cNvPr id="55" name="Rectangle 54"/>
          <p:cNvSpPr/>
          <p:nvPr/>
        </p:nvSpPr>
        <p:spPr>
          <a:xfrm>
            <a:off x="7470648" y="2414016"/>
            <a:ext cx="3886200" cy="80467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6" name="Rectangle 55"/>
          <p:cNvSpPr/>
          <p:nvPr/>
        </p:nvSpPr>
        <p:spPr>
          <a:xfrm>
            <a:off x="7470648" y="2414016"/>
            <a:ext cx="45720" cy="804672"/>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7" name="TextBox 56"/>
          <p:cNvSpPr txBox="1"/>
          <p:nvPr/>
        </p:nvSpPr>
        <p:spPr>
          <a:xfrm>
            <a:off x="7635240" y="2414016"/>
            <a:ext cx="3611880" cy="80467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C3094A"/>
                </a:solidFill>
                <a:latin typeface="Arial"/>
              </a:rPr>
              <a:t>OPERACIONAL</a:t>
            </a:r>
          </a:p>
          <a:p>
            <a:pPr algn="l">
              <a:lnSpc>
                <a:spcPct val="106000"/>
              </a:lnSpc>
              <a:spcBef>
                <a:spcPts val="0"/>
              </a:spcBef>
              <a:spcAft>
                <a:spcPts val="0"/>
              </a:spcAft>
            </a:pPr>
            <a:r>
              <a:rPr lang="es-ES" sz="900" b="0" i="0" noProof="0" dirty="0">
                <a:solidFill>
                  <a:srgbClr val="191919"/>
                </a:solidFill>
                <a:latin typeface="Arial"/>
              </a:rPr>
              <a:t>59,3 h por evento, reparación mayor del motor y retiro antes de las 20 000 h de TBO.</a:t>
            </a:r>
          </a:p>
        </p:txBody>
      </p:sp>
      <p:sp>
        <p:nvSpPr>
          <p:cNvPr id="58" name="Rectangle 57"/>
          <p:cNvSpPr/>
          <p:nvPr/>
        </p:nvSpPr>
        <p:spPr>
          <a:xfrm>
            <a:off x="7470648" y="3291840"/>
            <a:ext cx="3886200" cy="80467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9" name="Rectangle 58"/>
          <p:cNvSpPr/>
          <p:nvPr/>
        </p:nvSpPr>
        <p:spPr>
          <a:xfrm>
            <a:off x="7470648" y="3291840"/>
            <a:ext cx="45720" cy="80467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0" name="TextBox 59"/>
          <p:cNvSpPr txBox="1"/>
          <p:nvPr/>
        </p:nvSpPr>
        <p:spPr>
          <a:xfrm>
            <a:off x="7635240" y="3291840"/>
            <a:ext cx="3611880" cy="80467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042354"/>
                </a:solidFill>
                <a:latin typeface="Arial"/>
              </a:rPr>
              <a:t>IMPLICACIÓN DE SEGURIDAD</a:t>
            </a:r>
          </a:p>
          <a:p>
            <a:pPr algn="l">
              <a:lnSpc>
                <a:spcPct val="106000"/>
              </a:lnSpc>
              <a:spcBef>
                <a:spcPts val="0"/>
              </a:spcBef>
              <a:spcAft>
                <a:spcPts val="0"/>
              </a:spcAft>
            </a:pPr>
            <a:r>
              <a:rPr lang="es-ES" sz="900" b="0" i="0" noProof="0" dirty="0">
                <a:solidFill>
                  <a:srgbClr val="191919"/>
                </a:solidFill>
                <a:latin typeface="Arial"/>
              </a:rPr>
              <a:t>Compromete el control de velocidad en descenso. Sin daños a personas en 13 eventos, pero la norma evalúa la consecuencia potencial.</a:t>
            </a:r>
          </a:p>
        </p:txBody>
      </p:sp>
      <p:sp>
        <p:nvSpPr>
          <p:cNvPr id="61" name="Rectangle 60"/>
          <p:cNvSpPr/>
          <p:nvPr/>
        </p:nvSpPr>
        <p:spPr>
          <a:xfrm>
            <a:off x="7470648" y="4169664"/>
            <a:ext cx="38862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Rectangle 61"/>
          <p:cNvSpPr/>
          <p:nvPr/>
        </p:nvSpPr>
        <p:spPr>
          <a:xfrm>
            <a:off x="7470648" y="416966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3" name="TextBox 62"/>
          <p:cNvSpPr txBox="1"/>
          <p:nvPr/>
        </p:nvSpPr>
        <p:spPr>
          <a:xfrm>
            <a:off x="7635240" y="4169664"/>
            <a:ext cx="3611880" cy="80467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2841DD"/>
                </a:solidFill>
                <a:latin typeface="Arial"/>
              </a:rPr>
              <a:t>EFECTO CONTRACTUAL</a:t>
            </a:r>
          </a:p>
          <a:p>
            <a:pPr algn="l">
              <a:lnSpc>
                <a:spcPct val="106000"/>
              </a:lnSpc>
              <a:spcBef>
                <a:spcPts val="0"/>
              </a:spcBef>
              <a:spcAft>
                <a:spcPts val="0"/>
              </a:spcAft>
            </a:pPr>
            <a:r>
              <a:rPr lang="es-ES" sz="900" b="0" i="0" noProof="0" dirty="0">
                <a:solidFill>
                  <a:srgbClr val="191919"/>
                </a:solidFill>
                <a:latin typeface="Arial"/>
              </a:rPr>
              <a:t>Las horas fuera de servicio erosionan la disponibilidad y el MTBF comprometidos.</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5" name="TextBox 6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La clasificación es determinante: sin tarea proactiva aplicable, una consecuencia operacional con implicación de seguridad lleva la norma a prescribir el rediseño.</a:t>
            </a:r>
          </a:p>
        </p:txBody>
      </p:sp>
      <p:sp>
        <p:nvSpPr>
          <p:cNvPr id="66"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67"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68"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69"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70"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71"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72"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73"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74"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75" name="Tracker P4"/>
          <p:cNvSpPr/>
          <p:nvPr/>
        </p:nvSpPr>
        <p:spPr>
          <a:xfrm>
            <a:off x="459028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4</a:t>
            </a:r>
          </a:p>
        </p:txBody>
      </p:sp>
      <p:sp>
        <p:nvSpPr>
          <p:cNvPr id="76" name="Tracker P5"/>
          <p:cNvSpPr/>
          <p:nvPr/>
        </p:nvSpPr>
        <p:spPr>
          <a:xfrm>
            <a:off x="486460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5</a:t>
            </a:r>
          </a:p>
        </p:txBody>
      </p:sp>
      <p:sp>
        <p:nvSpPr>
          <p:cNvPr id="77"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78"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79"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4.3 DECISIÓN DE REDISEÑO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16</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ES" sz="1200" b="0" i="0" noProof="0" dirty="0">
                <a:solidFill>
                  <a:srgbClr val="4A5568"/>
                </a:solidFill>
                <a:latin typeface="Arial"/>
              </a:rPr>
              <a:t>Una tarea proactiva se adopta solo si es técnicamente factible y si el costo de ejecutarla es menor que el de las consecuencias que evita.</a:t>
            </a:r>
          </a:p>
        </p:txBody>
      </p:sp>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ES" sz="1200" b="1" i="0" noProof="0" dirty="0">
                <a:solidFill>
                  <a:srgbClr val="2841DD"/>
                </a:solidFill>
                <a:latin typeface="Arial"/>
              </a:rPr>
              <a:t>El rediseño es el resultado del proceso RCM.</a:t>
            </a:r>
          </a:p>
          <a:p>
            <a:pPr algn="l">
              <a:lnSpc>
                <a:spcPct val="114000"/>
              </a:lnSpc>
              <a:spcBef>
                <a:spcPts val="0"/>
              </a:spcBef>
              <a:spcAft>
                <a:spcPts val="400"/>
              </a:spcAft>
            </a:pPr>
            <a:r>
              <a:rPr lang="es-ES" sz="1000" b="0" i="0" noProof="0" dirty="0">
                <a:solidFill>
                  <a:srgbClr val="191919"/>
                </a:solidFill>
                <a:latin typeface="Arial"/>
              </a:rPr>
              <a:t>Se siguió la secuencia completa, incluso el cambio de componente (la tarea disponible) y la comprobación de que la falla volvió a presentarse; se llegó al rediseño solo después de agotar y documentar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Umbral de indiferencia declarado: si el costo de una reparación mayor programada bajara de US$ 459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4.3 · DECISIÓN DE REDISEÑO  |  ETAPA 3 (RCM) · PREGUNTAS 6 Y 7</a:t>
            </a:r>
          </a:p>
        </p:txBody>
      </p:sp>
      <p:sp>
        <p:nvSpPr>
          <p:cNvPr id="14" name="P6 label"/>
          <p:cNvSpPr txBox="1"/>
          <p:nvPr/>
        </p:nvSpPr>
        <p:spPr>
          <a:xfrm>
            <a:off x="841248" y="1938528"/>
            <a:ext cx="7662672"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950" b="1" i="0" dirty="0">
                <a:solidFill>
                  <a:srgbClr val="4A5568"/>
                </a:solidFill>
                <a:latin typeface="Arial"/>
                <a:cs typeface="Arial"/>
              </a:rPr>
              <a:t>P6 · EVALUACIÓN DE LAS TAREAS PROACTIVAS: ¿FACTIBLE Y CONVENIENTE?</a:t>
            </a:r>
          </a:p>
        </p:txBody>
      </p:sp>
      <p:sp>
        <p:nvSpPr>
          <p:cNvPr id="15" name="P7 label"/>
          <p:cNvSpPr txBox="1"/>
          <p:nvPr/>
        </p:nvSpPr>
        <p:spPr>
          <a:xfrm>
            <a:off x="8796528" y="1938528"/>
            <a:ext cx="2560320"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950" b="1" i="0" dirty="0">
                <a:solidFill>
                  <a:srgbClr val="4A5568"/>
                </a:solidFill>
                <a:latin typeface="Arial"/>
                <a:cs typeface="Arial"/>
              </a:rPr>
              <a:t>P7 · ACCIÓN "A FALTA DE"</a:t>
            </a:r>
          </a:p>
        </p:txBody>
      </p:sp>
      <p:sp>
        <p:nvSpPr>
          <p:cNvPr id="16" name="Tarea 0"/>
          <p:cNvSpPr/>
          <p:nvPr/>
        </p:nvSpPr>
        <p:spPr>
          <a:xfrm>
            <a:off x="841248" y="2212848"/>
            <a:ext cx="2395728" cy="1938528"/>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17" name="Tarea 0 borde"/>
          <p:cNvSpPr/>
          <p:nvPr/>
        </p:nvSpPr>
        <p:spPr>
          <a:xfrm>
            <a:off x="841248" y="2212848"/>
            <a:ext cx="2395728" cy="45720"/>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18" name="Tarea 0 txt"/>
          <p:cNvSpPr txBox="1"/>
          <p:nvPr/>
        </p:nvSpPr>
        <p:spPr>
          <a:xfrm>
            <a:off x="969264" y="2359152"/>
            <a:ext cx="2139696" cy="137160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1150" b="1" i="0" dirty="0">
                <a:solidFill>
                  <a:srgbClr val="042354"/>
                </a:solidFill>
                <a:latin typeface="Arial"/>
                <a:cs typeface="Arial"/>
              </a:rPr>
              <a:t>Tarea a condición</a:t>
            </a:r>
          </a:p>
          <a:p>
            <a:pPr algn="l" marL="0" indent="0">
              <a:lnSpc>
                <a:spcPct val="100000"/>
              </a:lnSpc>
              <a:spcBef>
                <a:spcPts val="0"/>
              </a:spcBef>
              <a:spcAft>
                <a:spcPts val="200"/>
              </a:spcAft>
              <a:buNone/>
            </a:pPr>
            <a:r>
              <a:rPr lang="es-PE" sz="950" b="1" i="0" dirty="0">
                <a:solidFill>
                  <a:srgbClr val="4A5568"/>
                </a:solidFill>
                <a:latin typeface="Arial"/>
                <a:cs typeface="Arial"/>
              </a:rPr>
              <a:t>No factible</a:t>
            </a:r>
          </a:p>
          <a:p>
            <a:pPr algn="l" marL="0" indent="0">
              <a:lnSpc>
                <a:spcPct val="112000"/>
              </a:lnSpc>
              <a:spcBef>
                <a:spcPts val="0"/>
              </a:spcBef>
              <a:spcAft>
                <a:spcPts val="0"/>
              </a:spcAft>
              <a:buNone/>
            </a:pPr>
            <a:r>
              <a:rPr lang="es-PE" sz="1000" b="0" i="0" dirty="0">
                <a:solidFill>
                  <a:srgbClr val="4A5568"/>
                </a:solidFill>
                <a:latin typeface="Arial"/>
                <a:cs typeface="Arial"/>
              </a:rPr>
              <a:t>La grieta nace en la raíz de la unión, dentro del motor cerrado: no hay acceso de inspección.</a:t>
            </a:r>
          </a:p>
        </p:txBody>
      </p:sp>
      <p:sp>
        <p:nvSpPr>
          <p:cNvPr id="19" name="Tarea 0 res"/>
          <p:cNvSpPr txBox="1"/>
          <p:nvPr/>
        </p:nvSpPr>
        <p:spPr>
          <a:xfrm>
            <a:off x="969264" y="3822192"/>
            <a:ext cx="2139696"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1000" b="1" i="0" dirty="0">
                <a:solidFill>
                  <a:srgbClr val="C3094A"/>
                </a:solidFill>
                <a:latin typeface="Arial"/>
                <a:cs typeface="Arial"/>
              </a:rPr>
              <a:t>DESCARTADA</a:t>
            </a:r>
          </a:p>
        </p:txBody>
      </p:sp>
      <p:sp>
        <p:nvSpPr>
          <p:cNvPr id="20" name="Chev 0"/>
          <p:cNvSpPr txBox="1"/>
          <p:nvPr/>
        </p:nvSpPr>
        <p:spPr>
          <a:xfrm>
            <a:off x="3236976" y="3035808"/>
            <a:ext cx="237744"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600" b="1" i="0" dirty="0">
                <a:solidFill>
                  <a:srgbClr val="7A8494"/>
                </a:solidFill>
                <a:latin typeface="Arial"/>
                <a:cs typeface="Arial"/>
              </a:rPr>
              <a:t>›</a:t>
            </a:r>
          </a:p>
        </p:txBody>
      </p:sp>
      <p:sp>
        <p:nvSpPr>
          <p:cNvPr id="21" name="Tarea 1"/>
          <p:cNvSpPr/>
          <p:nvPr/>
        </p:nvSpPr>
        <p:spPr>
          <a:xfrm>
            <a:off x="3474720" y="2212848"/>
            <a:ext cx="2395728" cy="1938528"/>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22" name="Tarea 1 borde"/>
          <p:cNvSpPr/>
          <p:nvPr/>
        </p:nvSpPr>
        <p:spPr>
          <a:xfrm>
            <a:off x="3474720" y="2212848"/>
            <a:ext cx="2395728" cy="45720"/>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23" name="Tarea 1 txt"/>
          <p:cNvSpPr txBox="1"/>
          <p:nvPr/>
        </p:nvSpPr>
        <p:spPr>
          <a:xfrm>
            <a:off x="3602736" y="2359152"/>
            <a:ext cx="2139696" cy="137160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1150" b="1" i="0" dirty="0">
                <a:solidFill>
                  <a:srgbClr val="042354"/>
                </a:solidFill>
                <a:latin typeface="Arial"/>
                <a:cs typeface="Arial"/>
              </a:rPr>
              <a:t>Reacondicionamiento cíclico</a:t>
            </a:r>
          </a:p>
          <a:p>
            <a:pPr algn="l" marL="0" indent="0">
              <a:lnSpc>
                <a:spcPct val="100000"/>
              </a:lnSpc>
              <a:spcBef>
                <a:spcPts val="0"/>
              </a:spcBef>
              <a:spcAft>
                <a:spcPts val="200"/>
              </a:spcAft>
              <a:buNone/>
            </a:pPr>
            <a:r>
              <a:rPr lang="es-PE" sz="950" b="1" i="0" dirty="0">
                <a:solidFill>
                  <a:srgbClr val="4A5568"/>
                </a:solidFill>
                <a:latin typeface="Arial"/>
                <a:cs typeface="Arial"/>
              </a:rPr>
              <a:t>No factible</a:t>
            </a:r>
          </a:p>
          <a:p>
            <a:pPr algn="l" marL="0" indent="0">
              <a:lnSpc>
                <a:spcPct val="112000"/>
              </a:lnSpc>
              <a:spcBef>
                <a:spcPts val="0"/>
              </a:spcBef>
              <a:spcAft>
                <a:spcPts val="0"/>
              </a:spcAft>
              <a:buNone/>
            </a:pPr>
            <a:r>
              <a:rPr lang="es-PE" sz="1000" b="0" i="0" dirty="0">
                <a:solidFill>
                  <a:srgbClr val="4A5568"/>
                </a:solidFill>
                <a:latin typeface="Arial"/>
                <a:cs typeface="Arial"/>
              </a:rPr>
              <a:t>Reacondicionar el eje no elimina el punto débil de la soldadura.</a:t>
            </a:r>
          </a:p>
        </p:txBody>
      </p:sp>
      <p:sp>
        <p:nvSpPr>
          <p:cNvPr id="24" name="Tarea 1 res"/>
          <p:cNvSpPr txBox="1"/>
          <p:nvPr/>
        </p:nvSpPr>
        <p:spPr>
          <a:xfrm>
            <a:off x="3602736" y="3822192"/>
            <a:ext cx="2139696"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1000" b="1" i="0" dirty="0">
                <a:solidFill>
                  <a:srgbClr val="C3094A"/>
                </a:solidFill>
                <a:latin typeface="Arial"/>
                <a:cs typeface="Arial"/>
              </a:rPr>
              <a:t>DESCARTADA</a:t>
            </a:r>
          </a:p>
        </p:txBody>
      </p:sp>
      <p:sp>
        <p:nvSpPr>
          <p:cNvPr id="25" name="Chev 1"/>
          <p:cNvSpPr txBox="1"/>
          <p:nvPr/>
        </p:nvSpPr>
        <p:spPr>
          <a:xfrm>
            <a:off x="5870448" y="3035808"/>
            <a:ext cx="237744"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600" b="1" i="0" dirty="0">
                <a:solidFill>
                  <a:srgbClr val="7A8494"/>
                </a:solidFill>
                <a:latin typeface="Arial"/>
                <a:cs typeface="Arial"/>
              </a:rPr>
              <a:t>›</a:t>
            </a:r>
          </a:p>
        </p:txBody>
      </p:sp>
      <p:sp>
        <p:nvSpPr>
          <p:cNvPr id="26" name="Tarea 2"/>
          <p:cNvSpPr/>
          <p:nvPr/>
        </p:nvSpPr>
        <p:spPr>
          <a:xfrm>
            <a:off x="6108192" y="2212848"/>
            <a:ext cx="2395728" cy="1938528"/>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27" name="Tarea 2 borde"/>
          <p:cNvSpPr/>
          <p:nvPr/>
        </p:nvSpPr>
        <p:spPr>
          <a:xfrm>
            <a:off x="6108192" y="2212848"/>
            <a:ext cx="2395728" cy="45720"/>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28" name="Tarea 2 txt"/>
          <p:cNvSpPr txBox="1"/>
          <p:nvPr/>
        </p:nvSpPr>
        <p:spPr>
          <a:xfrm>
            <a:off x="6236208" y="2359152"/>
            <a:ext cx="2139696" cy="137160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1150" b="1" i="0" dirty="0">
                <a:solidFill>
                  <a:srgbClr val="042354"/>
                </a:solidFill>
                <a:latin typeface="Arial"/>
                <a:cs typeface="Arial"/>
              </a:rPr>
              <a:t>Sustitución cíclica</a:t>
            </a:r>
          </a:p>
          <a:p>
            <a:pPr algn="l" marL="0" indent="0">
              <a:lnSpc>
                <a:spcPct val="100000"/>
              </a:lnSpc>
              <a:spcBef>
                <a:spcPts val="0"/>
              </a:spcBef>
              <a:spcAft>
                <a:spcPts val="200"/>
              </a:spcAft>
              <a:buNone/>
            </a:pPr>
            <a:r>
              <a:rPr lang="es-PE" sz="950" b="1" i="0" dirty="0">
                <a:solidFill>
                  <a:srgbClr val="4A5568"/>
                </a:solidFill>
                <a:latin typeface="Arial"/>
                <a:cs typeface="Arial"/>
              </a:rPr>
              <a:t>Factible, pero no conveniente</a:t>
            </a:r>
          </a:p>
          <a:p>
            <a:pPr algn="l" marL="0" indent="0">
              <a:lnSpc>
                <a:spcPct val="112000"/>
              </a:lnSpc>
              <a:spcBef>
                <a:spcPts val="0"/>
              </a:spcBef>
              <a:spcAft>
                <a:spcPts val="0"/>
              </a:spcAft>
              <a:buNone/>
            </a:pPr>
            <a:r>
              <a:rPr lang="es-PE" sz="1000" b="0" i="0" dirty="0">
                <a:solidFill>
                  <a:srgbClr val="4A5568"/>
                </a:solidFill>
                <a:latin typeface="Arial"/>
                <a:cs typeface="Arial"/>
              </a:rPr>
              <a:t>Cambio a 9 547 h (10 % de probabilidad de falla): US$ 4,3 M/año frente a US$ 3,31 M/año de consecuencias evitadas (1,30 : 1).</a:t>
            </a:r>
          </a:p>
        </p:txBody>
      </p:sp>
      <p:sp>
        <p:nvSpPr>
          <p:cNvPr id="29" name="Tarea 2 res"/>
          <p:cNvSpPr txBox="1"/>
          <p:nvPr/>
        </p:nvSpPr>
        <p:spPr>
          <a:xfrm>
            <a:off x="6236208" y="3822192"/>
            <a:ext cx="2139696"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1000" b="1" i="0" dirty="0">
                <a:solidFill>
                  <a:srgbClr val="C3094A"/>
                </a:solidFill>
                <a:latin typeface="Arial"/>
                <a:cs typeface="Arial"/>
              </a:rPr>
              <a:t>DESCARTADA</a:t>
            </a:r>
          </a:p>
        </p:txBody>
      </p:sp>
      <p:sp>
        <p:nvSpPr>
          <p:cNvPr id="30" name="Chev 2"/>
          <p:cNvSpPr txBox="1"/>
          <p:nvPr/>
        </p:nvSpPr>
        <p:spPr>
          <a:xfrm>
            <a:off x="8503920" y="3035808"/>
            <a:ext cx="292608" cy="274320"/>
          </a:xfrm>
          <a:prstGeom prst="rect">
            <a:avLst/>
          </a:prstGeom>
          <a:no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1600" b="1" i="0" dirty="0">
                <a:solidFill>
                  <a:srgbClr val="7A8494"/>
                </a:solidFill>
                <a:latin typeface="Arial"/>
                <a:cs typeface="Arial"/>
              </a:rPr>
              <a:t>›</a:t>
            </a:r>
          </a:p>
        </p:txBody>
      </p:sp>
      <p:sp>
        <p:nvSpPr>
          <p:cNvPr id="31" name="P7 card"/>
          <p:cNvSpPr/>
          <p:nvPr/>
        </p:nvSpPr>
        <p:spPr>
          <a:xfrm>
            <a:off x="8796528" y="2212848"/>
            <a:ext cx="2560320" cy="1938528"/>
          </a:xfrm>
          <a:prstGeom prst="rect">
            <a:avLst/>
          </a:prstGeom>
          <a:solidFill>
            <a:srgbClr val="2841DD"/>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32" name="P7 txt"/>
          <p:cNvSpPr txBox="1"/>
          <p:nvPr/>
        </p:nvSpPr>
        <p:spPr>
          <a:xfrm>
            <a:off x="8942832" y="2359152"/>
            <a:ext cx="2286000" cy="146304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1150" b="1" i="0" dirty="0">
                <a:solidFill>
                  <a:srgbClr val="FFFFFF"/>
                </a:solidFill>
                <a:latin typeface="Arial"/>
                <a:cs typeface="Arial"/>
              </a:rPr>
              <a:t>Acción "a falta de"</a:t>
            </a:r>
          </a:p>
          <a:p>
            <a:pPr algn="l" marL="0" indent="0">
              <a:lnSpc>
                <a:spcPct val="112000"/>
              </a:lnSpc>
              <a:spcBef>
                <a:spcPts val="0"/>
              </a:spcBef>
              <a:spcAft>
                <a:spcPts val="0"/>
              </a:spcAft>
              <a:buNone/>
            </a:pPr>
            <a:r>
              <a:rPr lang="es-PE" sz="950" b="0" i="0" dirty="0">
                <a:solidFill>
                  <a:srgbClr val="FFFFFF"/>
                </a:solidFill>
                <a:latin typeface="Arial"/>
                <a:cs typeface="Arial"/>
              </a:rPr>
              <a:t>Sin tarea proactiva aplicable y con consecuencia operacional con implicación de seguridad, la norma prescribe el </a:t>
            </a:r>
            <a:r>
              <a:rPr lang="es-PE" sz="950" b="1" i="0" dirty="0">
                <a:solidFill>
                  <a:srgbClr val="FFFFFF"/>
                </a:solidFill>
                <a:latin typeface="Arial"/>
                <a:cs typeface="Arial"/>
              </a:rPr>
              <a:t>CAMBIO DE DISEÑO</a:t>
            </a:r>
            <a:r>
              <a:rPr lang="es-PE" sz="950" b="0" i="0" dirty="0">
                <a:solidFill>
                  <a:srgbClr val="FFFFFF"/>
                </a:solidFill>
                <a:latin typeface="Arial"/>
                <a:cs typeface="Arial"/>
              </a:rPr>
              <a:t>.</a:t>
            </a:r>
          </a:p>
        </p:txBody>
      </p:sp>
      <p:sp>
        <p:nvSpPr>
          <p:cNvPr id="33" name="P7 ref"/>
          <p:cNvSpPr txBox="1"/>
          <p:nvPr/>
        </p:nvSpPr>
        <p:spPr>
          <a:xfrm>
            <a:off x="8942832" y="3822192"/>
            <a:ext cx="2286000"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900" b="0" i="0" dirty="0">
                <a:solidFill>
                  <a:srgbClr val="CFD6DF"/>
                </a:solidFill>
                <a:latin typeface="Arial"/>
                <a:cs typeface="Arial"/>
              </a:rPr>
              <a:t>SAE JA1011 · JA1012</a:t>
            </a:r>
          </a:p>
        </p:txBody>
      </p:sp>
      <p:sp>
        <p:nvSpPr>
          <p:cNvPr id="34"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35"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6"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37" name="Tracker E3"/>
          <p:cNvSpPr/>
          <p:nvPr/>
        </p:nvSpPr>
        <p:spPr>
          <a:xfrm>
            <a:off x="188366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3</a:t>
            </a:r>
          </a:p>
        </p:txBody>
      </p:sp>
      <p:sp>
        <p:nvSpPr>
          <p:cNvPr id="38" name="Tracker E4"/>
          <p:cNvSpPr/>
          <p:nvPr/>
        </p:nvSpPr>
        <p:spPr>
          <a:xfrm>
            <a:off x="215798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39"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40"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1"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2"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43"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4"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45" name="Tracker P6"/>
          <p:cNvSpPr/>
          <p:nvPr/>
        </p:nvSpPr>
        <p:spPr>
          <a:xfrm>
            <a:off x="513892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6</a:t>
            </a:r>
          </a:p>
        </p:txBody>
      </p:sp>
      <p:sp>
        <p:nvSpPr>
          <p:cNvPr id="46" name="Tracker P7"/>
          <p:cNvSpPr/>
          <p:nvPr/>
        </p:nvSpPr>
        <p:spPr>
          <a:xfrm>
            <a:off x="5413248"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7</a:t>
            </a:r>
          </a:p>
        </p:txBody>
      </p:sp>
      <p:sp>
        <p:nvSpPr>
          <p:cNvPr id="47"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4.3 DECISIÓN DE REDISEÑO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17</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5" name="TextBox 24"/>
          <p:cNvSpPr txBox="1"/>
          <p:nvPr/>
        </p:nvSpPr>
        <p:spPr>
          <a:xfrm>
            <a:off x="6803136" y="1828800"/>
            <a:ext cx="2034539" cy="1005840"/>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C3094A"/>
                </a:solidFill>
                <a:latin typeface="Arial"/>
              </a:rPr>
              <a:t>Componente obsoleto</a:t>
            </a:r>
          </a:p>
          <a:p>
            <a:pPr algn="l">
              <a:lnSpc>
                <a:spcPct val="108000"/>
              </a:lnSpc>
              <a:spcBef>
                <a:spcPts val="0"/>
              </a:spcBef>
              <a:spcAft>
                <a:spcPts val="400"/>
              </a:spcAft>
            </a:pPr>
            <a:r>
              <a:rPr lang="es-ES" sz="900" b="0" i="0" noProof="0" dirty="0">
                <a:solidFill>
                  <a:srgbClr val="191919"/>
                </a:solidFill>
                <a:latin typeface="Arial"/>
              </a:rPr>
              <a:t>Penetración parcial; raíz sin fusión en el diámetro interior</a:t>
            </a:r>
          </a:p>
          <a:p>
            <a:pPr algn="l">
              <a:lnSpc>
                <a:spcPct val="110000"/>
              </a:lnSpc>
              <a:spcBef>
                <a:spcPts val="0"/>
              </a:spcBef>
              <a:spcAft>
                <a:spcPts val="0"/>
              </a:spcAft>
            </a:pPr>
            <a:r>
              <a:rPr lang="es-ES" sz="1500" b="1" i="0" noProof="0" dirty="0">
                <a:solidFill>
                  <a:srgbClr val="C3094A"/>
                </a:solidFill>
                <a:latin typeface="Arial"/>
              </a:rPr>
              <a:t>FS = 0,31</a:t>
            </a:r>
          </a:p>
        </p:txBody>
      </p:sp>
      <p:sp>
        <p:nvSpPr>
          <p:cNvPr id="26" name="Rectangle 25"/>
          <p:cNvSpPr/>
          <p:nvPr/>
        </p:nvSpPr>
        <p:spPr>
          <a:xfrm>
            <a:off x="9093707" y="1700784"/>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8" name="TextBox 27"/>
          <p:cNvSpPr txBox="1"/>
          <p:nvPr/>
        </p:nvSpPr>
        <p:spPr>
          <a:xfrm>
            <a:off x="9212580" y="1828800"/>
            <a:ext cx="2034539" cy="800925"/>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2841DD"/>
                </a:solidFill>
                <a:latin typeface="Arial"/>
              </a:rPr>
              <a:t>Componente </a:t>
            </a:r>
            <a:r>
              <a:rPr lang="es-ES" sz="1050" b="1" dirty="0">
                <a:solidFill>
                  <a:srgbClr val="2841DD"/>
                </a:solidFill>
              </a:rPr>
              <a:t>rediseñad</a:t>
            </a:r>
            <a:r>
              <a:rPr lang="es-ES" sz="1050" b="1" i="0" noProof="0" dirty="0">
                <a:solidFill>
                  <a:srgbClr val="2841DD"/>
                </a:solidFill>
                <a:latin typeface="Arial"/>
              </a:rPr>
              <a:t>o</a:t>
            </a:r>
          </a:p>
          <a:p>
            <a:pPr algn="l">
              <a:lnSpc>
                <a:spcPct val="108000"/>
              </a:lnSpc>
              <a:spcBef>
                <a:spcPts val="0"/>
              </a:spcBef>
              <a:spcAft>
                <a:spcPts val="400"/>
              </a:spcAft>
            </a:pPr>
            <a:r>
              <a:rPr lang="es-ES" sz="900" b="0" i="0" noProof="0" dirty="0">
                <a:solidFill>
                  <a:srgbClr val="191919"/>
                </a:solidFill>
                <a:latin typeface="Arial"/>
              </a:rPr>
              <a:t>Penetración completa sobre sección mayor; sin cambio de material</a:t>
            </a:r>
          </a:p>
          <a:p>
            <a:pPr algn="l">
              <a:lnSpc>
                <a:spcPct val="110000"/>
              </a:lnSpc>
              <a:spcBef>
                <a:spcPts val="0"/>
              </a:spcBef>
              <a:spcAft>
                <a:spcPts val="0"/>
              </a:spcAft>
            </a:pPr>
            <a:r>
              <a:rPr lang="es-ES" sz="1500" b="1" i="0" noProof="0" dirty="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1" name="TextBox 30"/>
          <p:cNvSpPr txBox="1"/>
          <p:nvPr/>
        </p:nvSpPr>
        <p:spPr>
          <a:xfrm>
            <a:off x="6784848" y="3328416"/>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lang="es-ES" sz="1200" b="1" i="0" noProof="0" dirty="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lang="es-ES" sz="950" b="1" i="0" noProof="0" dirty="0">
                <a:solidFill>
                  <a:srgbClr val="042354"/>
                </a:solidFill>
                <a:latin typeface="Arial"/>
              </a:rPr>
              <a:t>Priorización por horómetro y riesgo</a:t>
            </a:r>
          </a:p>
          <a:p>
            <a:pPr algn="l">
              <a:lnSpc>
                <a:spcPct val="105000"/>
              </a:lnSpc>
              <a:spcBef>
                <a:spcPts val="0"/>
              </a:spcBef>
              <a:spcAft>
                <a:spcPts val="0"/>
              </a:spcAft>
            </a:pPr>
            <a:r>
              <a:rPr lang="es-ES" sz="850" b="0" i="0" noProof="0" dirty="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4" name="TextBox 33"/>
          <p:cNvSpPr txBox="1"/>
          <p:nvPr/>
        </p:nvSpPr>
        <p:spPr>
          <a:xfrm>
            <a:off x="6784848" y="3895344"/>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lang="es-ES" sz="1200" b="1" i="0" noProof="0" dirty="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lang="es-ES" sz="950" b="1" i="0" noProof="0" dirty="0">
                <a:solidFill>
                  <a:srgbClr val="042354"/>
                </a:solidFill>
                <a:latin typeface="Arial"/>
              </a:rPr>
              <a:t>Sustitución del conjunto</a:t>
            </a:r>
          </a:p>
          <a:p>
            <a:pPr algn="l">
              <a:lnSpc>
                <a:spcPct val="105000"/>
              </a:lnSpc>
              <a:spcBef>
                <a:spcPts val="0"/>
              </a:spcBef>
              <a:spcAft>
                <a:spcPts val="0"/>
              </a:spcAft>
            </a:pPr>
            <a:r>
              <a:rPr lang="es-ES" sz="850" b="0" i="0" noProof="0" dirty="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7" name="TextBox 36"/>
          <p:cNvSpPr txBox="1"/>
          <p:nvPr/>
        </p:nvSpPr>
        <p:spPr>
          <a:xfrm>
            <a:off x="6784848" y="4462272"/>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lang="es-ES" sz="1200" b="1" i="0" noProof="0" dirty="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lang="es-ES" sz="950" b="1" i="0" noProof="0" dirty="0">
                <a:solidFill>
                  <a:srgbClr val="042354"/>
                </a:solidFill>
                <a:latin typeface="Arial"/>
              </a:rPr>
              <a:t>Control de la mejora instalada</a:t>
            </a:r>
          </a:p>
          <a:p>
            <a:pPr algn="l">
              <a:lnSpc>
                <a:spcPct val="105000"/>
              </a:lnSpc>
              <a:spcBef>
                <a:spcPts val="0"/>
              </a:spcBef>
              <a:spcAft>
                <a:spcPts val="0"/>
              </a:spcAft>
            </a:pPr>
            <a:r>
              <a:rPr lang="es-ES" sz="850" b="0" i="0" noProof="0" dirty="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0" name="TextBox 39"/>
          <p:cNvSpPr txBox="1"/>
          <p:nvPr/>
        </p:nvSpPr>
        <p:spPr>
          <a:xfrm>
            <a:off x="1024128" y="5157216"/>
            <a:ext cx="10277856" cy="386581"/>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Un rediseño adoptado, no un desarrollo propio: surgió de las recomendaciones de los AFA y esta operación fue la primera en implementarla, en 2025.</a:t>
            </a:r>
          </a:p>
        </p:txBody>
      </p:sp>
      <p:sp>
        <p:nvSpPr>
          <p:cNvPr id="41" name="TextBox 40"/>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4.3 · DECISIÓN DE REDISEÑO  |  ETAPA 4 · IMPLEMENTACIÓN</a:t>
            </a:r>
          </a:p>
        </p:txBody>
      </p:sp>
      <p:sp>
        <p:nvSpPr>
          <p:cNvPr id="42"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43"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4"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5" name="Tracker E3"/>
          <p:cNvSpPr/>
          <p:nvPr/>
        </p:nvSpPr>
        <p:spPr>
          <a:xfrm>
            <a:off x="188366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46" name="Tracker E4"/>
          <p:cNvSpPr/>
          <p:nvPr/>
        </p:nvSpPr>
        <p:spPr>
          <a:xfrm>
            <a:off x="215798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4</a:t>
            </a:r>
          </a:p>
        </p:txBody>
      </p:sp>
      <p:sp>
        <p:nvSpPr>
          <p:cNvPr id="47"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48"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9"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50"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51"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52"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53"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54"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55"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4.3 DECISIÓN DE REDISEÑO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18</a:t>
            </a:r>
          </a:p>
        </p:txBody>
      </p:sp>
      <p:pic>
        <p:nvPicPr>
          <p:cNvPr id="6" name="Picture 5" descr="pu_g4_norecurrencia.png"/>
          <p:cNvPicPr>
            <a:picLocks noChangeAspect="1"/>
          </p:cNvPicPr>
          <p:nvPr/>
        </p:nvPicPr>
        <p:blipFill>
          <a:blip r:embed="rId3"/>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Observado: 0 eventos. Aún no demostrado: ningún motor intervenido supera todavía 24 540 h, la vida máxima registrada; la verificación sigue abierta.</a:t>
            </a:r>
          </a:p>
        </p:txBody>
      </p:sp>
      <p:sp>
        <p:nvSpPr>
          <p:cNvPr id="22" name="TextBox 21"/>
          <p:cNvSpPr txBox="1"/>
          <p:nvPr/>
        </p:nvSpPr>
        <p:spPr>
          <a:xfrm>
            <a:off x="7150608" y="1389888"/>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5" name="TextBox 24"/>
          <p:cNvSpPr txBox="1"/>
          <p:nvPr/>
        </p:nvSpPr>
        <p:spPr>
          <a:xfrm>
            <a:off x="7296912" y="1700784"/>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lang="es-ES" sz="1500" b="1" i="0" noProof="0" dirty="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lang="es-ES" sz="900" b="0" i="0" noProof="0" dirty="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9" name="TextBox 28"/>
          <p:cNvSpPr txBox="1"/>
          <p:nvPr/>
        </p:nvSpPr>
        <p:spPr>
          <a:xfrm>
            <a:off x="7296912" y="2450592"/>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lang="es-ES" sz="1500" b="1" i="0" noProof="0" dirty="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lang="es-ES" sz="900" b="0" i="0" noProof="0" dirty="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3" name="TextBox 32"/>
          <p:cNvSpPr txBox="1"/>
          <p:nvPr/>
        </p:nvSpPr>
        <p:spPr>
          <a:xfrm>
            <a:off x="7296912" y="3200400"/>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lang="es-ES" sz="1500" b="1" i="0" noProof="0" dirty="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lang="es-ES" sz="900" b="0" i="0" noProof="0" dirty="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7" name="TextBox 36"/>
          <p:cNvSpPr txBox="1"/>
          <p:nvPr/>
        </p:nvSpPr>
        <p:spPr>
          <a:xfrm>
            <a:off x="7260336" y="4353954"/>
            <a:ext cx="1865375" cy="509242"/>
          </a:xfrm>
          <a:prstGeom prst="rect">
            <a:avLst/>
          </a:prstGeom>
          <a:noFill/>
        </p:spPr>
        <p:txBody>
          <a:bodyPr wrap="square" lIns="0" tIns="0" rIns="0" bIns="0" anchor="ctr">
            <a:spAutoFit/>
          </a:bodyPr>
          <a:lstStyle/>
          <a:p>
            <a:pPr algn="l">
              <a:lnSpc>
                <a:spcPct val="110000"/>
              </a:lnSpc>
              <a:spcBef>
                <a:spcPts val="0"/>
              </a:spcBef>
              <a:spcAft>
                <a:spcPts val="200"/>
              </a:spcAft>
            </a:pPr>
            <a:r>
              <a:rPr lang="es-ES" sz="800" b="1" i="0" noProof="0" dirty="0">
                <a:solidFill>
                  <a:srgbClr val="4A5568"/>
                </a:solidFill>
                <a:latin typeface="Arial"/>
              </a:rPr>
              <a:t>MTBF DE LA FALLA</a:t>
            </a:r>
          </a:p>
          <a:p>
            <a:pPr algn="l">
              <a:lnSpc>
                <a:spcPct val="110000"/>
              </a:lnSpc>
              <a:spcBef>
                <a:spcPts val="0"/>
              </a:spcBef>
              <a:spcAft>
                <a:spcPts val="200"/>
              </a:spcAft>
            </a:pPr>
            <a:r>
              <a:rPr lang="es-ES" sz="1150" b="1" i="0" noProof="0" dirty="0">
                <a:solidFill>
                  <a:srgbClr val="042354"/>
                </a:solidFill>
                <a:latin typeface="Arial"/>
              </a:rPr>
              <a:t>&gt; 32 046 h</a:t>
            </a:r>
          </a:p>
          <a:p>
            <a:pPr algn="l">
              <a:lnSpc>
                <a:spcPct val="105000"/>
              </a:lnSpc>
              <a:spcBef>
                <a:spcPts val="0"/>
              </a:spcBef>
              <a:spcAft>
                <a:spcPts val="0"/>
              </a:spcAft>
            </a:pPr>
            <a:r>
              <a:rPr lang="es-ES" sz="850" b="0" i="0" noProof="0" dirty="0">
                <a:solidFill>
                  <a:srgbClr val="4A5568"/>
                </a:solidFill>
                <a:latin typeface="Arial"/>
              </a:rPr>
              <a:t>límite inferior al 95 % · TBO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9" name="TextBox 38"/>
          <p:cNvSpPr txBox="1"/>
          <p:nvPr/>
        </p:nvSpPr>
        <p:spPr>
          <a:xfrm>
            <a:off x="9418319" y="4279392"/>
            <a:ext cx="1865375" cy="658367"/>
          </a:xfrm>
          <a:prstGeom prst="rect">
            <a:avLst/>
          </a:prstGeom>
          <a:noFill/>
        </p:spPr>
        <p:txBody>
          <a:bodyPr wrap="square" lIns="0" tIns="0" rIns="0" bIns="0" anchor="ctr">
            <a:spAutoFit/>
          </a:bodyPr>
          <a:lstStyle/>
          <a:p>
            <a:pPr algn="l">
              <a:lnSpc>
                <a:spcPct val="110000"/>
              </a:lnSpc>
              <a:spcBef>
                <a:spcPts val="0"/>
              </a:spcBef>
              <a:spcAft>
                <a:spcPts val="200"/>
              </a:spcAft>
            </a:pPr>
            <a:r>
              <a:rPr lang="es-ES" sz="800" b="1" i="0" noProof="0" dirty="0">
                <a:solidFill>
                  <a:srgbClr val="4A5568"/>
                </a:solidFill>
                <a:latin typeface="Arial"/>
              </a:rPr>
              <a:t>MTTR DEL SISTEMA</a:t>
            </a:r>
          </a:p>
          <a:p>
            <a:pPr algn="l">
              <a:lnSpc>
                <a:spcPct val="110000"/>
              </a:lnSpc>
              <a:spcBef>
                <a:spcPts val="0"/>
              </a:spcBef>
              <a:spcAft>
                <a:spcPts val="200"/>
              </a:spcAft>
            </a:pPr>
            <a:r>
              <a:rPr lang="es-ES" sz="1150" b="1" i="0" noProof="0" dirty="0">
                <a:solidFill>
                  <a:srgbClr val="042354"/>
                </a:solidFill>
                <a:latin typeface="Arial"/>
              </a:rPr>
              <a:t>6,2 h → 3,3 h</a:t>
            </a:r>
          </a:p>
          <a:p>
            <a:pPr algn="l">
              <a:lnSpc>
                <a:spcPct val="105000"/>
              </a:lnSpc>
              <a:spcBef>
                <a:spcPts val="0"/>
              </a:spcBef>
              <a:spcAft>
                <a:spcPts val="0"/>
              </a:spcAft>
            </a:pPr>
            <a:r>
              <a:rPr lang="es-ES" sz="850" b="0" i="0" noProof="0" dirty="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TextBox 4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Se rechaza con 95 % de confianza que el modo persista con su frecuencia anterior: el límite inferior del MTBF del modo (32 046 h) ya supera el TBO de referencia de 20 000 h.</a:t>
            </a:r>
          </a:p>
        </p:txBody>
      </p:sp>
      <p:sp>
        <p:nvSpPr>
          <p:cNvPr id="42" name="TextBox 41"/>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4.4 · RECUPERACIÓN DE INDICADORES  |  ETAPA 4 · VERIFICACIÓN DEL COMPONENTE</a:t>
            </a:r>
          </a:p>
        </p:txBody>
      </p:sp>
      <p:sp>
        <p:nvSpPr>
          <p:cNvPr id="43"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44"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45"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46" name="Tracker E3"/>
          <p:cNvSpPr/>
          <p:nvPr/>
        </p:nvSpPr>
        <p:spPr>
          <a:xfrm>
            <a:off x="188366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47" name="Tracker E4"/>
          <p:cNvSpPr/>
          <p:nvPr/>
        </p:nvSpPr>
        <p:spPr>
          <a:xfrm>
            <a:off x="215798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4</a:t>
            </a:r>
          </a:p>
        </p:txBody>
      </p:sp>
      <p:sp>
        <p:nvSpPr>
          <p:cNvPr id="48"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49"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50"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51"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52"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53"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54"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55"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56"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4.4 RECUPERACIÓN DE INDICADORES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Qué ya ocurrió, qué falta demostrar y cómo se asegura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19</a:t>
            </a:r>
          </a:p>
        </p:txBody>
      </p:sp>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42" name="TextBox 41"/>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4.4 · RECUPERACIÓN DE INDICADORES  |  ETAPA 4 · VERIFICACIÓN Y CONDICIÓN DE CIERRE</a:t>
            </a:r>
          </a:p>
        </p:txBody>
      </p:sp>
      <p:sp>
        <p:nvSpPr>
          <p:cNvPr id="43" name="Col 0 head"/>
          <p:cNvSpPr txBox="1"/>
          <p:nvPr/>
        </p:nvSpPr>
        <p:spPr>
          <a:xfrm>
            <a:off x="841248" y="1417320"/>
            <a:ext cx="3364992"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950" b="1" i="0" dirty="0">
                <a:solidFill>
                  <a:srgbClr val="042354"/>
                </a:solidFill>
                <a:latin typeface="Arial"/>
                <a:cs typeface="Arial"/>
              </a:rPr>
              <a:t>YA OCURRIÓ · MEDIDO</a:t>
            </a:r>
          </a:p>
        </p:txBody>
      </p:sp>
      <p:sp>
        <p:nvSpPr>
          <p:cNvPr id="44" name="Col 0 card"/>
          <p:cNvSpPr/>
          <p:nvPr/>
        </p:nvSpPr>
        <p:spPr>
          <a:xfrm>
            <a:off x="841248" y="1700784"/>
            <a:ext cx="3364992" cy="265176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45" name="Col 0 borde"/>
          <p:cNvSpPr/>
          <p:nvPr/>
        </p:nvSpPr>
        <p:spPr>
          <a:xfrm>
            <a:off x="841248" y="1700784"/>
            <a:ext cx="3364992" cy="45720"/>
          </a:xfrm>
          <a:prstGeom prst="rect">
            <a:avLst/>
          </a:prstGeom>
          <a:solidFill>
            <a:srgbClr val="042354"/>
          </a:solidFill>
          <a:ln>
            <a:noFill/>
          </a:ln>
          <a:effectLst/>
        </p:spPr>
        <p:txBody>
          <a:bodyPr wrap="square" lIns="0" tIns="0" rIns="0" bIns="0" rtlCol="0" anchor="t">
            <a:noAutofit/>
          </a:bodyPr>
          <a:lstStyle/>
          <a:p>
            <a:endParaRPr lang="es-PE" dirty="0"/>
          </a:p>
        </p:txBody>
      </p:sp>
      <p:sp>
        <p:nvSpPr>
          <p:cNvPr id="46" name="Col 0 txt"/>
          <p:cNvSpPr txBox="1"/>
          <p:nvPr/>
        </p:nvSpPr>
        <p:spPr>
          <a:xfrm>
            <a:off x="1005840" y="1883664"/>
            <a:ext cx="3054096" cy="2432304"/>
          </a:xfrm>
          <a:prstGeom prst="rect">
            <a:avLst/>
          </a:prstGeom>
          <a:noFill/>
          <a:ln>
            <a:noFill/>
          </a:ln>
          <a:effectLst/>
        </p:spPr>
        <p:txBody>
          <a:bodyPr wrap="square" lIns="0" tIns="0" rIns="0" bIns="0" rtlCol="0" anchor="t">
            <a:noAutofit/>
          </a:bodyPr>
          <a:lstStyle/>
          <a:p>
            <a:pPr algn="l" marL="171450" indent="-171450">
              <a:lnSpc>
                <a:spcPct val="112000"/>
              </a:lnSpc>
              <a:spcBef>
                <a:spcPts val="0"/>
              </a:spcBef>
              <a:spcAft>
                <a:spcPts val="700"/>
              </a:spcAft>
              <a:buClr>
                <a:srgbClr val="7A8494"/>
              </a:buClr>
              <a:buFont typeface="Arial"/>
              <a:buChar char="•"/>
            </a:pPr>
            <a:r>
              <a:rPr lang="es-PE" sz="1100" b="1" i="0" dirty="0">
                <a:solidFill>
                  <a:srgbClr val="042354"/>
                </a:solidFill>
                <a:latin typeface="Arial"/>
                <a:cs typeface="Arial"/>
              </a:rPr>
              <a:t>0 fracturas</a:t>
            </a:r>
            <a:r>
              <a:rPr lang="es-PE" sz="1100" b="0" i="0" dirty="0">
                <a:solidFill>
                  <a:srgbClr val="191919"/>
                </a:solidFill>
                <a:latin typeface="Arial"/>
                <a:cs typeface="Arial"/>
              </a:rPr>
              <a:t> del eje palier desde el 14-12-2024, en 96 000 h de operación de flota con el P/N mejorado.</a:t>
            </a:r>
          </a:p>
          <a:p>
            <a:pPr algn="l" marL="171450" indent="-171450">
              <a:lnSpc>
                <a:spcPct val="112000"/>
              </a:lnSpc>
              <a:spcBef>
                <a:spcPts val="0"/>
              </a:spcBef>
              <a:spcAft>
                <a:spcPts val="700"/>
              </a:spcAft>
              <a:buClr>
                <a:srgbClr val="7A8494"/>
              </a:buClr>
              <a:buFont typeface="Arial"/>
              <a:buChar char="•"/>
            </a:pPr>
            <a:r>
              <a:rPr lang="es-PE" sz="1100" b="1" i="0" dirty="0">
                <a:solidFill>
                  <a:srgbClr val="042354"/>
                </a:solidFill>
                <a:latin typeface="Arial"/>
                <a:cs typeface="Arial"/>
              </a:rPr>
              <a:t>p = 0,0018:</a:t>
            </a:r>
            <a:r>
              <a:rPr lang="es-PE" sz="1100" b="0" i="0" dirty="0">
                <a:solidFill>
                  <a:srgbClr val="191919"/>
                </a:solidFill>
                <a:latin typeface="Arial"/>
                <a:cs typeface="Arial"/>
              </a:rPr>
              <a:t> se rechaza, con 95 % de confianza, que la falla persista con su tasa anterior (se esperaban 6,3 eventos).</a:t>
            </a:r>
          </a:p>
          <a:p>
            <a:pPr algn="l" marL="171450" indent="-171450">
              <a:lnSpc>
                <a:spcPct val="112000"/>
              </a:lnSpc>
              <a:spcBef>
                <a:spcPts val="0"/>
              </a:spcBef>
              <a:spcAft>
                <a:spcPts val="700"/>
              </a:spcAft>
              <a:buClr>
                <a:srgbClr val="7A8494"/>
              </a:buClr>
              <a:buFont typeface="Arial"/>
              <a:buChar char="•"/>
            </a:pPr>
            <a:r>
              <a:rPr lang="es-PE" sz="1100" b="1" i="0" dirty="0">
                <a:solidFill>
                  <a:srgbClr val="042354"/>
                </a:solidFill>
                <a:latin typeface="Arial"/>
                <a:cs typeface="Arial"/>
              </a:rPr>
              <a:t>2025:</a:t>
            </a:r>
            <a:r>
              <a:rPr lang="es-PE" sz="1100" b="0" i="0" dirty="0">
                <a:solidFill>
                  <a:srgbClr val="191919"/>
                </a:solidFill>
                <a:latin typeface="Arial"/>
                <a:cs typeface="Arial"/>
              </a:rPr>
              <a:t> disponibilidad de 93,6 % y MTBF de 108,4 h, sobre las metas contractuales.</a:t>
            </a:r>
          </a:p>
        </p:txBody>
      </p:sp>
      <p:sp>
        <p:nvSpPr>
          <p:cNvPr id="47" name="Col 1 head"/>
          <p:cNvSpPr txBox="1"/>
          <p:nvPr/>
        </p:nvSpPr>
        <p:spPr>
          <a:xfrm>
            <a:off x="4416552" y="1417320"/>
            <a:ext cx="3364992"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950" b="1" i="0" dirty="0">
                <a:solidFill>
                  <a:srgbClr val="C3094A"/>
                </a:solidFill>
                <a:latin typeface="Arial"/>
                <a:cs typeface="Arial"/>
              </a:rPr>
              <a:t>NO LO GARANTIZA LA SOLA INTERVENCIÓN</a:t>
            </a:r>
          </a:p>
        </p:txBody>
      </p:sp>
      <p:sp>
        <p:nvSpPr>
          <p:cNvPr id="48" name="Col 1 card"/>
          <p:cNvSpPr/>
          <p:nvPr/>
        </p:nvSpPr>
        <p:spPr>
          <a:xfrm>
            <a:off x="4416552" y="1700784"/>
            <a:ext cx="3364992" cy="2651760"/>
          </a:xfrm>
          <a:prstGeom prst="rect">
            <a:avLst/>
          </a:prstGeom>
          <a:solidFill>
            <a:srgbClr val="FAECF0"/>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49" name="Col 1 borde"/>
          <p:cNvSpPr/>
          <p:nvPr/>
        </p:nvSpPr>
        <p:spPr>
          <a:xfrm>
            <a:off x="4416552" y="1700784"/>
            <a:ext cx="3364992" cy="45720"/>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50" name="Col 1 txt"/>
          <p:cNvSpPr txBox="1"/>
          <p:nvPr/>
        </p:nvSpPr>
        <p:spPr>
          <a:xfrm>
            <a:off x="4581144" y="1883664"/>
            <a:ext cx="3054096" cy="2432304"/>
          </a:xfrm>
          <a:prstGeom prst="rect">
            <a:avLst/>
          </a:prstGeom>
          <a:noFill/>
          <a:ln>
            <a:noFill/>
          </a:ln>
          <a:effectLst/>
        </p:spPr>
        <p:txBody>
          <a:bodyPr wrap="square" lIns="0" tIns="0" rIns="0" bIns="0" rtlCol="0" anchor="t">
            <a:noAutofit/>
          </a:bodyPr>
          <a:lstStyle/>
          <a:p>
            <a:pPr algn="l" marL="171450" indent="-171450">
              <a:lnSpc>
                <a:spcPct val="112000"/>
              </a:lnSpc>
              <a:spcBef>
                <a:spcPts val="0"/>
              </a:spcBef>
              <a:spcAft>
                <a:spcPts val="700"/>
              </a:spcAft>
              <a:buClr>
                <a:srgbClr val="7A8494"/>
              </a:buClr>
              <a:buFont typeface="Arial"/>
              <a:buChar char="•"/>
            </a:pPr>
            <a:r>
              <a:rPr lang="es-PE" sz="1100" b="0" i="0" dirty="0">
                <a:solidFill>
                  <a:srgbClr val="191919"/>
                </a:solidFill>
                <a:latin typeface="Arial"/>
                <a:cs typeface="Arial"/>
              </a:rPr>
              <a:t>Instalar el eje rediseñado </a:t>
            </a:r>
            <a:r>
              <a:rPr lang="es-PE" sz="1100" b="1" i="0" dirty="0">
                <a:solidFill>
                  <a:srgbClr val="C3094A"/>
                </a:solidFill>
                <a:latin typeface="Arial"/>
                <a:cs typeface="Arial"/>
              </a:rPr>
              <a:t>no elimina la falla por sí solo</a:t>
            </a:r>
            <a:r>
              <a:rPr lang="es-PE" sz="1100" b="0" i="0" dirty="0">
                <a:solidFill>
                  <a:srgbClr val="191919"/>
                </a:solidFill>
                <a:latin typeface="Arial"/>
                <a:cs typeface="Arial"/>
              </a:rPr>
              <a:t>: lo demostrado es la ausencia de eventos en la ventana observada.</a:t>
            </a:r>
          </a:p>
          <a:p>
            <a:pPr algn="l" marL="171450" indent="-171450">
              <a:lnSpc>
                <a:spcPct val="112000"/>
              </a:lnSpc>
              <a:spcBef>
                <a:spcPts val="0"/>
              </a:spcBef>
              <a:spcAft>
                <a:spcPts val="700"/>
              </a:spcAft>
              <a:buClr>
                <a:srgbClr val="7A8494"/>
              </a:buClr>
              <a:buFont typeface="Arial"/>
              <a:buChar char="•"/>
            </a:pPr>
            <a:r>
              <a:rPr lang="es-PE" sz="1100" b="0" i="0" dirty="0">
                <a:solidFill>
                  <a:srgbClr val="191919"/>
                </a:solidFill>
                <a:latin typeface="Arial"/>
                <a:cs typeface="Arial"/>
              </a:rPr>
              <a:t>Ningún motor intervenido </a:t>
            </a:r>
            <a:r>
              <a:rPr lang="es-PE" sz="1100" b="1" i="0" dirty="0">
                <a:solidFill>
                  <a:srgbClr val="C3094A"/>
                </a:solidFill>
                <a:latin typeface="Arial"/>
                <a:cs typeface="Arial"/>
              </a:rPr>
              <a:t>supera aún 24 540 h</a:t>
            </a:r>
            <a:r>
              <a:rPr lang="es-PE" sz="1100" b="0" i="0" dirty="0">
                <a:solidFill>
                  <a:srgbClr val="191919"/>
                </a:solidFill>
                <a:latin typeface="Arial"/>
                <a:cs typeface="Arial"/>
              </a:rPr>
              <a:t>, la vida máxima registrada antes del cambio.</a:t>
            </a:r>
          </a:p>
          <a:p>
            <a:pPr algn="l" marL="171450" indent="-171450">
              <a:lnSpc>
                <a:spcPct val="112000"/>
              </a:lnSpc>
              <a:spcBef>
                <a:spcPts val="0"/>
              </a:spcBef>
              <a:spcAft>
                <a:spcPts val="700"/>
              </a:spcAft>
              <a:buClr>
                <a:srgbClr val="7A8494"/>
              </a:buClr>
              <a:buFont typeface="Arial"/>
              <a:buChar char="•"/>
            </a:pPr>
            <a:r>
              <a:rPr lang="es-PE" sz="1100" b="1" i="0" dirty="0">
                <a:solidFill>
                  <a:srgbClr val="C3094A"/>
                </a:solidFill>
                <a:latin typeface="Arial"/>
                <a:cs typeface="Arial"/>
              </a:rPr>
              <a:t>&gt; 32 046 h</a:t>
            </a:r>
            <a:r>
              <a:rPr lang="es-PE" sz="1100" b="0" i="0" dirty="0">
                <a:solidFill>
                  <a:srgbClr val="191919"/>
                </a:solidFill>
                <a:latin typeface="Arial"/>
                <a:cs typeface="Arial"/>
              </a:rPr>
              <a:t> es el límite inferior estadístico del MTBF de la falla, no una vida demostrada.</a:t>
            </a:r>
          </a:p>
          <a:p>
            <a:pPr algn="l" marL="171450" indent="-171450">
              <a:lnSpc>
                <a:spcPct val="112000"/>
              </a:lnSpc>
              <a:spcBef>
                <a:spcPts val="0"/>
              </a:spcBef>
              <a:spcAft>
                <a:spcPts val="700"/>
              </a:spcAft>
              <a:buClr>
                <a:srgbClr val="7A8494"/>
              </a:buClr>
              <a:buFont typeface="Arial"/>
              <a:buChar char="•"/>
            </a:pPr>
            <a:r>
              <a:rPr lang="es-PE" sz="1100" b="1" i="0" dirty="0">
                <a:solidFill>
                  <a:srgbClr val="C3094A"/>
                </a:solidFill>
                <a:latin typeface="Arial"/>
                <a:cs typeface="Arial"/>
              </a:rPr>
              <a:t>FS = 2,23</a:t>
            </a:r>
            <a:r>
              <a:rPr lang="es-PE" sz="1100" b="0" i="0" dirty="0">
                <a:solidFill>
                  <a:srgbClr val="191919"/>
                </a:solidFill>
                <a:latin typeface="Arial"/>
                <a:cs typeface="Arial"/>
              </a:rPr>
              <a:t> es un resultado de cálculo; lo confirma el desempeño en campo.</a:t>
            </a:r>
          </a:p>
        </p:txBody>
      </p:sp>
      <p:sp>
        <p:nvSpPr>
          <p:cNvPr id="51" name="Col 2 head"/>
          <p:cNvSpPr txBox="1"/>
          <p:nvPr/>
        </p:nvSpPr>
        <p:spPr>
          <a:xfrm>
            <a:off x="7991856" y="1417320"/>
            <a:ext cx="3364992" cy="2194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0"/>
              </a:spcAft>
              <a:buNone/>
            </a:pPr>
            <a:r>
              <a:rPr lang="es-PE" sz="950" b="1" i="0" dirty="0">
                <a:solidFill>
                  <a:srgbClr val="2841DD"/>
                </a:solidFill>
                <a:latin typeface="Arial"/>
                <a:cs typeface="Arial"/>
              </a:rPr>
              <a:t>CÓMO SE ASEGURA</a:t>
            </a:r>
          </a:p>
        </p:txBody>
      </p:sp>
      <p:sp>
        <p:nvSpPr>
          <p:cNvPr id="52" name="Col 2 card"/>
          <p:cNvSpPr/>
          <p:nvPr/>
        </p:nvSpPr>
        <p:spPr>
          <a:xfrm>
            <a:off x="7991856" y="1700784"/>
            <a:ext cx="3364992" cy="265176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53" name="Col 2 borde"/>
          <p:cNvSpPr/>
          <p:nvPr/>
        </p:nvSpPr>
        <p:spPr>
          <a:xfrm>
            <a:off x="7991856" y="1700784"/>
            <a:ext cx="3364992" cy="45720"/>
          </a:xfrm>
          <a:prstGeom prst="rect">
            <a:avLst/>
          </a:prstGeom>
          <a:solidFill>
            <a:srgbClr val="2841DD"/>
          </a:solidFill>
          <a:ln>
            <a:noFill/>
          </a:ln>
          <a:effectLst/>
        </p:spPr>
        <p:txBody>
          <a:bodyPr wrap="square" lIns="0" tIns="0" rIns="0" bIns="0" rtlCol="0" anchor="t">
            <a:noAutofit/>
          </a:bodyPr>
          <a:lstStyle/>
          <a:p>
            <a:endParaRPr lang="es-PE" dirty="0"/>
          </a:p>
        </p:txBody>
      </p:sp>
      <p:sp>
        <p:nvSpPr>
          <p:cNvPr id="54" name="Col 2 txt"/>
          <p:cNvSpPr txBox="1"/>
          <p:nvPr/>
        </p:nvSpPr>
        <p:spPr>
          <a:xfrm>
            <a:off x="8156448" y="1883664"/>
            <a:ext cx="3054096" cy="2432304"/>
          </a:xfrm>
          <a:prstGeom prst="rect">
            <a:avLst/>
          </a:prstGeom>
          <a:noFill/>
          <a:ln>
            <a:noFill/>
          </a:ln>
          <a:effectLst/>
        </p:spPr>
        <p:txBody>
          <a:bodyPr wrap="square" lIns="0" tIns="0" rIns="0" bIns="0" rtlCol="0" anchor="t">
            <a:noAutofit/>
          </a:bodyPr>
          <a:lstStyle/>
          <a:p>
            <a:pPr algn="l" marL="171450" indent="-171450">
              <a:lnSpc>
                <a:spcPct val="112000"/>
              </a:lnSpc>
              <a:spcBef>
                <a:spcPts val="0"/>
              </a:spcBef>
              <a:spcAft>
                <a:spcPts val="700"/>
              </a:spcAft>
              <a:buClr>
                <a:srgbClr val="7A8494"/>
              </a:buClr>
              <a:buFont typeface="Arial"/>
              <a:buChar char="•"/>
            </a:pPr>
            <a:r>
              <a:rPr lang="es-PE" sz="1100" b="1" i="0" dirty="0">
                <a:solidFill>
                  <a:srgbClr val="042354"/>
                </a:solidFill>
                <a:latin typeface="Arial"/>
                <a:cs typeface="Arial"/>
              </a:rPr>
              <a:t>Seguimiento del horómetro</a:t>
            </a:r>
            <a:r>
              <a:rPr lang="es-PE" sz="1100" b="0" i="0" dirty="0">
                <a:solidFill>
                  <a:srgbClr val="191919"/>
                </a:solidFill>
                <a:latin typeface="Arial"/>
                <a:cs typeface="Arial"/>
              </a:rPr>
              <a:t> de cada motor intervenido frente al umbral de 24 540 h.</a:t>
            </a:r>
          </a:p>
          <a:p>
            <a:pPr algn="l" marL="171450" indent="-171450">
              <a:lnSpc>
                <a:spcPct val="112000"/>
              </a:lnSpc>
              <a:spcBef>
                <a:spcPts val="0"/>
              </a:spcBef>
              <a:spcAft>
                <a:spcPts val="700"/>
              </a:spcAft>
              <a:buClr>
                <a:srgbClr val="7A8494"/>
              </a:buClr>
              <a:buFont typeface="Arial"/>
              <a:buChar char="•"/>
            </a:pPr>
            <a:r>
              <a:rPr lang="es-PE" sz="1100" b="1" i="0" dirty="0">
                <a:solidFill>
                  <a:srgbClr val="042354"/>
                </a:solidFill>
                <a:latin typeface="Arial"/>
                <a:cs typeface="Arial"/>
              </a:rPr>
              <a:t>Control de configuración del P/N:</a:t>
            </a:r>
            <a:r>
              <a:rPr lang="es-PE" sz="1100" b="0" i="0" dirty="0">
                <a:solidFill>
                  <a:srgbClr val="191919"/>
                </a:solidFill>
                <a:latin typeface="Arial"/>
                <a:cs typeface="Arial"/>
              </a:rPr>
              <a:t> se registra el diseño montado por posición y no se repone el obsoleto.</a:t>
            </a:r>
          </a:p>
          <a:p>
            <a:pPr algn="l" marL="171450" indent="-171450">
              <a:lnSpc>
                <a:spcPct val="112000"/>
              </a:lnSpc>
              <a:spcBef>
                <a:spcPts val="0"/>
              </a:spcBef>
              <a:spcAft>
                <a:spcPts val="700"/>
              </a:spcAft>
              <a:buClr>
                <a:srgbClr val="7A8494"/>
              </a:buClr>
              <a:buFont typeface="Arial"/>
              <a:buChar char="•"/>
            </a:pPr>
            <a:r>
              <a:rPr lang="es-PE" sz="1100" b="1" i="0" dirty="0">
                <a:solidFill>
                  <a:srgbClr val="042354"/>
                </a:solidFill>
                <a:latin typeface="Arial"/>
                <a:cs typeface="Arial"/>
              </a:rPr>
              <a:t>Contramedidas del ACR:</a:t>
            </a:r>
            <a:r>
              <a:rPr lang="es-PE" sz="1100" b="0" i="0" dirty="0">
                <a:solidFill>
                  <a:srgbClr val="191919"/>
                </a:solidFill>
                <a:latin typeface="Arial"/>
                <a:cs typeface="Arial"/>
              </a:rPr>
              <a:t> análisis consolidado por modo de falla y cierre de cada hallazgo con responsable, plazo y verificación.</a:t>
            </a:r>
          </a:p>
        </p:txBody>
      </p:sp>
      <p:sp>
        <p:nvSpPr>
          <p:cNvPr id="55" name="Cierre"/>
          <p:cNvSpPr/>
          <p:nvPr/>
        </p:nvSpPr>
        <p:spPr>
          <a:xfrm>
            <a:off x="841248" y="4553712"/>
            <a:ext cx="10515600" cy="877824"/>
          </a:xfrm>
          <a:prstGeom prst="rect">
            <a:avLst/>
          </a:prstGeom>
          <a:solidFill>
            <a:srgbClr val="042354"/>
          </a:solidFill>
          <a:ln>
            <a:noFill/>
          </a:ln>
        </p:spPr>
        <p:style>
          <a:lnRef idx="1">
            <a:schemeClr val="accent1"/>
          </a:lnRef>
          <a:fillRef idx="3">
            <a:schemeClr val="accent1"/>
          </a:fillRef>
          <a:effectRef idx="2">
            <a:schemeClr val="accent1"/>
          </a:effectRef>
          <a:fontRef idx="minor">
            <a:schemeClr val="lt1"/>
          </a:fontRef>
        </p:style>
        <p:txBody>
          <a:bodyPr wrap="square" lIns="219456" tIns="54864" rIns="219456" bIns="54864" rtlCol="0" anchor="ctr">
            <a:noAutofit/>
          </a:bodyPr>
          <a:lstStyle/>
          <a:p>
            <a:pPr algn="l" marL="0" indent="0">
              <a:lnSpc>
                <a:spcPct val="100000"/>
              </a:lnSpc>
              <a:spcBef>
                <a:spcPts val="0"/>
              </a:spcBef>
              <a:spcAft>
                <a:spcPts val="250"/>
              </a:spcAft>
              <a:buNone/>
            </a:pPr>
            <a:r>
              <a:rPr lang="es-PE" sz="900" b="1" i="0" dirty="0">
                <a:solidFill>
                  <a:srgbClr val="16C78E"/>
                </a:solidFill>
                <a:latin typeface="Arial"/>
                <a:cs typeface="Arial"/>
              </a:rPr>
              <a:t>CONDICIÓN DE CIERRE</a:t>
            </a:r>
          </a:p>
          <a:p>
            <a:pPr algn="l" marL="0" indent="0">
              <a:lnSpc>
                <a:spcPct val="112000"/>
              </a:lnSpc>
              <a:spcBef>
                <a:spcPts val="0"/>
              </a:spcBef>
              <a:spcAft>
                <a:spcPts val="0"/>
              </a:spcAft>
              <a:buNone/>
            </a:pPr>
            <a:r>
              <a:rPr lang="es-PE" sz="1050" b="0" i="0" dirty="0">
                <a:solidFill>
                  <a:srgbClr val="FFFFFF"/>
                </a:solidFill>
                <a:latin typeface="Arial"/>
                <a:cs typeface="Arial"/>
              </a:rPr>
              <a:t>El proceso se cierra cuando se cumplen </a:t>
            </a:r>
            <a:r>
              <a:rPr lang="es-PE" sz="1050" b="1" i="0" dirty="0">
                <a:solidFill>
                  <a:srgbClr val="FFFFFF"/>
                </a:solidFill>
                <a:latin typeface="Arial"/>
                <a:cs typeface="Arial"/>
              </a:rPr>
              <a:t>ambos criterios</a:t>
            </a:r>
            <a:r>
              <a:rPr lang="es-PE" sz="1050" b="0" i="0" dirty="0">
                <a:solidFill>
                  <a:srgbClr val="FFFFFF"/>
                </a:solidFill>
                <a:latin typeface="Arial"/>
                <a:cs typeface="Arial"/>
              </a:rPr>
              <a:t>: todos los motores intervenidos superan 24 540 h sin fractura (componente) y los indicadores contractuales se mantienen en los niveles comprometidos (flota). Al cierre se actualiza el programa de mantenimiento del motor de tracción con el diseño corregido.</a:t>
            </a:r>
          </a:p>
        </p:txBody>
      </p:sp>
      <p:sp>
        <p:nvSpPr>
          <p:cNvPr id="56"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57"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58"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59" name="Tracker E3"/>
          <p:cNvSpPr/>
          <p:nvPr/>
        </p:nvSpPr>
        <p:spPr>
          <a:xfrm>
            <a:off x="188366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60" name="Tracker E4"/>
          <p:cNvSpPr/>
          <p:nvPr/>
        </p:nvSpPr>
        <p:spPr>
          <a:xfrm>
            <a:off x="215798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4</a:t>
            </a:r>
          </a:p>
        </p:txBody>
      </p:sp>
      <p:sp>
        <p:nvSpPr>
          <p:cNvPr id="61"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62"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63"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64"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65"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66"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67"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68"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69"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4.4 RECUPERACIÓN DE INDICADORES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Recuperación de los indicadores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20</a:t>
            </a:r>
          </a:p>
        </p:txBody>
      </p:sp>
      <p:pic>
        <p:nvPicPr>
          <p:cNvPr id="6" name="Picture 5" descr="pu_g6_contractuales.png"/>
          <p:cNvPicPr>
            <a:picLocks noChangeAspect="1"/>
          </p:cNvPicPr>
          <p:nvPr/>
        </p:nvPicPr>
        <p:blipFill>
          <a:blip r:embed="rId3"/>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17" name="TextBox 16"/>
          <p:cNvSpPr txBox="1"/>
          <p:nvPr/>
        </p:nvSpPr>
        <p:spPr>
          <a:xfrm>
            <a:off x="1042416" y="4471108"/>
            <a:ext cx="5797296" cy="309187"/>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1" i="0" noProof="0" dirty="0">
                <a:solidFill>
                  <a:srgbClr val="2841DD"/>
                </a:solidFill>
                <a:latin typeface="Arial"/>
              </a:rPr>
              <a:t>Atribución del efecto. </a:t>
            </a:r>
            <a:r>
              <a:rPr lang="es-ES" sz="950" b="0" i="0" noProof="0" dirty="0">
                <a:solidFill>
                  <a:srgbClr val="191919"/>
                </a:solidFill>
                <a:latin typeface="Arial"/>
              </a:rPr>
              <a:t>Una intervención concurrente sobre el motor diésel (fisura de culatas) explica parte de la recuperación; el eje palier aporta 0,36 puntos de disponibilidad. </a:t>
            </a:r>
          </a:p>
        </p:txBody>
      </p:sp>
      <p:sp>
        <p:nvSpPr>
          <p:cNvPr id="18" name="TextBox 17"/>
          <p:cNvSpPr txBox="1"/>
          <p:nvPr/>
        </p:nvSpPr>
        <p:spPr>
          <a:xfrm>
            <a:off x="7242048" y="1389888"/>
            <a:ext cx="411480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1" name="TextBox 20"/>
          <p:cNvSpPr txBox="1"/>
          <p:nvPr/>
        </p:nvSpPr>
        <p:spPr>
          <a:xfrm>
            <a:off x="7406640" y="174650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lang="es-ES" sz="1800" b="1" i="0" noProof="0" dirty="0">
                <a:solidFill>
                  <a:srgbClr val="C3094A"/>
                </a:solidFill>
                <a:latin typeface="Arial"/>
              </a:rPr>
              <a:t>US$ 3,31 M por año</a:t>
            </a:r>
          </a:p>
          <a:p>
            <a:pPr algn="l">
              <a:lnSpc>
                <a:spcPct val="105000"/>
              </a:lnSpc>
              <a:spcBef>
                <a:spcPts val="0"/>
              </a:spcBef>
              <a:spcAft>
                <a:spcPts val="0"/>
              </a:spcAft>
            </a:pPr>
            <a:r>
              <a:rPr lang="es-ES" sz="900" b="0" i="0" noProof="0" dirty="0">
                <a:solidFill>
                  <a:srgbClr val="4A5568"/>
                </a:solidFill>
                <a:latin typeface="Arial"/>
              </a:rPr>
              <a:t>costo evitado: 4,33 eventos/año × US$ 763 393 de evaluación y reparación mayor del motor</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TextBox 23"/>
          <p:cNvSpPr txBox="1"/>
          <p:nvPr/>
        </p:nvSpPr>
        <p:spPr>
          <a:xfrm>
            <a:off x="7406640" y="284378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lang="es-ES" sz="1800" b="1" i="0" noProof="0" dirty="0">
                <a:solidFill>
                  <a:srgbClr val="C3094A"/>
                </a:solidFill>
                <a:latin typeface="Arial"/>
              </a:rPr>
              <a:t>13 eventos</a:t>
            </a:r>
          </a:p>
          <a:p>
            <a:pPr algn="l">
              <a:lnSpc>
                <a:spcPct val="105000"/>
              </a:lnSpc>
              <a:spcBef>
                <a:spcPts val="0"/>
              </a:spcBef>
              <a:spcAft>
                <a:spcPts val="0"/>
              </a:spcAft>
            </a:pPr>
            <a:r>
              <a:rPr lang="es-ES" sz="900" b="0" i="0" noProof="0" dirty="0">
                <a:solidFill>
                  <a:srgbClr val="4A5568"/>
                </a:solidFill>
                <a:latin typeface="Arial"/>
              </a:rPr>
              <a:t>en 36 meses; cada uno exigió la misma reparación mayor</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7" name="TextBox 26"/>
          <p:cNvSpPr txBox="1"/>
          <p:nvPr/>
        </p:nvSpPr>
        <p:spPr>
          <a:xfrm>
            <a:off x="7406640" y="394106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lang="es-ES" sz="1800" b="1" i="0" noProof="0" dirty="0">
                <a:solidFill>
                  <a:srgbClr val="C3094A"/>
                </a:solidFill>
                <a:latin typeface="Arial"/>
              </a:rPr>
              <a:t>1,30 : 1</a:t>
            </a:r>
          </a:p>
          <a:p>
            <a:pPr algn="l">
              <a:lnSpc>
                <a:spcPct val="105000"/>
              </a:lnSpc>
              <a:spcBef>
                <a:spcPts val="0"/>
              </a:spcBef>
              <a:spcAft>
                <a:spcPts val="0"/>
              </a:spcAft>
            </a:pPr>
            <a:r>
              <a:rPr lang="es-ES" sz="900" b="0" i="0" noProof="0" dirty="0">
                <a:solidFill>
                  <a:srgbClr val="4A5568"/>
                </a:solidFill>
                <a:latin typeface="Arial"/>
              </a:rPr>
              <a:t>la sustitución cíclica descartada costaría US$ 4,3 M/año frente a los US$ 3,31 M evitados</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9" name="TextBox 2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Disponibilidad de 90,6 % a 93,6 % (meta 91,0 %) y MTBF de 60,5 h a 108,4 h (meta 64,5 h): en 2025 la flota cumple por primera vez ambos compromisos; el MTTR, 3,3 h, sigue dentro del límite de 4,0 h.</a:t>
            </a:r>
          </a:p>
        </p:txBody>
      </p:sp>
      <p:sp>
        <p:nvSpPr>
          <p:cNvPr id="30" name="TextBox 29"/>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4.4 · RECUPERACIÓN DE INDICADORES Y COSTO EVITADO  |  ETAPA 4 · VERIFICACIÓN DE LA FLOTA</a:t>
            </a:r>
          </a:p>
        </p:txBody>
      </p:sp>
      <p:sp>
        <p:nvSpPr>
          <p:cNvPr id="31" name="Tracker etapa"/>
          <p:cNvSpPr txBox="1"/>
          <p:nvPr/>
        </p:nvSpPr>
        <p:spPr>
          <a:xfrm>
            <a:off x="841248" y="6062472"/>
            <a:ext cx="5029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ETAPA</a:t>
            </a:r>
          </a:p>
        </p:txBody>
      </p:sp>
      <p:sp>
        <p:nvSpPr>
          <p:cNvPr id="32" name="Tracker E1"/>
          <p:cNvSpPr/>
          <p:nvPr/>
        </p:nvSpPr>
        <p:spPr>
          <a:xfrm>
            <a:off x="133502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3" name="Tracker E2"/>
          <p:cNvSpPr/>
          <p:nvPr/>
        </p:nvSpPr>
        <p:spPr>
          <a:xfrm>
            <a:off x="160934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34" name="Tracker E3"/>
          <p:cNvSpPr/>
          <p:nvPr/>
        </p:nvSpPr>
        <p:spPr>
          <a:xfrm>
            <a:off x="1883664"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35" name="Tracker E4"/>
          <p:cNvSpPr/>
          <p:nvPr/>
        </p:nvSpPr>
        <p:spPr>
          <a:xfrm>
            <a:off x="2157984" y="6062472"/>
            <a:ext cx="237744" cy="237744"/>
          </a:xfrm>
          <a:prstGeom prst="roundRect">
            <a:avLst>
              <a:gd name="adj" fmla="val 18000"/>
            </a:avLst>
          </a:prstGeom>
          <a:solidFill>
            <a:srgbClr val="16C78E"/>
          </a:solidFill>
          <a:ln>
            <a:no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042354"/>
                </a:solidFill>
                <a:latin typeface="Arial"/>
                <a:cs typeface="Arial"/>
              </a:rPr>
              <a:t>4</a:t>
            </a:r>
          </a:p>
        </p:txBody>
      </p:sp>
      <p:sp>
        <p:nvSpPr>
          <p:cNvPr id="36" name="Tracker pregunta"/>
          <p:cNvSpPr txBox="1"/>
          <p:nvPr/>
        </p:nvSpPr>
        <p:spPr>
          <a:xfrm>
            <a:off x="2505456" y="6062472"/>
            <a:ext cx="1188720" cy="23774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750" b="1" i="0" dirty="0">
                <a:solidFill>
                  <a:srgbClr val="9FB3D9"/>
                </a:solidFill>
                <a:latin typeface="Arial"/>
                <a:cs typeface="Arial"/>
              </a:rPr>
              <a:t>PREGUNTA SAE JA1011</a:t>
            </a:r>
          </a:p>
        </p:txBody>
      </p:sp>
      <p:sp>
        <p:nvSpPr>
          <p:cNvPr id="37" name="Tracker P1"/>
          <p:cNvSpPr/>
          <p:nvPr/>
        </p:nvSpPr>
        <p:spPr>
          <a:xfrm>
            <a:off x="37673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1</a:t>
            </a:r>
          </a:p>
        </p:txBody>
      </p:sp>
      <p:sp>
        <p:nvSpPr>
          <p:cNvPr id="38" name="Tracker P2"/>
          <p:cNvSpPr/>
          <p:nvPr/>
        </p:nvSpPr>
        <p:spPr>
          <a:xfrm>
            <a:off x="40416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2</a:t>
            </a:r>
          </a:p>
        </p:txBody>
      </p:sp>
      <p:sp>
        <p:nvSpPr>
          <p:cNvPr id="39" name="Tracker P3"/>
          <p:cNvSpPr/>
          <p:nvPr/>
        </p:nvSpPr>
        <p:spPr>
          <a:xfrm>
            <a:off x="431596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3</a:t>
            </a:r>
          </a:p>
        </p:txBody>
      </p:sp>
      <p:sp>
        <p:nvSpPr>
          <p:cNvPr id="40" name="Tracker P4"/>
          <p:cNvSpPr/>
          <p:nvPr/>
        </p:nvSpPr>
        <p:spPr>
          <a:xfrm>
            <a:off x="459028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4</a:t>
            </a:r>
          </a:p>
        </p:txBody>
      </p:sp>
      <p:sp>
        <p:nvSpPr>
          <p:cNvPr id="41" name="Tracker P5"/>
          <p:cNvSpPr/>
          <p:nvPr/>
        </p:nvSpPr>
        <p:spPr>
          <a:xfrm>
            <a:off x="486460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5</a:t>
            </a:r>
          </a:p>
        </p:txBody>
      </p:sp>
      <p:sp>
        <p:nvSpPr>
          <p:cNvPr id="42" name="Tracker P6"/>
          <p:cNvSpPr/>
          <p:nvPr/>
        </p:nvSpPr>
        <p:spPr>
          <a:xfrm>
            <a:off x="513892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6</a:t>
            </a:r>
          </a:p>
        </p:txBody>
      </p:sp>
      <p:sp>
        <p:nvSpPr>
          <p:cNvPr id="43" name="Tracker P7"/>
          <p:cNvSpPr/>
          <p:nvPr/>
        </p:nvSpPr>
        <p:spPr>
          <a:xfrm>
            <a:off x="5413248" y="6062472"/>
            <a:ext cx="237744" cy="237744"/>
          </a:xfrm>
          <a:prstGeom prst="roundRect">
            <a:avLst>
              <a:gd name="adj" fmla="val 18000"/>
            </a:avLst>
          </a:prstGeom>
          <a:noFill/>
          <a:ln w="9525">
            <a:solidFill>
              <a:srgbClr val="5B6E91"/>
            </a:solidFill>
          </a:ln>
          <a:effectLst/>
        </p:spPr>
        <p:txBody>
          <a:bodyPr wrap="square" lIns="0" tIns="0" rIns="0" bIns="0" rtlCol="0" anchor="ctr">
            <a:noAutofit/>
          </a:bodyPr>
          <a:lstStyle/>
          <a:p>
            <a:pPr algn="ctr" marL="0" indent="0">
              <a:lnSpc>
                <a:spcPct val="100000"/>
              </a:lnSpc>
              <a:spcBef>
                <a:spcPts val="0"/>
              </a:spcBef>
              <a:spcAft>
                <a:spcPts val="0"/>
              </a:spcAft>
              <a:buNone/>
            </a:pPr>
            <a:r>
              <a:rPr lang="es-PE" sz="800" b="1" i="0" dirty="0">
                <a:solidFill>
                  <a:srgbClr val="9FB3D9"/>
                </a:solidFill>
                <a:latin typeface="Arial"/>
                <a:cs typeface="Arial"/>
              </a:rPr>
              <a:t>7</a:t>
            </a:r>
          </a:p>
        </p:txBody>
      </p:sp>
      <p:sp>
        <p:nvSpPr>
          <p:cNvPr id="44" name="Tracker bloque"/>
          <p:cNvSpPr txBox="1"/>
          <p:nvPr/>
        </p:nvSpPr>
        <p:spPr>
          <a:xfrm>
            <a:off x="5888736" y="6044184"/>
            <a:ext cx="3291840" cy="274320"/>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900" b="1" i="0" dirty="0">
                <a:solidFill>
                  <a:srgbClr val="16C78E"/>
                </a:solidFill>
                <a:latin typeface="Arial"/>
                <a:cs typeface="Arial"/>
              </a:rPr>
              <a:t>4.4 RECUPERACIÓN Y COSTO EVITADO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21</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105156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05 · CONCLUSIONES</a:t>
            </a:r>
          </a:p>
        </p:txBody>
      </p:sp>
      <p:sp>
        <p:nvSpPr>
          <p:cNvPr id="26" name="General"/>
          <p:cNvSpPr/>
          <p:nvPr/>
        </p:nvSpPr>
        <p:spPr>
          <a:xfrm>
            <a:off x="841248" y="1389888"/>
            <a:ext cx="10515600" cy="950976"/>
          </a:xfrm>
          <a:prstGeom prst="rect">
            <a:avLst/>
          </a:prstGeom>
          <a:solidFill>
            <a:srgbClr val="042354"/>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27" name="General txt"/>
          <p:cNvSpPr txBox="1"/>
          <p:nvPr/>
        </p:nvSpPr>
        <p:spPr>
          <a:xfrm>
            <a:off x="1060704" y="1517904"/>
            <a:ext cx="4160520" cy="731520"/>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400"/>
              </a:spcAft>
              <a:buNone/>
            </a:pPr>
            <a:r>
              <a:rPr lang="es-PE" sz="900" b="1" i="0" dirty="0">
                <a:solidFill>
                  <a:srgbClr val="16C78E"/>
                </a:solidFill>
                <a:latin typeface="Arial"/>
                <a:cs typeface="Arial"/>
              </a:rPr>
              <a:t>CONCLUSIÓN GENERAL</a:t>
            </a:r>
          </a:p>
          <a:p>
            <a:pPr algn="l" marL="0" indent="0">
              <a:lnSpc>
                <a:spcPct val="108000"/>
              </a:lnSpc>
              <a:spcBef>
                <a:spcPts val="0"/>
              </a:spcBef>
              <a:spcAft>
                <a:spcPts val="0"/>
              </a:spcAft>
              <a:buNone/>
            </a:pPr>
            <a:r>
              <a:rPr lang="es-PE" sz="1300" b="1" i="0" dirty="0">
                <a:solidFill>
                  <a:srgbClr val="FFFFFF"/>
                </a:solidFill>
                <a:latin typeface="Arial"/>
                <a:cs typeface="Arial"/>
              </a:rPr>
              <a:t>Se eliminó la fractura del eje palier y la flota recuperó sus indicadores contractuales.</a:t>
            </a:r>
          </a:p>
        </p:txBody>
      </p:sp>
      <p:sp>
        <p:nvSpPr>
          <p:cNvPr id="28" name="Stat 0"/>
          <p:cNvSpPr txBox="1"/>
          <p:nvPr/>
        </p:nvSpPr>
        <p:spPr>
          <a:xfrm>
            <a:off x="5413248" y="1554480"/>
            <a:ext cx="1920240" cy="6766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800" b="1" i="0" dirty="0">
                <a:solidFill>
                  <a:srgbClr val="B9C6DC"/>
                </a:solidFill>
                <a:latin typeface="Arial"/>
                <a:cs typeface="Arial"/>
              </a:rPr>
              <a:t>DISPONIBILIDAD · 2024 → 2025</a:t>
            </a:r>
          </a:p>
          <a:p>
            <a:pPr algn="l" marL="0" indent="0">
              <a:lnSpc>
                <a:spcPct val="100000"/>
              </a:lnSpc>
              <a:spcBef>
                <a:spcPts val="0"/>
              </a:spcBef>
              <a:spcAft>
                <a:spcPts val="200"/>
              </a:spcAft>
              <a:buNone/>
            </a:pPr>
            <a:r>
              <a:rPr lang="es-PE" sz="1500" b="1" i="0" dirty="0">
                <a:solidFill>
                  <a:srgbClr val="FFFFFF"/>
                </a:solidFill>
                <a:latin typeface="Arial"/>
                <a:cs typeface="Arial"/>
              </a:rPr>
              <a:t>90,6 % → 93,6 %</a:t>
            </a:r>
          </a:p>
          <a:p>
            <a:pPr algn="l" marL="0" indent="0">
              <a:lnSpc>
                <a:spcPct val="100000"/>
              </a:lnSpc>
              <a:spcBef>
                <a:spcPts val="0"/>
              </a:spcBef>
              <a:spcAft>
                <a:spcPts val="0"/>
              </a:spcAft>
              <a:buNone/>
            </a:pPr>
            <a:r>
              <a:rPr lang="es-PE" sz="900" b="0" i="0" dirty="0">
                <a:solidFill>
                  <a:srgbClr val="B9C6DC"/>
                </a:solidFill>
                <a:latin typeface="Arial"/>
                <a:cs typeface="Arial"/>
              </a:rPr>
              <a:t>meta 91,0 %</a:t>
            </a:r>
          </a:p>
        </p:txBody>
      </p:sp>
      <p:sp>
        <p:nvSpPr>
          <p:cNvPr id="29" name="Stat 1"/>
          <p:cNvSpPr txBox="1"/>
          <p:nvPr/>
        </p:nvSpPr>
        <p:spPr>
          <a:xfrm>
            <a:off x="7406640" y="1554480"/>
            <a:ext cx="1920240" cy="6766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800" b="1" i="0" dirty="0">
                <a:solidFill>
                  <a:srgbClr val="B9C6DC"/>
                </a:solidFill>
                <a:latin typeface="Arial"/>
                <a:cs typeface="Arial"/>
              </a:rPr>
              <a:t>MTBF · 2024 → 2025</a:t>
            </a:r>
          </a:p>
          <a:p>
            <a:pPr algn="l" marL="0" indent="0">
              <a:lnSpc>
                <a:spcPct val="100000"/>
              </a:lnSpc>
              <a:spcBef>
                <a:spcPts val="0"/>
              </a:spcBef>
              <a:spcAft>
                <a:spcPts val="200"/>
              </a:spcAft>
              <a:buNone/>
            </a:pPr>
            <a:r>
              <a:rPr lang="es-PE" sz="1500" b="1" i="0" dirty="0">
                <a:solidFill>
                  <a:srgbClr val="FFFFFF"/>
                </a:solidFill>
                <a:latin typeface="Arial"/>
                <a:cs typeface="Arial"/>
              </a:rPr>
              <a:t>60,5 h → 108,4 h</a:t>
            </a:r>
          </a:p>
          <a:p>
            <a:pPr algn="l" marL="0" indent="0">
              <a:lnSpc>
                <a:spcPct val="100000"/>
              </a:lnSpc>
              <a:spcBef>
                <a:spcPts val="0"/>
              </a:spcBef>
              <a:spcAft>
                <a:spcPts val="0"/>
              </a:spcAft>
              <a:buNone/>
            </a:pPr>
            <a:r>
              <a:rPr lang="es-PE" sz="900" b="0" i="0" dirty="0">
                <a:solidFill>
                  <a:srgbClr val="B9C6DC"/>
                </a:solidFill>
                <a:latin typeface="Arial"/>
                <a:cs typeface="Arial"/>
              </a:rPr>
              <a:t>meta 64,5 h</a:t>
            </a:r>
          </a:p>
        </p:txBody>
      </p:sp>
      <p:sp>
        <p:nvSpPr>
          <p:cNvPr id="30" name="Stat 2"/>
          <p:cNvSpPr txBox="1"/>
          <p:nvPr/>
        </p:nvSpPr>
        <p:spPr>
          <a:xfrm>
            <a:off x="9400032" y="1554480"/>
            <a:ext cx="1920240" cy="676656"/>
          </a:xfrm>
          <a:prstGeom prst="rect">
            <a:avLst/>
          </a:prstGeom>
          <a:noFill/>
          <a:ln>
            <a:noFill/>
          </a:ln>
          <a:effectLst/>
        </p:spPr>
        <p:txBody>
          <a:bodyPr wrap="square" lIns="0" tIns="0" rIns="0" bIns="0" rtlCol="0" anchor="t">
            <a:noAutofit/>
          </a:bodyPr>
          <a:lstStyle/>
          <a:p>
            <a:pPr algn="l" marL="0" indent="0">
              <a:lnSpc>
                <a:spcPct val="100000"/>
              </a:lnSpc>
              <a:spcBef>
                <a:spcPts val="0"/>
              </a:spcBef>
              <a:spcAft>
                <a:spcPts val="300"/>
              </a:spcAft>
              <a:buNone/>
            </a:pPr>
            <a:r>
              <a:rPr lang="es-PE" sz="800" b="1" i="0" dirty="0">
                <a:solidFill>
                  <a:srgbClr val="B9C6DC"/>
                </a:solidFill>
                <a:latin typeface="Arial"/>
                <a:cs typeface="Arial"/>
              </a:rPr>
              <a:t>MTTR · 2025</a:t>
            </a:r>
          </a:p>
          <a:p>
            <a:pPr algn="l" marL="0" indent="0">
              <a:lnSpc>
                <a:spcPct val="100000"/>
              </a:lnSpc>
              <a:spcBef>
                <a:spcPts val="0"/>
              </a:spcBef>
              <a:spcAft>
                <a:spcPts val="200"/>
              </a:spcAft>
              <a:buNone/>
            </a:pPr>
            <a:r>
              <a:rPr lang="es-PE" sz="1500" b="1" i="0" dirty="0">
                <a:solidFill>
                  <a:srgbClr val="FFFFFF"/>
                </a:solidFill>
                <a:latin typeface="Arial"/>
                <a:cs typeface="Arial"/>
              </a:rPr>
              <a:t>3,3 h</a:t>
            </a:r>
          </a:p>
          <a:p>
            <a:pPr algn="l" marL="0" indent="0">
              <a:lnSpc>
                <a:spcPct val="100000"/>
              </a:lnSpc>
              <a:spcBef>
                <a:spcPts val="0"/>
              </a:spcBef>
              <a:spcAft>
                <a:spcPts val="0"/>
              </a:spcAft>
              <a:buNone/>
            </a:pPr>
            <a:r>
              <a:rPr lang="es-PE" sz="900" b="0" i="0" dirty="0">
                <a:solidFill>
                  <a:srgbClr val="B9C6DC"/>
                </a:solidFill>
                <a:latin typeface="Arial"/>
                <a:cs typeface="Arial"/>
              </a:rPr>
              <a:t>dentro del límite de 4,0 h</a:t>
            </a:r>
          </a:p>
        </p:txBody>
      </p:sp>
      <p:sp>
        <p:nvSpPr>
          <p:cNvPr id="31" name="OE1 fondo"/>
          <p:cNvSpPr/>
          <p:nvPr/>
        </p:nvSpPr>
        <p:spPr>
          <a:xfrm>
            <a:off x="841248" y="2468880"/>
            <a:ext cx="10515600" cy="603504"/>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32" name="OE1 barra"/>
          <p:cNvSpPr/>
          <p:nvPr/>
        </p:nvSpPr>
        <p:spPr>
          <a:xfrm>
            <a:off x="841248" y="2468880"/>
            <a:ext cx="45720" cy="603504"/>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33" name="OE1 label"/>
          <p:cNvSpPr txBox="1"/>
          <p:nvPr/>
        </p:nvSpPr>
        <p:spPr>
          <a:xfrm>
            <a:off x="1042416" y="2468880"/>
            <a:ext cx="566928" cy="60350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1400" b="1" i="0" dirty="0">
                <a:solidFill>
                  <a:srgbClr val="C3094A"/>
                </a:solidFill>
                <a:latin typeface="Arial"/>
                <a:cs typeface="Arial"/>
              </a:rPr>
              <a:t>OE1</a:t>
            </a:r>
          </a:p>
        </p:txBody>
      </p:sp>
      <p:sp>
        <p:nvSpPr>
          <p:cNvPr id="34" name="OE1 txt"/>
          <p:cNvSpPr txBox="1"/>
          <p:nvPr/>
        </p:nvSpPr>
        <p:spPr>
          <a:xfrm>
            <a:off x="1682496" y="2468880"/>
            <a:ext cx="9509760" cy="603504"/>
          </a:xfrm>
          <a:prstGeom prst="rect">
            <a:avLst/>
          </a:prstGeom>
          <a:noFill/>
          <a:ln>
            <a:noFill/>
          </a:ln>
          <a:effectLst/>
        </p:spPr>
        <p:txBody>
          <a:bodyPr wrap="square" lIns="0" tIns="0" rIns="0" bIns="0" rtlCol="0" anchor="ctr">
            <a:noAutofit/>
          </a:bodyPr>
          <a:lstStyle/>
          <a:p>
            <a:pPr algn="l" marL="0" indent="0">
              <a:lnSpc>
                <a:spcPct val="110000"/>
              </a:lnSpc>
              <a:spcBef>
                <a:spcPts val="0"/>
              </a:spcBef>
              <a:spcAft>
                <a:spcPts val="0"/>
              </a:spcAft>
              <a:buNone/>
            </a:pPr>
            <a:r>
              <a:rPr lang="es-PE" sz="1050" b="0" i="0" dirty="0">
                <a:solidFill>
                  <a:srgbClr val="191919"/>
                </a:solidFill>
                <a:latin typeface="Arial"/>
                <a:cs typeface="Arial"/>
              </a:rPr>
              <a:t>La falla fue de diseño, en la unión soldada del eje palier: fractura por fatiga, 13 eventos entre 2022 y 2024. Restó </a:t>
            </a:r>
            <a:r>
              <a:rPr lang="es-PE" sz="1050" b="1" i="0" dirty="0">
                <a:solidFill>
                  <a:srgbClr val="042354"/>
                </a:solidFill>
                <a:latin typeface="Arial"/>
                <a:cs typeface="Arial"/>
              </a:rPr>
              <a:t>0,36 % de disponibilidad</a:t>
            </a:r>
            <a:r>
              <a:rPr lang="es-PE" sz="1050" b="0" i="0" dirty="0">
                <a:solidFill>
                  <a:srgbClr val="191919"/>
                </a:solidFill>
                <a:latin typeface="Arial"/>
                <a:cs typeface="Arial"/>
              </a:rPr>
              <a:t> a la flota (315 h/año de parada) y costó </a:t>
            </a:r>
            <a:r>
              <a:rPr lang="es-PE" sz="1050" b="1" i="0" dirty="0">
                <a:solidFill>
                  <a:srgbClr val="042354"/>
                </a:solidFill>
                <a:latin typeface="Arial"/>
                <a:cs typeface="Arial"/>
              </a:rPr>
              <a:t>US$ 3,31 M por año</a:t>
            </a:r>
            <a:r>
              <a:rPr lang="es-PE" sz="1050" b="0" i="0" dirty="0">
                <a:solidFill>
                  <a:srgbClr val="191919"/>
                </a:solidFill>
                <a:latin typeface="Arial"/>
                <a:cs typeface="Arial"/>
              </a:rPr>
              <a:t> en mantenimiento.</a:t>
            </a:r>
          </a:p>
        </p:txBody>
      </p:sp>
      <p:sp>
        <p:nvSpPr>
          <p:cNvPr id="35" name="OE2 fondo"/>
          <p:cNvSpPr/>
          <p:nvPr/>
        </p:nvSpPr>
        <p:spPr>
          <a:xfrm>
            <a:off x="841248" y="3136392"/>
            <a:ext cx="10515600" cy="786384"/>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36" name="OE2 barra"/>
          <p:cNvSpPr/>
          <p:nvPr/>
        </p:nvSpPr>
        <p:spPr>
          <a:xfrm>
            <a:off x="841248" y="3136392"/>
            <a:ext cx="45720" cy="786384"/>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37" name="OE2 label"/>
          <p:cNvSpPr txBox="1"/>
          <p:nvPr/>
        </p:nvSpPr>
        <p:spPr>
          <a:xfrm>
            <a:off x="1042416" y="3136392"/>
            <a:ext cx="566928" cy="78638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1400" b="1" i="0" dirty="0">
                <a:solidFill>
                  <a:srgbClr val="C3094A"/>
                </a:solidFill>
                <a:latin typeface="Arial"/>
                <a:cs typeface="Arial"/>
              </a:rPr>
              <a:t>OE2</a:t>
            </a:r>
          </a:p>
        </p:txBody>
      </p:sp>
      <p:sp>
        <p:nvSpPr>
          <p:cNvPr id="38" name="OE2 txt"/>
          <p:cNvSpPr txBox="1"/>
          <p:nvPr/>
        </p:nvSpPr>
        <p:spPr>
          <a:xfrm>
            <a:off x="1682496" y="3136392"/>
            <a:ext cx="9509760" cy="786384"/>
          </a:xfrm>
          <a:prstGeom prst="rect">
            <a:avLst/>
          </a:prstGeom>
          <a:noFill/>
          <a:ln>
            <a:noFill/>
          </a:ln>
          <a:effectLst/>
        </p:spPr>
        <p:txBody>
          <a:bodyPr wrap="square" lIns="0" tIns="0" rIns="0" bIns="0" rtlCol="0" anchor="ctr">
            <a:noAutofit/>
          </a:bodyPr>
          <a:lstStyle/>
          <a:p>
            <a:pPr algn="l" marL="0" indent="0">
              <a:lnSpc>
                <a:spcPct val="110000"/>
              </a:lnSpc>
              <a:spcBef>
                <a:spcPts val="0"/>
              </a:spcBef>
              <a:spcAft>
                <a:spcPts val="0"/>
              </a:spcAft>
              <a:buNone/>
            </a:pPr>
            <a:r>
              <a:rPr lang="es-PE" sz="1050" b="0" i="0" dirty="0">
                <a:solidFill>
                  <a:srgbClr val="191919"/>
                </a:solidFill>
                <a:latin typeface="Arial"/>
                <a:cs typeface="Arial"/>
              </a:rPr>
              <a:t>Se determinaron. Causa raíz latente: </a:t>
            </a:r>
            <a:r>
              <a:rPr lang="es-PE" sz="1050" b="1" i="0" dirty="0">
                <a:solidFill>
                  <a:srgbClr val="042354"/>
                </a:solidFill>
                <a:latin typeface="Arial"/>
                <a:cs typeface="Arial"/>
              </a:rPr>
              <a:t>no existía un mecanismo que convirtiera los hallazgos de los análisis de falla en un cambio de diseño</a:t>
            </a:r>
            <a:r>
              <a:rPr lang="es-PE" sz="1050" b="0" i="0" dirty="0">
                <a:solidFill>
                  <a:srgbClr val="191919"/>
                </a:solidFill>
                <a:latin typeface="Arial"/>
                <a:cs typeface="Arial"/>
              </a:rPr>
              <a:t>. Se manifestó en tres causas: (1) análisis de falla por evento, sin consolidar la recurrencia; (2) registro de paradas sin codificación propia de la falla; (3) recomendaciones sin responsable, plazo ni cierre verificado.</a:t>
            </a:r>
          </a:p>
        </p:txBody>
      </p:sp>
      <p:sp>
        <p:nvSpPr>
          <p:cNvPr id="39" name="OE3 fondo"/>
          <p:cNvSpPr/>
          <p:nvPr/>
        </p:nvSpPr>
        <p:spPr>
          <a:xfrm>
            <a:off x="841248" y="3986784"/>
            <a:ext cx="10515600" cy="786384"/>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40" name="OE3 barra"/>
          <p:cNvSpPr/>
          <p:nvPr/>
        </p:nvSpPr>
        <p:spPr>
          <a:xfrm>
            <a:off x="841248" y="3986784"/>
            <a:ext cx="45720" cy="786384"/>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41" name="OE3 label"/>
          <p:cNvSpPr txBox="1"/>
          <p:nvPr/>
        </p:nvSpPr>
        <p:spPr>
          <a:xfrm>
            <a:off x="1042416" y="3986784"/>
            <a:ext cx="566928" cy="786384"/>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1400" b="1" i="0" dirty="0">
                <a:solidFill>
                  <a:srgbClr val="C3094A"/>
                </a:solidFill>
                <a:latin typeface="Arial"/>
                <a:cs typeface="Arial"/>
              </a:rPr>
              <a:t>OE3</a:t>
            </a:r>
          </a:p>
        </p:txBody>
      </p:sp>
      <p:sp>
        <p:nvSpPr>
          <p:cNvPr id="42" name="OE3 txt"/>
          <p:cNvSpPr txBox="1"/>
          <p:nvPr/>
        </p:nvSpPr>
        <p:spPr>
          <a:xfrm>
            <a:off x="1682496" y="3986784"/>
            <a:ext cx="9509760" cy="786384"/>
          </a:xfrm>
          <a:prstGeom prst="rect">
            <a:avLst/>
          </a:prstGeom>
          <a:noFill/>
          <a:ln>
            <a:noFill/>
          </a:ln>
          <a:effectLst/>
        </p:spPr>
        <p:txBody>
          <a:bodyPr wrap="square" lIns="0" tIns="0" rIns="0" bIns="0" rtlCol="0" anchor="ctr">
            <a:noAutofit/>
          </a:bodyPr>
          <a:lstStyle/>
          <a:p>
            <a:pPr algn="l" marL="0" indent="0">
              <a:lnSpc>
                <a:spcPct val="110000"/>
              </a:lnSpc>
              <a:spcBef>
                <a:spcPts val="0"/>
              </a:spcBef>
              <a:spcAft>
                <a:spcPts val="0"/>
              </a:spcAft>
              <a:buNone/>
            </a:pPr>
            <a:r>
              <a:rPr lang="es-PE" sz="1050" b="0" i="0" dirty="0">
                <a:solidFill>
                  <a:srgbClr val="191919"/>
                </a:solidFill>
                <a:latin typeface="Arial"/>
                <a:cs typeface="Arial"/>
              </a:rPr>
              <a:t>Se cambió el tipo de junta, de </a:t>
            </a:r>
            <a:r>
              <a:rPr lang="es-PE" sz="1050" b="1" i="0" dirty="0">
                <a:solidFill>
                  <a:srgbClr val="042354"/>
                </a:solidFill>
                <a:latin typeface="Arial"/>
                <a:cs typeface="Arial"/>
              </a:rPr>
              <a:t>penetración parcial a completa</a:t>
            </a:r>
            <a:r>
              <a:rPr lang="es-PE" sz="1050" b="0" i="0" dirty="0">
                <a:solidFill>
                  <a:srgbClr val="191919"/>
                </a:solidFill>
                <a:latin typeface="Arial"/>
                <a:cs typeface="Arial"/>
              </a:rPr>
              <a:t>, con pared de 0,75 a 1,00 in; se eliminó el concentrador de tensiones (</a:t>
            </a:r>
            <a:r>
              <a:rPr lang="es-PE" sz="1050" b="1" i="0" dirty="0">
                <a:solidFill>
                  <a:srgbClr val="042354"/>
                </a:solidFill>
                <a:latin typeface="Arial"/>
                <a:cs typeface="Arial"/>
              </a:rPr>
              <a:t>FS de 0,31 a 2,23</a:t>
            </a:r>
            <a:r>
              <a:rPr lang="es-PE" sz="1050" b="0" i="0" dirty="0">
                <a:solidFill>
                  <a:srgbClr val="191919"/>
                </a:solidFill>
                <a:latin typeface="Arial"/>
                <a:cs typeface="Arial"/>
              </a:rPr>
              <a:t>). Plan de acción: se planteó como acción "a falta de" del RCM, se elaboró la priorización por horómetro y se implementó en 2025 con control de configuración del P/N. En campo: </a:t>
            </a:r>
            <a:r>
              <a:rPr lang="es-PE" sz="1050" b="1" i="0" dirty="0">
                <a:solidFill>
                  <a:srgbClr val="042354"/>
                </a:solidFill>
                <a:latin typeface="Arial"/>
                <a:cs typeface="Arial"/>
              </a:rPr>
              <a:t>0 fracturas en 96 000 h</a:t>
            </a:r>
            <a:r>
              <a:rPr lang="es-PE" sz="1050" b="0" i="0" dirty="0">
                <a:solidFill>
                  <a:srgbClr val="191919"/>
                </a:solidFill>
                <a:latin typeface="Arial"/>
                <a:cs typeface="Arial"/>
              </a:rPr>
              <a:t>.</a:t>
            </a:r>
          </a:p>
        </p:txBody>
      </p:sp>
      <p:sp>
        <p:nvSpPr>
          <p:cNvPr id="43" name="OE4 fondo"/>
          <p:cNvSpPr/>
          <p:nvPr/>
        </p:nvSpPr>
        <p:spPr>
          <a:xfrm>
            <a:off x="841248" y="4837176"/>
            <a:ext cx="10515600" cy="566928"/>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noAutofit/>
          </a:bodyPr>
          <a:lstStyle/>
          <a:p>
            <a:endParaRPr lang="es-PE" dirty="0"/>
          </a:p>
        </p:txBody>
      </p:sp>
      <p:sp>
        <p:nvSpPr>
          <p:cNvPr id="44" name="OE4 barra"/>
          <p:cNvSpPr/>
          <p:nvPr/>
        </p:nvSpPr>
        <p:spPr>
          <a:xfrm>
            <a:off x="841248" y="4837176"/>
            <a:ext cx="45720" cy="566928"/>
          </a:xfrm>
          <a:prstGeom prst="rect">
            <a:avLst/>
          </a:prstGeom>
          <a:solidFill>
            <a:srgbClr val="C3094A"/>
          </a:solidFill>
          <a:ln>
            <a:noFill/>
          </a:ln>
          <a:effectLst/>
        </p:spPr>
        <p:txBody>
          <a:bodyPr wrap="square" lIns="0" tIns="0" rIns="0" bIns="0" rtlCol="0" anchor="t">
            <a:noAutofit/>
          </a:bodyPr>
          <a:lstStyle/>
          <a:p>
            <a:endParaRPr lang="es-PE" dirty="0"/>
          </a:p>
        </p:txBody>
      </p:sp>
      <p:sp>
        <p:nvSpPr>
          <p:cNvPr id="45" name="OE4 label"/>
          <p:cNvSpPr txBox="1"/>
          <p:nvPr/>
        </p:nvSpPr>
        <p:spPr>
          <a:xfrm>
            <a:off x="1042416" y="4837176"/>
            <a:ext cx="566928" cy="566928"/>
          </a:xfrm>
          <a:prstGeom prst="rect">
            <a:avLst/>
          </a:prstGeom>
          <a:noFill/>
          <a:ln>
            <a:noFill/>
          </a:ln>
          <a:effectLst/>
        </p:spPr>
        <p:txBody>
          <a:bodyPr wrap="square" lIns="0" tIns="0" rIns="0" bIns="0" rtlCol="0" anchor="ctr">
            <a:noAutofit/>
          </a:bodyPr>
          <a:lstStyle/>
          <a:p>
            <a:pPr algn="l" marL="0" indent="0">
              <a:lnSpc>
                <a:spcPct val="100000"/>
              </a:lnSpc>
              <a:spcBef>
                <a:spcPts val="0"/>
              </a:spcBef>
              <a:spcAft>
                <a:spcPts val="0"/>
              </a:spcAft>
              <a:buNone/>
            </a:pPr>
            <a:r>
              <a:rPr lang="es-PE" sz="1400" b="1" i="0" dirty="0">
                <a:solidFill>
                  <a:srgbClr val="C3094A"/>
                </a:solidFill>
                <a:latin typeface="Arial"/>
                <a:cs typeface="Arial"/>
              </a:rPr>
              <a:t>OE4</a:t>
            </a:r>
          </a:p>
        </p:txBody>
      </p:sp>
      <p:sp>
        <p:nvSpPr>
          <p:cNvPr id="46" name="OE4 txt"/>
          <p:cNvSpPr txBox="1"/>
          <p:nvPr/>
        </p:nvSpPr>
        <p:spPr>
          <a:xfrm>
            <a:off x="1682496" y="4837176"/>
            <a:ext cx="9509760" cy="566928"/>
          </a:xfrm>
          <a:prstGeom prst="rect">
            <a:avLst/>
          </a:prstGeom>
          <a:noFill/>
          <a:ln>
            <a:noFill/>
          </a:ln>
          <a:effectLst/>
        </p:spPr>
        <p:txBody>
          <a:bodyPr wrap="square" lIns="0" tIns="0" rIns="0" bIns="0" rtlCol="0" anchor="ctr">
            <a:noAutofit/>
          </a:bodyPr>
          <a:lstStyle/>
          <a:p>
            <a:pPr algn="l" marL="0" indent="0">
              <a:lnSpc>
                <a:spcPct val="110000"/>
              </a:lnSpc>
              <a:spcBef>
                <a:spcPts val="0"/>
              </a:spcBef>
              <a:spcAft>
                <a:spcPts val="0"/>
              </a:spcAft>
              <a:buNone/>
            </a:pPr>
            <a:r>
              <a:rPr lang="es-PE" sz="1050" b="0" i="0" dirty="0">
                <a:solidFill>
                  <a:srgbClr val="191919"/>
                </a:solidFill>
                <a:latin typeface="Arial"/>
                <a:cs typeface="Arial"/>
              </a:rPr>
              <a:t>Costo evitado: </a:t>
            </a:r>
            <a:r>
              <a:rPr lang="es-PE" sz="1050" b="1" i="0" dirty="0">
                <a:solidFill>
                  <a:srgbClr val="042354"/>
                </a:solidFill>
                <a:latin typeface="Arial"/>
                <a:cs typeface="Arial"/>
              </a:rPr>
              <a:t>US$ 3,31 M por año</a:t>
            </a:r>
            <a:r>
              <a:rPr lang="es-PE" sz="1050" b="0" i="0" dirty="0">
                <a:solidFill>
                  <a:srgbClr val="191919"/>
                </a:solidFill>
                <a:latin typeface="Arial"/>
                <a:cs typeface="Arial"/>
              </a:rPr>
              <a:t> (13 eventos × US$ 763 393 en 36 meses), frente a US$ 4,3 M/año que habría costado la sustitución cíclica.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ES" sz="4200" b="1" i="0" noProof="0" dirty="0">
                <a:solidFill>
                  <a:srgbClr val="FFFFFF"/>
                </a:solidFill>
                <a:latin typeface="Arial"/>
              </a:rPr>
              <a:t>MUCHAS GRACIAS</a:t>
            </a:r>
          </a:p>
        </p:txBody>
      </p:sp>
      <p:sp>
        <p:nvSpPr>
          <p:cNvPr id="5" name="TextBox 4"/>
          <p:cNvSpPr txBox="1"/>
          <p:nvPr/>
        </p:nvSpPr>
        <p:spPr>
          <a:xfrm>
            <a:off x="841248" y="4187952"/>
            <a:ext cx="10515600" cy="289438"/>
          </a:xfrm>
          <a:prstGeom prst="rect">
            <a:avLst/>
          </a:prstGeom>
          <a:noFill/>
        </p:spPr>
        <p:txBody>
          <a:bodyPr wrap="square" lIns="0" tIns="0" rIns="0" bIns="0" anchor="t">
            <a:spAutoFit/>
          </a:bodyPr>
          <a:lstStyle/>
          <a:p>
            <a:pPr algn="l">
              <a:lnSpc>
                <a:spcPct val="114000"/>
              </a:lnSpc>
              <a:spcBef>
                <a:spcPts val="0"/>
              </a:spcBef>
              <a:spcAft>
                <a:spcPts val="400"/>
              </a:spcAft>
            </a:pPr>
            <a:r>
              <a:rPr lang="es-ES" sz="1800" b="0" i="0" noProof="0" dirty="0">
                <a:solidFill>
                  <a:srgbClr val="B9C6DC"/>
                </a:solidFill>
                <a:latin typeface="Arial"/>
              </a:rPr>
              <a:t>Preguntas y comentarios</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1963</TotalTime>
  <Words>4264</Words>
  <Application>Microsoft Office PowerPoint</Application>
  <PresentationFormat>Panorámica</PresentationFormat>
  <Paragraphs>440</Paragraphs>
  <Slides>21</Slides>
  <Notes>7</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21</vt:i4>
      </vt:variant>
    </vt:vector>
  </HeadingPairs>
  <TitlesOfParts>
    <vt:vector size="24" baseType="lpstr">
      <vt:lpstr>Arial</vt:lpstr>
      <vt:lpstr>Calibri</vt:lpstr>
      <vt:lpstr>Tema de Office</vt:lpstr>
      <vt:lpstr>Presentación de PowerPoint</vt:lpstr>
      <vt:lpstr>Contenido</vt:lpstr>
      <vt:lpstr>El problema</vt:lpstr>
      <vt:lpstr>Objetivos</vt:lpstr>
      <vt:lpstr>Etapas de la metodología</vt:lpstr>
      <vt:lpstr>Focalización</vt:lpstr>
      <vt:lpstr>Preguntas 1 y 2: función, estándar y falla funcional</vt:lpstr>
      <vt:lpstr>Pregunta 3: hipótesis sometidas a verificación</vt:lpstr>
      <vt:lpstr>Evidencia de base: el aporte de cada análisis de falla (AFA)</vt:lpstr>
      <vt:lpstr>Verificación de la causa física: fractura y metalografía</vt:lpstr>
      <vt:lpstr>Descarte de la operación: la data del propio equipo</vt:lpstr>
      <vt:lpstr>Descarte de la fabricación: material conforme y recurrencia</vt:lpstr>
      <vt:lpstr>Verificación por resistencia de materiales</vt:lpstr>
      <vt:lpstr>Del mecanismo físico a la causa latente</vt:lpstr>
      <vt:lpstr>Preguntas 4 y 5: efectos y consecuencias de la falla</vt:lpstr>
      <vt:lpstr>Preguntas 6 y 7: ninguna tarea proactiva cumple ambos criterios</vt:lpstr>
      <vt:lpstr>La solución: rediseño de la unión soldada y su implementación</vt:lpstr>
      <vt:lpstr>Verificación del componente: no recurrencia del modo de falla</vt:lpstr>
      <vt:lpstr>Verificación de la flota y costo evitado</vt:lpstr>
      <vt:lpstr>Conclusiones</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SAMIR</dc:creator>
  <cp:lastModifiedBy>Samir Cedillo Preciado</cp:lastModifiedBy>
  <cp:revision>28</cp:revision>
  <dcterms:modified xsi:type="dcterms:W3CDTF">2026-09-29T02:21:47Z</dcterms:modified>
</cp:coreProperties>
</file>