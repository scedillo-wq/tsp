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3" r:id="rId5"/>
    <p:sldId id="264" r:id="rId6"/>
    <p:sldId id="265" r:id="rId7"/>
    <p:sldId id="267" r:id="rId9"/>
    <p:sldId id="269" r:id="rId11"/>
    <p:sldId id="270" r:id="rId12"/>
    <p:sldId id="271" r:id="rId13"/>
    <p:sldId id="287" r:id="rId33"/>
    <p:sldId id="291" r:id="rId37"/>
    <p:sldId id="289" r:id="rId35"/>
    <p:sldId id="288" r:id="rId34"/>
    <p:sldId id="273" r:id="rId15"/>
    <p:sldId id="275" r:id="rId16"/>
    <p:sldId id="276" r:id="rId17"/>
    <p:sldId id="278" r:id="rId19"/>
    <p:sldId id="280" r:id="rId21"/>
    <p:sldId id="282" r:id="rId23"/>
    <p:sldId id="284" r:id="rId25"/>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9" Type="http://schemas.openxmlformats.org/officeDocument/2006/relationships/slide" Target="slides/slide23.xml"/><Relationship Id="rId21" Type="http://schemas.openxmlformats.org/officeDocument/2006/relationships/slide" Target="slides/slide25.xml"/><Relationship Id="rId23" Type="http://schemas.openxmlformats.org/officeDocument/2006/relationships/slide" Target="slides/slide27.xml"/><Relationship Id="rId25" Type="http://schemas.openxmlformats.org/officeDocument/2006/relationships/slide" Target="slides/slide29.xml"/><Relationship Id="rId27" Type="http://schemas.openxmlformats.org/officeDocument/2006/relationships/slide" Target="slides/slide3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3.xml"/><Relationship Id="rId34" Type="http://schemas.openxmlformats.org/officeDocument/2006/relationships/slide" Target="slides/slide16.xml"/><Relationship Id="rId35" Type="http://schemas.openxmlformats.org/officeDocument/2006/relationships/slide" Target="slides/slide17.xml"/><Relationship Id="rId37"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La casa matriz adoptó la mejora propuesta en los AFA (modificar el proceso de soldadura y eliminar el concentrador); esta operación fue la primera en implementarla, en 2025.</a:t>
            </a:r>
          </a:p>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El MTTR de flota no mejora, y no debía hacerlo: la acción implementada elimina eventos, no reduce la duración de las intervenciones que subsisten.</a:t>
            </a:r>
          </a:p>
          <a:p/>
          <a:p>
            <a:r>
              <a:t>La concurrencia con la intervención del motor diésel no debilita la verificación: lo que acredita el rediseño es el criterio del nivel del componente.</a:t>
            </a:r>
          </a:p>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7.png"/><Relationship Id="rId5"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
        <p:nvSpPr>
          <p:cNvPr id="22" name="TextBox 2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3</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
        <p:nvSpPr>
          <p:cNvPr id="27" name="TextBox 2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02 · OBJETIVOS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03 · METODOLOGÍA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24128" y="1773936"/>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85248" y="1819656"/>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4128" y="2633472"/>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DIESA-AFA2023085189_00</a:t>
            </a:r>
          </a:p>
          <a:p>
            <a:pPr algn="l">
              <a:lnSpc>
                <a:spcPct val="105000"/>
              </a:lnSpc>
              <a:spcBef>
                <a:spcPts val="0"/>
              </a:spcBef>
              <a:spcAft>
                <a:spcPts val="0"/>
              </a:spcAft>
            </a:pPr>
            <a:r>
              <a:rPr sz="850" b="0" i="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85248" y="2679191"/>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24128" y="3493008"/>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985248" y="3538727"/>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4128" y="4352544"/>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985248" y="4398264"/>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
        <p:nvSpPr>
          <p:cNvPr id="70" name="TextBox 6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3"/>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Figura H1 · Eje F1 en campo: (1) propagación estable, (2) rotura final, (3) origen en el diámetro interior, (4) borde deformado por free wheeling.</a:t>
            </a:r>
          </a:p>
        </p:txBody>
      </p:sp>
      <p:pic>
        <p:nvPicPr>
          <p:cNvPr id="38" name="Picture 37" descr="image.png"/>
          <p:cNvPicPr>
            <a:picLocks noChangeAspect="1"/>
          </p:cNvPicPr>
          <p:nvPr/>
        </p:nvPicPr>
        <p:blipFill>
          <a:blip r:embed="rId4"/>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Fractografía: marcas de trinquete en el diámetro menor, zona de propagación estable y área de fractura final de ~20 %.</a:t>
            </a:r>
          </a:p>
        </p:txBody>
      </p:sp>
      <p:pic>
        <p:nvPicPr>
          <p:cNvPr id="40" name="Picture 39" descr="image.png"/>
          <p:cNvPicPr>
            <a:picLocks noChangeAspect="1"/>
          </p:cNvPicPr>
          <p:nvPr/>
        </p:nvPicPr>
        <p:blipFill>
          <a:blip r:embed="rId5"/>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F1 · MATERIAL NO CONFORME · TABLA H1 (% EN MASA)</a:t>
            </a:r>
          </a:p>
        </p:txBody>
      </p:sp>
      <p:graphicFrame>
        <p:nvGraphicFramePr>
          <p:cNvPr id="37" name="Table 36"/>
          <p:cNvGraphicFramePr>
            <a:graphicFrameLocks noGrp="1"/>
          </p:cNvGraphicFramePr>
          <p:nvPr/>
        </p:nvGraphicFramePr>
        <p:xfrm>
          <a:off x="841248" y="1700784"/>
          <a:ext cx="5120640" cy="932688"/>
        </p:xfrm>
        <a:graphic>
          <a:graphicData uri="http://schemas.openxmlformats.org/drawingml/2006/table">
            <a:tbl>
              <a:tblPr firstRow="1" bandRow="0">
                <a:tableStyleId>{2D5ABB26-0587-4C30-8999-92F81FD0307C}</a:tableStyleId>
              </a:tblPr>
              <a:tblGrid>
                <a:gridCol w="1188720"/>
                <a:gridCol w="393192"/>
                <a:gridCol w="393192"/>
                <a:gridCol w="393192"/>
                <a:gridCol w="393192"/>
                <a:gridCol w="393192"/>
                <a:gridCol w="393192"/>
                <a:gridCol w="393192"/>
                <a:gridCol w="393192"/>
                <a:gridCol w="393192"/>
                <a:gridCol w="393192"/>
              </a:tblGrid>
              <a:tr h="310896">
                <a:tc>
                  <a:txBody>
                    <a:bodyPr/>
                    <a:lstStyle/>
                    <a:p>
                      <a:pPr algn="l"/>
                      <a:r>
                        <a:rPr sz="850" b="1">
                          <a:solidFill>
                            <a:srgbClr val="FFFFFF"/>
                          </a:solidFill>
                          <a:latin typeface="Arial"/>
                        </a:rPr>
                        <a:t/>
                      </a:r>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tr>
              <a:tr h="310896">
                <a:tc>
                  <a:txBody>
                    <a:bodyPr/>
                    <a:lstStyle/>
                    <a:p>
                      <a:pPr algn="l"/>
                      <a:r>
                        <a:rPr sz="850" b="1">
                          <a:solidFill>
                            <a:srgbClr val="042354"/>
                          </a:solidFill>
                          <a:latin typeface="Arial"/>
                        </a:rPr>
                        <a:t>ASTM A618 Gr. III</a:t>
                      </a:r>
                    </a:p>
                  </a:txBody>
                  <a:tcPr marL="73152" marR="7315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0,26</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1,30</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0,33</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0,18</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0,01</a:t>
                      </a:r>
                    </a:p>
                  </a:txBody>
                  <a:tcPr marL="27432" marR="27432" marT="18288" marB="18288" anchor="ctr">
                    <a:lnL w="0">
                      <a:noFill/>
                    </a:lnL>
                    <a:lnR w="0">
                      <a:noFill/>
                    </a:lnR>
                    <a:lnT w="0">
                      <a:noFill/>
                    </a:lnT>
                    <a:lnB w="6350">
                      <a:solidFill>
                        <a:srgbClr val="CFD6DF"/>
                      </a:solidFill>
                    </a:lnB>
                    <a:solidFill>
                      <a:srgbClr val="F4F6F8"/>
                    </a:solidFill>
                  </a:tcPr>
                </a:tc>
              </a:tr>
              <a:tr h="310896">
                <a:tc>
                  <a:txBody>
                    <a:bodyPr/>
                    <a:lstStyle/>
                    <a:p>
                      <a:pPr algn="l"/>
                      <a:r>
                        <a:rPr sz="850" b="1">
                          <a:solidFill>
                            <a:srgbClr val="042354"/>
                          </a:solidFill>
                          <a:latin typeface="Arial"/>
                        </a:rPr>
                        <a:t>Muestra del eje</a:t>
                      </a:r>
                    </a:p>
                  </a:txBody>
                  <a:tcPr marL="73152" marR="7315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0,79</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0,012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0,10</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0,03</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a:t>
                      </a:r>
                    </a:p>
                  </a:txBody>
                  <a:tcPr marL="27432" marR="27432"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2688336"/>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692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27218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474463"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42416" y="4059936"/>
            <a:ext cx="4791455" cy="877824"/>
          </a:xfrm>
          <a:prstGeom prst="rect">
            <a:avLst/>
          </a:prstGeom>
          <a:noFill/>
        </p:spPr>
        <p:txBody>
          <a:bodyPr wrap="square" lIns="0" rIns="0" tIns="0" bIns="0" anchor="ctr">
            <a:spAutoFit/>
          </a:bodyPr>
          <a:lstStyle/>
          <a:p>
            <a:pPr algn="l">
              <a:lnSpc>
                <a:spcPct val="110000"/>
              </a:lnSpc>
              <a:spcBef>
                <a:spcPts val="0"/>
              </a:spcBef>
              <a:spcAft>
                <a:spcPts val="0"/>
              </a:spcAft>
            </a:pPr>
            <a:r>
              <a:rPr sz="1000" b="0" i="0">
                <a:solidFill>
                  <a:srgbClr val="191919"/>
                </a:solidFill>
                <a:latin typeface="Arial"/>
              </a:rPr>
              <a:t>Composición compatible con ASTM A618 Gr. III.  </a:t>
            </a:r>
            <a:r>
              <a:rPr sz="1000" b="1" i="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236208" y="1700784"/>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1</a:t>
            </a:r>
          </a:p>
        </p:txBody>
      </p:sp>
      <p:sp>
        <p:nvSpPr>
          <p:cNvPr id="55" name="TextBox 54"/>
          <p:cNvSpPr txBox="1"/>
          <p:nvPr/>
        </p:nvSpPr>
        <p:spPr>
          <a:xfrm>
            <a:off x="6748272" y="1700784"/>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08000"/>
              </a:lnSpc>
              <a:spcBef>
                <a:spcPts val="0"/>
              </a:spcBef>
              <a:spcAft>
                <a:spcPts val="0"/>
              </a:spcAft>
            </a:pPr>
            <a:r>
              <a:rPr sz="950" b="0" i="0">
                <a:solidFill>
                  <a:srgbClr val="191919"/>
                </a:solidFill>
                <a:latin typeface="Arial"/>
              </a:rPr>
              <a:t>En los motores reparados se instaló un eje nuevo, mismo P/N 58F-14-00330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236208" y="2487168"/>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08000"/>
              </a:lnSpc>
              <a:spcBef>
                <a:spcPts val="0"/>
              </a:spcBef>
              <a:spcAft>
                <a:spcPts val="0"/>
              </a:spcAft>
            </a:pPr>
            <a:r>
              <a:rPr sz="950" b="0" i="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236208" y="3273552"/>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08000"/>
              </a:lnSpc>
              <a:spcBef>
                <a:spcPts val="0"/>
              </a:spcBef>
              <a:spcAft>
                <a:spcPts val="0"/>
              </a:spcAft>
            </a:pPr>
            <a:r>
              <a:rPr sz="950" b="0" i="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36208" y="4059936"/>
            <a:ext cx="384048" cy="877824"/>
          </a:xfrm>
          <a:prstGeom prst="rect">
            <a:avLst/>
          </a:prstGeom>
          <a:noFill/>
        </p:spPr>
        <p:txBody>
          <a:bodyPr wrap="square" lIns="0" rIns="0" tIns="0" bIns="0" anchor="ctr">
            <a:spAutoFit/>
          </a:bodyPr>
          <a:lstStyle/>
          <a:p>
            <a:pPr algn="ctr">
              <a:lnSpc>
                <a:spcPct val="110000"/>
              </a:lnSpc>
              <a:spcBef>
                <a:spcPts val="0"/>
              </a:spcBef>
              <a:spcAft>
                <a:spcPts val="0"/>
              </a:spcAft>
            </a:pPr>
            <a:r>
              <a:rPr sz="1500" b="1" i="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08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845552" y="1828800"/>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332720" y="1810512"/>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45552" y="2638044"/>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332720" y="2619756"/>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45552" y="3447288"/>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332720" y="3429000"/>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845552" y="4256531"/>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332720" y="4238244"/>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803136"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C3094A"/>
                </a:solidFill>
                <a:latin typeface="Arial"/>
              </a:rPr>
              <a:t>Componente obsoleto</a:t>
            </a:r>
          </a:p>
          <a:p>
            <a:pPr algn="l">
              <a:lnSpc>
                <a:spcPct val="108000"/>
              </a:lnSpc>
              <a:spcBef>
                <a:spcPts val="0"/>
              </a:spcBef>
              <a:spcAft>
                <a:spcPts val="400"/>
              </a:spcAft>
            </a:pPr>
            <a:r>
              <a:rPr sz="900" b="0" i="0">
                <a:solidFill>
                  <a:srgbClr val="191919"/>
                </a:solidFill>
                <a:latin typeface="Arial"/>
              </a:rPr>
              <a:t>Penetración parcial; raíz sin fusión en el diámetro interior</a:t>
            </a:r>
          </a:p>
          <a:p>
            <a:pPr algn="l">
              <a:lnSpc>
                <a:spcPct val="110000"/>
              </a:lnSpc>
              <a:spcBef>
                <a:spcPts val="0"/>
              </a:spcBef>
              <a:spcAft>
                <a:spcPts val="0"/>
              </a:spcAft>
            </a:pPr>
            <a:r>
              <a:rPr sz="1500" b="1" i="0">
                <a:solidFill>
                  <a:srgbClr val="C3094A"/>
                </a:solidFill>
                <a:latin typeface="Arial"/>
              </a:rPr>
              <a:t>FS = 0,31</a:t>
            </a:r>
          </a:p>
        </p:txBody>
      </p:sp>
      <p:sp>
        <p:nvSpPr>
          <p:cNvPr id="26" name="Rectangle 25"/>
          <p:cNvSpPr/>
          <p:nvPr/>
        </p:nvSpPr>
        <p:spPr>
          <a:xfrm>
            <a:off x="9084563"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12580"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2841DD"/>
                </a:solidFill>
                <a:latin typeface="Arial"/>
              </a:rPr>
              <a:t>Componente mejorado</a:t>
            </a:r>
          </a:p>
          <a:p>
            <a:pPr algn="l">
              <a:lnSpc>
                <a:spcPct val="108000"/>
              </a:lnSpc>
              <a:spcBef>
                <a:spcPts val="0"/>
              </a:spcBef>
              <a:spcAft>
                <a:spcPts val="400"/>
              </a:spcAft>
            </a:pPr>
            <a:r>
              <a:rPr sz="900" b="0" i="0">
                <a:solidFill>
                  <a:srgbClr val="191919"/>
                </a:solidFill>
                <a:latin typeface="Arial"/>
              </a:rPr>
              <a:t>Penetración completa sobre sección mayor; sin cambio de material</a:t>
            </a:r>
          </a:p>
          <a:p>
            <a:pPr algn="l">
              <a:lnSpc>
                <a:spcPct val="110000"/>
              </a:lnSpc>
              <a:spcBef>
                <a:spcPts val="0"/>
              </a:spcBef>
              <a:spcAft>
                <a:spcPts val="0"/>
              </a:spcAft>
            </a:pPr>
            <a:r>
              <a:rPr sz="1500" b="1" i="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84848" y="3328416"/>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Priorización por horómetro y riesgo</a:t>
            </a:r>
          </a:p>
          <a:p>
            <a:pPr algn="l">
              <a:lnSpc>
                <a:spcPct val="105000"/>
              </a:lnSpc>
              <a:spcBef>
                <a:spcPts val="0"/>
              </a:spcBef>
              <a:spcAft>
                <a:spcPts val="0"/>
              </a:spcAft>
            </a:pPr>
            <a:r>
              <a:rPr sz="850" b="0" i="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84848" y="3895344"/>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Sustitución del conjunto</a:t>
            </a:r>
          </a:p>
          <a:p>
            <a:pPr algn="l">
              <a:lnSpc>
                <a:spcPct val="105000"/>
              </a:lnSpc>
              <a:spcBef>
                <a:spcPts val="0"/>
              </a:spcBef>
              <a:spcAft>
                <a:spcPts val="0"/>
              </a:spcAft>
            </a:pPr>
            <a:r>
              <a:rPr sz="850" b="0" i="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84848" y="4462272"/>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Control de la mejora instalada</a:t>
            </a:r>
          </a:p>
          <a:p>
            <a:pPr algn="l">
              <a:lnSpc>
                <a:spcPct val="105000"/>
              </a:lnSpc>
              <a:spcBef>
                <a:spcPts val="0"/>
              </a:spcBef>
              <a:spcAft>
                <a:spcPts val="0"/>
              </a:spcAft>
            </a:pPr>
            <a:r>
              <a:rPr sz="850" b="0" i="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Una mejora OEM adoptada,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05 · SOLUCIÓN DE INGENIERÍA ADOPTADA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6" name="Picture 5" descr="pu_g4_norecurrencia.png"/>
          <p:cNvPicPr>
            <a:picLocks noChangeAspect="1"/>
          </p:cNvPicPr>
          <p:nvPr/>
        </p:nvPicPr>
        <p:blipFill>
          <a:blip r:embed="rId2"/>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296912" y="1700784"/>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296912" y="2450592"/>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296912" y="3200400"/>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60336"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MTBF DEL MODO</a:t>
            </a:r>
          </a:p>
          <a:p>
            <a:pPr algn="l">
              <a:lnSpc>
                <a:spcPct val="110000"/>
              </a:lnSpc>
              <a:spcBef>
                <a:spcPts val="0"/>
              </a:spcBef>
              <a:spcAft>
                <a:spcPts val="200"/>
              </a:spcAft>
            </a:pPr>
            <a:r>
              <a:rPr sz="1150" b="1" i="0">
                <a:solidFill>
                  <a:srgbClr val="042354"/>
                </a:solidFill>
                <a:latin typeface="Arial"/>
              </a:rPr>
              <a:t>15 231 h → &gt; 32 046 h</a:t>
            </a:r>
          </a:p>
          <a:p>
            <a:pPr algn="l">
              <a:lnSpc>
                <a:spcPct val="105000"/>
              </a:lnSpc>
              <a:spcBef>
                <a:spcPts val="0"/>
              </a:spcBef>
              <a:spcAft>
                <a:spcPts val="0"/>
              </a:spcAft>
            </a:pPr>
            <a:r>
              <a:rPr sz="850" b="0" i="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18319"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MTTR DEL SISTEMA</a:t>
            </a:r>
          </a:p>
          <a:p>
            <a:pPr algn="l">
              <a:lnSpc>
                <a:spcPct val="110000"/>
              </a:lnSpc>
              <a:spcBef>
                <a:spcPts val="0"/>
              </a:spcBef>
              <a:spcAft>
                <a:spcPts val="200"/>
              </a:spcAft>
            </a:pPr>
            <a:r>
              <a:rPr sz="1150" b="1" i="0">
                <a:solidFill>
                  <a:srgbClr val="042354"/>
                </a:solidFill>
                <a:latin typeface="Arial"/>
              </a:rPr>
              <a:t>6,2 h → 3,3 h</a:t>
            </a:r>
          </a:p>
          <a:p>
            <a:pPr algn="l">
              <a:lnSpc>
                <a:spcPct val="105000"/>
              </a:lnSpc>
              <a:spcBef>
                <a:spcPts val="0"/>
              </a:spcBef>
              <a:spcAft>
                <a:spcPts val="0"/>
              </a:spcAft>
            </a:pPr>
            <a:r>
              <a:rPr sz="850" b="0" i="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pu_g6_contractuales.png"/>
          <p:cNvPicPr>
            <a:picLocks noChangeAspect="1"/>
          </p:cNvPicPr>
          <p:nvPr/>
        </p:nvPicPr>
        <p:blipFill>
          <a:blip r:embed="rId2"/>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42416" y="4313645"/>
            <a:ext cx="5797296" cy="624114"/>
          </a:xfrm>
          <a:prstGeom prst="rect">
            <a:avLst/>
          </a:prstGeom>
          <a:noFill/>
        </p:spPr>
        <p:txBody>
          <a:bodyPr wrap="square" lIns="0" rIns="0" tIns="0" bIns="0" anchor="ctr">
            <a:spAutoFit/>
          </a:bodyPr>
          <a:lstStyle/>
          <a:p>
            <a:pPr algn="l">
              <a:lnSpc>
                <a:spcPct val="110000"/>
              </a:lnSpc>
              <a:spcBef>
                <a:spcPts val="0"/>
              </a:spcBef>
              <a:spcAft>
                <a:spcPts val="0"/>
              </a:spcAft>
            </a:pPr>
            <a:r>
              <a:rPr sz="950" b="1" i="0">
                <a:solidFill>
                  <a:srgbClr val="2841DD"/>
                </a:solidFill>
                <a:latin typeface="Arial"/>
              </a:rPr>
              <a:t>Atribución del efecto. </a:t>
            </a:r>
            <a:r>
              <a:rPr sz="950" b="0" i="0">
                <a:solidFill>
                  <a:srgbClr val="191919"/>
                </a:solidFill>
                <a:latin typeface="Arial"/>
              </a:rPr>
              <a:t>Una intervención concurrente sobre el motor diésel (fisura de culatas) explica parte de la recuperación; el eje palier aporta 0,36 puntos de disponibilidad. El rediseño se acredita en el nivel del componente, donde el efecto sí es atribuible.</a:t>
            </a:r>
          </a:p>
        </p:txBody>
      </p:sp>
      <p:sp>
        <p:nvSpPr>
          <p:cNvPr id="18" name="TextBox 17"/>
          <p:cNvSpPr txBox="1"/>
          <p:nvPr/>
        </p:nvSpPr>
        <p:spPr>
          <a:xfrm>
            <a:off x="7242048" y="1389888"/>
            <a:ext cx="41148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06640" y="174650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US$ 3,05 M</a:t>
            </a:r>
          </a:p>
          <a:p>
            <a:pPr algn="l">
              <a:lnSpc>
                <a:spcPct val="105000"/>
              </a:lnSpc>
              <a:spcBef>
                <a:spcPts val="0"/>
              </a:spcBef>
              <a:spcAft>
                <a:spcPts val="0"/>
              </a:spcAft>
            </a:pPr>
            <a:r>
              <a:rPr sz="900" b="0" i="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06640" y="284378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12 eventos</a:t>
            </a:r>
          </a:p>
          <a:p>
            <a:pPr algn="l">
              <a:lnSpc>
                <a:spcPct val="105000"/>
              </a:lnSpc>
              <a:spcBef>
                <a:spcPts val="0"/>
              </a:spcBef>
              <a:spcAft>
                <a:spcPts val="0"/>
              </a:spcAft>
            </a:pPr>
            <a:r>
              <a:rPr sz="900" b="0" i="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406640" y="394106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1,41 : 1</a:t>
            </a:r>
          </a:p>
          <a:p>
            <a:pPr algn="l">
              <a:lnSpc>
                <a:spcPct val="105000"/>
              </a:lnSpc>
              <a:spcBef>
                <a:spcPts val="0"/>
              </a:spcBef>
              <a:spcAft>
                <a:spcPts val="0"/>
              </a:spcAft>
            </a:pPr>
            <a:r>
              <a:rPr sz="900" b="0" i="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07 · CONCLUSIONES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Preguntas y comentarios  ·  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