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8"/>
  </p:notesMasterIdLst>
  <p:sldIdLst>
    <p:sldId id="260" r:id="rId2"/>
    <p:sldId id="261" r:id="rId3"/>
    <p:sldId id="262" r:id="rId4"/>
    <p:sldId id="263" r:id="rId5"/>
    <p:sldId id="264" r:id="rId6"/>
    <p:sldId id="265" r:id="rId7"/>
    <p:sldId id="266" r:id="rId8"/>
    <p:sldId id="267" r:id="rId9"/>
    <p:sldId id="268" r:id="rId10"/>
    <p:sldId id="269" r:id="rId11"/>
    <p:sldId id="270" r:id="rId12"/>
    <p:sldId id="271" r:id="rId13"/>
    <p:sldId id="287" r:id="rId33"/>
    <p:sldId id="291" r:id="rId37"/>
    <p:sldId id="272" r:id="rId14"/>
    <p:sldId id="288" r:id="rId34"/>
    <p:sldId id="289" r:id="rId35"/>
    <p:sldId id="290" r:id="rId36"/>
    <p:sldId id="273"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5.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29.xml"/><Relationship Id="rId26" Type="http://schemas.openxmlformats.org/officeDocument/2006/relationships/slide" Target="slides/slide30.xml"/><Relationship Id="rId27" Type="http://schemas.openxmlformats.org/officeDocument/2006/relationships/slide" Target="slides/slide3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3.xml"/><Relationship Id="rId34" Type="http://schemas.openxmlformats.org/officeDocument/2006/relationships/slide" Target="slides/slide16.xml"/><Relationship Id="rId35" Type="http://schemas.openxmlformats.org/officeDocument/2006/relationships/slide" Target="slides/slide17.xml"/><Relationship Id="rId36" Type="http://schemas.openxmlformats.org/officeDocument/2006/relationships/slide" Target="slides/slide18.xml"/><Relationship Id="rId37"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Definición del problema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Metodología</a:t>
            </a:r>
          </a:p>
        </p:txBody>
      </p:sp>
      <p:sp>
        <p:nvSpPr>
          <p:cNvPr id="15" name="Rectangle 14"/>
          <p:cNvSpPr/>
          <p:nvPr/>
        </p:nvSpPr>
        <p:spPr>
          <a:xfrm>
            <a:off x="841248" y="3364992"/>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364992"/>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04</a:t>
            </a:r>
          </a:p>
        </p:txBody>
      </p:sp>
      <p:sp>
        <p:nvSpPr>
          <p:cNvPr id="17" name="TextBox 16"/>
          <p:cNvSpPr txBox="1"/>
          <p:nvPr/>
        </p:nvSpPr>
        <p:spPr>
          <a:xfrm>
            <a:off x="1536192" y="3496649"/>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Desarrollo</a:t>
            </a:r>
          </a:p>
        </p:txBody>
      </p:sp>
      <p:sp>
        <p:nvSpPr>
          <p:cNvPr id="18" name="Rectangle 17"/>
          <p:cNvSpPr/>
          <p:nvPr/>
        </p:nvSpPr>
        <p:spPr>
          <a:xfrm>
            <a:off x="841248" y="3931920"/>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3931920"/>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05</a:t>
            </a:r>
          </a:p>
        </p:txBody>
      </p:sp>
      <p:sp>
        <p:nvSpPr>
          <p:cNvPr id="20" name="TextBox 19"/>
          <p:cNvSpPr txBox="1"/>
          <p:nvPr/>
        </p:nvSpPr>
        <p:spPr>
          <a:xfrm>
            <a:off x="1536192" y="3950207"/>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Solución de ingeniería adoptada</a:t>
            </a:r>
          </a:p>
        </p:txBody>
      </p:sp>
      <p:sp>
        <p:nvSpPr>
          <p:cNvPr id="21" name="Rectangle 20"/>
          <p:cNvSpPr/>
          <p:nvPr/>
        </p:nvSpPr>
        <p:spPr>
          <a:xfrm>
            <a:off x="841248" y="4498848"/>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841248" y="449884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06</a:t>
            </a:r>
          </a:p>
        </p:txBody>
      </p:sp>
      <p:sp>
        <p:nvSpPr>
          <p:cNvPr id="23" name="TextBox 22"/>
          <p:cNvSpPr txBox="1"/>
          <p:nvPr/>
        </p:nvSpPr>
        <p:spPr>
          <a:xfrm>
            <a:off x="1536192" y="4517136"/>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Resultados y verificación</a:t>
            </a:r>
          </a:p>
        </p:txBody>
      </p:sp>
      <p:sp>
        <p:nvSpPr>
          <p:cNvPr id="24" name="Rectangle 23"/>
          <p:cNvSpPr/>
          <p:nvPr/>
        </p:nvSpPr>
        <p:spPr>
          <a:xfrm>
            <a:off x="841248" y="5065776"/>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Rectangle 24"/>
          <p:cNvSpPr/>
          <p:nvPr/>
        </p:nvSpPr>
        <p:spPr>
          <a:xfrm>
            <a:off x="841248" y="506577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07</a:t>
            </a:r>
          </a:p>
        </p:txBody>
      </p:sp>
      <p:sp>
        <p:nvSpPr>
          <p:cNvPr id="26" name="TextBox 25"/>
          <p:cNvSpPr txBox="1"/>
          <p:nvPr/>
        </p:nvSpPr>
        <p:spPr>
          <a:xfrm>
            <a:off x="1536192" y="508406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Conclusiones</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EL PROBLEMA</a:t>
            </a:r>
          </a:p>
        </p:txBody>
      </p:sp>
      <p:sp>
        <p:nvSpPr>
          <p:cNvPr id="7" name="TextBox 6"/>
          <p:cNvSpPr txBox="1"/>
          <p:nvPr/>
        </p:nvSpPr>
        <p:spPr>
          <a:xfrm>
            <a:off x="892017" y="3815606"/>
            <a:ext cx="1129995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Una flota de diez camiones 980E-5 bajo contrato de disponibilidad, y un modo de falla que impedía alcanzarla durante tres años consecutivos.</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01</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METODOLOGÍA</a:t>
            </a:r>
          </a:p>
        </p:txBody>
      </p:sp>
      <p:sp>
        <p:nvSpPr>
          <p:cNvPr id="7" name="TextBox 6"/>
          <p:cNvSpPr txBox="1"/>
          <p:nvPr/>
        </p:nvSpPr>
        <p:spPr>
          <a:xfrm>
            <a:off x="841248" y="4041648"/>
            <a:ext cx="1135075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Un proceso de mantenimiento centrado en confiabilidad conforme a la norma SAE JA1011.</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02</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41248" y="4864608"/>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highlight>
                  <a:srgbClr val="FFFF00"/>
                </a:highlight>
                <a:latin typeface="Arial"/>
              </a:rPr>
              <a:t>El ACR se utilizó para responder en profundidad la pregunta 3; el AFA se empleó como herramienta anidada para resolver el nivel físico</a:t>
            </a:r>
            <a:r>
              <a:rPr lang="es-PE" sz="900" b="0" i="0" noProof="0" dirty="0">
                <a:solidFill>
                  <a:srgbClr val="7A8494"/>
                </a:solidFill>
                <a:latin typeface="Arial"/>
              </a:rPr>
              <a:t>.</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DESARROLLO</a:t>
            </a:r>
          </a:p>
        </p:txBody>
      </p:sp>
      <p:sp>
        <p:nvSpPr>
          <p:cNvPr id="7" name="TextBox 6"/>
          <p:cNvSpPr txBox="1"/>
          <p:nvPr/>
        </p:nvSpPr>
        <p:spPr>
          <a:xfrm>
            <a:off x="841248" y="4041648"/>
            <a:ext cx="1111707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De la brecha contractual a la decisión de cambiar el diseño: focalización, verificación de quince hipótesis causales y descenso al nivel latente.</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03</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 qué modo de falla justifica un tratamiento diferenciado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6" name="Picture 5" descr="pu_g2_criticidad.png"/>
          <p:cNvPicPr>
            <a:picLocks noChangeAspect="1"/>
          </p:cNvPicPr>
          <p:nvPr/>
        </p:nvPicPr>
        <p:blipFill>
          <a:blip r:embed="rId2"/>
          <a:stretch>
            <a:fillRect/>
          </a:stretch>
        </p:blipFill>
        <p:spPr>
          <a:xfrm>
            <a:off x="566928" y="1437992"/>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quince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sp>
        <p:nvSpPr>
          <p:cNvPr id="6" name="Rectangle 5"/>
          <p:cNvSpPr/>
          <p:nvPr/>
        </p:nvSpPr>
        <p:spPr>
          <a:xfrm>
            <a:off x="841248" y="1463040"/>
            <a:ext cx="1993392" cy="11338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1993392"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987552"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DISEÑO</a:t>
            </a:r>
          </a:p>
          <a:p>
            <a:pPr algn="l">
              <a:lnSpc>
                <a:spcPct val="95000"/>
              </a:lnSpc>
              <a:spcBef>
                <a:spcPts val="0"/>
              </a:spcBef>
              <a:spcAft>
                <a:spcPts val="300"/>
              </a:spcAft>
            </a:pPr>
            <a:r>
              <a:rPr lang="es-PE" sz="2300" b="1" i="0" noProof="0" dirty="0">
                <a:solidFill>
                  <a:srgbClr val="C3094A"/>
                </a:solidFill>
                <a:latin typeface="Arial"/>
              </a:rPr>
              <a:t>3</a:t>
            </a:r>
          </a:p>
          <a:p>
            <a:pPr algn="l">
              <a:lnSpc>
                <a:spcPct val="105000"/>
              </a:lnSpc>
              <a:spcBef>
                <a:spcPts val="0"/>
              </a:spcBef>
              <a:spcAft>
                <a:spcPts val="400"/>
              </a:spcAft>
            </a:pPr>
            <a:r>
              <a:rPr lang="es-PE" sz="950" b="1" i="0" noProof="0" dirty="0">
                <a:solidFill>
                  <a:srgbClr val="C3094A"/>
                </a:solidFill>
                <a:latin typeface="Arial"/>
              </a:rPr>
              <a:t>2 confirmadas</a:t>
            </a:r>
          </a:p>
        </p:txBody>
      </p:sp>
      <p:sp>
        <p:nvSpPr>
          <p:cNvPr id="9" name="Rectangle 8"/>
          <p:cNvSpPr/>
          <p:nvPr/>
        </p:nvSpPr>
        <p:spPr>
          <a:xfrm>
            <a:off x="2971800"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2971800"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3118104"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FABRICACIÓN</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12" name="Rectangle 11"/>
          <p:cNvSpPr/>
          <p:nvPr/>
        </p:nvSpPr>
        <p:spPr>
          <a:xfrm>
            <a:off x="5102352"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5102352"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5248656"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MONTAJE</a:t>
            </a:r>
          </a:p>
          <a:p>
            <a:pPr algn="l">
              <a:lnSpc>
                <a:spcPct val="95000"/>
              </a:lnSpc>
              <a:spcBef>
                <a:spcPts val="0"/>
              </a:spcBef>
              <a:spcAft>
                <a:spcPts val="300"/>
              </a:spcAft>
            </a:pPr>
            <a:r>
              <a:rPr lang="es-PE" sz="2300" b="1" i="0" noProof="0" dirty="0">
                <a:solidFill>
                  <a:srgbClr val="7A8494"/>
                </a:solidFill>
                <a:latin typeface="Arial"/>
              </a:rPr>
              <a:t>2</a:t>
            </a:r>
          </a:p>
          <a:p>
            <a:pPr algn="l">
              <a:lnSpc>
                <a:spcPct val="105000"/>
              </a:lnSpc>
              <a:spcBef>
                <a:spcPts val="0"/>
              </a:spcBef>
              <a:spcAft>
                <a:spcPts val="400"/>
              </a:spcAft>
            </a:pPr>
            <a:r>
              <a:rPr lang="es-PE" sz="950" b="0" i="0" noProof="0" dirty="0">
                <a:solidFill>
                  <a:srgbClr val="7A8494"/>
                </a:solidFill>
                <a:latin typeface="Arial"/>
              </a:rPr>
              <a:t>2 descartadas</a:t>
            </a:r>
          </a:p>
        </p:txBody>
      </p:sp>
      <p:sp>
        <p:nvSpPr>
          <p:cNvPr id="15" name="Rectangle 14"/>
          <p:cNvSpPr/>
          <p:nvPr/>
        </p:nvSpPr>
        <p:spPr>
          <a:xfrm>
            <a:off x="7232904"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7232904"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7379208"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OPERACIÓN</a:t>
            </a:r>
          </a:p>
          <a:p>
            <a:pPr algn="l">
              <a:lnSpc>
                <a:spcPct val="95000"/>
              </a:lnSpc>
              <a:spcBef>
                <a:spcPts val="0"/>
              </a:spcBef>
              <a:spcAft>
                <a:spcPts val="300"/>
              </a:spcAft>
            </a:pPr>
            <a:r>
              <a:rPr lang="es-PE" sz="2300" b="1" i="0" noProof="0" dirty="0">
                <a:solidFill>
                  <a:srgbClr val="7A8494"/>
                </a:solidFill>
                <a:latin typeface="Arial"/>
              </a:rPr>
              <a:t>4</a:t>
            </a:r>
          </a:p>
          <a:p>
            <a:pPr algn="l">
              <a:lnSpc>
                <a:spcPct val="105000"/>
              </a:lnSpc>
              <a:spcBef>
                <a:spcPts val="0"/>
              </a:spcBef>
              <a:spcAft>
                <a:spcPts val="400"/>
              </a:spcAft>
            </a:pPr>
            <a:r>
              <a:rPr lang="es-PE" sz="950" b="0" i="0" noProof="0" dirty="0">
                <a:solidFill>
                  <a:srgbClr val="7A8494"/>
                </a:solidFill>
                <a:latin typeface="Arial"/>
              </a:rPr>
              <a:t>4 descartadas</a:t>
            </a:r>
          </a:p>
        </p:txBody>
      </p:sp>
      <p:sp>
        <p:nvSpPr>
          <p:cNvPr id="18" name="Rectangle 17"/>
          <p:cNvSpPr/>
          <p:nvPr/>
        </p:nvSpPr>
        <p:spPr>
          <a:xfrm>
            <a:off x="9363456"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9363456"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509760"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MANTENIMIENTO</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21" name="TextBox 20"/>
          <p:cNvSpPr txBox="1"/>
          <p:nvPr/>
        </p:nvSpPr>
        <p:spPr>
          <a:xfrm>
            <a:off x="841248" y="2779776"/>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cxnSp>
        <p:nvCxnSpPr>
          <p:cNvPr id="22" name="Connector 21"/>
          <p:cNvCxnSpPr/>
          <p:nvPr/>
        </p:nvCxnSpPr>
        <p:spPr>
          <a:xfrm>
            <a:off x="841248" y="3054096"/>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218688"/>
            <a:ext cx="1051560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41248" y="3218688"/>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97280" y="3346704"/>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2487168" y="3364992"/>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7" name="TextBox 26"/>
          <p:cNvSpPr txBox="1"/>
          <p:nvPr/>
        </p:nvSpPr>
        <p:spPr>
          <a:xfrm>
            <a:off x="9390888" y="3364992"/>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C3094A"/>
                </a:solidFill>
                <a:latin typeface="Arial"/>
              </a:rPr>
              <a:t>FS = 0,31</a:t>
            </a:r>
          </a:p>
        </p:txBody>
      </p:sp>
      <p:sp>
        <p:nvSpPr>
          <p:cNvPr id="28" name="Rectangle 27"/>
          <p:cNvSpPr/>
          <p:nvPr/>
        </p:nvSpPr>
        <p:spPr>
          <a:xfrm>
            <a:off x="841248" y="4187952"/>
            <a:ext cx="1051560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41248" y="4187952"/>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1097280" y="4315968"/>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2487168" y="4334256"/>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2" name="TextBox 31"/>
          <p:cNvSpPr txBox="1"/>
          <p:nvPr/>
        </p:nvSpPr>
        <p:spPr>
          <a:xfrm>
            <a:off x="9390888" y="4334256"/>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2841DD"/>
                </a:solidFill>
                <a:latin typeface="Arial"/>
              </a:rPr>
              <a:t>FS = 2,23</a:t>
            </a:r>
          </a:p>
        </p:txBody>
      </p:sp>
      <p:sp>
        <p:nvSpPr>
          <p:cNvPr id="33" name="Rectangle 3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24128" y="1773936"/>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85248" y="1819656"/>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24128" y="2633472"/>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DIESA-AFA2023085189_00</a:t>
            </a:r>
          </a:p>
          <a:p>
            <a:pPr algn="l">
              <a:lnSpc>
                <a:spcPct val="105000"/>
              </a:lnSpc>
              <a:spcBef>
                <a:spcPts val="0"/>
              </a:spcBef>
              <a:spcAft>
                <a:spcPts val="0"/>
              </a:spcAft>
            </a:pPr>
            <a:r>
              <a:rPr sz="850" b="0" i="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85248" y="2679191"/>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24128" y="3493008"/>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985248" y="3538727"/>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4128" y="4352544"/>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985248" y="4398264"/>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superficie de fractura en campo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fig_h1_foto.png"/>
          <p:cNvPicPr>
            <a:picLocks noChangeAspect="1"/>
          </p:cNvPicPr>
          <p:nvPr/>
        </p:nvPicPr>
        <p:blipFill>
          <a:blip r:embed="rId3"/>
          <a:stretch>
            <a:fillRect/>
          </a:stretch>
        </p:blipFill>
        <p:spPr>
          <a:xfrm>
            <a:off x="841248" y="1481328"/>
            <a:ext cx="3073511" cy="3200400"/>
          </a:xfrm>
          <a:prstGeom prst="rect">
            <a:avLst/>
          </a:prstGeom>
        </p:spPr>
      </p:pic>
      <p:sp>
        <p:nvSpPr>
          <p:cNvPr id="37" name="TextBox 36"/>
          <p:cNvSpPr txBox="1"/>
          <p:nvPr/>
        </p:nvSpPr>
        <p:spPr>
          <a:xfrm>
            <a:off x="841248" y="4736592"/>
            <a:ext cx="3256391"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Figura H1 · Eje F1, inspección visual (reportes AFA).</a:t>
            </a:r>
          </a:p>
        </p:txBody>
      </p:sp>
      <p:sp>
        <p:nvSpPr>
          <p:cNvPr id="38" name="Rectangle 37"/>
          <p:cNvSpPr/>
          <p:nvPr/>
        </p:nvSpPr>
        <p:spPr>
          <a:xfrm>
            <a:off x="4234799" y="1481328"/>
            <a:ext cx="7122048"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4381103" y="1691640"/>
            <a:ext cx="365760" cy="365760"/>
          </a:xfrm>
          <a:prstGeom prst="ellipse">
            <a:avLst/>
          </a:prstGeom>
          <a:solidFill>
            <a:srgbClr val="A838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381103" y="1691640"/>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FFFFFF"/>
                </a:solidFill>
                <a:latin typeface="Arial"/>
              </a:rPr>
              <a:t>1</a:t>
            </a:r>
          </a:p>
        </p:txBody>
      </p:sp>
      <p:sp>
        <p:nvSpPr>
          <p:cNvPr id="41" name="TextBox 40"/>
          <p:cNvSpPr txBox="1"/>
          <p:nvPr/>
        </p:nvSpPr>
        <p:spPr>
          <a:xfrm>
            <a:off x="4911455" y="1481328"/>
            <a:ext cx="6299088" cy="786384"/>
          </a:xfrm>
          <a:prstGeom prst="rect">
            <a:avLst/>
          </a:prstGeom>
          <a:noFill/>
        </p:spPr>
        <p:txBody>
          <a:bodyPr wrap="square" lIns="0" rIns="0" tIns="0" bIns="0" anchor="ctr">
            <a:spAutoFit/>
          </a:bodyPr>
          <a:lstStyle/>
          <a:p>
            <a:pPr algn="l">
              <a:lnSpc>
                <a:spcPct val="110000"/>
              </a:lnSpc>
              <a:spcBef>
                <a:spcPts val="0"/>
              </a:spcBef>
              <a:spcAft>
                <a:spcPts val="200"/>
              </a:spcAft>
            </a:pPr>
            <a:r>
              <a:rPr sz="1100" b="1" i="0">
                <a:solidFill>
                  <a:srgbClr val="042354"/>
                </a:solidFill>
                <a:latin typeface="Arial"/>
              </a:rPr>
              <a:t>Sector oscuro y liso · propagación estable</a:t>
            </a:r>
          </a:p>
          <a:p>
            <a:pPr algn="l">
              <a:lnSpc>
                <a:spcPct val="108000"/>
              </a:lnSpc>
              <a:spcBef>
                <a:spcPts val="0"/>
              </a:spcBef>
              <a:spcAft>
                <a:spcPts val="0"/>
              </a:spcAft>
            </a:pPr>
            <a:r>
              <a:rPr sz="950" b="0" i="0">
                <a:solidFill>
                  <a:srgbClr val="191919"/>
                </a:solidFill>
                <a:latin typeface="Arial"/>
              </a:rPr>
              <a:t>Bandas concéntricas al diámetro interior por el avance progresivo de la grieta bajo los ciclos de par; el oscurecimiento es oxidación durante su larga exposición en servicio.</a:t>
            </a:r>
          </a:p>
        </p:txBody>
      </p:sp>
      <p:sp>
        <p:nvSpPr>
          <p:cNvPr id="42" name="Rectangle 41"/>
          <p:cNvSpPr/>
          <p:nvPr/>
        </p:nvSpPr>
        <p:spPr>
          <a:xfrm>
            <a:off x="4234799" y="2359152"/>
            <a:ext cx="7122048"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4381103" y="2569464"/>
            <a:ext cx="365760" cy="365760"/>
          </a:xfrm>
          <a:prstGeom prst="ellipse">
            <a:avLst/>
          </a:prstGeom>
          <a:solidFill>
            <a:srgbClr val="B07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381103" y="2569464"/>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FFFFFF"/>
                </a:solidFill>
                <a:latin typeface="Arial"/>
              </a:rPr>
              <a:t>2</a:t>
            </a:r>
          </a:p>
        </p:txBody>
      </p:sp>
      <p:sp>
        <p:nvSpPr>
          <p:cNvPr id="45" name="TextBox 44"/>
          <p:cNvSpPr txBox="1"/>
          <p:nvPr/>
        </p:nvSpPr>
        <p:spPr>
          <a:xfrm>
            <a:off x="4911455" y="2359152"/>
            <a:ext cx="6299088" cy="786384"/>
          </a:xfrm>
          <a:prstGeom prst="rect">
            <a:avLst/>
          </a:prstGeom>
          <a:noFill/>
        </p:spPr>
        <p:txBody>
          <a:bodyPr wrap="square" lIns="0" rIns="0" tIns="0" bIns="0" anchor="ctr">
            <a:spAutoFit/>
          </a:bodyPr>
          <a:lstStyle/>
          <a:p>
            <a:pPr algn="l">
              <a:lnSpc>
                <a:spcPct val="110000"/>
              </a:lnSpc>
              <a:spcBef>
                <a:spcPts val="0"/>
              </a:spcBef>
              <a:spcAft>
                <a:spcPts val="200"/>
              </a:spcAft>
            </a:pPr>
            <a:r>
              <a:rPr sz="1100" b="1" i="0">
                <a:solidFill>
                  <a:srgbClr val="042354"/>
                </a:solidFill>
                <a:latin typeface="Arial"/>
              </a:rPr>
              <a:t>Sector claro y granular · rotura final</a:t>
            </a:r>
          </a:p>
          <a:p>
            <a:pPr algn="l">
              <a:lnSpc>
                <a:spcPct val="108000"/>
              </a:lnSpc>
              <a:spcBef>
                <a:spcPts val="0"/>
              </a:spcBef>
              <a:spcAft>
                <a:spcPts val="0"/>
              </a:spcAft>
            </a:pPr>
            <a:r>
              <a:rPr sz="950" b="0" i="0">
                <a:solidFill>
                  <a:srgbClr val="191919"/>
                </a:solidFill>
                <a:latin typeface="Arial"/>
              </a:rPr>
              <a:t>Metal recién expuesto: la sección remanente rompió de forma instantánea cuando la grieta redujo el área resistente.</a:t>
            </a:r>
          </a:p>
        </p:txBody>
      </p:sp>
      <p:sp>
        <p:nvSpPr>
          <p:cNvPr id="46" name="Rectangle 45"/>
          <p:cNvSpPr/>
          <p:nvPr/>
        </p:nvSpPr>
        <p:spPr>
          <a:xfrm>
            <a:off x="4234799" y="3236976"/>
            <a:ext cx="7122048"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381103" y="3447288"/>
            <a:ext cx="365760" cy="365760"/>
          </a:xfrm>
          <a:prstGeom prst="ellipse">
            <a:avLst/>
          </a:prstGeom>
          <a:solidFill>
            <a:srgbClr val="205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381103" y="3447288"/>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FFFFFF"/>
                </a:solidFill>
                <a:latin typeface="Arial"/>
              </a:rPr>
              <a:t>3</a:t>
            </a:r>
          </a:p>
        </p:txBody>
      </p:sp>
      <p:sp>
        <p:nvSpPr>
          <p:cNvPr id="49" name="TextBox 48"/>
          <p:cNvSpPr txBox="1"/>
          <p:nvPr/>
        </p:nvSpPr>
        <p:spPr>
          <a:xfrm>
            <a:off x="4911455" y="3236976"/>
            <a:ext cx="6299088" cy="786384"/>
          </a:xfrm>
          <a:prstGeom prst="rect">
            <a:avLst/>
          </a:prstGeom>
          <a:noFill/>
        </p:spPr>
        <p:txBody>
          <a:bodyPr wrap="square" lIns="0" rIns="0" tIns="0" bIns="0" anchor="ctr">
            <a:spAutoFit/>
          </a:bodyPr>
          <a:lstStyle/>
          <a:p>
            <a:pPr algn="l">
              <a:lnSpc>
                <a:spcPct val="110000"/>
              </a:lnSpc>
              <a:spcBef>
                <a:spcPts val="0"/>
              </a:spcBef>
              <a:spcAft>
                <a:spcPts val="200"/>
              </a:spcAft>
            </a:pPr>
            <a:r>
              <a:rPr sz="1100" b="1" i="0">
                <a:solidFill>
                  <a:srgbClr val="C3094A"/>
                </a:solidFill>
                <a:latin typeface="Arial"/>
              </a:rPr>
              <a:t>Diámetro interior · localización del origen</a:t>
            </a:r>
          </a:p>
          <a:p>
            <a:pPr algn="l">
              <a:lnSpc>
                <a:spcPct val="108000"/>
              </a:lnSpc>
              <a:spcBef>
                <a:spcPts val="0"/>
              </a:spcBef>
              <a:spcAft>
                <a:spcPts val="0"/>
              </a:spcAft>
            </a:pPr>
            <a:r>
              <a:rPr sz="950" b="0" i="0">
                <a:solidFill>
                  <a:srgbClr val="191919"/>
                </a:solidFill>
                <a:latin typeface="Arial"/>
              </a:rPr>
              <a:t>Perímetro interno de la unión soldada (trazo discontinuo). El AFA sitúa aquí el inicio, con marcas de trinquete de nucleación múltiple sobre la raíz sin fusión.</a:t>
            </a:r>
          </a:p>
        </p:txBody>
      </p:sp>
      <p:sp>
        <p:nvSpPr>
          <p:cNvPr id="50" name="Rectangle 49"/>
          <p:cNvSpPr/>
          <p:nvPr/>
        </p:nvSpPr>
        <p:spPr>
          <a:xfrm>
            <a:off x="4234799" y="4114800"/>
            <a:ext cx="7122048"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4381103" y="4325112"/>
            <a:ext cx="365760" cy="365760"/>
          </a:xfrm>
          <a:prstGeom prst="ellipse">
            <a:avLst/>
          </a:prstGeom>
          <a:solidFill>
            <a:srgbClr val="484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4381103" y="4325112"/>
            <a:ext cx="365760" cy="365760"/>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FFFFFF"/>
                </a:solidFill>
                <a:latin typeface="Arial"/>
              </a:rPr>
              <a:t>4</a:t>
            </a:r>
          </a:p>
        </p:txBody>
      </p:sp>
      <p:sp>
        <p:nvSpPr>
          <p:cNvPr id="53" name="TextBox 52"/>
          <p:cNvSpPr txBox="1"/>
          <p:nvPr/>
        </p:nvSpPr>
        <p:spPr>
          <a:xfrm>
            <a:off x="4911455" y="4114800"/>
            <a:ext cx="6299088" cy="786384"/>
          </a:xfrm>
          <a:prstGeom prst="rect">
            <a:avLst/>
          </a:prstGeom>
          <a:noFill/>
        </p:spPr>
        <p:txBody>
          <a:bodyPr wrap="square" lIns="0" rIns="0" tIns="0" bIns="0" anchor="ctr">
            <a:spAutoFit/>
          </a:bodyPr>
          <a:lstStyle/>
          <a:p>
            <a:pPr algn="l">
              <a:lnSpc>
                <a:spcPct val="110000"/>
              </a:lnSpc>
              <a:spcBef>
                <a:spcPts val="0"/>
              </a:spcBef>
              <a:spcAft>
                <a:spcPts val="200"/>
              </a:spcAft>
            </a:pPr>
            <a:r>
              <a:rPr sz="1100" b="1" i="0">
                <a:solidFill>
                  <a:srgbClr val="042354"/>
                </a:solidFill>
                <a:latin typeface="Arial"/>
              </a:rPr>
              <a:t>Borde interno deformado · contacto posterior</a:t>
            </a:r>
          </a:p>
          <a:p>
            <a:pPr algn="l">
              <a:lnSpc>
                <a:spcPct val="108000"/>
              </a:lnSpc>
              <a:spcBef>
                <a:spcPts val="0"/>
              </a:spcBef>
              <a:spcAft>
                <a:spcPts val="0"/>
              </a:spcAft>
            </a:pPr>
            <a:r>
              <a:rPr sz="950" b="0" i="0">
                <a:solidFill>
                  <a:srgbClr val="191919"/>
                </a:solidFill>
                <a:latin typeface="Arial"/>
              </a:rPr>
              <a:t>Rebaba y desgarro por el rozamiento entre las caras tras la separación: el motor siguió operando en free wheeling.</a:t>
            </a:r>
          </a:p>
        </p:txBody>
      </p:sp>
      <p:sp>
        <p:nvSpPr>
          <p:cNvPr id="54" name="Rectangle 5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Origen en el diámetro interior, propagación estable extensa y rotura final reducida: la firma de una fatiga nucleada en la raíz de la unión soldada.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a:t>
            </a:r>
            <a:r>
              <a:rPr lang="es-PE" sz="2200" b="1" i="0" noProof="0" dirty="0" err="1">
                <a:solidFill>
                  <a:srgbClr val="042354"/>
                </a:solidFill>
                <a:latin typeface="Arial"/>
              </a:rPr>
              <a:t>fractografía</a:t>
            </a:r>
            <a:r>
              <a:rPr lang="es-PE" sz="2200" b="1" i="0" noProof="0" dirty="0">
                <a:solidFill>
                  <a:srgbClr val="042354"/>
                </a:solidFill>
                <a:latin typeface="Arial"/>
              </a:rPr>
              <a:t>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pic>
        <p:nvPicPr>
          <p:cNvPr id="6" name="Picture 5" descr="fractografia.png"/>
          <p:cNvPicPr>
            <a:picLocks noChangeAspect="1"/>
          </p:cNvPicPr>
          <p:nvPr/>
        </p:nvPicPr>
        <p:blipFill>
          <a:blip r:embed="rId2"/>
          <a:stretch>
            <a:fillRect/>
          </a:stretch>
        </p:blipFill>
        <p:spPr>
          <a:xfrm>
            <a:off x="1550876" y="1444752"/>
            <a:ext cx="3518502" cy="2468880"/>
          </a:xfrm>
          <a:prstGeom prst="rect">
            <a:avLst/>
          </a:prstGeom>
        </p:spPr>
      </p:pic>
      <p:sp>
        <p:nvSpPr>
          <p:cNvPr id="7" name="TextBox 6"/>
          <p:cNvSpPr txBox="1"/>
          <p:nvPr/>
        </p:nvSpPr>
        <p:spPr>
          <a:xfrm>
            <a:off x="841248" y="3968496"/>
            <a:ext cx="493776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Superficie de fractura en F1: marcas de trinquete en el diámetro menor, zona de propagación estable y área de fractura final de ~20 %.</a:t>
            </a:r>
          </a:p>
        </p:txBody>
      </p:sp>
      <p:pic>
        <p:nvPicPr>
          <p:cNvPr id="8" name="Picture 7" descr="macrografia.png"/>
          <p:cNvPicPr>
            <a:picLocks noChangeAspect="1"/>
          </p:cNvPicPr>
          <p:nvPr/>
        </p:nvPicPr>
        <p:blipFill>
          <a:blip r:embed="rId3"/>
          <a:stretch>
            <a:fillRect/>
          </a:stretch>
        </p:blipFill>
        <p:spPr>
          <a:xfrm>
            <a:off x="6053328" y="1659818"/>
            <a:ext cx="2724912" cy="2038747"/>
          </a:xfrm>
          <a:prstGeom prst="rect">
            <a:avLst/>
          </a:prstGeom>
        </p:spPr>
      </p:pic>
      <p:pic>
        <p:nvPicPr>
          <p:cNvPr id="9" name="Picture 8" descr="micro_base.png"/>
          <p:cNvPicPr>
            <a:picLocks noChangeAspect="1"/>
          </p:cNvPicPr>
          <p:nvPr/>
        </p:nvPicPr>
        <p:blipFill>
          <a:blip r:embed="rId4"/>
          <a:stretch>
            <a:fillRect/>
          </a:stretch>
        </p:blipFill>
        <p:spPr>
          <a:xfrm>
            <a:off x="9006840" y="1621232"/>
            <a:ext cx="1115568" cy="835759"/>
          </a:xfrm>
          <a:prstGeom prst="rect">
            <a:avLst/>
          </a:prstGeom>
        </p:spPr>
      </p:pic>
      <p:pic>
        <p:nvPicPr>
          <p:cNvPr id="10" name="Picture 9" descr="micro_soldadura.png"/>
          <p:cNvPicPr>
            <a:picLocks noChangeAspect="1"/>
          </p:cNvPicPr>
          <p:nvPr/>
        </p:nvPicPr>
        <p:blipFill>
          <a:blip r:embed="rId5"/>
          <a:stretch>
            <a:fillRect/>
          </a:stretch>
        </p:blipFill>
        <p:spPr>
          <a:xfrm>
            <a:off x="10222992" y="1620774"/>
            <a:ext cx="1115568" cy="836675"/>
          </a:xfrm>
          <a:prstGeom prst="rect">
            <a:avLst/>
          </a:prstGeom>
        </p:spPr>
      </p:pic>
      <p:pic>
        <p:nvPicPr>
          <p:cNvPr id="11" name="Picture 10" descr="grieta_secundaria.png"/>
          <p:cNvPicPr>
            <a:picLocks noChangeAspect="1"/>
          </p:cNvPicPr>
          <p:nvPr/>
        </p:nvPicPr>
        <p:blipFill>
          <a:blip r:embed="rId6"/>
          <a:stretch>
            <a:fillRect/>
          </a:stretch>
        </p:blipFill>
        <p:spPr>
          <a:xfrm>
            <a:off x="9006840" y="2787666"/>
            <a:ext cx="2331720" cy="1063210"/>
          </a:xfrm>
          <a:prstGeom prst="rect">
            <a:avLst/>
          </a:prstGeom>
        </p:spPr>
      </p:pic>
      <p:sp>
        <p:nvSpPr>
          <p:cNvPr id="12" name="TextBox 11"/>
          <p:cNvSpPr txBox="1"/>
          <p:nvPr/>
        </p:nvSpPr>
        <p:spPr>
          <a:xfrm>
            <a:off x="6053328" y="3968496"/>
            <a:ext cx="530352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Macrografía de la región de falla: discontinuidad tipo grieta en la raíz de la unión, punto de iniciación y zonas MS / ZAC / MB. Microestructuras a 40×.</a:t>
            </a:r>
          </a:p>
        </p:txBody>
      </p:sp>
      <p:sp>
        <p:nvSpPr>
          <p:cNvPr id="13" name="TextBox 12"/>
          <p:cNvSpPr txBox="1"/>
          <p:nvPr/>
        </p:nvSpPr>
        <p:spPr>
          <a:xfrm>
            <a:off x="841248" y="4443984"/>
            <a:ext cx="10515600" cy="640080"/>
          </a:xfrm>
          <a:prstGeom prst="rect">
            <a:avLst/>
          </a:prstGeom>
          <a:noFill/>
        </p:spPr>
        <p:txBody>
          <a:bodyPr wrap="square" lIns="0" tIns="0" rIns="0" bIns="0" anchor="t">
            <a:spAutoFit/>
          </a:bodyPr>
          <a:lstStyle/>
          <a:p>
            <a:pPr algn="l">
              <a:lnSpc>
                <a:spcPct val="116000"/>
              </a:lnSpc>
              <a:spcBef>
                <a:spcPts val="0"/>
              </a:spcBef>
              <a:spcAft>
                <a:spcPts val="400"/>
              </a:spcAft>
            </a:pPr>
            <a:r>
              <a:rPr lang="es-PE" sz="1100" b="0" i="0" noProof="0" dirty="0">
                <a:solidFill>
                  <a:srgbClr val="191919"/>
                </a:solidFill>
                <a:latin typeface="Arial"/>
              </a:rPr>
              <a:t>La nucleación se produce en la raíz de la unión soldada y propaga radialmente hacia el exterior. La composición química, la dureza y la resistencia a la tracción cumplen la especificación ASTM A618 Gr. III: el material no condiciona el resultado.</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extensión reducida de la zona de rotura final indica que el componente operó largo tiempo con la discontinuidad en propagación.   ·   Informe DIESA-AFA2023085189_00.</a:t>
            </a:r>
          </a:p>
        </p:txBody>
      </p:sp>
      <p:pic>
        <p:nvPicPr>
          <p:cNvPr id="16" name="Imagen 15">
            <a:extLst>
              <a:ext uri="{FF2B5EF4-FFF2-40B4-BE49-F238E27FC236}">
                <a16:creationId xmlns:a16="http://schemas.microsoft.com/office/drawing/2014/main" id="{1963A53C-5B57-A08E-A42C-1D8693638160}"/>
              </a:ext>
            </a:extLst>
          </p:cNvPr>
          <p:cNvPicPr>
            <a:picLocks noChangeAspect="1"/>
          </p:cNvPicPr>
          <p:nvPr/>
        </p:nvPicPr>
        <p:blipFill>
          <a:blip r:embed="rId7"/>
          <a:stretch>
            <a:fillRect/>
          </a:stretch>
        </p:blipFill>
        <p:spPr>
          <a:xfrm>
            <a:off x="158617" y="5943600"/>
            <a:ext cx="5620013" cy="5506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del material no conforme (F1)</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TABLA H1 · COMPOSICIÓN QUÍMICA (%)</a:t>
            </a:r>
          </a:p>
        </p:txBody>
      </p:sp>
      <p:graphicFrame>
        <p:nvGraphicFramePr>
          <p:cNvPr id="37" name="Table 36"/>
          <p:cNvGraphicFramePr>
            <a:graphicFrameLocks noGrp="1"/>
          </p:cNvGraphicFramePr>
          <p:nvPr/>
        </p:nvGraphicFramePr>
        <p:xfrm>
          <a:off x="841248" y="1700784"/>
          <a:ext cx="5120640" cy="2916936"/>
        </p:xfrm>
        <a:graphic>
          <a:graphicData uri="http://schemas.openxmlformats.org/drawingml/2006/table">
            <a:tbl>
              <a:tblPr firstRow="1" bandRow="0">
                <a:tableStyleId>{2D5ABB26-0587-4C30-8999-92F81FD0307C}</a:tableStyleId>
              </a:tblPr>
              <a:tblGrid>
                <a:gridCol w="1280160"/>
                <a:gridCol w="1920240"/>
                <a:gridCol w="1920240"/>
              </a:tblGrid>
              <a:tr h="265176">
                <a:tc>
                  <a:txBody>
                    <a:bodyPr/>
                    <a:lstStyle/>
                    <a:p>
                      <a:pPr algn="l"/>
                      <a:r>
                        <a:rPr sz="950" b="1">
                          <a:solidFill>
                            <a:srgbClr val="FFFFFF"/>
                          </a:solidFill>
                          <a:latin typeface="Arial"/>
                        </a:rPr>
                        <a:t>Elemento</a:t>
                      </a:r>
                    </a:p>
                  </a:txBody>
                  <a:tcPr marL="91440" marR="91440" marT="18288" marB="18288" anchor="ctr">
                    <a:lnL w="0">
                      <a:noFill/>
                    </a:lnL>
                    <a:lnR w="0">
                      <a:noFill/>
                    </a:lnR>
                    <a:lnT w="0">
                      <a:noFill/>
                    </a:lnT>
                    <a:lnB w="6350">
                      <a:solidFill>
                        <a:srgbClr val="CFD6DF"/>
                      </a:solidFill>
                    </a:lnB>
                    <a:solidFill>
                      <a:srgbClr val="042354"/>
                    </a:solidFill>
                  </a:tcPr>
                </a:tc>
                <a:tc>
                  <a:txBody>
                    <a:bodyPr/>
                    <a:lstStyle/>
                    <a:p>
                      <a:pPr algn="ctr"/>
                      <a:r>
                        <a:rPr sz="950" b="1">
                          <a:solidFill>
                            <a:srgbClr val="FFFFFF"/>
                          </a:solidFill>
                          <a:latin typeface="Arial"/>
                        </a:rPr>
                        <a:t>ASTM A618 Gr. III</a:t>
                      </a:r>
                    </a:p>
                  </a:txBody>
                  <a:tcPr marL="91440" marR="91440" marT="18288" marB="18288" anchor="ctr">
                    <a:lnL w="0">
                      <a:noFill/>
                    </a:lnL>
                    <a:lnR w="0">
                      <a:noFill/>
                    </a:lnR>
                    <a:lnT w="0">
                      <a:noFill/>
                    </a:lnT>
                    <a:lnB w="6350">
                      <a:solidFill>
                        <a:srgbClr val="CFD6DF"/>
                      </a:solidFill>
                    </a:lnB>
                    <a:solidFill>
                      <a:srgbClr val="042354"/>
                    </a:solidFill>
                  </a:tcPr>
                </a:tc>
                <a:tc>
                  <a:txBody>
                    <a:bodyPr/>
                    <a:lstStyle/>
                    <a:p>
                      <a:pPr algn="ctr"/>
                      <a:r>
                        <a:rPr sz="950" b="1">
                          <a:solidFill>
                            <a:srgbClr val="FFFFFF"/>
                          </a:solidFill>
                          <a:latin typeface="Arial"/>
                        </a:rPr>
                        <a:t>Muestra del eje</a:t>
                      </a:r>
                    </a:p>
                  </a:txBody>
                  <a:tcPr marL="91440" marR="91440" marT="18288" marB="18288" anchor="ctr">
                    <a:lnL w="0">
                      <a:noFill/>
                    </a:lnL>
                    <a:lnR w="0">
                      <a:noFill/>
                    </a:lnR>
                    <a:lnT w="0">
                      <a:noFill/>
                    </a:lnT>
                    <a:lnB w="6350">
                      <a:solidFill>
                        <a:srgbClr val="CFD6DF"/>
                      </a:solidFill>
                    </a:lnB>
                    <a:solidFill>
                      <a:srgbClr val="042354"/>
                    </a:solidFill>
                  </a:tcPr>
                </a:tc>
              </a:tr>
              <a:tr h="265176">
                <a:tc>
                  <a:txBody>
                    <a:bodyPr/>
                    <a:lstStyle/>
                    <a:p>
                      <a:pPr algn="l"/>
                      <a:r>
                        <a:rPr sz="1000" b="1">
                          <a:solidFill>
                            <a:srgbClr val="191919"/>
                          </a:solidFill>
                          <a:latin typeface="Arial"/>
                        </a:rPr>
                        <a:t>C</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0,26</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0,22</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Mn</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1,30 máx.</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0,79</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P</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0,035</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0,006</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S</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0,035</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0,012</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Si</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0,33</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0,27</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Cr</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0,06</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Ni</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0,10</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Mo</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0,03</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Cu</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0,18 mín.</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0,17</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V</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0,01 mín.</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a:t>
                      </a:r>
                    </a:p>
                  </a:txBody>
                  <a:tcPr marL="91440" marR="91440" marT="18288" marB="18288" anchor="ctr">
                    <a:lnL w="0">
                      <a:noFill/>
                    </a:lnL>
                    <a:lnR w="0">
                      <a:noFill/>
                    </a:lnR>
                    <a:lnT w="0">
                      <a:noFill/>
                    </a:lnT>
                    <a:lnB w="6350">
                      <a:solidFill>
                        <a:srgbClr val="CFD6DF"/>
                      </a:solidFill>
                    </a:lnB>
                    <a:solidFill>
                      <a:srgbClr val="FAECF0"/>
                    </a:solidFill>
                  </a:tcPr>
                </a:tc>
              </a:tr>
            </a:tbl>
          </a:graphicData>
        </a:graphic>
      </p:graphicFrame>
      <p:sp>
        <p:nvSpPr>
          <p:cNvPr id="38" name="TextBox 37"/>
          <p:cNvSpPr txBox="1"/>
          <p:nvPr/>
        </p:nvSpPr>
        <p:spPr>
          <a:xfrm>
            <a:off x="841248" y="4690872"/>
            <a:ext cx="512064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TextBox 38"/>
          <p:cNvSpPr txBox="1"/>
          <p:nvPr/>
        </p:nvSpPr>
        <p:spPr>
          <a:xfrm>
            <a:off x="6327648" y="1389888"/>
            <a:ext cx="50292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PROPIEDADES MECÁNICAS DE LA MUESTRA</a:t>
            </a:r>
          </a:p>
        </p:txBody>
      </p:sp>
      <p:sp>
        <p:nvSpPr>
          <p:cNvPr id="40" name="Rectangle 39"/>
          <p:cNvSpPr/>
          <p:nvPr/>
        </p:nvSpPr>
        <p:spPr>
          <a:xfrm>
            <a:off x="6327648"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327648"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7395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3" name="Rectangle 42"/>
          <p:cNvSpPr/>
          <p:nvPr/>
        </p:nvSpPr>
        <p:spPr>
          <a:xfrm>
            <a:off x="8065008"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065008"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1131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6" name="Rectangle 45"/>
          <p:cNvSpPr/>
          <p:nvPr/>
        </p:nvSpPr>
        <p:spPr>
          <a:xfrm>
            <a:off x="9802367"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9802367"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94867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máxima a la tracción</a:t>
            </a:r>
          </a:p>
        </p:txBody>
      </p:sp>
      <p:sp>
        <p:nvSpPr>
          <p:cNvPr id="49" name="Rectangle 48"/>
          <p:cNvSpPr/>
          <p:nvPr/>
        </p:nvSpPr>
        <p:spPr>
          <a:xfrm>
            <a:off x="6327648" y="3163824"/>
            <a:ext cx="5029200" cy="1453895"/>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27648" y="3163824"/>
            <a:ext cx="5029200"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28816" y="3209544"/>
            <a:ext cx="4663440" cy="1408175"/>
          </a:xfrm>
          <a:prstGeom prst="rect">
            <a:avLst/>
          </a:prstGeom>
          <a:noFill/>
        </p:spPr>
        <p:txBody>
          <a:bodyPr wrap="square" lIns="0" rIns="0" tIns="0" bIns="0" anchor="ctr">
            <a:spAutoFit/>
          </a:bodyPr>
          <a:lstStyle/>
          <a:p>
            <a:pPr algn="l">
              <a:lnSpc>
                <a:spcPct val="110000"/>
              </a:lnSpc>
              <a:spcBef>
                <a:spcPts val="0"/>
              </a:spcBef>
              <a:spcAft>
                <a:spcPts val="500"/>
              </a:spcAft>
            </a:pPr>
            <a:r>
              <a:rPr sz="1100" b="1" i="0">
                <a:solidFill>
                  <a:srgbClr val="042354"/>
                </a:solidFill>
                <a:latin typeface="Arial"/>
              </a:rPr>
              <a:t>Veredicto del laboratorio</a:t>
            </a:r>
          </a:p>
          <a:p>
            <a:pPr algn="l">
              <a:lnSpc>
                <a:spcPct val="116000"/>
              </a:lnSpc>
              <a:spcBef>
                <a:spcPts val="0"/>
              </a:spcBef>
              <a:spcAft>
                <a:spcPts val="600"/>
              </a:spcAft>
            </a:pPr>
            <a:r>
              <a:rPr sz="1050" b="0" i="0">
                <a:solidFill>
                  <a:srgbClr val="191919"/>
                </a:solidFill>
                <a:latin typeface="Arial"/>
              </a:rPr>
              <a:t>La composición química es compatible con el acero ASTM A618 Gr. III, con una dureza de 212 HBW, un esfuerzo de fluencia de 619 MPa y una resistencia máxima a la tracción de 717 MPa.</a:t>
            </a:r>
          </a:p>
          <a:p>
            <a:pPr algn="l">
              <a:lnSpc>
                <a:spcPct val="114000"/>
              </a:lnSpc>
              <a:spcBef>
                <a:spcPts val="0"/>
              </a:spcBef>
              <a:spcAft>
                <a:spcPts val="0"/>
              </a:spcAft>
            </a:pPr>
            <a:r>
              <a:rPr sz="1050" b="1" i="0">
                <a:solidFill>
                  <a:srgbClr val="042354"/>
                </a:solidFill>
                <a:latin typeface="Arial"/>
              </a:rPr>
              <a:t>Hipótesis F1 · material no conforme: </a:t>
            </a:r>
            <a:r>
              <a:rPr sz="1050" b="1" i="0">
                <a:solidFill>
                  <a:srgbClr val="C3094A"/>
                </a:solidFill>
                <a:latin typeface="Arial"/>
              </a:rPr>
              <a:t>DESCARTADA</a:t>
            </a:r>
          </a:p>
        </p:txBody>
      </p:sp>
      <p:sp>
        <p:nvSpPr>
          <p:cNvPr id="52" name="Rectangle 5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material es compatible con la especificación: el origen de la fractura no está en el acero, sino en la raíz de la unión soldada.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845552" y="1828800"/>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332720" y="1810512"/>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845552" y="2638044"/>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332720" y="2619756"/>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45552" y="3447288"/>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332720" y="3429000"/>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845552" y="4256531"/>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332720" y="4238244"/>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argumento decisivo es la distribución: una causa operacional se concentraría en las unidades con la desviación, y la fractura es transversal a la flota y a un rango amplio de horas.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¿Fabricación o diseño? La recurrencia sobre ejes nuevos lo resuelve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crop_union_original.png"/>
          <p:cNvPicPr>
            <a:picLocks noChangeAspect="1"/>
          </p:cNvPicPr>
          <p:nvPr/>
        </p:nvPicPr>
        <p:blipFill>
          <a:blip r:embed="rId3"/>
          <a:stretch>
            <a:fillRect/>
          </a:stretch>
        </p:blipFill>
        <p:spPr>
          <a:xfrm>
            <a:off x="841248" y="1481328"/>
            <a:ext cx="5212080" cy="1948121"/>
          </a:xfrm>
          <a:prstGeom prst="rect">
            <a:avLst/>
          </a:prstGeom>
        </p:spPr>
      </p:pic>
      <p:sp>
        <p:nvSpPr>
          <p:cNvPr id="37" name="TextBox 36"/>
          <p:cNvSpPr txBox="1"/>
          <p:nvPr/>
        </p:nvSpPr>
        <p:spPr>
          <a:xfrm>
            <a:off x="841248" y="3502601"/>
            <a:ext cx="5212080" cy="36576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Configuración original, P/N 58F-14-00330: la misma geometría de unión en todas las unidades. Elaboración propia.</a:t>
            </a:r>
          </a:p>
        </p:txBody>
      </p:sp>
      <p:sp>
        <p:nvSpPr>
          <p:cNvPr id="38" name="Rectangle 37"/>
          <p:cNvSpPr/>
          <p:nvPr/>
        </p:nvSpPr>
        <p:spPr>
          <a:xfrm>
            <a:off x="841248" y="3931920"/>
            <a:ext cx="5212080" cy="1005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41248" y="3931920"/>
            <a:ext cx="45720" cy="100584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42415" y="3931920"/>
            <a:ext cx="4846320" cy="1005840"/>
          </a:xfrm>
          <a:prstGeom prst="rect">
            <a:avLst/>
          </a:prstGeom>
          <a:noFill/>
        </p:spPr>
        <p:txBody>
          <a:bodyPr wrap="square" lIns="0" rIns="0" tIns="0" bIns="0" anchor="ctr">
            <a:spAutoFit/>
          </a:bodyPr>
          <a:lstStyle/>
          <a:p>
            <a:pPr algn="l">
              <a:lnSpc>
                <a:spcPct val="114000"/>
              </a:lnSpc>
              <a:spcBef>
                <a:spcPts val="0"/>
              </a:spcBef>
              <a:spcAft>
                <a:spcPts val="0"/>
              </a:spcAft>
            </a:pPr>
            <a:r>
              <a:rPr sz="1000" b="1" i="0">
                <a:solidFill>
                  <a:srgbClr val="2841DD"/>
                </a:solidFill>
                <a:latin typeface="Arial"/>
              </a:rPr>
              <a:t>Límite de la evidencia física. </a:t>
            </a:r>
            <a:r>
              <a:rPr sz="1000" b="0" i="0">
                <a:solidFill>
                  <a:srgbClr val="191919"/>
                </a:solidFill>
                <a:latin typeface="Arial"/>
              </a:rPr>
              <a:t>La fractografía y los ensayos sitúan el origen en la raíz de la unión, pero no distinguen entre un defecto de ejecución de una pieza y una condición inherente a la unión proyectada.</a:t>
            </a:r>
          </a:p>
        </p:txBody>
      </p:sp>
      <p:sp>
        <p:nvSpPr>
          <p:cNvPr id="41" name="Rectangle 40"/>
          <p:cNvSpPr/>
          <p:nvPr/>
        </p:nvSpPr>
        <p:spPr>
          <a:xfrm>
            <a:off x="6327648" y="1481328"/>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27648" y="1481328"/>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327648" y="1481328"/>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1</a:t>
            </a:r>
          </a:p>
        </p:txBody>
      </p:sp>
      <p:sp>
        <p:nvSpPr>
          <p:cNvPr id="44" name="TextBox 43"/>
          <p:cNvSpPr txBox="1"/>
          <p:nvPr/>
        </p:nvSpPr>
        <p:spPr>
          <a:xfrm>
            <a:off x="6894576" y="1481328"/>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10000"/>
              </a:lnSpc>
              <a:spcBef>
                <a:spcPts val="0"/>
              </a:spcBef>
              <a:spcAft>
                <a:spcPts val="0"/>
              </a:spcAft>
            </a:pPr>
            <a:r>
              <a:rPr sz="950" b="0" i="0">
                <a:solidFill>
                  <a:srgbClr val="191919"/>
                </a:solidFill>
                <a:latin typeface="Arial"/>
              </a:rPr>
              <a:t>En los motores reparados se instaló un eje palier nuevo, con el mismo número de parte y el mismo tipo de unión soldada.</a:t>
            </a:r>
          </a:p>
        </p:txBody>
      </p:sp>
      <p:sp>
        <p:nvSpPr>
          <p:cNvPr id="45" name="Rectangle 44"/>
          <p:cNvSpPr/>
          <p:nvPr/>
        </p:nvSpPr>
        <p:spPr>
          <a:xfrm>
            <a:off x="6327648" y="2432304"/>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327648" y="2432304"/>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327648" y="2432304"/>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2</a:t>
            </a:r>
          </a:p>
        </p:txBody>
      </p:sp>
      <p:sp>
        <p:nvSpPr>
          <p:cNvPr id="48" name="TextBox 47"/>
          <p:cNvSpPr txBox="1"/>
          <p:nvPr/>
        </p:nvSpPr>
        <p:spPr>
          <a:xfrm>
            <a:off x="6894576" y="2432304"/>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10000"/>
              </a:lnSpc>
              <a:spcBef>
                <a:spcPts val="0"/>
              </a:spcBef>
              <a:spcAft>
                <a:spcPts val="0"/>
              </a:spcAft>
            </a:pPr>
            <a:r>
              <a:rPr sz="950" b="0" i="0">
                <a:solidFill>
                  <a:srgbClr val="191919"/>
                </a:solidFill>
                <a:latin typeface="Arial"/>
              </a:rPr>
              <a:t>Tras un número de horas comparable, la fractura reapareció en la misma ubicación y con el mismo patrón fractográfico.</a:t>
            </a:r>
          </a:p>
        </p:txBody>
      </p:sp>
      <p:sp>
        <p:nvSpPr>
          <p:cNvPr id="49" name="Rectangle 48"/>
          <p:cNvSpPr/>
          <p:nvPr/>
        </p:nvSpPr>
        <p:spPr>
          <a:xfrm>
            <a:off x="6327648" y="3383280"/>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27648" y="3383280"/>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327648" y="3383280"/>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3</a:t>
            </a:r>
          </a:p>
        </p:txBody>
      </p:sp>
      <p:sp>
        <p:nvSpPr>
          <p:cNvPr id="52" name="TextBox 51"/>
          <p:cNvSpPr txBox="1"/>
          <p:nvPr/>
        </p:nvSpPr>
        <p:spPr>
          <a:xfrm>
            <a:off x="6894576" y="3383280"/>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10000"/>
              </a:lnSpc>
              <a:spcBef>
                <a:spcPts val="0"/>
              </a:spcBef>
              <a:spcAft>
                <a:spcPts val="0"/>
              </a:spcAft>
            </a:pPr>
            <a:r>
              <a:rPr sz="950" b="0" i="0">
                <a:solidFill>
                  <a:srgbClr val="191919"/>
                </a:solidFill>
                <a:latin typeface="Arial"/>
              </a:rPr>
              <a:t>Un defecto de pieza o de lote se habría eliminado con la pieza nueva: las hipótesis F2 y F3 quedan refutadas.</a:t>
            </a:r>
          </a:p>
        </p:txBody>
      </p:sp>
      <p:sp>
        <p:nvSpPr>
          <p:cNvPr id="53" name="Rectangle 52"/>
          <p:cNvSpPr/>
          <p:nvPr/>
        </p:nvSpPr>
        <p:spPr>
          <a:xfrm>
            <a:off x="6327648" y="4334256"/>
            <a:ext cx="5029200"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6327648" y="4334256"/>
            <a:ext cx="420624" cy="60350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327648" y="4334256"/>
            <a:ext cx="420624" cy="603504"/>
          </a:xfrm>
          <a:prstGeom prst="rect">
            <a:avLst/>
          </a:prstGeom>
          <a:noFill/>
        </p:spPr>
        <p:txBody>
          <a:bodyPr wrap="square" lIns="0" rIns="0" tIns="0" bIns="0" anchor="ctr">
            <a:spAutoFit/>
          </a:bodyPr>
          <a:lstStyle/>
          <a:p>
            <a:pPr algn="ctr">
              <a:lnSpc>
                <a:spcPct val="110000"/>
              </a:lnSpc>
              <a:spcBef>
                <a:spcPts val="0"/>
              </a:spcBef>
              <a:spcAft>
                <a:spcPts val="0"/>
              </a:spcAft>
            </a:pPr>
            <a:r>
              <a:rPr sz="1600" b="1" i="0">
                <a:solidFill>
                  <a:srgbClr val="FFFFFF"/>
                </a:solidFill>
                <a:latin typeface="Arial"/>
              </a:rPr>
              <a:t>›</a:t>
            </a:r>
          </a:p>
        </p:txBody>
      </p:sp>
      <p:sp>
        <p:nvSpPr>
          <p:cNvPr id="56" name="TextBox 55"/>
          <p:cNvSpPr txBox="1"/>
          <p:nvPr/>
        </p:nvSpPr>
        <p:spPr>
          <a:xfrm>
            <a:off x="6894576" y="4334256"/>
            <a:ext cx="4315968" cy="603504"/>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10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57" name="Rectangle 5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diseño queda identificado por eliminación; la verificación a fatiga lo confirma de forma independiente: FS = 0,31 bajo el par nominal.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1" name="Rectangle 20"/>
          <p:cNvSpPr/>
          <p:nvPr/>
        </p:nvSpPr>
        <p:spPr>
          <a:xfrm>
            <a:off x="6355080" y="3401568"/>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6355080" y="3401568"/>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4</a:t>
            </a:r>
          </a:p>
        </p:txBody>
      </p:sp>
      <p:sp>
        <p:nvSpPr>
          <p:cNvPr id="23" name="TextBox 22"/>
          <p:cNvSpPr txBox="1"/>
          <p:nvPr/>
        </p:nvSpPr>
        <p:spPr>
          <a:xfrm>
            <a:off x="6839712" y="3419856"/>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Clasificación de la unión soldada</a:t>
            </a:r>
          </a:p>
        </p:txBody>
      </p:sp>
      <p:sp>
        <p:nvSpPr>
          <p:cNvPr id="24" name="TextBox 23"/>
          <p:cNvSpPr txBox="1"/>
          <p:nvPr/>
        </p:nvSpPr>
        <p:spPr>
          <a:xfrm>
            <a:off x="9802368" y="3541714"/>
            <a:ext cx="1444752" cy="176908"/>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highlight>
                  <a:srgbClr val="FFFF00"/>
                </a:highlight>
                <a:latin typeface="Arial"/>
              </a:rPr>
              <a:t>FAT 36</a:t>
            </a:r>
          </a:p>
        </p:txBody>
      </p:sp>
      <p:sp>
        <p:nvSpPr>
          <p:cNvPr id="25" name="Rectangle 24"/>
          <p:cNvSpPr/>
          <p:nvPr/>
        </p:nvSpPr>
        <p:spPr>
          <a:xfrm>
            <a:off x="6355080" y="3931920"/>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931920"/>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5</a:t>
            </a:r>
          </a:p>
        </p:txBody>
      </p:sp>
      <p:sp>
        <p:nvSpPr>
          <p:cNvPr id="27" name="TextBox 26"/>
          <p:cNvSpPr txBox="1"/>
          <p:nvPr/>
        </p:nvSpPr>
        <p:spPr>
          <a:xfrm>
            <a:off x="6839712" y="3950207"/>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950207"/>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590288"/>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20</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21</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III Y IV</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SOLUCIÓN Y RESULTADOS</a:t>
            </a:r>
          </a:p>
        </p:txBody>
      </p:sp>
      <p:sp>
        <p:nvSpPr>
          <p:cNvPr id="7" name="TextBox 6"/>
          <p:cNvSpPr txBox="1"/>
          <p:nvPr/>
        </p:nvSpPr>
        <p:spPr>
          <a:xfrm>
            <a:off x="841248" y="4041648"/>
            <a:ext cx="7589520" cy="914400"/>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El rediseño de la unión soldada, su implementación como cambio controlado y la verificación en dos niveles.</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04</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23</a:t>
            </a:r>
          </a:p>
        </p:txBody>
      </p:sp>
      <p:sp>
        <p:nvSpPr>
          <p:cNvPr id="7" name="TextBox 6"/>
          <p:cNvSpPr txBox="1"/>
          <p:nvPr/>
        </p:nvSpPr>
        <p:spPr>
          <a:xfrm>
            <a:off x="1063932" y="6686840"/>
            <a:ext cx="429768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Comparación de la unión soldada. Elaboración propia.</a:t>
            </a:r>
          </a:p>
        </p:txBody>
      </p:sp>
      <p:sp>
        <p:nvSpPr>
          <p:cNvPr id="8" name="TextBox 7"/>
          <p:cNvSpPr txBox="1"/>
          <p:nvPr/>
        </p:nvSpPr>
        <p:spPr>
          <a:xfrm>
            <a:off x="6607705" y="1453896"/>
            <a:ext cx="6620256"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CONTROL DE CONFIGURACIÓN DEL NÚMERO DE PARTE</a:t>
            </a:r>
          </a:p>
        </p:txBody>
      </p:sp>
      <p:sp>
        <p:nvSpPr>
          <p:cNvPr id="9" name="Rectangle 8"/>
          <p:cNvSpPr/>
          <p:nvPr/>
        </p:nvSpPr>
        <p:spPr>
          <a:xfrm>
            <a:off x="6548897" y="1792224"/>
            <a:ext cx="4801855" cy="1343983"/>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561985" y="1783259"/>
            <a:ext cx="45720" cy="1353312"/>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786641" y="1920240"/>
            <a:ext cx="4069080" cy="671530"/>
          </a:xfrm>
          <a:prstGeom prst="rect">
            <a:avLst/>
          </a:prstGeom>
          <a:noFill/>
        </p:spPr>
        <p:txBody>
          <a:bodyPr wrap="square" lIns="0" tIns="0" rIns="0" bIns="0" anchor="t">
            <a:spAutoFit/>
          </a:bodyPr>
          <a:lstStyle/>
          <a:p>
            <a:pPr algn="l">
              <a:lnSpc>
                <a:spcPct val="114000"/>
              </a:lnSpc>
              <a:spcBef>
                <a:spcPts val="0"/>
              </a:spcBef>
              <a:spcAft>
                <a:spcPts val="300"/>
              </a:spcAft>
            </a:pPr>
            <a:r>
              <a:rPr lang="es-PE" sz="1400" b="1" i="0" noProof="0" dirty="0">
                <a:solidFill>
                  <a:srgbClr val="C3094A"/>
                </a:solidFill>
                <a:latin typeface="Arial"/>
              </a:rPr>
              <a:t>Componente obsoleto</a:t>
            </a:r>
          </a:p>
          <a:p>
            <a:pPr algn="l">
              <a:lnSpc>
                <a:spcPct val="114000"/>
              </a:lnSpc>
              <a:spcBef>
                <a:spcPts val="0"/>
              </a:spcBef>
              <a:spcAft>
                <a:spcPts val="400"/>
              </a:spcAft>
            </a:pPr>
            <a:r>
              <a:rPr lang="es-PE" sz="1000" b="0" i="0" noProof="0" dirty="0">
                <a:solidFill>
                  <a:srgbClr val="191919"/>
                </a:solidFill>
                <a:latin typeface="Arial"/>
              </a:rPr>
              <a:t>Unión soldada de penetración parcial;
raíz sin fusión en el diámetro interior del tubo</a:t>
            </a:r>
          </a:p>
        </p:txBody>
      </p:sp>
      <p:sp>
        <p:nvSpPr>
          <p:cNvPr id="12" name="TextBox 11"/>
          <p:cNvSpPr txBox="1"/>
          <p:nvPr/>
        </p:nvSpPr>
        <p:spPr>
          <a:xfrm>
            <a:off x="9144000" y="2048256"/>
            <a:ext cx="1975104" cy="305468"/>
          </a:xfrm>
          <a:prstGeom prst="rect">
            <a:avLst/>
          </a:prstGeom>
          <a:noFill/>
        </p:spPr>
        <p:txBody>
          <a:bodyPr wrap="square" lIns="0" tIns="0" rIns="0" bIns="0" anchor="t">
            <a:spAutoFit/>
          </a:bodyPr>
          <a:lstStyle/>
          <a:p>
            <a:pPr algn="r">
              <a:lnSpc>
                <a:spcPct val="114000"/>
              </a:lnSpc>
              <a:spcBef>
                <a:spcPts val="0"/>
              </a:spcBef>
              <a:spcAft>
                <a:spcPts val="400"/>
              </a:spcAft>
            </a:pPr>
            <a:r>
              <a:rPr lang="es-PE" sz="1900" b="1" i="0" noProof="0" dirty="0">
                <a:solidFill>
                  <a:srgbClr val="C3094A"/>
                </a:solidFill>
                <a:latin typeface="Arial"/>
              </a:rPr>
              <a:t>FS = 0,31</a:t>
            </a:r>
          </a:p>
        </p:txBody>
      </p:sp>
      <p:sp>
        <p:nvSpPr>
          <p:cNvPr id="13" name="Rectangle 12"/>
          <p:cNvSpPr/>
          <p:nvPr/>
        </p:nvSpPr>
        <p:spPr>
          <a:xfrm>
            <a:off x="6548896" y="3255264"/>
            <a:ext cx="4807951"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566109" y="3255264"/>
            <a:ext cx="45720" cy="135331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6786641" y="3328265"/>
            <a:ext cx="4069080" cy="671530"/>
          </a:xfrm>
          <a:prstGeom prst="rect">
            <a:avLst/>
          </a:prstGeom>
          <a:noFill/>
        </p:spPr>
        <p:txBody>
          <a:bodyPr wrap="square" lIns="0" tIns="0" rIns="0" bIns="0" anchor="t">
            <a:spAutoFit/>
          </a:bodyPr>
          <a:lstStyle/>
          <a:p>
            <a:pPr algn="l">
              <a:lnSpc>
                <a:spcPct val="114000"/>
              </a:lnSpc>
              <a:spcBef>
                <a:spcPts val="0"/>
              </a:spcBef>
              <a:spcAft>
                <a:spcPts val="300"/>
              </a:spcAft>
            </a:pPr>
            <a:r>
              <a:rPr lang="es-PE" sz="1400" b="1" i="0" noProof="0" dirty="0">
                <a:solidFill>
                  <a:srgbClr val="2841DD"/>
                </a:solidFill>
                <a:latin typeface="Arial"/>
              </a:rPr>
              <a:t>Componente mejorado</a:t>
            </a:r>
          </a:p>
          <a:p>
            <a:pPr algn="l">
              <a:lnSpc>
                <a:spcPct val="114000"/>
              </a:lnSpc>
              <a:spcBef>
                <a:spcPts val="0"/>
              </a:spcBef>
              <a:spcAft>
                <a:spcPts val="400"/>
              </a:spcAft>
            </a:pPr>
            <a:r>
              <a:rPr lang="es-PE" sz="1000" b="0" i="0" noProof="0" dirty="0">
                <a:solidFill>
                  <a:srgbClr val="191919"/>
                </a:solidFill>
                <a:latin typeface="Arial"/>
              </a:rPr>
              <a:t>Penetración completa sobre sección resistente
mayor; sin cambio de material</a:t>
            </a:r>
          </a:p>
        </p:txBody>
      </p:sp>
      <p:sp>
        <p:nvSpPr>
          <p:cNvPr id="16" name="TextBox 15"/>
          <p:cNvSpPr txBox="1"/>
          <p:nvPr/>
        </p:nvSpPr>
        <p:spPr>
          <a:xfrm>
            <a:off x="9144000" y="3511296"/>
            <a:ext cx="1975104" cy="305468"/>
          </a:xfrm>
          <a:prstGeom prst="rect">
            <a:avLst/>
          </a:prstGeom>
          <a:noFill/>
        </p:spPr>
        <p:txBody>
          <a:bodyPr wrap="square" lIns="0" tIns="0" rIns="0" bIns="0" anchor="t">
            <a:spAutoFit/>
          </a:bodyPr>
          <a:lstStyle/>
          <a:p>
            <a:pPr algn="r">
              <a:lnSpc>
                <a:spcPct val="114000"/>
              </a:lnSpc>
              <a:spcBef>
                <a:spcPts val="0"/>
              </a:spcBef>
              <a:spcAft>
                <a:spcPts val="400"/>
              </a:spcAft>
            </a:pPr>
            <a:r>
              <a:rPr lang="es-PE" sz="1900" b="1" i="0" noProof="0" dirty="0">
                <a:solidFill>
                  <a:srgbClr val="2841DD"/>
                </a:solidFill>
                <a:latin typeface="Arial"/>
              </a:rPr>
              <a:t>FS = 2,23</a:t>
            </a:r>
          </a:p>
        </p:txBody>
      </p:sp>
      <p:sp>
        <p:nvSpPr>
          <p:cNvPr id="17" name="Rectangle 16"/>
          <p:cNvSpPr/>
          <p:nvPr/>
        </p:nvSpPr>
        <p:spPr>
          <a:xfrm>
            <a:off x="6561984" y="4718304"/>
            <a:ext cx="4794863" cy="9144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6641231" y="4864608"/>
            <a:ext cx="4709521" cy="755913"/>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1" i="0" noProof="0" dirty="0">
                <a:solidFill>
                  <a:srgbClr val="C3094A"/>
                </a:solidFill>
                <a:latin typeface="Arial"/>
              </a:rPr>
              <a:t>Una mejora OEM adoptada, no un desarrollo propio</a:t>
            </a:r>
          </a:p>
          <a:p>
            <a:pPr algn="l">
              <a:lnSpc>
                <a:spcPct val="114000"/>
              </a:lnSpc>
              <a:spcBef>
                <a:spcPts val="0"/>
              </a:spcBef>
              <a:spcAft>
                <a:spcPts val="400"/>
              </a:spcAft>
            </a:pPr>
            <a:r>
              <a:rPr lang="es-PE" sz="1000" b="0" i="0" noProof="0" dirty="0">
                <a:solidFill>
                  <a:srgbClr val="191919"/>
                </a:solidFill>
                <a:latin typeface="Arial"/>
              </a:rPr>
              <a:t>La recomendación de modificar el proceso de soldadura y eliminar el concentrador surgió de los propios AFA. La casa matriz adoptó la mejora y esta operación fue la primera en implementarla, en 2025.</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6" name="Picture 5" descr="union_soldada.png"/>
          <p:cNvPicPr>
            <a:picLocks noChangeAspect="1"/>
          </p:cNvPicPr>
          <p:nvPr/>
        </p:nvPicPr>
        <p:blipFill>
          <a:blip r:embed="rId3"/>
          <a:stretch>
            <a:fillRect/>
          </a:stretch>
        </p:blipFill>
        <p:spPr>
          <a:xfrm>
            <a:off x="398083" y="1351293"/>
            <a:ext cx="6074433" cy="533554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24</a:t>
            </a:r>
          </a:p>
        </p:txBody>
      </p:sp>
      <p:sp>
        <p:nvSpPr>
          <p:cNvPr id="6" name="Rectangle 5"/>
          <p:cNvSpPr/>
          <p:nvPr/>
        </p:nvSpPr>
        <p:spPr>
          <a:xfrm>
            <a:off x="841248"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60704"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01</a:t>
            </a:r>
          </a:p>
          <a:p>
            <a:pPr algn="l">
              <a:lnSpc>
                <a:spcPct val="110000"/>
              </a:lnSpc>
              <a:spcBef>
                <a:spcPts val="0"/>
              </a:spcBef>
              <a:spcAft>
                <a:spcPts val="700"/>
              </a:spcAft>
            </a:pPr>
            <a:r>
              <a:rPr lang="es-PE" sz="1250" b="1" i="0" noProof="0" dirty="0">
                <a:solidFill>
                  <a:srgbClr val="042354"/>
                </a:solidFill>
                <a:latin typeface="Arial"/>
              </a:rPr>
              <a:t>Priorización por horómetro y riesgo</a:t>
            </a:r>
          </a:p>
          <a:p>
            <a:pPr algn="l">
              <a:lnSpc>
                <a:spcPct val="116000"/>
              </a:lnSpc>
              <a:spcBef>
                <a:spcPts val="0"/>
              </a:spcBef>
              <a:spcAft>
                <a:spcPts val="400"/>
              </a:spcAft>
            </a:pPr>
            <a:r>
              <a:rPr lang="es-PE" sz="1000" b="0" i="0" noProof="0" dirty="0">
                <a:solidFill>
                  <a:srgbClr val="4A5568"/>
                </a:solidFill>
                <a:latin typeface="Arial"/>
              </a:rPr>
              <a:t>Las posiciones con mayor vida acumulada del componente se atendieron primero, por ser las más próximas al rango de vidas en el que se concentraban las fracturas.</a:t>
            </a:r>
          </a:p>
        </p:txBody>
      </p:sp>
      <p:sp>
        <p:nvSpPr>
          <p:cNvPr id="9" name="Rectangle 8"/>
          <p:cNvSpPr/>
          <p:nvPr/>
        </p:nvSpPr>
        <p:spPr>
          <a:xfrm>
            <a:off x="4431792"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4431792"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4651248"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02</a:t>
            </a:r>
          </a:p>
          <a:p>
            <a:pPr algn="l">
              <a:lnSpc>
                <a:spcPct val="110000"/>
              </a:lnSpc>
              <a:spcBef>
                <a:spcPts val="0"/>
              </a:spcBef>
              <a:spcAft>
                <a:spcPts val="700"/>
              </a:spcAft>
            </a:pPr>
            <a:r>
              <a:rPr lang="es-PE" sz="1250" b="1" i="0" noProof="0" dirty="0">
                <a:solidFill>
                  <a:srgbClr val="042354"/>
                </a:solidFill>
                <a:latin typeface="Arial"/>
              </a:rPr>
              <a:t>Ejecución por sustitución del conjunto</a:t>
            </a:r>
          </a:p>
          <a:p>
            <a:pPr algn="l">
              <a:lnSpc>
                <a:spcPct val="116000"/>
              </a:lnSpc>
              <a:spcBef>
                <a:spcPts val="0"/>
              </a:spcBef>
              <a:spcAft>
                <a:spcPts val="400"/>
              </a:spcAft>
            </a:pPr>
            <a:r>
              <a:rPr lang="es-PE" sz="1000" b="0" i="0" noProof="0" dirty="0">
                <a:solidFill>
                  <a:srgbClr val="4A5568"/>
                </a:solidFill>
                <a:latin typeface="Arial"/>
              </a:rPr>
              <a:t>El cambio no se realiza sobre el eje instalado, sino mediante el reemplazo del motor de tracción por uno de intercambio que incorpora el número de parte mejorado.</a:t>
            </a:r>
          </a:p>
        </p:txBody>
      </p:sp>
      <p:sp>
        <p:nvSpPr>
          <p:cNvPr id="12" name="Rectangle 11"/>
          <p:cNvSpPr/>
          <p:nvPr/>
        </p:nvSpPr>
        <p:spPr>
          <a:xfrm>
            <a:off x="8022336"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022336"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8241792"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03</a:t>
            </a:r>
          </a:p>
          <a:p>
            <a:pPr algn="l">
              <a:lnSpc>
                <a:spcPct val="110000"/>
              </a:lnSpc>
              <a:spcBef>
                <a:spcPts val="0"/>
              </a:spcBef>
              <a:spcAft>
                <a:spcPts val="700"/>
              </a:spcAft>
            </a:pPr>
            <a:r>
              <a:rPr lang="es-PE" sz="1250" b="1" i="0" noProof="0" dirty="0">
                <a:solidFill>
                  <a:srgbClr val="042354"/>
                </a:solidFill>
                <a:latin typeface="Arial"/>
              </a:rPr>
              <a:t>Control de la mejora instalada</a:t>
            </a:r>
          </a:p>
          <a:p>
            <a:pPr algn="l">
              <a:lnSpc>
                <a:spcPct val="116000"/>
              </a:lnSpc>
              <a:spcBef>
                <a:spcPts val="0"/>
              </a:spcBef>
              <a:spcAft>
                <a:spcPts val="400"/>
              </a:spcAft>
            </a:pPr>
            <a:r>
              <a:rPr lang="es-PE" sz="1000" b="0" i="0" noProof="0" dirty="0">
                <a:solidFill>
                  <a:srgbClr val="4A5568"/>
                </a:solidFill>
                <a:latin typeface="Arial"/>
              </a:rPr>
              <a:t>Se registra para cada posición el número de parte montado y la fecha de instalación, lo que impide la reposición del número de parte obsoleto.</a:t>
            </a:r>
          </a:p>
        </p:txBody>
      </p:sp>
      <p:sp>
        <p:nvSpPr>
          <p:cNvPr id="15" name="Rectangle 14"/>
          <p:cNvSpPr/>
          <p:nvPr/>
        </p:nvSpPr>
        <p:spPr>
          <a:xfrm>
            <a:off x="841248" y="3877056"/>
            <a:ext cx="10515600" cy="9692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877056"/>
            <a:ext cx="45720" cy="96926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1078992" y="4005072"/>
            <a:ext cx="10040112" cy="749808"/>
          </a:xfrm>
          <a:prstGeom prst="rect">
            <a:avLst/>
          </a:prstGeom>
          <a:noFill/>
        </p:spPr>
        <p:txBody>
          <a:bodyPr wrap="square" lIns="0" tIns="0" rIns="0" bIns="0" anchor="t">
            <a:spAutoFit/>
          </a:bodyPr>
          <a:lstStyle/>
          <a:p>
            <a:pPr algn="l">
              <a:lnSpc>
                <a:spcPct val="114000"/>
              </a:lnSpc>
              <a:spcBef>
                <a:spcPts val="0"/>
              </a:spcBef>
              <a:spcAft>
                <a:spcPts val="500"/>
              </a:spcAft>
            </a:pPr>
            <a:r>
              <a:rPr lang="es-PE" sz="1200" b="1" i="0" noProof="0" dirty="0">
                <a:solidFill>
                  <a:srgbClr val="2841DD"/>
                </a:solidFill>
                <a:latin typeface="Arial"/>
              </a:rPr>
              <a:t>Validación previa con el equipo técnico</a:t>
            </a:r>
          </a:p>
          <a:p>
            <a:pPr algn="l">
              <a:lnSpc>
                <a:spcPct val="116000"/>
              </a:lnSpc>
              <a:spcBef>
                <a:spcPts val="0"/>
              </a:spcBef>
              <a:spcAft>
                <a:spcPts val="400"/>
              </a:spcAft>
            </a:pPr>
            <a:r>
              <a:rPr lang="es-PE" sz="1000" b="0" i="0" noProof="0" dirty="0">
                <a:solidFill>
                  <a:srgbClr val="191919"/>
                </a:solidFill>
                <a:latin typeface="Arial"/>
              </a:rPr>
              <a:t>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p:txBody>
      </p:sp>
      <p:sp>
        <p:nvSpPr>
          <p:cNvPr id="18" name="Rectangle 1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tercer mecanismo responde de forma directa a la causa latente identificada: impide que el hallazgo técnico vuelva a perderse en la reposición del componente.</a:t>
            </a:r>
          </a:p>
        </p:txBody>
      </p:sp>
      <p:pic>
        <p:nvPicPr>
          <p:cNvPr id="20" name="Imagen 19">
            <a:extLst>
              <a:ext uri="{FF2B5EF4-FFF2-40B4-BE49-F238E27FC236}">
                <a16:creationId xmlns:a16="http://schemas.microsoft.com/office/drawing/2014/main" id="{6FA52F15-73FA-258F-A140-33DAACE60688}"/>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en el nivel del componente: no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25</a:t>
            </a:r>
          </a:p>
        </p:txBody>
      </p:sp>
      <p:pic>
        <p:nvPicPr>
          <p:cNvPr id="6" name="Picture 5" descr="pu_g4_norecurrencia.png"/>
          <p:cNvPicPr>
            <a:picLocks noChangeAspect="1"/>
          </p:cNvPicPr>
          <p:nvPr/>
        </p:nvPicPr>
        <p:blipFill>
          <a:blip r:embed="rId2"/>
          <a:stretch>
            <a:fillRect/>
          </a:stretch>
        </p:blipFill>
        <p:spPr>
          <a:xfrm>
            <a:off x="1225700" y="1426464"/>
            <a:ext cx="6015943" cy="3401568"/>
          </a:xfrm>
          <a:prstGeom prst="rect">
            <a:avLst/>
          </a:prstGeom>
        </p:spPr>
      </p:pic>
      <p:sp>
        <p:nvSpPr>
          <p:cNvPr id="7" name="TextBox 6"/>
          <p:cNvSpPr txBox="1"/>
          <p:nvPr/>
        </p:nvSpPr>
        <p:spPr>
          <a:xfrm>
            <a:off x="7178040" y="1517904"/>
            <a:ext cx="41788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CRITERIO DE VERIFICACIÓN</a:t>
            </a:r>
          </a:p>
        </p:txBody>
      </p:sp>
      <p:sp>
        <p:nvSpPr>
          <p:cNvPr id="8" name="Rectangle 7"/>
          <p:cNvSpPr/>
          <p:nvPr/>
        </p:nvSpPr>
        <p:spPr>
          <a:xfrm>
            <a:off x="7178040" y="1810512"/>
            <a:ext cx="4178808" cy="8961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78040" y="1810512"/>
            <a:ext cx="4178808" cy="411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42631" y="1938528"/>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2841DD"/>
                </a:solidFill>
                <a:latin typeface="Arial"/>
              </a:rPr>
              <a:t>96 000 h</a:t>
            </a:r>
          </a:p>
          <a:p>
            <a:pPr algn="l">
              <a:lnSpc>
                <a:spcPct val="108000"/>
              </a:lnSpc>
              <a:spcBef>
                <a:spcPts val="0"/>
              </a:spcBef>
              <a:spcAft>
                <a:spcPts val="0"/>
              </a:spcAft>
            </a:pPr>
            <a:r>
              <a:rPr lang="es-PE" sz="950" b="0" i="0" noProof="0" dirty="0">
                <a:solidFill>
                  <a:srgbClr val="4A5568"/>
                </a:solidFill>
                <a:latin typeface="Arial"/>
              </a:rPr>
              <a:t>de operación de flota acumuladas con el P/N mejorado</a:t>
            </a:r>
          </a:p>
        </p:txBody>
      </p:sp>
      <p:sp>
        <p:nvSpPr>
          <p:cNvPr id="11" name="Rectangle 10"/>
          <p:cNvSpPr/>
          <p:nvPr/>
        </p:nvSpPr>
        <p:spPr>
          <a:xfrm>
            <a:off x="7178040" y="2798064"/>
            <a:ext cx="4178808" cy="8961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78040" y="2798064"/>
            <a:ext cx="4178808" cy="411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42631" y="2926080"/>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600" b="1" i="0" noProof="0" dirty="0">
                <a:solidFill>
                  <a:srgbClr val="2841DD"/>
                </a:solidFill>
                <a:latin typeface="Arial"/>
              </a:rPr>
              <a:t>0</a:t>
            </a:r>
          </a:p>
          <a:p>
            <a:pPr algn="l">
              <a:lnSpc>
                <a:spcPct val="108000"/>
              </a:lnSpc>
              <a:spcBef>
                <a:spcPts val="0"/>
              </a:spcBef>
              <a:spcAft>
                <a:spcPts val="0"/>
              </a:spcAft>
            </a:pPr>
            <a:r>
              <a:rPr lang="es-PE" sz="950" b="0" i="0" noProof="0" dirty="0">
                <a:solidFill>
                  <a:srgbClr val="4A5568"/>
                </a:solidFill>
                <a:latin typeface="Arial"/>
              </a:rPr>
              <a:t>fracturas del eje palier desde el 14 de diciembre de 2024</a:t>
            </a:r>
          </a:p>
        </p:txBody>
      </p:sp>
      <p:sp>
        <p:nvSpPr>
          <p:cNvPr id="14" name="Rectangle 13"/>
          <p:cNvSpPr/>
          <p:nvPr/>
        </p:nvSpPr>
        <p:spPr>
          <a:xfrm>
            <a:off x="7178040" y="3785615"/>
            <a:ext cx="4178808" cy="89611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7178040" y="3785615"/>
            <a:ext cx="417880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7342631" y="3913631"/>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p = 0,0018</a:t>
            </a:r>
          </a:p>
          <a:p>
            <a:pPr algn="l">
              <a:lnSpc>
                <a:spcPct val="108000"/>
              </a:lnSpc>
              <a:spcBef>
                <a:spcPts val="0"/>
              </a:spcBef>
              <a:spcAft>
                <a:spcPts val="0"/>
              </a:spcAft>
            </a:pPr>
            <a:r>
              <a:rPr lang="es-PE" sz="950" b="0" i="0" noProof="0" dirty="0">
                <a:solidFill>
                  <a:srgbClr val="4A5568"/>
                </a:solidFill>
                <a:latin typeface="Arial"/>
              </a:rPr>
              <a:t>probabilidad de observar cero si la tasa previa persistiera</a:t>
            </a:r>
          </a:p>
        </p:txBody>
      </p:sp>
      <p:sp>
        <p:nvSpPr>
          <p:cNvPr id="17" name="TextBox 16"/>
          <p:cNvSpPr txBox="1"/>
          <p:nvPr/>
        </p:nvSpPr>
        <p:spPr>
          <a:xfrm>
            <a:off x="841248" y="4882896"/>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La verificación permanece abierta hasta que las unidades intervenidas superen las 24 540 horas, el límite superior del rango de vidas observado.</a:t>
            </a:r>
          </a:p>
        </p:txBody>
      </p:sp>
      <p:sp>
        <p:nvSpPr>
          <p:cNvPr id="18" name="Rectangle 1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Se rechaza con 95 % de confianza la hipótesis de que el modo persiste con su frecuencia anterior. El MTBF del modo supera 32 046 h, por encima del TBO de referencia de 20 000 h.</a:t>
            </a:r>
          </a:p>
        </p:txBody>
      </p:sp>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Recuperación de los indicadores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26</a:t>
            </a:r>
          </a:p>
        </p:txBody>
      </p:sp>
      <p:pic>
        <p:nvPicPr>
          <p:cNvPr id="6" name="Picture 5" descr="pu_g5_componente.png"/>
          <p:cNvPicPr>
            <a:picLocks noChangeAspect="1"/>
          </p:cNvPicPr>
          <p:nvPr/>
        </p:nvPicPr>
        <p:blipFill>
          <a:blip r:embed="rId2"/>
          <a:stretch>
            <a:fillRect/>
          </a:stretch>
        </p:blipFill>
        <p:spPr>
          <a:xfrm>
            <a:off x="2055509" y="1481328"/>
            <a:ext cx="8087077" cy="3017520"/>
          </a:xfrm>
          <a:prstGeom prst="rect">
            <a:avLst/>
          </a:prstGeom>
        </p:spPr>
      </p:pic>
      <p:sp>
        <p:nvSpPr>
          <p:cNvPr id="7" name="Rectangle 6"/>
          <p:cNvSpPr/>
          <p:nvPr/>
        </p:nvSpPr>
        <p:spPr>
          <a:xfrm>
            <a:off x="841248" y="4626864"/>
            <a:ext cx="5102352" cy="8412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4626864"/>
            <a:ext cx="45720" cy="8412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736592"/>
            <a:ext cx="4681728" cy="640080"/>
          </a:xfrm>
          <a:prstGeom prst="rect">
            <a:avLst/>
          </a:prstGeom>
          <a:noFill/>
        </p:spPr>
        <p:txBody>
          <a:bodyPr wrap="square" lIns="0" tIns="0" rIns="0" bIns="0" anchor="t">
            <a:spAutoFit/>
          </a:bodyPr>
          <a:lstStyle/>
          <a:p>
            <a:pPr algn="l">
              <a:lnSpc>
                <a:spcPct val="114000"/>
              </a:lnSpc>
              <a:spcBef>
                <a:spcPts val="0"/>
              </a:spcBef>
              <a:spcAft>
                <a:spcPts val="400"/>
              </a:spcAft>
            </a:pPr>
            <a:r>
              <a:rPr lang="es-PE" sz="1000" b="1" i="0" noProof="0" dirty="0">
                <a:solidFill>
                  <a:srgbClr val="2841DD"/>
                </a:solidFill>
                <a:latin typeface="Arial"/>
              </a:rPr>
              <a:t>MTBF del modo de falla</a:t>
            </a:r>
          </a:p>
          <a:p>
            <a:pPr algn="l">
              <a:lnSpc>
                <a:spcPct val="114000"/>
              </a:lnSpc>
              <a:spcBef>
                <a:spcPts val="0"/>
              </a:spcBef>
              <a:spcAft>
                <a:spcPts val="400"/>
              </a:spcAft>
            </a:pPr>
            <a:r>
              <a:rPr lang="es-PE" sz="1050" b="0" i="0" noProof="0" dirty="0">
                <a:solidFill>
                  <a:srgbClr val="191919"/>
                </a:solidFill>
                <a:latin typeface="Arial"/>
              </a:rPr>
              <a:t>De 15 231 h a más de 32 046 h (límite inferior al 95 % de confianza), por encima del TBO de referencia.</a:t>
            </a:r>
          </a:p>
        </p:txBody>
      </p:sp>
      <p:sp>
        <p:nvSpPr>
          <p:cNvPr id="10" name="Rectangle 9"/>
          <p:cNvSpPr/>
          <p:nvPr/>
        </p:nvSpPr>
        <p:spPr>
          <a:xfrm>
            <a:off x="6254496" y="4626864"/>
            <a:ext cx="5102352" cy="84124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6254496" y="4626864"/>
            <a:ext cx="45720" cy="8412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6473952" y="4736592"/>
            <a:ext cx="4681728" cy="640080"/>
          </a:xfrm>
          <a:prstGeom prst="rect">
            <a:avLst/>
          </a:prstGeom>
          <a:noFill/>
        </p:spPr>
        <p:txBody>
          <a:bodyPr wrap="square" lIns="0" tIns="0" rIns="0" bIns="0" anchor="t">
            <a:spAutoFit/>
          </a:bodyPr>
          <a:lstStyle/>
          <a:p>
            <a:pPr algn="l">
              <a:lnSpc>
                <a:spcPct val="114000"/>
              </a:lnSpc>
              <a:spcBef>
                <a:spcPts val="0"/>
              </a:spcBef>
              <a:spcAft>
                <a:spcPts val="400"/>
              </a:spcAft>
            </a:pPr>
            <a:r>
              <a:rPr lang="es-PE" sz="1000" b="1" i="0" noProof="0" dirty="0">
                <a:solidFill>
                  <a:srgbClr val="C3094A"/>
                </a:solidFill>
                <a:latin typeface="Arial"/>
              </a:rPr>
              <a:t>MTTR del sistema de propulsión</a:t>
            </a:r>
          </a:p>
          <a:p>
            <a:pPr algn="l">
              <a:lnSpc>
                <a:spcPct val="114000"/>
              </a:lnSpc>
              <a:spcBef>
                <a:spcPts val="0"/>
              </a:spcBef>
              <a:spcAft>
                <a:spcPts val="400"/>
              </a:spcAft>
            </a:pPr>
            <a:r>
              <a:rPr lang="es-PE" sz="1050" b="0" i="0" noProof="0" dirty="0">
                <a:solidFill>
                  <a:srgbClr val="191919"/>
                </a:solidFill>
                <a:latin typeface="Arial"/>
              </a:rPr>
              <a:t>Desciende 46 % porque desapareció un modo cuya intervención duraba 59,3 h, cerca de ocho veces el promedio del sistema.</a:t>
            </a:r>
          </a:p>
        </p:txBody>
      </p:sp>
      <p:pic>
        <p:nvPicPr>
          <p:cNvPr id="13" name="Imagen 12">
            <a:extLst>
              <a:ext uri="{FF2B5EF4-FFF2-40B4-BE49-F238E27FC236}">
                <a16:creationId xmlns:a16="http://schemas.microsoft.com/office/drawing/2014/main" id="{3A4EC09B-FF8A-C59B-CADF-863245512403}"/>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en el nivel de la flota: indicadores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27</a:t>
            </a:r>
          </a:p>
        </p:txBody>
      </p:sp>
      <p:pic>
        <p:nvPicPr>
          <p:cNvPr id="6" name="Picture 5" descr="pu_g6_contractuales.png"/>
          <p:cNvPicPr>
            <a:picLocks noChangeAspect="1"/>
          </p:cNvPicPr>
          <p:nvPr/>
        </p:nvPicPr>
        <p:blipFill>
          <a:blip r:embed="rId2"/>
          <a:stretch>
            <a:fillRect/>
          </a:stretch>
        </p:blipFill>
        <p:spPr>
          <a:xfrm>
            <a:off x="841247" y="1856805"/>
            <a:ext cx="6263640" cy="2559173"/>
          </a:xfrm>
          <a:prstGeom prst="rect">
            <a:avLst/>
          </a:prstGeom>
        </p:spPr>
      </p:pic>
      <p:sp>
        <p:nvSpPr>
          <p:cNvPr id="7" name="TextBox 6"/>
          <p:cNvSpPr txBox="1"/>
          <p:nvPr/>
        </p:nvSpPr>
        <p:spPr>
          <a:xfrm>
            <a:off x="7296912" y="1517904"/>
            <a:ext cx="4059936"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ATRIBUCIÓN DEL EFECTO</a:t>
            </a:r>
          </a:p>
        </p:txBody>
      </p:sp>
      <p:sp>
        <p:nvSpPr>
          <p:cNvPr id="8" name="Rectangle 7"/>
          <p:cNvSpPr/>
          <p:nvPr/>
        </p:nvSpPr>
        <p:spPr>
          <a:xfrm>
            <a:off x="7296912" y="1810512"/>
            <a:ext cx="4059936" cy="2761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7498079" y="1975104"/>
            <a:ext cx="3657600" cy="2450592"/>
          </a:xfrm>
          <a:prstGeom prst="rect">
            <a:avLst/>
          </a:prstGeom>
          <a:noFill/>
        </p:spPr>
        <p:txBody>
          <a:bodyPr wrap="square" lIns="0" tIns="0" rIns="0" bIns="0" anchor="t">
            <a:spAutoFit/>
          </a:bodyPr>
          <a:lstStyle/>
          <a:p>
            <a:pPr algn="l">
              <a:lnSpc>
                <a:spcPct val="116000"/>
              </a:lnSpc>
              <a:spcBef>
                <a:spcPts val="0"/>
              </a:spcBef>
              <a:spcAft>
                <a:spcPts val="800"/>
              </a:spcAft>
            </a:pPr>
            <a:r>
              <a:rPr lang="es-PE" sz="1050" b="0" i="0" noProof="0" dirty="0">
                <a:solidFill>
                  <a:srgbClr val="191919"/>
                </a:solidFill>
                <a:latin typeface="Arial"/>
              </a:rPr>
              <a:t>Durante el mismo período se ejecutó una intervención independiente sobre el motor diésel, dirigida a eliminar la fisura de culatas.</a:t>
            </a:r>
          </a:p>
          <a:p>
            <a:pPr algn="l">
              <a:lnSpc>
                <a:spcPct val="116000"/>
              </a:lnSpc>
              <a:spcBef>
                <a:spcPts val="0"/>
              </a:spcBef>
              <a:spcAft>
                <a:spcPts val="800"/>
              </a:spcAft>
            </a:pPr>
            <a:r>
              <a:rPr lang="es-PE" sz="1050" b="0" i="0" noProof="0" dirty="0">
                <a:solidFill>
                  <a:srgbClr val="191919"/>
                </a:solidFill>
                <a:latin typeface="Arial"/>
              </a:rPr>
              <a:t>La eliminación de la fractura del eje palier explica 0,36 puntos porcentuales de disponibilidad; la recuperación restante proviene de esa acción concurrente.</a:t>
            </a:r>
          </a:p>
          <a:p>
            <a:pPr algn="l">
              <a:lnSpc>
                <a:spcPct val="116000"/>
              </a:lnSpc>
              <a:spcBef>
                <a:spcPts val="0"/>
              </a:spcBef>
              <a:spcAft>
                <a:spcPts val="400"/>
              </a:spcAft>
            </a:pPr>
            <a:r>
              <a:rPr lang="es-PE" sz="1050" b="1" i="0" noProof="0" dirty="0">
                <a:solidFill>
                  <a:srgbClr val="C3094A"/>
                </a:solidFill>
                <a:latin typeface="Arial"/>
              </a:rPr>
              <a:t>La concurrencia no debilita la verificación: lo que acredita el rediseño es el criterio del nivel del componente, donde el efecto sí es directamente atribuible.</a:t>
            </a:r>
          </a:p>
        </p:txBody>
      </p:sp>
      <p:sp>
        <p:nvSpPr>
          <p:cNvPr id="10" name="TextBox 9"/>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El MTTR no mejora, y no debía hacerlo: la acción implementada elimina eventos, no reduce la duración de las intervenciones que subsisten.</a:t>
            </a:r>
          </a:p>
        </p:txBody>
      </p:sp>
      <p:sp>
        <p:nvSpPr>
          <p:cNvPr id="11" name="Rectangle 1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2025 supera por primera vez en el período analizado ambos compromisos contractuales: 93,6 % de disponibilidad y 108,4 h de MTBF.</a:t>
            </a:r>
          </a:p>
        </p:txBody>
      </p:sp>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Evaluación económica del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28</a:t>
            </a:r>
          </a:p>
        </p:txBody>
      </p:sp>
      <p:pic>
        <p:nvPicPr>
          <p:cNvPr id="6" name="Picture 5" descr="pu_g7_economico.png"/>
          <p:cNvPicPr>
            <a:picLocks noChangeAspect="1"/>
          </p:cNvPicPr>
          <p:nvPr/>
        </p:nvPicPr>
        <p:blipFill>
          <a:blip r:embed="rId2"/>
          <a:stretch>
            <a:fillRect/>
          </a:stretch>
        </p:blipFill>
        <p:spPr>
          <a:xfrm>
            <a:off x="2102487" y="1444752"/>
            <a:ext cx="7993120" cy="3127248"/>
          </a:xfrm>
          <a:prstGeom prst="rect">
            <a:avLst/>
          </a:prstGeom>
        </p:spPr>
      </p:pic>
      <p:sp>
        <p:nvSpPr>
          <p:cNvPr id="7" name="Rectangle 6"/>
          <p:cNvSpPr/>
          <p:nvPr/>
        </p:nvSpPr>
        <p:spPr>
          <a:xfrm>
            <a:off x="841248"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US$ 3,05 M</a:t>
            </a:r>
          </a:p>
          <a:p>
            <a:pPr algn="l">
              <a:lnSpc>
                <a:spcPct val="108000"/>
              </a:lnSpc>
              <a:spcBef>
                <a:spcPts val="0"/>
              </a:spcBef>
              <a:spcAft>
                <a:spcPts val="0"/>
              </a:spcAft>
            </a:pPr>
            <a:r>
              <a:rPr lang="es-PE" sz="950" b="0" i="0" noProof="0" dirty="0">
                <a:solidFill>
                  <a:srgbClr val="4A5568"/>
                </a:solidFill>
                <a:latin typeface="Arial"/>
              </a:rPr>
              <a:t>Costo recurrente anual
del modo de falla eliminado</a:t>
            </a:r>
          </a:p>
        </p:txBody>
      </p:sp>
      <p:sp>
        <p:nvSpPr>
          <p:cNvPr id="10" name="Rectangle 9"/>
          <p:cNvSpPr/>
          <p:nvPr/>
        </p:nvSpPr>
        <p:spPr>
          <a:xfrm>
            <a:off x="4443984"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4443984"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4608576"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12 eventos</a:t>
            </a:r>
          </a:p>
          <a:p>
            <a:pPr algn="l">
              <a:lnSpc>
                <a:spcPct val="108000"/>
              </a:lnSpc>
              <a:spcBef>
                <a:spcPts val="0"/>
              </a:spcBef>
              <a:spcAft>
                <a:spcPts val="0"/>
              </a:spcAft>
            </a:pPr>
            <a:r>
              <a:rPr lang="es-PE" sz="950" b="0" i="0" noProof="0" dirty="0">
                <a:solidFill>
                  <a:srgbClr val="4A5568"/>
                </a:solidFill>
                <a:latin typeface="Arial"/>
              </a:rPr>
              <a:t>detectados en operación
en 36 meses</a:t>
            </a:r>
          </a:p>
        </p:txBody>
      </p:sp>
      <p:sp>
        <p:nvSpPr>
          <p:cNvPr id="13" name="Rectangle 12"/>
          <p:cNvSpPr/>
          <p:nvPr/>
        </p:nvSpPr>
        <p:spPr>
          <a:xfrm>
            <a:off x="8046720"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046720"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8211312"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1,41 : 1</a:t>
            </a:r>
          </a:p>
          <a:p>
            <a:pPr algn="l">
              <a:lnSpc>
                <a:spcPct val="108000"/>
              </a:lnSpc>
              <a:spcBef>
                <a:spcPts val="0"/>
              </a:spcBef>
              <a:spcAft>
                <a:spcPts val="0"/>
              </a:spcAft>
            </a:pPr>
            <a:r>
              <a:rPr lang="es-PE" sz="950" b="0" i="0" noProof="0" dirty="0">
                <a:solidFill>
                  <a:srgbClr val="4A5568"/>
                </a:solidFill>
                <a:latin typeface="Arial"/>
              </a:rPr>
              <a:t>relación de costo de la
alternativa descartada</a:t>
            </a:r>
          </a:p>
        </p:txBody>
      </p:sp>
      <p:pic>
        <p:nvPicPr>
          <p:cNvPr id="16" name="Imagen 15">
            <a:extLst>
              <a:ext uri="{FF2B5EF4-FFF2-40B4-BE49-F238E27FC236}">
                <a16:creationId xmlns:a16="http://schemas.microsoft.com/office/drawing/2014/main" id="{A55417AF-ED0A-C308-720E-1C4B94B15580}"/>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29</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PREGUNTAS</a:t>
            </a:r>
          </a:p>
        </p:txBody>
      </p:sp>
      <p:pic>
        <p:nvPicPr>
          <p:cNvPr id="5" name="Picture 4"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250" b="0" i="0" noProof="0" dirty="0">
                <a:solidFill>
                  <a:srgbClr val="B9C6DC"/>
                </a:solidFill>
                <a:latin typeface="Arial"/>
              </a:rPr>
              <a:t>Samir Aldair Cedillo Preciado  ·  Facultad de Ciencias e Ingeniería</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TotalTime>
  <Words>2678</Words>
  <Application>Microsoft Office PowerPoint</Application>
  <PresentationFormat>Panorámica</PresentationFormat>
  <Paragraphs>306</Paragraphs>
  <Slides>26</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Calibri</vt:lpstr>
      <vt:lpstr>Tema de Office</vt:lpstr>
      <vt:lpstr>Presentación de PowerPoint</vt:lpstr>
      <vt:lpstr>Contenido</vt:lpstr>
      <vt:lpstr>Presentación de PowerPoint</vt:lpstr>
      <vt:lpstr>Metas contractuales</vt:lpstr>
      <vt:lpstr>La falla más crítica: fractura por fatiga del eje palier</vt:lpstr>
      <vt:lpstr>Objetivos</vt:lpstr>
      <vt:lpstr>Presentación de PowerPoint</vt:lpstr>
      <vt:lpstr>Etapas de la metodología</vt:lpstr>
      <vt:lpstr>Presentación de PowerPoint</vt:lpstr>
      <vt:lpstr>Focalización: qué modo de falla justifica un tratamiento diferenciado</vt:lpstr>
      <vt:lpstr>Preguntas 1 y 2: función, estándar y falla funcional</vt:lpstr>
      <vt:lpstr>Pregunta 3: quince hipótesis sometidas a verificación</vt:lpstr>
      <vt:lpstr>Verificación de la causa física: fractografía y metalografía</vt:lpstr>
      <vt:lpstr>Verificación por resistencia de materiales</vt:lpstr>
      <vt:lpstr>Del mecanismo físico a la causa latente</vt:lpstr>
      <vt:lpstr>Preguntas 6 y 7: ninguna tarea proactiva cumple ambos criterios</vt:lpstr>
      <vt:lpstr>Presentación de PowerPoint</vt:lpstr>
      <vt:lpstr>La solución: rediseño de la unión soldada del eje palier</vt:lpstr>
      <vt:lpstr>Implementación</vt:lpstr>
      <vt:lpstr>Verificación en el nivel del componente: no recurrencia</vt:lpstr>
      <vt:lpstr>Recuperación de los indicadores del modo de falla</vt:lpstr>
      <vt:lpstr>Verificación en el nivel de la flota: indicadores contractuales</vt:lpstr>
      <vt:lpstr>Evaluación económica del costo evitado</vt:lpstr>
      <vt:lpstr>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10</cp:revision>
  <dcterms:modified xsi:type="dcterms:W3CDTF">2026-09-27T14:30:34Z</dcterms:modified>
</cp:coreProperties>
</file>