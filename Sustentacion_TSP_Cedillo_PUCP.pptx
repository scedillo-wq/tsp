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8"/>
  </p:notesMasterIdLst>
  <p:sldIdLst>
    <p:sldId id="260" r:id="rId2"/>
    <p:sldId id="261" r:id="rId3"/>
    <p:sldId id="262" r:id="rId4"/>
    <p:sldId id="263" r:id="rId5"/>
    <p:sldId id="264" r:id="rId6"/>
    <p:sldId id="265" r:id="rId7"/>
    <p:sldId id="266" r:id="rId8"/>
    <p:sldId id="267" r:id="rId9"/>
    <p:sldId id="268" r:id="rId10"/>
    <p:sldId id="269" r:id="rId11"/>
    <p:sldId id="270" r:id="rId12"/>
    <p:sldId id="271" r:id="rId13"/>
    <p:sldId id="272" r:id="rId14"/>
    <p:sldId id="273" r:id="rId15"/>
    <p:sldId id="275" r:id="rId16"/>
    <p:sldId id="276" r:id="rId17"/>
    <p:sldId id="277" r:id="rId18"/>
    <p:sldId id="278" r:id="rId19"/>
    <p:sldId id="279" r:id="rId20"/>
    <p:sldId id="280" r:id="rId21"/>
    <p:sldId id="281" r:id="rId22"/>
    <p:sldId id="282" r:id="rId23"/>
    <p:sldId id="283" r:id="rId24"/>
    <p:sldId id="284" r:id="rId25"/>
    <p:sldId id="285" r:id="rId26"/>
    <p:sldId id="286" r:id="rId2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71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entrada" type="blank">
  <p:cSld name="BLANK">
    <p:spTree>
      <p:nvGrpSpPr>
        <p:cNvPr id="1" name="Shape 14"/>
        <p:cNvGrpSpPr/>
        <p:nvPr/>
      </p:nvGrpSpPr>
      <p:grpSpPr>
        <a:xfrm>
          <a:off x="0" y="0"/>
          <a:ext cx="0" cy="0"/>
          <a:chOff x="0" y="0"/>
          <a:chExt cx="0" cy="0"/>
        </a:xfrm>
      </p:grpSpPr>
      <p:sp>
        <p:nvSpPr>
          <p:cNvPr id="15" name="Google Shape;15;p2"/>
          <p:cNvSpPr/>
          <p:nvPr/>
        </p:nvSpPr>
        <p:spPr>
          <a:xfrm>
            <a:off x="0" y="0"/>
            <a:ext cx="12192000" cy="68580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16" name="Google Shape;16;p2"/>
          <p:cNvPicPr preferRelativeResize="0"/>
          <p:nvPr/>
        </p:nvPicPr>
        <p:blipFill rotWithShape="1">
          <a:blip r:embed="rId2">
            <a:alphaModFix/>
          </a:blip>
          <a:srcRect/>
          <a:stretch/>
        </p:blipFill>
        <p:spPr>
          <a:xfrm>
            <a:off x="4195484" y="2571381"/>
            <a:ext cx="4143972" cy="137334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a:stretch/>
        </p:blipFill>
        <p:spPr>
          <a:xfrm>
            <a:off x="4844521" y="5547936"/>
            <a:ext cx="2504546" cy="826405"/>
          </a:xfrm>
          <a:prstGeom prst="rect">
            <a:avLst/>
          </a:prstGeom>
          <a:noFill/>
          <a:ln>
            <a:noFill/>
          </a:ln>
        </p:spPr>
      </p:pic>
      <p:sp>
        <p:nvSpPr>
          <p:cNvPr id="19" name="Google Shape;19;p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2"/>
              </a:buClr>
              <a:buSzPts val="4800"/>
              <a:buFont typeface="Arial"/>
              <a:buNone/>
              <a:defRPr sz="4800" b="1">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rgbClr val="648585"/>
              </a:buClr>
              <a:buSzPts val="2400"/>
              <a:buNone/>
              <a:defRPr sz="2400" i="1">
                <a:solidFill>
                  <a:srgbClr val="648585"/>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p:cSld name="Título y objetos">
    <p:spTree>
      <p:nvGrpSpPr>
        <p:cNvPr id="1" name="Shape 21"/>
        <p:cNvGrpSpPr/>
        <p:nvPr/>
      </p:nvGrpSpPr>
      <p:grpSpPr>
        <a:xfrm>
          <a:off x="0" y="0"/>
          <a:ext cx="0" cy="0"/>
          <a:chOff x="0" y="0"/>
          <a:chExt cx="0" cy="0"/>
        </a:xfrm>
      </p:grpSpPr>
      <p:grpSp>
        <p:nvGrpSpPr>
          <p:cNvPr id="22" name="Google Shape;22;p4"/>
          <p:cNvGrpSpPr/>
          <p:nvPr/>
        </p:nvGrpSpPr>
        <p:grpSpPr>
          <a:xfrm>
            <a:off x="0" y="5716598"/>
            <a:ext cx="11959674" cy="939388"/>
            <a:chOff x="0" y="5716598"/>
            <a:chExt cx="11959674" cy="939388"/>
          </a:xfrm>
        </p:grpSpPr>
        <p:pic>
          <p:nvPicPr>
            <p:cNvPr id="23" name="Google Shape;23;p4"/>
            <p:cNvPicPr preferRelativeResize="0"/>
            <p:nvPr/>
          </p:nvPicPr>
          <p:blipFill rotWithShape="1">
            <a:blip r:embed="rId2">
              <a:alphaModFix/>
            </a:blip>
            <a:srcRect/>
            <a:stretch/>
          </p:blipFill>
          <p:spPr>
            <a:xfrm>
              <a:off x="0" y="5716598"/>
              <a:ext cx="11034643" cy="939388"/>
            </a:xfrm>
            <a:prstGeom prst="rect">
              <a:avLst/>
            </a:prstGeom>
            <a:noFill/>
            <a:ln>
              <a:noFill/>
            </a:ln>
          </p:spPr>
        </p:pic>
        <p:sp>
          <p:nvSpPr>
            <p:cNvPr id="24" name="Google Shape;24;p4"/>
            <p:cNvSpPr/>
            <p:nvPr/>
          </p:nvSpPr>
          <p:spPr>
            <a:xfrm>
              <a:off x="11020286" y="5716598"/>
              <a:ext cx="939388" cy="939388"/>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sp>
        <p:nvSpPr>
          <p:cNvPr id="25" name="Google Shape;25;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4"/>
          <p:cNvSpPr txBox="1">
            <a:spLocks noGrp="1"/>
          </p:cNvSpPr>
          <p:nvPr>
            <p:ph type="body" idx="1"/>
          </p:nvPr>
        </p:nvSpPr>
        <p:spPr>
          <a:xfrm>
            <a:off x="838200" y="1825626"/>
            <a:ext cx="10515600" cy="38688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4"/>
          <p:cNvSpPr txBox="1">
            <a:spLocks noGrp="1"/>
          </p:cNvSpPr>
          <p:nvPr>
            <p:ph type="sldNum" idx="12"/>
          </p:nvPr>
        </p:nvSpPr>
        <p:spPr>
          <a:xfrm>
            <a:off x="11194770" y="6004476"/>
            <a:ext cx="624696"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s-ES"/>
              <a:t>‹Nº›</a:t>
            </a:fld>
            <a:endParaRPr/>
          </a:p>
        </p:txBody>
      </p:sp>
      <p:sp>
        <p:nvSpPr>
          <p:cNvPr id="28" name="Google Shape;28;p4"/>
          <p:cNvSpPr/>
          <p:nvPr/>
        </p:nvSpPr>
        <p:spPr>
          <a:xfrm>
            <a:off x="237434" y="6004476"/>
            <a:ext cx="5680765" cy="347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ES" sz="1600" b="1" i="0" u="none" strike="noStrike" cap="none">
                <a:solidFill>
                  <a:schemeClr val="lt1"/>
                </a:solidFill>
                <a:latin typeface="Arial"/>
                <a:ea typeface="Arial"/>
                <a:cs typeface="Arial"/>
                <a:sym typeface="Arial"/>
              </a:rPr>
              <a:t>TSP · Fractura del eje palier del motor de tracción — flota 980E-5</a:t>
            </a:r>
            <a:endParaRPr sz="1600" b="1"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29"/>
        <p:cNvGrpSpPr/>
        <p:nvPr/>
      </p:nvGrpSpPr>
      <p:grpSpPr>
        <a:xfrm>
          <a:off x="0" y="0"/>
          <a:ext cx="0" cy="0"/>
          <a:chOff x="0" y="0"/>
          <a:chExt cx="0" cy="0"/>
        </a:xfrm>
      </p:grpSpPr>
      <p:grpSp>
        <p:nvGrpSpPr>
          <p:cNvPr id="30" name="Google Shape;30;p5"/>
          <p:cNvGrpSpPr/>
          <p:nvPr/>
        </p:nvGrpSpPr>
        <p:grpSpPr>
          <a:xfrm>
            <a:off x="0" y="5716598"/>
            <a:ext cx="11959674" cy="939388"/>
            <a:chOff x="0" y="5716598"/>
            <a:chExt cx="11959674" cy="939388"/>
          </a:xfrm>
        </p:grpSpPr>
        <p:pic>
          <p:nvPicPr>
            <p:cNvPr id="31" name="Google Shape;31;p5"/>
            <p:cNvPicPr preferRelativeResize="0"/>
            <p:nvPr/>
          </p:nvPicPr>
          <p:blipFill rotWithShape="1">
            <a:blip r:embed="rId2">
              <a:alphaModFix/>
            </a:blip>
            <a:srcRect/>
            <a:stretch/>
          </p:blipFill>
          <p:spPr>
            <a:xfrm>
              <a:off x="0" y="5716598"/>
              <a:ext cx="11034643" cy="939388"/>
            </a:xfrm>
            <a:prstGeom prst="rect">
              <a:avLst/>
            </a:prstGeom>
            <a:noFill/>
            <a:ln>
              <a:noFill/>
            </a:ln>
          </p:spPr>
        </p:pic>
        <p:sp>
          <p:nvSpPr>
            <p:cNvPr id="32" name="Google Shape;32;p5"/>
            <p:cNvSpPr/>
            <p:nvPr/>
          </p:nvSpPr>
          <p:spPr>
            <a:xfrm>
              <a:off x="11020286" y="5716598"/>
              <a:ext cx="939388" cy="939388"/>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sp>
        <p:nvSpPr>
          <p:cNvPr id="33" name="Google Shape;33;p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2"/>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35" name="Google Shape;35;p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36" name="Google Shape;36;p5"/>
          <p:cNvSpPr txBox="1">
            <a:spLocks noGrp="1"/>
          </p:cNvSpPr>
          <p:nvPr>
            <p:ph type="sldNum" idx="12"/>
          </p:nvPr>
        </p:nvSpPr>
        <p:spPr>
          <a:xfrm>
            <a:off x="11194770" y="6004476"/>
            <a:ext cx="624696"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s-ES"/>
              <a:t>‹Nº›</a:t>
            </a:fld>
            <a:endParaRPr/>
          </a:p>
        </p:txBody>
      </p:sp>
      <p:sp>
        <p:nvSpPr>
          <p:cNvPr id="37" name="Google Shape;37;p5"/>
          <p:cNvSpPr/>
          <p:nvPr/>
        </p:nvSpPr>
        <p:spPr>
          <a:xfrm>
            <a:off x="237434" y="6004476"/>
            <a:ext cx="5680765" cy="347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ES" sz="1600" b="1" i="0" u="none" strike="noStrike" cap="none">
                <a:solidFill>
                  <a:schemeClr val="lt1"/>
                </a:solidFill>
                <a:latin typeface="Arial"/>
                <a:ea typeface="Arial"/>
                <a:cs typeface="Arial"/>
                <a:sym typeface="Arial"/>
              </a:rPr>
              <a:t>Título de la presentación</a:t>
            </a:r>
            <a:endParaRPr sz="1600" b="1"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8"/>
        <p:cNvGrpSpPr/>
        <p:nvPr/>
      </p:nvGrpSpPr>
      <p:grpSpPr>
        <a:xfrm>
          <a:off x="0" y="0"/>
          <a:ext cx="0" cy="0"/>
          <a:chOff x="0" y="0"/>
          <a:chExt cx="0" cy="0"/>
        </a:xfrm>
      </p:grpSpPr>
      <p:grpSp>
        <p:nvGrpSpPr>
          <p:cNvPr id="39" name="Google Shape;39;p6"/>
          <p:cNvGrpSpPr/>
          <p:nvPr/>
        </p:nvGrpSpPr>
        <p:grpSpPr>
          <a:xfrm>
            <a:off x="0" y="5716598"/>
            <a:ext cx="11959674" cy="939388"/>
            <a:chOff x="0" y="5716598"/>
            <a:chExt cx="11959674" cy="939388"/>
          </a:xfrm>
        </p:grpSpPr>
        <p:pic>
          <p:nvPicPr>
            <p:cNvPr id="40" name="Google Shape;40;p6"/>
            <p:cNvPicPr preferRelativeResize="0"/>
            <p:nvPr/>
          </p:nvPicPr>
          <p:blipFill rotWithShape="1">
            <a:blip r:embed="rId2">
              <a:alphaModFix/>
            </a:blip>
            <a:srcRect/>
            <a:stretch/>
          </p:blipFill>
          <p:spPr>
            <a:xfrm>
              <a:off x="0" y="5716598"/>
              <a:ext cx="11034643" cy="939388"/>
            </a:xfrm>
            <a:prstGeom prst="rect">
              <a:avLst/>
            </a:prstGeom>
            <a:noFill/>
            <a:ln>
              <a:noFill/>
            </a:ln>
          </p:spPr>
        </p:pic>
        <p:sp>
          <p:nvSpPr>
            <p:cNvPr id="41" name="Google Shape;41;p6"/>
            <p:cNvSpPr/>
            <p:nvPr/>
          </p:nvSpPr>
          <p:spPr>
            <a:xfrm>
              <a:off x="11020286" y="5716598"/>
              <a:ext cx="939388" cy="939388"/>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sp>
        <p:nvSpPr>
          <p:cNvPr id="42" name="Google Shape;42;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6"/>
          <p:cNvSpPr txBox="1">
            <a:spLocks noGrp="1"/>
          </p:cNvSpPr>
          <p:nvPr>
            <p:ph type="sldNum" idx="12"/>
          </p:nvPr>
        </p:nvSpPr>
        <p:spPr>
          <a:xfrm>
            <a:off x="11194770" y="6004476"/>
            <a:ext cx="624696"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s-ES"/>
              <a:t>‹Nº›</a:t>
            </a:fld>
            <a:endParaRPr/>
          </a:p>
        </p:txBody>
      </p:sp>
      <p:sp>
        <p:nvSpPr>
          <p:cNvPr id="46" name="Google Shape;46;p6"/>
          <p:cNvSpPr/>
          <p:nvPr/>
        </p:nvSpPr>
        <p:spPr>
          <a:xfrm>
            <a:off x="237434" y="6004476"/>
            <a:ext cx="5680765" cy="347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ES" sz="1600" b="1" i="0" u="none" strike="noStrike" cap="none">
                <a:solidFill>
                  <a:schemeClr val="lt1"/>
                </a:solidFill>
                <a:latin typeface="Arial"/>
                <a:ea typeface="Arial"/>
                <a:cs typeface="Arial"/>
                <a:sym typeface="Arial"/>
              </a:rPr>
              <a:t>Título de la presentación</a:t>
            </a:r>
            <a:endParaRPr sz="1600" b="1"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7"/>
        <p:cNvGrpSpPr/>
        <p:nvPr/>
      </p:nvGrpSpPr>
      <p:grpSpPr>
        <a:xfrm>
          <a:off x="0" y="0"/>
          <a:ext cx="0" cy="0"/>
          <a:chOff x="0" y="0"/>
          <a:chExt cx="0" cy="0"/>
        </a:xfrm>
      </p:grpSpPr>
      <p:grpSp>
        <p:nvGrpSpPr>
          <p:cNvPr id="48" name="Google Shape;48;p7"/>
          <p:cNvGrpSpPr/>
          <p:nvPr/>
        </p:nvGrpSpPr>
        <p:grpSpPr>
          <a:xfrm>
            <a:off x="0" y="5716598"/>
            <a:ext cx="11959674" cy="939388"/>
            <a:chOff x="0" y="5716598"/>
            <a:chExt cx="11959674" cy="939388"/>
          </a:xfrm>
        </p:grpSpPr>
        <p:pic>
          <p:nvPicPr>
            <p:cNvPr id="49" name="Google Shape;49;p7"/>
            <p:cNvPicPr preferRelativeResize="0"/>
            <p:nvPr/>
          </p:nvPicPr>
          <p:blipFill rotWithShape="1">
            <a:blip r:embed="rId2">
              <a:alphaModFix/>
            </a:blip>
            <a:srcRect/>
            <a:stretch/>
          </p:blipFill>
          <p:spPr>
            <a:xfrm>
              <a:off x="0" y="5716598"/>
              <a:ext cx="11034643" cy="939388"/>
            </a:xfrm>
            <a:prstGeom prst="rect">
              <a:avLst/>
            </a:prstGeom>
            <a:noFill/>
            <a:ln>
              <a:noFill/>
            </a:ln>
          </p:spPr>
        </p:pic>
        <p:sp>
          <p:nvSpPr>
            <p:cNvPr id="50" name="Google Shape;50;p7"/>
            <p:cNvSpPr/>
            <p:nvPr/>
          </p:nvSpPr>
          <p:spPr>
            <a:xfrm>
              <a:off x="11020286" y="5716598"/>
              <a:ext cx="939388" cy="939388"/>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sp>
        <p:nvSpPr>
          <p:cNvPr id="51" name="Google Shape;51;p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3" name="Google Shape;53;p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5" name="Google Shape;55;p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6" name="Google Shape;56;p7"/>
          <p:cNvSpPr txBox="1">
            <a:spLocks noGrp="1"/>
          </p:cNvSpPr>
          <p:nvPr>
            <p:ph type="sldNum" idx="12"/>
          </p:nvPr>
        </p:nvSpPr>
        <p:spPr>
          <a:xfrm>
            <a:off x="11194770" y="6004476"/>
            <a:ext cx="624696"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s-ES"/>
              <a:t>‹Nº›</a:t>
            </a:fld>
            <a:endParaRPr/>
          </a:p>
        </p:txBody>
      </p:sp>
      <p:sp>
        <p:nvSpPr>
          <p:cNvPr id="57" name="Google Shape;57;p7"/>
          <p:cNvSpPr/>
          <p:nvPr/>
        </p:nvSpPr>
        <p:spPr>
          <a:xfrm>
            <a:off x="237434" y="6004476"/>
            <a:ext cx="5680765" cy="347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ES" sz="1600" b="1" i="0" u="none" strike="noStrike" cap="none">
                <a:solidFill>
                  <a:schemeClr val="lt1"/>
                </a:solidFill>
                <a:latin typeface="Arial"/>
                <a:ea typeface="Arial"/>
                <a:cs typeface="Arial"/>
                <a:sym typeface="Arial"/>
              </a:rPr>
              <a:t>Título de la presentación</a:t>
            </a:r>
            <a:endParaRPr sz="1600" b="1"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58"/>
        <p:cNvGrpSpPr/>
        <p:nvPr/>
      </p:nvGrpSpPr>
      <p:grpSpPr>
        <a:xfrm>
          <a:off x="0" y="0"/>
          <a:ext cx="0" cy="0"/>
          <a:chOff x="0" y="0"/>
          <a:chExt cx="0" cy="0"/>
        </a:xfrm>
      </p:grpSpPr>
      <p:grpSp>
        <p:nvGrpSpPr>
          <p:cNvPr id="59" name="Google Shape;59;p8"/>
          <p:cNvGrpSpPr/>
          <p:nvPr/>
        </p:nvGrpSpPr>
        <p:grpSpPr>
          <a:xfrm>
            <a:off x="0" y="5716598"/>
            <a:ext cx="11959674" cy="939388"/>
            <a:chOff x="0" y="5716598"/>
            <a:chExt cx="11959674" cy="939388"/>
          </a:xfrm>
        </p:grpSpPr>
        <p:pic>
          <p:nvPicPr>
            <p:cNvPr id="60" name="Google Shape;60;p8"/>
            <p:cNvPicPr preferRelativeResize="0"/>
            <p:nvPr/>
          </p:nvPicPr>
          <p:blipFill rotWithShape="1">
            <a:blip r:embed="rId2">
              <a:alphaModFix/>
            </a:blip>
            <a:srcRect/>
            <a:stretch/>
          </p:blipFill>
          <p:spPr>
            <a:xfrm>
              <a:off x="0" y="5716598"/>
              <a:ext cx="11034643" cy="939388"/>
            </a:xfrm>
            <a:prstGeom prst="rect">
              <a:avLst/>
            </a:prstGeom>
            <a:noFill/>
            <a:ln>
              <a:noFill/>
            </a:ln>
          </p:spPr>
        </p:pic>
        <p:sp>
          <p:nvSpPr>
            <p:cNvPr id="61" name="Google Shape;61;p8"/>
            <p:cNvSpPr/>
            <p:nvPr/>
          </p:nvSpPr>
          <p:spPr>
            <a:xfrm>
              <a:off x="11020286" y="5716598"/>
              <a:ext cx="939388" cy="939388"/>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sp>
        <p:nvSpPr>
          <p:cNvPr id="62" name="Google Shape;62;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8"/>
          <p:cNvSpPr txBox="1">
            <a:spLocks noGrp="1"/>
          </p:cNvSpPr>
          <p:nvPr>
            <p:ph type="sldNum" idx="12"/>
          </p:nvPr>
        </p:nvSpPr>
        <p:spPr>
          <a:xfrm>
            <a:off x="11194770" y="6004476"/>
            <a:ext cx="624696"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s-ES"/>
              <a:t>‹Nº›</a:t>
            </a:fld>
            <a:endParaRPr/>
          </a:p>
        </p:txBody>
      </p:sp>
      <p:sp>
        <p:nvSpPr>
          <p:cNvPr id="64" name="Google Shape;64;p8"/>
          <p:cNvSpPr/>
          <p:nvPr/>
        </p:nvSpPr>
        <p:spPr>
          <a:xfrm>
            <a:off x="237434" y="6004476"/>
            <a:ext cx="5680765" cy="347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ES" sz="1600" b="1" i="0" u="none" strike="noStrike" cap="none">
                <a:solidFill>
                  <a:schemeClr val="lt1"/>
                </a:solidFill>
                <a:latin typeface="Arial"/>
                <a:ea typeface="Arial"/>
                <a:cs typeface="Arial"/>
                <a:sym typeface="Arial"/>
              </a:rPr>
              <a:t>TSP · Fractura del eje palier del motor de tracción — flota 980E-5</a:t>
            </a:r>
            <a:endParaRPr sz="1600" b="1"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En blanco">
  <p:cSld name="En blanco">
    <p:spTree>
      <p:nvGrpSpPr>
        <p:cNvPr id="1" name="Shape 65"/>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6"/>
        <p:cNvGrpSpPr/>
        <p:nvPr/>
      </p:nvGrpSpPr>
      <p:grpSpPr>
        <a:xfrm>
          <a:off x="0" y="0"/>
          <a:ext cx="0" cy="0"/>
          <a:chOff x="0" y="0"/>
          <a:chExt cx="0" cy="0"/>
        </a:xfrm>
      </p:grpSpPr>
      <p:grpSp>
        <p:nvGrpSpPr>
          <p:cNvPr id="67" name="Google Shape;67;p10"/>
          <p:cNvGrpSpPr/>
          <p:nvPr/>
        </p:nvGrpSpPr>
        <p:grpSpPr>
          <a:xfrm>
            <a:off x="0" y="5716598"/>
            <a:ext cx="11959674" cy="939388"/>
            <a:chOff x="0" y="5716598"/>
            <a:chExt cx="11959674" cy="939388"/>
          </a:xfrm>
        </p:grpSpPr>
        <p:pic>
          <p:nvPicPr>
            <p:cNvPr id="68" name="Google Shape;68;p10"/>
            <p:cNvPicPr preferRelativeResize="0"/>
            <p:nvPr/>
          </p:nvPicPr>
          <p:blipFill rotWithShape="1">
            <a:blip r:embed="rId2">
              <a:alphaModFix/>
            </a:blip>
            <a:srcRect/>
            <a:stretch/>
          </p:blipFill>
          <p:spPr>
            <a:xfrm>
              <a:off x="0" y="5716598"/>
              <a:ext cx="11034643" cy="939388"/>
            </a:xfrm>
            <a:prstGeom prst="rect">
              <a:avLst/>
            </a:prstGeom>
            <a:noFill/>
            <a:ln>
              <a:noFill/>
            </a:ln>
          </p:spPr>
        </p:pic>
        <p:sp>
          <p:nvSpPr>
            <p:cNvPr id="69" name="Google Shape;69;p10"/>
            <p:cNvSpPr/>
            <p:nvPr/>
          </p:nvSpPr>
          <p:spPr>
            <a:xfrm>
              <a:off x="11020286" y="5716598"/>
              <a:ext cx="939388" cy="939388"/>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sp>
        <p:nvSpPr>
          <p:cNvPr id="70" name="Google Shape;70;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2"/>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0"/>
          <p:cNvSpPr>
            <a:spLocks noGrp="1"/>
          </p:cNvSpPr>
          <p:nvPr>
            <p:ph type="pic" idx="2"/>
          </p:nvPr>
        </p:nvSpPr>
        <p:spPr>
          <a:xfrm>
            <a:off x="5183188" y="987426"/>
            <a:ext cx="6172200" cy="4541308"/>
          </a:xfrm>
          <a:prstGeom prst="rect">
            <a:avLst/>
          </a:prstGeom>
          <a:noFill/>
          <a:ln>
            <a:noFill/>
          </a:ln>
        </p:spPr>
      </p:sp>
      <p:sp>
        <p:nvSpPr>
          <p:cNvPr id="72" name="Google Shape;72;p10"/>
          <p:cNvSpPr txBox="1">
            <a:spLocks noGrp="1"/>
          </p:cNvSpPr>
          <p:nvPr>
            <p:ph type="body" idx="1"/>
          </p:nvPr>
        </p:nvSpPr>
        <p:spPr>
          <a:xfrm>
            <a:off x="839788" y="2057400"/>
            <a:ext cx="3932237" cy="35516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3" name="Google Shape;73;p10"/>
          <p:cNvSpPr txBox="1">
            <a:spLocks noGrp="1"/>
          </p:cNvSpPr>
          <p:nvPr>
            <p:ph type="sldNum" idx="12"/>
          </p:nvPr>
        </p:nvSpPr>
        <p:spPr>
          <a:xfrm>
            <a:off x="11194770" y="6004476"/>
            <a:ext cx="624696"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s-ES"/>
              <a:t>‹Nº›</a:t>
            </a:fld>
            <a:endParaRPr/>
          </a:p>
        </p:txBody>
      </p:sp>
      <p:sp>
        <p:nvSpPr>
          <p:cNvPr id="74" name="Google Shape;74;p10"/>
          <p:cNvSpPr/>
          <p:nvPr/>
        </p:nvSpPr>
        <p:spPr>
          <a:xfrm>
            <a:off x="237434" y="6004476"/>
            <a:ext cx="5680765" cy="347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ES" sz="1600" b="1" i="0" u="none" strike="noStrike" cap="none">
                <a:solidFill>
                  <a:schemeClr val="lt1"/>
                </a:solidFill>
                <a:latin typeface="Arial"/>
                <a:ea typeface="Arial"/>
                <a:cs typeface="Arial"/>
                <a:sym typeface="Arial"/>
              </a:rPr>
              <a:t>Título de la presentación</a:t>
            </a:r>
            <a:endParaRPr sz="1600" b="1"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5"/>
        <p:cNvGrpSpPr/>
        <p:nvPr/>
      </p:nvGrpSpPr>
      <p:grpSpPr>
        <a:xfrm>
          <a:off x="0" y="0"/>
          <a:ext cx="0" cy="0"/>
          <a:chOff x="0" y="0"/>
          <a:chExt cx="0" cy="0"/>
        </a:xfrm>
      </p:grpSpPr>
      <p:grpSp>
        <p:nvGrpSpPr>
          <p:cNvPr id="76" name="Google Shape;76;p11"/>
          <p:cNvGrpSpPr/>
          <p:nvPr/>
        </p:nvGrpSpPr>
        <p:grpSpPr>
          <a:xfrm>
            <a:off x="0" y="5716598"/>
            <a:ext cx="11959674" cy="939388"/>
            <a:chOff x="0" y="5716598"/>
            <a:chExt cx="11959674" cy="939388"/>
          </a:xfrm>
        </p:grpSpPr>
        <p:pic>
          <p:nvPicPr>
            <p:cNvPr id="77" name="Google Shape;77;p11"/>
            <p:cNvPicPr preferRelativeResize="0"/>
            <p:nvPr/>
          </p:nvPicPr>
          <p:blipFill rotWithShape="1">
            <a:blip r:embed="rId2">
              <a:alphaModFix/>
            </a:blip>
            <a:srcRect/>
            <a:stretch/>
          </p:blipFill>
          <p:spPr>
            <a:xfrm>
              <a:off x="0" y="5716598"/>
              <a:ext cx="11034643" cy="939388"/>
            </a:xfrm>
            <a:prstGeom prst="rect">
              <a:avLst/>
            </a:prstGeom>
            <a:noFill/>
            <a:ln>
              <a:noFill/>
            </a:ln>
          </p:spPr>
        </p:pic>
        <p:sp>
          <p:nvSpPr>
            <p:cNvPr id="78" name="Google Shape;78;p11"/>
            <p:cNvSpPr/>
            <p:nvPr/>
          </p:nvSpPr>
          <p:spPr>
            <a:xfrm>
              <a:off x="11020286" y="5716598"/>
              <a:ext cx="939388" cy="939388"/>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sp>
        <p:nvSpPr>
          <p:cNvPr id="79" name="Google Shape;79;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1"/>
          <p:cNvSpPr txBox="1">
            <a:spLocks noGrp="1"/>
          </p:cNvSpPr>
          <p:nvPr>
            <p:ph type="body" idx="1"/>
          </p:nvPr>
        </p:nvSpPr>
        <p:spPr>
          <a:xfrm rot="5400000">
            <a:off x="4161556" y="-1497730"/>
            <a:ext cx="386888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1"/>
          <p:cNvSpPr txBox="1">
            <a:spLocks noGrp="1"/>
          </p:cNvSpPr>
          <p:nvPr>
            <p:ph type="sldNum" idx="12"/>
          </p:nvPr>
        </p:nvSpPr>
        <p:spPr>
          <a:xfrm>
            <a:off x="11194770" y="6004476"/>
            <a:ext cx="624696"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s-ES"/>
              <a:t>‹Nº›</a:t>
            </a:fld>
            <a:endParaRPr/>
          </a:p>
        </p:txBody>
      </p:sp>
      <p:sp>
        <p:nvSpPr>
          <p:cNvPr id="82" name="Google Shape;82;p11"/>
          <p:cNvSpPr/>
          <p:nvPr/>
        </p:nvSpPr>
        <p:spPr>
          <a:xfrm>
            <a:off x="237434" y="6004476"/>
            <a:ext cx="5680765" cy="347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ES" sz="1600" b="1" i="0" u="none" strike="noStrike" cap="none">
                <a:solidFill>
                  <a:schemeClr val="lt1"/>
                </a:solidFill>
                <a:latin typeface="Arial"/>
                <a:ea typeface="Arial"/>
                <a:cs typeface="Arial"/>
                <a:sym typeface="Arial"/>
              </a:rPr>
              <a:t>Título de la presentación</a:t>
            </a:r>
            <a:endParaRPr sz="1600" b="1"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83"/>
        <p:cNvGrpSpPr/>
        <p:nvPr/>
      </p:nvGrpSpPr>
      <p:grpSpPr>
        <a:xfrm>
          <a:off x="0" y="0"/>
          <a:ext cx="0" cy="0"/>
          <a:chOff x="0" y="0"/>
          <a:chExt cx="0" cy="0"/>
        </a:xfrm>
      </p:grpSpPr>
      <p:grpSp>
        <p:nvGrpSpPr>
          <p:cNvPr id="84" name="Google Shape;84;p12"/>
          <p:cNvGrpSpPr/>
          <p:nvPr/>
        </p:nvGrpSpPr>
        <p:grpSpPr>
          <a:xfrm>
            <a:off x="0" y="5716598"/>
            <a:ext cx="11959674" cy="939388"/>
            <a:chOff x="0" y="5716598"/>
            <a:chExt cx="11959674" cy="939388"/>
          </a:xfrm>
        </p:grpSpPr>
        <p:pic>
          <p:nvPicPr>
            <p:cNvPr id="85" name="Google Shape;85;p12"/>
            <p:cNvPicPr preferRelativeResize="0"/>
            <p:nvPr/>
          </p:nvPicPr>
          <p:blipFill rotWithShape="1">
            <a:blip r:embed="rId2">
              <a:alphaModFix/>
            </a:blip>
            <a:srcRect/>
            <a:stretch/>
          </p:blipFill>
          <p:spPr>
            <a:xfrm>
              <a:off x="0" y="5716598"/>
              <a:ext cx="11034643" cy="939388"/>
            </a:xfrm>
            <a:prstGeom prst="rect">
              <a:avLst/>
            </a:prstGeom>
            <a:noFill/>
            <a:ln>
              <a:noFill/>
            </a:ln>
          </p:spPr>
        </p:pic>
        <p:sp>
          <p:nvSpPr>
            <p:cNvPr id="86" name="Google Shape;86;p12"/>
            <p:cNvSpPr/>
            <p:nvPr/>
          </p:nvSpPr>
          <p:spPr>
            <a:xfrm>
              <a:off x="11020286" y="5716598"/>
              <a:ext cx="939388" cy="939388"/>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sp>
        <p:nvSpPr>
          <p:cNvPr id="87" name="Google Shape;87;p12"/>
          <p:cNvSpPr txBox="1">
            <a:spLocks noGrp="1"/>
          </p:cNvSpPr>
          <p:nvPr>
            <p:ph type="title"/>
          </p:nvPr>
        </p:nvSpPr>
        <p:spPr>
          <a:xfrm rot="5400000">
            <a:off x="7363614" y="1726412"/>
            <a:ext cx="5351473"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12"/>
          <p:cNvSpPr txBox="1">
            <a:spLocks noGrp="1"/>
          </p:cNvSpPr>
          <p:nvPr>
            <p:ph type="body" idx="1"/>
          </p:nvPr>
        </p:nvSpPr>
        <p:spPr>
          <a:xfrm rot="5400000">
            <a:off x="2029614" y="-826288"/>
            <a:ext cx="5351473"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9" name="Google Shape;89;p12"/>
          <p:cNvSpPr txBox="1">
            <a:spLocks noGrp="1"/>
          </p:cNvSpPr>
          <p:nvPr>
            <p:ph type="sldNum" idx="12"/>
          </p:nvPr>
        </p:nvSpPr>
        <p:spPr>
          <a:xfrm>
            <a:off x="11194770" y="6004476"/>
            <a:ext cx="624696"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s-ES"/>
              <a:t>‹Nº›</a:t>
            </a:fld>
            <a:endParaRPr/>
          </a:p>
        </p:txBody>
      </p:sp>
      <p:sp>
        <p:nvSpPr>
          <p:cNvPr id="90" name="Google Shape;90;p12"/>
          <p:cNvSpPr/>
          <p:nvPr/>
        </p:nvSpPr>
        <p:spPr>
          <a:xfrm>
            <a:off x="237434" y="6004476"/>
            <a:ext cx="5680765" cy="347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ES" sz="1600" b="1" i="0" u="none" strike="noStrike" cap="none">
                <a:solidFill>
                  <a:schemeClr val="lt1"/>
                </a:solidFill>
                <a:latin typeface="Arial"/>
                <a:ea typeface="Arial"/>
                <a:cs typeface="Arial"/>
                <a:sym typeface="Arial"/>
              </a:rPr>
              <a:t>Título de la presentación</a:t>
            </a:r>
            <a:endParaRPr sz="1600" b="1" i="0" u="none" strike="noStrike" cap="none">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2"/>
              </a:buClr>
              <a:buSzPts val="4400"/>
              <a:buFont typeface="Arial"/>
              <a:buNone/>
              <a:defRPr sz="4400" b="1" i="0" u="none" strike="noStrike" cap="none">
                <a:solidFill>
                  <a:schemeClr val="dk2"/>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6"/>
            <a:ext cx="10515600" cy="386888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1"/>
          <p:cNvSpPr txBox="1">
            <a:spLocks noGrp="1"/>
          </p:cNvSpPr>
          <p:nvPr>
            <p:ph type="ftr" idx="11"/>
          </p:nvPr>
        </p:nvSpPr>
        <p:spPr>
          <a:xfrm>
            <a:off x="237435" y="6013034"/>
            <a:ext cx="6070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1"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1"/>
          <p:cNvSpPr txBox="1">
            <a:spLocks noGrp="1"/>
          </p:cNvSpPr>
          <p:nvPr>
            <p:ph type="sldNum" idx="12"/>
          </p:nvPr>
        </p:nvSpPr>
        <p:spPr>
          <a:xfrm>
            <a:off x="11194770" y="6004476"/>
            <a:ext cx="624696" cy="365125"/>
          </a:xfrm>
          <a:prstGeom prst="rect">
            <a:avLst/>
          </a:prstGeom>
          <a:noFill/>
          <a:ln>
            <a:noFill/>
          </a:ln>
        </p:spPr>
        <p:txBody>
          <a:bodyPr spcFirstLastPara="1" wrap="square" lIns="91425" tIns="45700" rIns="91425" bIns="45700" anchor="ctr" anchorCtr="0">
            <a:noAutofit/>
          </a:bodyPr>
          <a:lstStyle>
            <a:lvl1pPr marL="0" marR="0" lvl="0"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1pPr>
            <a:lvl2pPr marL="0" marR="0" lvl="1"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2pPr>
            <a:lvl3pPr marL="0" marR="0" lvl="2"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3pPr>
            <a:lvl4pPr marL="0" marR="0" lvl="3"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4pPr>
            <a:lvl5pPr marL="0" marR="0" lvl="4"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5pPr>
            <a:lvl6pPr marL="0" marR="0" lvl="5"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6pPr>
            <a:lvl7pPr marL="0" marR="0" lvl="6"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7pPr>
            <a:lvl8pPr marL="0" marR="0" lvl="7"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8pPr>
            <a:lvl9pPr marL="0" marR="0" lvl="8" indent="0" algn="ctr" rtl="0">
              <a:lnSpc>
                <a:spcPct val="100000"/>
              </a:lnSpc>
              <a:spcBef>
                <a:spcPts val="0"/>
              </a:spcBef>
              <a:spcAft>
                <a:spcPts val="0"/>
              </a:spcAft>
              <a:buClr>
                <a:srgbClr val="000000"/>
              </a:buClr>
              <a:buSzPts val="1600"/>
              <a:buFont typeface="Arial"/>
              <a:buNone/>
              <a:defRPr sz="1600" b="1" i="0" u="none" strike="noStrike" cap="none">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4.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274320"/>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3" name="TextBox 2"/>
          <p:cNvSpPr txBox="1"/>
          <p:nvPr/>
        </p:nvSpPr>
        <p:spPr>
          <a:xfrm>
            <a:off x="841248" y="786384"/>
            <a:ext cx="10515600" cy="548640"/>
          </a:xfrm>
          <a:prstGeom prst="rect">
            <a:avLst/>
          </a:prstGeom>
          <a:noFill/>
        </p:spPr>
        <p:txBody>
          <a:bodyPr wrap="square" lIns="0" tIns="0" rIns="0" bIns="0" anchor="t">
            <a:spAutoFit/>
          </a:bodyPr>
          <a:lstStyle/>
          <a:p>
            <a:pPr algn="l">
              <a:lnSpc>
                <a:spcPct val="114000"/>
              </a:lnSpc>
              <a:spcBef>
                <a:spcPts val="0"/>
              </a:spcBef>
              <a:spcAft>
                <a:spcPts val="300"/>
              </a:spcAft>
            </a:pPr>
            <a:r>
              <a:rPr lang="es-PE" sz="1300" b="1" i="0" noProof="0" dirty="0">
                <a:solidFill>
                  <a:srgbClr val="042354"/>
                </a:solidFill>
                <a:latin typeface="Arial"/>
              </a:rPr>
              <a:t>PONTIFICIA UNIVERSIDAD CATÓLICA DEL PERÚ</a:t>
            </a:r>
          </a:p>
          <a:p>
            <a:pPr algn="l">
              <a:lnSpc>
                <a:spcPct val="114000"/>
              </a:lnSpc>
              <a:spcBef>
                <a:spcPts val="0"/>
              </a:spcBef>
              <a:spcAft>
                <a:spcPts val="400"/>
              </a:spcAft>
            </a:pPr>
            <a:r>
              <a:rPr lang="es-PE" sz="1300" b="1" i="0" noProof="0" dirty="0">
                <a:solidFill>
                  <a:srgbClr val="4A5568"/>
                </a:solidFill>
                <a:latin typeface="Arial"/>
              </a:rPr>
              <a:t>FACULTAD DE CIENCIAS E INGENIERÍA</a:t>
            </a:r>
          </a:p>
        </p:txBody>
      </p:sp>
      <p:cxnSp>
        <p:nvCxnSpPr>
          <p:cNvPr id="4" name="Connector 3"/>
          <p:cNvCxnSpPr/>
          <p:nvPr/>
        </p:nvCxnSpPr>
        <p:spPr>
          <a:xfrm>
            <a:off x="841248" y="1700784"/>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841248" y="1700784"/>
            <a:ext cx="1463040" cy="0"/>
          </a:xfrm>
          <a:prstGeom prst="line">
            <a:avLst/>
          </a:prstGeom>
          <a:ln w="38100">
            <a:solidFill>
              <a:srgbClr val="C3094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956816"/>
            <a:ext cx="8275320" cy="1737360"/>
          </a:xfrm>
          <a:prstGeom prst="rect">
            <a:avLst/>
          </a:prstGeom>
          <a:noFill/>
        </p:spPr>
        <p:txBody>
          <a:bodyPr wrap="square" lIns="0" tIns="0" rIns="0" bIns="0" anchor="t">
            <a:spAutoFit/>
          </a:bodyPr>
          <a:lstStyle/>
          <a:p>
            <a:pPr algn="l">
              <a:lnSpc>
                <a:spcPct val="112000"/>
              </a:lnSpc>
              <a:spcBef>
                <a:spcPts val="0"/>
              </a:spcBef>
              <a:spcAft>
                <a:spcPts val="400"/>
              </a:spcAft>
            </a:pPr>
            <a:r>
              <a:rPr lang="es-PE" sz="2500" b="1" i="0" noProof="0" dirty="0">
                <a:solidFill>
                  <a:srgbClr val="042354"/>
                </a:solidFill>
                <a:latin typeface="Arial"/>
              </a:rPr>
              <a:t>Recuperación de los indicadores de mantenimiento de la flota 980E-5 de acarreo minero debido a la falla del eje palier del sistema de propulsión</a:t>
            </a:r>
          </a:p>
        </p:txBody>
      </p:sp>
      <p:sp>
        <p:nvSpPr>
          <p:cNvPr id="7" name="TextBox 6"/>
          <p:cNvSpPr txBox="1"/>
          <p:nvPr/>
        </p:nvSpPr>
        <p:spPr>
          <a:xfrm>
            <a:off x="841248" y="3803904"/>
            <a:ext cx="8275320" cy="365760"/>
          </a:xfrm>
          <a:prstGeom prst="rect">
            <a:avLst/>
          </a:prstGeom>
          <a:noFill/>
        </p:spPr>
        <p:txBody>
          <a:bodyPr wrap="square" lIns="0" tIns="0" rIns="0" bIns="0" anchor="t">
            <a:spAutoFit/>
          </a:bodyPr>
          <a:lstStyle/>
          <a:p>
            <a:pPr algn="l">
              <a:lnSpc>
                <a:spcPct val="114000"/>
              </a:lnSpc>
              <a:spcBef>
                <a:spcPts val="0"/>
              </a:spcBef>
              <a:spcAft>
                <a:spcPts val="400"/>
              </a:spcAft>
            </a:pPr>
            <a:r>
              <a:rPr lang="es-PE" sz="1150" b="0" i="0" noProof="0" dirty="0">
                <a:solidFill>
                  <a:srgbClr val="4A5568"/>
                </a:solidFill>
                <a:latin typeface="Arial"/>
              </a:rPr>
              <a:t>Trabajo de suficiencia profesional para obtener el título profesional de Ingeniero Mecánico</a:t>
            </a:r>
          </a:p>
        </p:txBody>
      </p:sp>
      <p:sp>
        <p:nvSpPr>
          <p:cNvPr id="8" name="Rectangle 7"/>
          <p:cNvSpPr/>
          <p:nvPr/>
        </p:nvSpPr>
        <p:spPr>
          <a:xfrm>
            <a:off x="841248" y="4315968"/>
            <a:ext cx="4892040" cy="93268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9" name="TextBox 8"/>
          <p:cNvSpPr txBox="1"/>
          <p:nvPr/>
        </p:nvSpPr>
        <p:spPr>
          <a:xfrm>
            <a:off x="1060704" y="4443984"/>
            <a:ext cx="4480560" cy="694944"/>
          </a:xfrm>
          <a:prstGeom prst="rect">
            <a:avLst/>
          </a:prstGeom>
          <a:noFill/>
        </p:spPr>
        <p:txBody>
          <a:bodyPr wrap="square" lIns="0" tIns="0" rIns="0" bIns="0" anchor="t">
            <a:spAutoFit/>
          </a:bodyPr>
          <a:lstStyle/>
          <a:p>
            <a:pPr algn="l">
              <a:lnSpc>
                <a:spcPct val="114000"/>
              </a:lnSpc>
              <a:spcBef>
                <a:spcPts val="0"/>
              </a:spcBef>
              <a:spcAft>
                <a:spcPts val="400"/>
              </a:spcAft>
            </a:pPr>
            <a:r>
              <a:rPr lang="es-PE" sz="850" b="1" i="0" noProof="0" dirty="0">
                <a:solidFill>
                  <a:srgbClr val="7A8494"/>
                </a:solidFill>
                <a:latin typeface="Arial"/>
              </a:rPr>
              <a:t>AUTOR</a:t>
            </a:r>
          </a:p>
          <a:p>
            <a:pPr algn="l">
              <a:lnSpc>
                <a:spcPct val="114000"/>
              </a:lnSpc>
              <a:spcBef>
                <a:spcPts val="0"/>
              </a:spcBef>
              <a:spcAft>
                <a:spcPts val="400"/>
              </a:spcAft>
            </a:pPr>
            <a:r>
              <a:rPr lang="es-PE" sz="1300" b="1" i="0" noProof="0" dirty="0">
                <a:solidFill>
                  <a:srgbClr val="042354"/>
                </a:solidFill>
                <a:latin typeface="Arial"/>
              </a:rPr>
              <a:t>Samir Aldair Cedillo Preciado</a:t>
            </a:r>
          </a:p>
        </p:txBody>
      </p:sp>
      <p:sp>
        <p:nvSpPr>
          <p:cNvPr id="10" name="Rectangle 9"/>
          <p:cNvSpPr/>
          <p:nvPr/>
        </p:nvSpPr>
        <p:spPr>
          <a:xfrm>
            <a:off x="5980176" y="4315968"/>
            <a:ext cx="4892040" cy="93268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1" name="TextBox 10"/>
          <p:cNvSpPr txBox="1"/>
          <p:nvPr/>
        </p:nvSpPr>
        <p:spPr>
          <a:xfrm>
            <a:off x="6199632" y="4443984"/>
            <a:ext cx="4480560" cy="694944"/>
          </a:xfrm>
          <a:prstGeom prst="rect">
            <a:avLst/>
          </a:prstGeom>
          <a:noFill/>
        </p:spPr>
        <p:txBody>
          <a:bodyPr wrap="square" lIns="0" tIns="0" rIns="0" bIns="0" anchor="t">
            <a:spAutoFit/>
          </a:bodyPr>
          <a:lstStyle/>
          <a:p>
            <a:pPr algn="l">
              <a:lnSpc>
                <a:spcPct val="114000"/>
              </a:lnSpc>
              <a:spcBef>
                <a:spcPts val="0"/>
              </a:spcBef>
              <a:spcAft>
                <a:spcPts val="400"/>
              </a:spcAft>
            </a:pPr>
            <a:r>
              <a:rPr lang="es-PE" sz="850" b="1" i="0" noProof="0" dirty="0">
                <a:solidFill>
                  <a:srgbClr val="7A8494"/>
                </a:solidFill>
                <a:latin typeface="Arial"/>
              </a:rPr>
              <a:t>ASESOR</a:t>
            </a:r>
          </a:p>
          <a:p>
            <a:pPr algn="l">
              <a:lnSpc>
                <a:spcPct val="114000"/>
              </a:lnSpc>
              <a:spcBef>
                <a:spcPts val="0"/>
              </a:spcBef>
              <a:spcAft>
                <a:spcPts val="400"/>
              </a:spcAft>
            </a:pPr>
            <a:r>
              <a:rPr lang="es-PE" sz="1300" b="1" i="0" noProof="0" dirty="0">
                <a:solidFill>
                  <a:srgbClr val="042354"/>
                </a:solidFill>
                <a:latin typeface="Arial"/>
              </a:rPr>
              <a:t>Ing. Carlos Alberto Juárez </a:t>
            </a:r>
            <a:r>
              <a:rPr lang="es-PE" sz="1300" b="1" i="0" noProof="0" dirty="0" err="1">
                <a:solidFill>
                  <a:srgbClr val="042354"/>
                </a:solidFill>
                <a:latin typeface="Arial"/>
              </a:rPr>
              <a:t>Aparcana</a:t>
            </a:r>
            <a:endParaRPr lang="es-PE" sz="1300" b="1" i="0" noProof="0" dirty="0">
              <a:solidFill>
                <a:srgbClr val="042354"/>
              </a:solidFill>
              <a:latin typeface="Arial"/>
            </a:endParaRPr>
          </a:p>
        </p:txBody>
      </p:sp>
      <p:sp>
        <p:nvSpPr>
          <p:cNvPr id="12" name="TextBox 11"/>
          <p:cNvSpPr txBox="1"/>
          <p:nvPr/>
        </p:nvSpPr>
        <p:spPr>
          <a:xfrm>
            <a:off x="841248" y="5449824"/>
            <a:ext cx="4572000" cy="292608"/>
          </a:xfrm>
          <a:prstGeom prst="rect">
            <a:avLst/>
          </a:prstGeom>
          <a:noFill/>
        </p:spPr>
        <p:txBody>
          <a:bodyPr wrap="square" lIns="0" tIns="0" rIns="0" bIns="0" anchor="t">
            <a:spAutoFit/>
          </a:bodyPr>
          <a:lstStyle/>
          <a:p>
            <a:pPr algn="l">
              <a:lnSpc>
                <a:spcPct val="114000"/>
              </a:lnSpc>
              <a:spcBef>
                <a:spcPts val="0"/>
              </a:spcBef>
              <a:spcAft>
                <a:spcPts val="400"/>
              </a:spcAft>
            </a:pPr>
            <a:r>
              <a:rPr lang="es-PE" sz="1100" b="0" i="0" noProof="0" dirty="0">
                <a:solidFill>
                  <a:srgbClr val="4A5568"/>
                </a:solidFill>
                <a:latin typeface="Arial"/>
              </a:rPr>
              <a:t>Lima, setiembre de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PE" sz="2200" b="1" i="0" noProof="0" dirty="0">
                <a:solidFill>
                  <a:srgbClr val="042354"/>
                </a:solidFill>
                <a:latin typeface="Arial"/>
              </a:rPr>
              <a:t>Contenido</a:t>
            </a: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PE" sz="1100" b="1" i="0" noProof="0" dirty="0">
                <a:solidFill>
                  <a:srgbClr val="FFFFFF"/>
                </a:solidFill>
                <a:latin typeface="Arial"/>
              </a:rPr>
              <a:t>2</a:t>
            </a:r>
          </a:p>
        </p:txBody>
      </p:sp>
      <p:sp>
        <p:nvSpPr>
          <p:cNvPr id="6" name="Rectangle 5"/>
          <p:cNvSpPr/>
          <p:nvPr/>
        </p:nvSpPr>
        <p:spPr>
          <a:xfrm>
            <a:off x="841248" y="1664208"/>
            <a:ext cx="10515600" cy="47548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7" name="Rectangle 6"/>
          <p:cNvSpPr/>
          <p:nvPr/>
        </p:nvSpPr>
        <p:spPr>
          <a:xfrm>
            <a:off x="841248" y="1664208"/>
            <a:ext cx="475488" cy="475488"/>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PE" sz="1200" b="1" i="0" noProof="0" dirty="0">
                <a:solidFill>
                  <a:srgbClr val="FFFFFF"/>
                </a:solidFill>
                <a:latin typeface="Arial"/>
              </a:rPr>
              <a:t>01</a:t>
            </a:r>
          </a:p>
        </p:txBody>
      </p:sp>
      <p:sp>
        <p:nvSpPr>
          <p:cNvPr id="8" name="TextBox 7"/>
          <p:cNvSpPr txBox="1"/>
          <p:nvPr/>
        </p:nvSpPr>
        <p:spPr>
          <a:xfrm>
            <a:off x="1536192" y="1795865"/>
            <a:ext cx="9601200" cy="212174"/>
          </a:xfrm>
          <a:prstGeom prst="rect">
            <a:avLst/>
          </a:prstGeom>
          <a:noFill/>
        </p:spPr>
        <p:txBody>
          <a:bodyPr wrap="square" lIns="0" tIns="0" rIns="0" bIns="0" anchor="ctr">
            <a:spAutoFit/>
          </a:bodyPr>
          <a:lstStyle/>
          <a:p>
            <a:pPr algn="l">
              <a:lnSpc>
                <a:spcPct val="106000"/>
              </a:lnSpc>
              <a:spcBef>
                <a:spcPts val="0"/>
              </a:spcBef>
              <a:spcAft>
                <a:spcPts val="400"/>
              </a:spcAft>
            </a:pPr>
            <a:r>
              <a:rPr lang="es-PE" sz="1400" b="0" i="0" noProof="0" dirty="0">
                <a:solidFill>
                  <a:srgbClr val="042354"/>
                </a:solidFill>
                <a:latin typeface="Arial"/>
              </a:rPr>
              <a:t>Definición del problema</a:t>
            </a:r>
          </a:p>
        </p:txBody>
      </p:sp>
      <p:sp>
        <p:nvSpPr>
          <p:cNvPr id="9" name="Rectangle 8"/>
          <p:cNvSpPr/>
          <p:nvPr/>
        </p:nvSpPr>
        <p:spPr>
          <a:xfrm>
            <a:off x="841248" y="2231136"/>
            <a:ext cx="10515600" cy="475488"/>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0" name="Rectangle 9"/>
          <p:cNvSpPr/>
          <p:nvPr/>
        </p:nvSpPr>
        <p:spPr>
          <a:xfrm>
            <a:off x="841248" y="2231136"/>
            <a:ext cx="475488" cy="475488"/>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PE" sz="1200" b="1" i="0" noProof="0" dirty="0">
                <a:solidFill>
                  <a:srgbClr val="FFFFFF"/>
                </a:solidFill>
                <a:latin typeface="Arial"/>
              </a:rPr>
              <a:t>02</a:t>
            </a:r>
          </a:p>
        </p:txBody>
      </p:sp>
      <p:sp>
        <p:nvSpPr>
          <p:cNvPr id="11" name="TextBox 10"/>
          <p:cNvSpPr txBox="1"/>
          <p:nvPr/>
        </p:nvSpPr>
        <p:spPr>
          <a:xfrm>
            <a:off x="1536192" y="2249424"/>
            <a:ext cx="9601200" cy="438912"/>
          </a:xfrm>
          <a:prstGeom prst="rect">
            <a:avLst/>
          </a:prstGeom>
          <a:noFill/>
        </p:spPr>
        <p:txBody>
          <a:bodyPr wrap="square" lIns="0" tIns="0" rIns="0" bIns="0" anchor="ctr">
            <a:spAutoFit/>
          </a:bodyPr>
          <a:lstStyle/>
          <a:p>
            <a:pPr algn="l">
              <a:lnSpc>
                <a:spcPct val="106000"/>
              </a:lnSpc>
              <a:spcBef>
                <a:spcPts val="0"/>
              </a:spcBef>
              <a:spcAft>
                <a:spcPts val="400"/>
              </a:spcAft>
            </a:pPr>
            <a:r>
              <a:rPr lang="es-PE" sz="1400" b="0" i="0" noProof="0" dirty="0">
                <a:solidFill>
                  <a:srgbClr val="042354"/>
                </a:solidFill>
                <a:latin typeface="Arial"/>
              </a:rPr>
              <a:t>Objetivos</a:t>
            </a:r>
          </a:p>
        </p:txBody>
      </p:sp>
      <p:sp>
        <p:nvSpPr>
          <p:cNvPr id="12" name="Rectangle 11"/>
          <p:cNvSpPr/>
          <p:nvPr/>
        </p:nvSpPr>
        <p:spPr>
          <a:xfrm>
            <a:off x="841248" y="2798064"/>
            <a:ext cx="10515600" cy="47548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3" name="Rectangle 12"/>
          <p:cNvSpPr/>
          <p:nvPr/>
        </p:nvSpPr>
        <p:spPr>
          <a:xfrm>
            <a:off x="841248" y="2798064"/>
            <a:ext cx="475488" cy="475488"/>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PE" sz="1200" b="1" i="0" noProof="0" dirty="0">
                <a:solidFill>
                  <a:srgbClr val="FFFFFF"/>
                </a:solidFill>
                <a:latin typeface="Arial"/>
              </a:rPr>
              <a:t>03</a:t>
            </a:r>
          </a:p>
        </p:txBody>
      </p:sp>
      <p:sp>
        <p:nvSpPr>
          <p:cNvPr id="14" name="TextBox 13"/>
          <p:cNvSpPr txBox="1"/>
          <p:nvPr/>
        </p:nvSpPr>
        <p:spPr>
          <a:xfrm>
            <a:off x="1536192" y="2816352"/>
            <a:ext cx="9601200" cy="438912"/>
          </a:xfrm>
          <a:prstGeom prst="rect">
            <a:avLst/>
          </a:prstGeom>
          <a:noFill/>
        </p:spPr>
        <p:txBody>
          <a:bodyPr wrap="square" lIns="0" tIns="0" rIns="0" bIns="0" anchor="ctr">
            <a:spAutoFit/>
          </a:bodyPr>
          <a:lstStyle/>
          <a:p>
            <a:pPr algn="l">
              <a:lnSpc>
                <a:spcPct val="106000"/>
              </a:lnSpc>
              <a:spcBef>
                <a:spcPts val="0"/>
              </a:spcBef>
              <a:spcAft>
                <a:spcPts val="400"/>
              </a:spcAft>
            </a:pPr>
            <a:r>
              <a:rPr lang="es-PE" sz="1400" b="0" i="0" noProof="0" dirty="0">
                <a:solidFill>
                  <a:srgbClr val="042354"/>
                </a:solidFill>
                <a:latin typeface="Arial"/>
              </a:rPr>
              <a:t>Metodología</a:t>
            </a:r>
          </a:p>
        </p:txBody>
      </p:sp>
      <p:sp>
        <p:nvSpPr>
          <p:cNvPr id="15" name="Rectangle 14"/>
          <p:cNvSpPr/>
          <p:nvPr/>
        </p:nvSpPr>
        <p:spPr>
          <a:xfrm>
            <a:off x="841248" y="3364992"/>
            <a:ext cx="10515600" cy="475488"/>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6" name="Rectangle 15"/>
          <p:cNvSpPr/>
          <p:nvPr/>
        </p:nvSpPr>
        <p:spPr>
          <a:xfrm>
            <a:off x="841248" y="3364992"/>
            <a:ext cx="475488" cy="475488"/>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PE" sz="1200" b="1" i="0" noProof="0" dirty="0">
                <a:solidFill>
                  <a:srgbClr val="FFFFFF"/>
                </a:solidFill>
                <a:latin typeface="Arial"/>
              </a:rPr>
              <a:t>04</a:t>
            </a:r>
          </a:p>
        </p:txBody>
      </p:sp>
      <p:sp>
        <p:nvSpPr>
          <p:cNvPr id="17" name="TextBox 16"/>
          <p:cNvSpPr txBox="1"/>
          <p:nvPr/>
        </p:nvSpPr>
        <p:spPr>
          <a:xfrm>
            <a:off x="1536192" y="3496649"/>
            <a:ext cx="9601200" cy="212174"/>
          </a:xfrm>
          <a:prstGeom prst="rect">
            <a:avLst/>
          </a:prstGeom>
          <a:noFill/>
        </p:spPr>
        <p:txBody>
          <a:bodyPr wrap="square" lIns="0" tIns="0" rIns="0" bIns="0" anchor="ctr">
            <a:spAutoFit/>
          </a:bodyPr>
          <a:lstStyle/>
          <a:p>
            <a:pPr algn="l">
              <a:lnSpc>
                <a:spcPct val="106000"/>
              </a:lnSpc>
              <a:spcBef>
                <a:spcPts val="0"/>
              </a:spcBef>
              <a:spcAft>
                <a:spcPts val="400"/>
              </a:spcAft>
            </a:pPr>
            <a:r>
              <a:rPr lang="es-PE" sz="1400" b="0" i="0" noProof="0" dirty="0">
                <a:solidFill>
                  <a:srgbClr val="042354"/>
                </a:solidFill>
                <a:latin typeface="Arial"/>
              </a:rPr>
              <a:t>Desarrollo</a:t>
            </a:r>
          </a:p>
        </p:txBody>
      </p:sp>
      <p:sp>
        <p:nvSpPr>
          <p:cNvPr id="18" name="Rectangle 17"/>
          <p:cNvSpPr/>
          <p:nvPr/>
        </p:nvSpPr>
        <p:spPr>
          <a:xfrm>
            <a:off x="841248" y="3931920"/>
            <a:ext cx="10515600" cy="47548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9" name="Rectangle 18"/>
          <p:cNvSpPr/>
          <p:nvPr/>
        </p:nvSpPr>
        <p:spPr>
          <a:xfrm>
            <a:off x="841248" y="3931920"/>
            <a:ext cx="475488" cy="475488"/>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PE" sz="1200" b="1" i="0" noProof="0" dirty="0">
                <a:solidFill>
                  <a:srgbClr val="FFFFFF"/>
                </a:solidFill>
                <a:latin typeface="Arial"/>
              </a:rPr>
              <a:t>05</a:t>
            </a:r>
          </a:p>
        </p:txBody>
      </p:sp>
      <p:sp>
        <p:nvSpPr>
          <p:cNvPr id="20" name="TextBox 19"/>
          <p:cNvSpPr txBox="1"/>
          <p:nvPr/>
        </p:nvSpPr>
        <p:spPr>
          <a:xfrm>
            <a:off x="1536192" y="3950207"/>
            <a:ext cx="9601200" cy="438912"/>
          </a:xfrm>
          <a:prstGeom prst="rect">
            <a:avLst/>
          </a:prstGeom>
          <a:noFill/>
        </p:spPr>
        <p:txBody>
          <a:bodyPr wrap="square" lIns="0" tIns="0" rIns="0" bIns="0" anchor="ctr">
            <a:spAutoFit/>
          </a:bodyPr>
          <a:lstStyle/>
          <a:p>
            <a:pPr algn="l">
              <a:lnSpc>
                <a:spcPct val="106000"/>
              </a:lnSpc>
              <a:spcBef>
                <a:spcPts val="0"/>
              </a:spcBef>
              <a:spcAft>
                <a:spcPts val="400"/>
              </a:spcAft>
            </a:pPr>
            <a:r>
              <a:rPr lang="es-PE" sz="1400" b="0" i="0" noProof="0" dirty="0">
                <a:solidFill>
                  <a:srgbClr val="042354"/>
                </a:solidFill>
                <a:latin typeface="Arial"/>
              </a:rPr>
              <a:t>Solución de ingeniería adoptada</a:t>
            </a:r>
          </a:p>
        </p:txBody>
      </p:sp>
      <p:sp>
        <p:nvSpPr>
          <p:cNvPr id="21" name="Rectangle 20"/>
          <p:cNvSpPr/>
          <p:nvPr/>
        </p:nvSpPr>
        <p:spPr>
          <a:xfrm>
            <a:off x="841248" y="4498848"/>
            <a:ext cx="10515600" cy="475488"/>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22" name="Rectangle 21"/>
          <p:cNvSpPr/>
          <p:nvPr/>
        </p:nvSpPr>
        <p:spPr>
          <a:xfrm>
            <a:off x="841248" y="4498848"/>
            <a:ext cx="475488" cy="475488"/>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PE" sz="1200" b="1" i="0" noProof="0" dirty="0">
                <a:solidFill>
                  <a:srgbClr val="FFFFFF"/>
                </a:solidFill>
                <a:latin typeface="Arial"/>
              </a:rPr>
              <a:t>06</a:t>
            </a:r>
          </a:p>
        </p:txBody>
      </p:sp>
      <p:sp>
        <p:nvSpPr>
          <p:cNvPr id="23" name="TextBox 22"/>
          <p:cNvSpPr txBox="1"/>
          <p:nvPr/>
        </p:nvSpPr>
        <p:spPr>
          <a:xfrm>
            <a:off x="1536192" y="4517136"/>
            <a:ext cx="9601200" cy="438912"/>
          </a:xfrm>
          <a:prstGeom prst="rect">
            <a:avLst/>
          </a:prstGeom>
          <a:noFill/>
        </p:spPr>
        <p:txBody>
          <a:bodyPr wrap="square" lIns="0" tIns="0" rIns="0" bIns="0" anchor="ctr">
            <a:spAutoFit/>
          </a:bodyPr>
          <a:lstStyle/>
          <a:p>
            <a:pPr algn="l">
              <a:lnSpc>
                <a:spcPct val="106000"/>
              </a:lnSpc>
              <a:spcBef>
                <a:spcPts val="0"/>
              </a:spcBef>
              <a:spcAft>
                <a:spcPts val="400"/>
              </a:spcAft>
            </a:pPr>
            <a:r>
              <a:rPr lang="es-PE" sz="1400" b="0" i="0" noProof="0" dirty="0">
                <a:solidFill>
                  <a:srgbClr val="042354"/>
                </a:solidFill>
                <a:latin typeface="Arial"/>
              </a:rPr>
              <a:t>Resultados y verificación</a:t>
            </a:r>
          </a:p>
        </p:txBody>
      </p:sp>
      <p:sp>
        <p:nvSpPr>
          <p:cNvPr id="24" name="Rectangle 23"/>
          <p:cNvSpPr/>
          <p:nvPr/>
        </p:nvSpPr>
        <p:spPr>
          <a:xfrm>
            <a:off x="841248" y="5065776"/>
            <a:ext cx="10515600" cy="47548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25" name="Rectangle 24"/>
          <p:cNvSpPr/>
          <p:nvPr/>
        </p:nvSpPr>
        <p:spPr>
          <a:xfrm>
            <a:off x="841248" y="5065776"/>
            <a:ext cx="475488" cy="475488"/>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PE" sz="1200" b="1" i="0" noProof="0" dirty="0">
                <a:solidFill>
                  <a:srgbClr val="FFFFFF"/>
                </a:solidFill>
                <a:latin typeface="Arial"/>
              </a:rPr>
              <a:t>07</a:t>
            </a:r>
          </a:p>
        </p:txBody>
      </p:sp>
      <p:sp>
        <p:nvSpPr>
          <p:cNvPr id="26" name="TextBox 25"/>
          <p:cNvSpPr txBox="1"/>
          <p:nvPr/>
        </p:nvSpPr>
        <p:spPr>
          <a:xfrm>
            <a:off x="1536192" y="5084064"/>
            <a:ext cx="9601200" cy="438912"/>
          </a:xfrm>
          <a:prstGeom prst="rect">
            <a:avLst/>
          </a:prstGeom>
          <a:noFill/>
        </p:spPr>
        <p:txBody>
          <a:bodyPr wrap="square" lIns="0" tIns="0" rIns="0" bIns="0" anchor="ctr">
            <a:spAutoFit/>
          </a:bodyPr>
          <a:lstStyle/>
          <a:p>
            <a:pPr algn="l">
              <a:lnSpc>
                <a:spcPct val="106000"/>
              </a:lnSpc>
              <a:spcBef>
                <a:spcPts val="0"/>
              </a:spcBef>
              <a:spcAft>
                <a:spcPts val="400"/>
              </a:spcAft>
            </a:pPr>
            <a:r>
              <a:rPr lang="es-PE" sz="1400" b="0" i="0" noProof="0" dirty="0">
                <a:solidFill>
                  <a:srgbClr val="042354"/>
                </a:solidFill>
                <a:latin typeface="Arial"/>
              </a:rPr>
              <a:t>Conclusiones</a:t>
            </a:r>
          </a:p>
        </p:txBody>
      </p:sp>
      <p:pic>
        <p:nvPicPr>
          <p:cNvPr id="28" name="Imagen 27">
            <a:extLst>
              <a:ext uri="{FF2B5EF4-FFF2-40B4-BE49-F238E27FC236}">
                <a16:creationId xmlns:a16="http://schemas.microsoft.com/office/drawing/2014/main" id="{BEFBA072-71F7-0468-7F36-34B26D25D672}"/>
              </a:ext>
            </a:extLst>
          </p:cNvPr>
          <p:cNvPicPr>
            <a:picLocks noChangeAspect="1"/>
          </p:cNvPicPr>
          <p:nvPr/>
        </p:nvPicPr>
        <p:blipFill>
          <a:blip r:embed="rId2"/>
          <a:stretch>
            <a:fillRect/>
          </a:stretch>
        </p:blipFill>
        <p:spPr>
          <a:xfrm>
            <a:off x="158617" y="5943600"/>
            <a:ext cx="5620013" cy="55067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969" cy="6858000"/>
          </a:xfrm>
          <a:prstGeom prst="rect">
            <a:avLst/>
          </a:prstGeom>
          <a:solidFill>
            <a:srgbClr val="042354">
              <a:alpha val="86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4" name="Rectangle 3"/>
          <p:cNvSpPr/>
          <p:nvPr/>
        </p:nvSpPr>
        <p:spPr>
          <a:xfrm>
            <a:off x="841248" y="2432304"/>
            <a:ext cx="530352" cy="68580"/>
          </a:xfrm>
          <a:prstGeom prst="rect">
            <a:avLst/>
          </a:prstGeom>
          <a:solidFill>
            <a:srgbClr val="16C78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5" name="TextBox 4"/>
          <p:cNvSpPr txBox="1"/>
          <p:nvPr/>
        </p:nvSpPr>
        <p:spPr>
          <a:xfrm>
            <a:off x="841248" y="1956816"/>
            <a:ext cx="9052560" cy="184859"/>
          </a:xfrm>
          <a:prstGeom prst="rect">
            <a:avLst/>
          </a:prstGeom>
          <a:noFill/>
        </p:spPr>
        <p:txBody>
          <a:bodyPr wrap="square" lIns="0" tIns="0" rIns="0" bIns="0" anchor="t">
            <a:spAutoFit/>
          </a:bodyPr>
          <a:lstStyle/>
          <a:p>
            <a:pPr algn="l">
              <a:lnSpc>
                <a:spcPct val="114000"/>
              </a:lnSpc>
              <a:spcBef>
                <a:spcPts val="0"/>
              </a:spcBef>
              <a:spcAft>
                <a:spcPts val="400"/>
              </a:spcAft>
            </a:pPr>
            <a:r>
              <a:rPr lang="es-PE" sz="1150" b="1" i="0" noProof="0" dirty="0">
                <a:solidFill>
                  <a:srgbClr val="8FE4C6"/>
                </a:solidFill>
                <a:latin typeface="Arial"/>
              </a:rPr>
              <a:t>CAPÍTULO I</a:t>
            </a:r>
          </a:p>
        </p:txBody>
      </p:sp>
      <p:sp>
        <p:nvSpPr>
          <p:cNvPr id="6" name="TextBox 5"/>
          <p:cNvSpPr txBox="1"/>
          <p:nvPr/>
        </p:nvSpPr>
        <p:spPr>
          <a:xfrm>
            <a:off x="841248" y="2651760"/>
            <a:ext cx="9235440" cy="1280160"/>
          </a:xfrm>
          <a:prstGeom prst="rect">
            <a:avLst/>
          </a:prstGeom>
          <a:noFill/>
        </p:spPr>
        <p:txBody>
          <a:bodyPr wrap="square" lIns="0" tIns="0" rIns="0" bIns="0" anchor="t">
            <a:spAutoFit/>
          </a:bodyPr>
          <a:lstStyle/>
          <a:p>
            <a:pPr algn="l">
              <a:lnSpc>
                <a:spcPct val="102000"/>
              </a:lnSpc>
              <a:spcBef>
                <a:spcPts val="0"/>
              </a:spcBef>
              <a:spcAft>
                <a:spcPts val="400"/>
              </a:spcAft>
            </a:pPr>
            <a:r>
              <a:rPr lang="es-PE" sz="3600" b="1" i="0" noProof="0" dirty="0">
                <a:solidFill>
                  <a:srgbClr val="FFFFFF"/>
                </a:solidFill>
                <a:latin typeface="Arial"/>
              </a:rPr>
              <a:t>EL PROBLEMA</a:t>
            </a:r>
          </a:p>
        </p:txBody>
      </p:sp>
      <p:sp>
        <p:nvSpPr>
          <p:cNvPr id="7" name="TextBox 6"/>
          <p:cNvSpPr txBox="1"/>
          <p:nvPr/>
        </p:nvSpPr>
        <p:spPr>
          <a:xfrm>
            <a:off x="892017" y="3815606"/>
            <a:ext cx="11299952" cy="232628"/>
          </a:xfrm>
          <a:prstGeom prst="rect">
            <a:avLst/>
          </a:prstGeom>
          <a:noFill/>
        </p:spPr>
        <p:txBody>
          <a:bodyPr wrap="square" lIns="0" tIns="0" rIns="0" bIns="0" anchor="t">
            <a:spAutoFit/>
          </a:bodyPr>
          <a:lstStyle/>
          <a:p>
            <a:pPr algn="l">
              <a:lnSpc>
                <a:spcPct val="124000"/>
              </a:lnSpc>
              <a:spcBef>
                <a:spcPts val="0"/>
              </a:spcBef>
              <a:spcAft>
                <a:spcPts val="400"/>
              </a:spcAft>
            </a:pPr>
            <a:r>
              <a:rPr lang="es-PE" sz="1350" b="0" i="0" noProof="0" dirty="0">
                <a:solidFill>
                  <a:srgbClr val="C6D2E4"/>
                </a:solidFill>
                <a:latin typeface="Arial"/>
              </a:rPr>
              <a:t>Una flota de diez camiones 980E-5 bajo contrato de disponibilidad, y un modo de falla que impedía alcanzarla durante tres años consecutivos.</a:t>
            </a:r>
          </a:p>
        </p:txBody>
      </p:sp>
      <p:sp>
        <p:nvSpPr>
          <p:cNvPr id="8" name="TextBox 7"/>
          <p:cNvSpPr txBox="1"/>
          <p:nvPr/>
        </p:nvSpPr>
        <p:spPr>
          <a:xfrm>
            <a:off x="9997409" y="1901952"/>
            <a:ext cx="1280160" cy="1005840"/>
          </a:xfrm>
          <a:prstGeom prst="rect">
            <a:avLst/>
          </a:prstGeom>
          <a:noFill/>
        </p:spPr>
        <p:txBody>
          <a:bodyPr wrap="square" lIns="0" tIns="0" rIns="0" bIns="0" anchor="t">
            <a:spAutoFit/>
          </a:bodyPr>
          <a:lstStyle/>
          <a:p>
            <a:pPr algn="r">
              <a:lnSpc>
                <a:spcPct val="114000"/>
              </a:lnSpc>
              <a:spcBef>
                <a:spcPts val="0"/>
              </a:spcBef>
              <a:spcAft>
                <a:spcPts val="400"/>
              </a:spcAft>
            </a:pPr>
            <a:r>
              <a:rPr lang="es-PE" sz="5000" b="1" i="0" noProof="0" dirty="0">
                <a:solidFill>
                  <a:srgbClr val="2A4576"/>
                </a:solidFill>
                <a:latin typeface="Arial"/>
              </a:rPr>
              <a:t>01</a:t>
            </a:r>
          </a:p>
        </p:txBody>
      </p:sp>
      <p:pic>
        <p:nvPicPr>
          <p:cNvPr id="9" name="Picture 8" descr="pucp_blanco.png"/>
          <p:cNvPicPr>
            <a:picLocks noChangeAspect="1"/>
          </p:cNvPicPr>
          <p:nvPr/>
        </p:nvPicPr>
        <p:blipFill>
          <a:blip r:embed="rId2"/>
          <a:stretch>
            <a:fillRect/>
          </a:stretch>
        </p:blipFill>
        <p:spPr>
          <a:xfrm>
            <a:off x="841248" y="5870448"/>
            <a:ext cx="1389888" cy="4572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PE" sz="2200" b="1" i="0" noProof="0" dirty="0">
                <a:solidFill>
                  <a:srgbClr val="042354"/>
                </a:solidFill>
                <a:latin typeface="Arial"/>
              </a:rPr>
              <a:t>Metas contractuales</a:t>
            </a: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PE" sz="1100" b="1" i="0" noProof="0" dirty="0">
                <a:solidFill>
                  <a:srgbClr val="FFFFFF"/>
                </a:solidFill>
                <a:latin typeface="Arial"/>
              </a:rPr>
              <a:t>4</a:t>
            </a:r>
          </a:p>
        </p:txBody>
      </p:sp>
      <p:sp>
        <p:nvSpPr>
          <p:cNvPr id="6" name="TextBox 5"/>
          <p:cNvSpPr txBox="1"/>
          <p:nvPr/>
        </p:nvSpPr>
        <p:spPr>
          <a:xfrm>
            <a:off x="841247" y="1481328"/>
            <a:ext cx="6656833" cy="980397"/>
          </a:xfrm>
          <a:prstGeom prst="rect">
            <a:avLst/>
          </a:prstGeom>
          <a:noFill/>
        </p:spPr>
        <p:txBody>
          <a:bodyPr wrap="square" lIns="0" tIns="0" rIns="0" bIns="0" anchor="t">
            <a:spAutoFit/>
          </a:bodyPr>
          <a:lstStyle/>
          <a:p>
            <a:pPr algn="l">
              <a:lnSpc>
                <a:spcPct val="118000"/>
              </a:lnSpc>
              <a:spcBef>
                <a:spcPts val="0"/>
              </a:spcBef>
              <a:spcAft>
                <a:spcPts val="1000"/>
              </a:spcAft>
            </a:pPr>
            <a:r>
              <a:rPr lang="es-PE" sz="1200" b="0" i="0" noProof="0" dirty="0">
                <a:solidFill>
                  <a:srgbClr val="191919"/>
                </a:solidFill>
                <a:latin typeface="Arial"/>
              </a:rPr>
              <a:t>Flota de diez camiones 980E-5 de 400 t con propulsión eléctrica, cuyo mantenimiento integral está a cargo de una empresa contratista especializada.</a:t>
            </a:r>
          </a:p>
          <a:p>
            <a:pPr algn="l">
              <a:lnSpc>
                <a:spcPct val="118000"/>
              </a:lnSpc>
              <a:spcBef>
                <a:spcPts val="0"/>
              </a:spcBef>
              <a:spcAft>
                <a:spcPts val="0"/>
              </a:spcAft>
            </a:pPr>
            <a:r>
              <a:rPr lang="es-PE" sz="1200" b="0" i="0" noProof="0" dirty="0">
                <a:solidFill>
                  <a:srgbClr val="191919"/>
                </a:solidFill>
                <a:latin typeface="Arial"/>
              </a:rPr>
              <a:t>El desempeño del contrato se mide con tres indicadores: disponibilidad física, MTBF y MTTR. Su incumplimiento expone a penalización.</a:t>
            </a:r>
          </a:p>
        </p:txBody>
      </p:sp>
      <p:sp>
        <p:nvSpPr>
          <p:cNvPr id="7" name="Rectangle 6"/>
          <p:cNvSpPr/>
          <p:nvPr/>
        </p:nvSpPr>
        <p:spPr>
          <a:xfrm>
            <a:off x="841248" y="2681180"/>
            <a:ext cx="2103120" cy="1042415"/>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8" name="Rectangle 7"/>
          <p:cNvSpPr/>
          <p:nvPr/>
        </p:nvSpPr>
        <p:spPr>
          <a:xfrm>
            <a:off x="841248" y="2681180"/>
            <a:ext cx="2103120" cy="41148"/>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9" name="TextBox 8"/>
          <p:cNvSpPr txBox="1"/>
          <p:nvPr/>
        </p:nvSpPr>
        <p:spPr>
          <a:xfrm>
            <a:off x="1005840" y="2809196"/>
            <a:ext cx="1773936" cy="786383"/>
          </a:xfrm>
          <a:prstGeom prst="rect">
            <a:avLst/>
          </a:prstGeom>
          <a:noFill/>
        </p:spPr>
        <p:txBody>
          <a:bodyPr wrap="square" lIns="0" tIns="0" rIns="0" bIns="0" anchor="ctr">
            <a:spAutoFit/>
          </a:bodyPr>
          <a:lstStyle/>
          <a:p>
            <a:pPr algn="l">
              <a:lnSpc>
                <a:spcPct val="95000"/>
              </a:lnSpc>
              <a:spcBef>
                <a:spcPts val="0"/>
              </a:spcBef>
              <a:spcAft>
                <a:spcPts val="300"/>
              </a:spcAft>
            </a:pPr>
            <a:r>
              <a:rPr lang="es-PE" sz="2200" b="1" i="0" noProof="0" dirty="0">
                <a:solidFill>
                  <a:srgbClr val="C3094A"/>
                </a:solidFill>
                <a:latin typeface="Arial"/>
              </a:rPr>
              <a:t>91,0 %</a:t>
            </a:r>
          </a:p>
          <a:p>
            <a:pPr algn="l">
              <a:lnSpc>
                <a:spcPct val="108000"/>
              </a:lnSpc>
              <a:spcBef>
                <a:spcPts val="0"/>
              </a:spcBef>
              <a:spcAft>
                <a:spcPts val="0"/>
              </a:spcAft>
            </a:pPr>
            <a:r>
              <a:rPr lang="es-PE" sz="950" b="0" i="0" noProof="0" dirty="0">
                <a:solidFill>
                  <a:srgbClr val="4A5568"/>
                </a:solidFill>
                <a:latin typeface="Arial"/>
              </a:rPr>
              <a:t>Meta contractual
de disponibilidad</a:t>
            </a:r>
          </a:p>
        </p:txBody>
      </p:sp>
      <p:sp>
        <p:nvSpPr>
          <p:cNvPr id="10" name="Rectangle 9"/>
          <p:cNvSpPr/>
          <p:nvPr/>
        </p:nvSpPr>
        <p:spPr>
          <a:xfrm>
            <a:off x="3127248" y="2681180"/>
            <a:ext cx="2103120" cy="1042415"/>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1" name="Rectangle 10"/>
          <p:cNvSpPr/>
          <p:nvPr/>
        </p:nvSpPr>
        <p:spPr>
          <a:xfrm>
            <a:off x="3127248" y="2681180"/>
            <a:ext cx="2103120" cy="41148"/>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2" name="TextBox 11"/>
          <p:cNvSpPr txBox="1"/>
          <p:nvPr/>
        </p:nvSpPr>
        <p:spPr>
          <a:xfrm>
            <a:off x="3291840" y="2809196"/>
            <a:ext cx="1773936" cy="786383"/>
          </a:xfrm>
          <a:prstGeom prst="rect">
            <a:avLst/>
          </a:prstGeom>
          <a:noFill/>
        </p:spPr>
        <p:txBody>
          <a:bodyPr wrap="square" lIns="0" tIns="0" rIns="0" bIns="0" anchor="ctr">
            <a:spAutoFit/>
          </a:bodyPr>
          <a:lstStyle/>
          <a:p>
            <a:pPr algn="l">
              <a:lnSpc>
                <a:spcPct val="95000"/>
              </a:lnSpc>
              <a:spcBef>
                <a:spcPts val="0"/>
              </a:spcBef>
              <a:spcAft>
                <a:spcPts val="300"/>
              </a:spcAft>
            </a:pPr>
            <a:r>
              <a:rPr lang="es-PE" sz="2200" b="1" i="0" noProof="0" dirty="0">
                <a:solidFill>
                  <a:srgbClr val="C3094A"/>
                </a:solidFill>
                <a:latin typeface="Arial"/>
              </a:rPr>
              <a:t>64,5 h</a:t>
            </a:r>
          </a:p>
          <a:p>
            <a:pPr algn="l">
              <a:lnSpc>
                <a:spcPct val="108000"/>
              </a:lnSpc>
              <a:spcBef>
                <a:spcPts val="0"/>
              </a:spcBef>
              <a:spcAft>
                <a:spcPts val="0"/>
              </a:spcAft>
            </a:pPr>
            <a:r>
              <a:rPr lang="es-PE" sz="950" b="0" i="0" noProof="0" dirty="0">
                <a:solidFill>
                  <a:srgbClr val="4A5568"/>
                </a:solidFill>
                <a:latin typeface="Arial"/>
              </a:rPr>
              <a:t>Objetivo contractual
de MTBF</a:t>
            </a:r>
          </a:p>
        </p:txBody>
      </p:sp>
      <p:sp>
        <p:nvSpPr>
          <p:cNvPr id="14" name="TextBox 13"/>
          <p:cNvSpPr txBox="1"/>
          <p:nvPr/>
        </p:nvSpPr>
        <p:spPr>
          <a:xfrm>
            <a:off x="886968" y="3970210"/>
            <a:ext cx="10515600" cy="274320"/>
          </a:xfrm>
          <a:prstGeom prst="rect">
            <a:avLst/>
          </a:prstGeom>
          <a:noFill/>
        </p:spPr>
        <p:txBody>
          <a:bodyPr wrap="square" lIns="0" tIns="0" rIns="0" bIns="0" anchor="t">
            <a:spAutoFit/>
          </a:bodyPr>
          <a:lstStyle/>
          <a:p>
            <a:pPr algn="l">
              <a:lnSpc>
                <a:spcPct val="106000"/>
              </a:lnSpc>
              <a:spcBef>
                <a:spcPts val="0"/>
              </a:spcBef>
              <a:spcAft>
                <a:spcPts val="400"/>
              </a:spcAft>
            </a:pPr>
            <a:r>
              <a:rPr lang="es-PE" sz="900" b="0" i="0" noProof="0" dirty="0">
                <a:solidFill>
                  <a:srgbClr val="7A8494"/>
                </a:solidFill>
                <a:latin typeface="Arial"/>
              </a:rPr>
              <a:t>Fuente: elaboración propia sobre el registro de paradas de la flota 980E-5, período 2022-2024.</a:t>
            </a:r>
          </a:p>
        </p:txBody>
      </p:sp>
      <p:sp>
        <p:nvSpPr>
          <p:cNvPr id="15" name="Rectangle 14"/>
          <p:cNvSpPr/>
          <p:nvPr/>
        </p:nvSpPr>
        <p:spPr>
          <a:xfrm>
            <a:off x="841248" y="5175504"/>
            <a:ext cx="45720" cy="457200"/>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6" name="TextBox 15"/>
          <p:cNvSpPr txBox="1"/>
          <p:nvPr/>
        </p:nvSpPr>
        <p:spPr>
          <a:xfrm>
            <a:off x="1005840" y="5192060"/>
            <a:ext cx="10277856" cy="184859"/>
          </a:xfrm>
          <a:prstGeom prst="rect">
            <a:avLst/>
          </a:prstGeom>
          <a:noFill/>
        </p:spPr>
        <p:txBody>
          <a:bodyPr wrap="square" lIns="0" tIns="0" rIns="0" bIns="0" anchor="t">
            <a:spAutoFit/>
          </a:bodyPr>
          <a:lstStyle/>
          <a:p>
            <a:pPr algn="l">
              <a:lnSpc>
                <a:spcPct val="114000"/>
              </a:lnSpc>
              <a:spcBef>
                <a:spcPts val="0"/>
              </a:spcBef>
              <a:spcAft>
                <a:spcPts val="400"/>
              </a:spcAft>
            </a:pPr>
            <a:r>
              <a:rPr lang="es-PE" sz="1150" b="1" i="0" noProof="0" dirty="0">
                <a:solidFill>
                  <a:srgbClr val="042354"/>
                </a:solidFill>
                <a:latin typeface="Arial"/>
              </a:rPr>
              <a:t>El incumplimiento de disponibilidad se debe a la frecuencia de fallas y al elevado tiempo de reparación.</a:t>
            </a:r>
          </a:p>
        </p:txBody>
      </p:sp>
      <p:pic>
        <p:nvPicPr>
          <p:cNvPr id="18" name="Imagen 17">
            <a:extLst>
              <a:ext uri="{FF2B5EF4-FFF2-40B4-BE49-F238E27FC236}">
                <a16:creationId xmlns:a16="http://schemas.microsoft.com/office/drawing/2014/main" id="{A643B908-DB89-5F79-1550-B4FA95CAADB4}"/>
              </a:ext>
            </a:extLst>
          </p:cNvPr>
          <p:cNvPicPr>
            <a:picLocks noChangeAspect="1"/>
          </p:cNvPicPr>
          <p:nvPr/>
        </p:nvPicPr>
        <p:blipFill>
          <a:blip r:embed="rId2"/>
          <a:stretch>
            <a:fillRect/>
          </a:stretch>
        </p:blipFill>
        <p:spPr>
          <a:xfrm>
            <a:off x="158617" y="5943600"/>
            <a:ext cx="5620013" cy="550672"/>
          </a:xfrm>
          <a:prstGeom prst="rect">
            <a:avLst/>
          </a:prstGeom>
        </p:spPr>
      </p:pic>
      <p:pic>
        <p:nvPicPr>
          <p:cNvPr id="17" name="Imagen 16">
            <a:extLst>
              <a:ext uri="{FF2B5EF4-FFF2-40B4-BE49-F238E27FC236}">
                <a16:creationId xmlns:a16="http://schemas.microsoft.com/office/drawing/2014/main" id="{6816C735-E46E-5BC5-3A1A-FBD4530910F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80960" y="1355968"/>
            <a:ext cx="3832057" cy="3823503"/>
          </a:xfrm>
          <a:prstGeom prst="rect">
            <a:avLst/>
          </a:prstGeom>
          <a:noFill/>
          <a:ln>
            <a:noFill/>
          </a:ln>
        </p:spPr>
      </p:pic>
      <p:sp>
        <p:nvSpPr>
          <p:cNvPr id="19" name="Rectangle 9">
            <a:extLst>
              <a:ext uri="{FF2B5EF4-FFF2-40B4-BE49-F238E27FC236}">
                <a16:creationId xmlns:a16="http://schemas.microsoft.com/office/drawing/2014/main" id="{95169B1C-3642-68CC-41FA-01CCEF17B599}"/>
              </a:ext>
            </a:extLst>
          </p:cNvPr>
          <p:cNvSpPr/>
          <p:nvPr/>
        </p:nvSpPr>
        <p:spPr>
          <a:xfrm>
            <a:off x="5394960" y="2671762"/>
            <a:ext cx="2103120" cy="1042415"/>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20" name="Rectangle 10">
            <a:extLst>
              <a:ext uri="{FF2B5EF4-FFF2-40B4-BE49-F238E27FC236}">
                <a16:creationId xmlns:a16="http://schemas.microsoft.com/office/drawing/2014/main" id="{83742FE3-EB0A-552D-D6E4-47147413E0E2}"/>
              </a:ext>
            </a:extLst>
          </p:cNvPr>
          <p:cNvSpPr/>
          <p:nvPr/>
        </p:nvSpPr>
        <p:spPr>
          <a:xfrm>
            <a:off x="5394960" y="2671762"/>
            <a:ext cx="2103120" cy="41148"/>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21" name="TextBox 11">
            <a:extLst>
              <a:ext uri="{FF2B5EF4-FFF2-40B4-BE49-F238E27FC236}">
                <a16:creationId xmlns:a16="http://schemas.microsoft.com/office/drawing/2014/main" id="{A8F23EB6-1C25-9E89-51D2-BABFB8FFD419}"/>
              </a:ext>
            </a:extLst>
          </p:cNvPr>
          <p:cNvSpPr txBox="1"/>
          <p:nvPr/>
        </p:nvSpPr>
        <p:spPr>
          <a:xfrm>
            <a:off x="5559552" y="2860891"/>
            <a:ext cx="1773936" cy="664156"/>
          </a:xfrm>
          <a:prstGeom prst="rect">
            <a:avLst/>
          </a:prstGeom>
          <a:noFill/>
        </p:spPr>
        <p:txBody>
          <a:bodyPr wrap="square" lIns="0" tIns="0" rIns="0" bIns="0" anchor="ctr">
            <a:spAutoFit/>
          </a:bodyPr>
          <a:lstStyle/>
          <a:p>
            <a:pPr algn="l">
              <a:lnSpc>
                <a:spcPct val="95000"/>
              </a:lnSpc>
              <a:spcBef>
                <a:spcPts val="0"/>
              </a:spcBef>
              <a:spcAft>
                <a:spcPts val="300"/>
              </a:spcAft>
            </a:pPr>
            <a:r>
              <a:rPr lang="es-PE" sz="2200" b="1" i="0" noProof="0" dirty="0">
                <a:solidFill>
                  <a:srgbClr val="C3094A"/>
                </a:solidFill>
                <a:latin typeface="Arial"/>
              </a:rPr>
              <a:t>4,0 h</a:t>
            </a:r>
          </a:p>
          <a:p>
            <a:pPr algn="l">
              <a:lnSpc>
                <a:spcPct val="108000"/>
              </a:lnSpc>
              <a:spcBef>
                <a:spcPts val="0"/>
              </a:spcBef>
              <a:spcAft>
                <a:spcPts val="0"/>
              </a:spcAft>
            </a:pPr>
            <a:r>
              <a:rPr lang="es-PE" sz="950" b="0" i="0" noProof="0" dirty="0">
                <a:solidFill>
                  <a:srgbClr val="4A5568"/>
                </a:solidFill>
                <a:latin typeface="Arial"/>
              </a:rPr>
              <a:t>Objetivo contractual
de MTTR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PE" sz="2200" b="1" i="0" noProof="0" dirty="0">
                <a:solidFill>
                  <a:srgbClr val="042354"/>
                </a:solidFill>
                <a:latin typeface="Arial"/>
              </a:rPr>
              <a:t>La falla más crítica: fractura por fatiga del eje palier</a:t>
            </a: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PE" sz="1100" b="1" i="0" noProof="0" dirty="0">
                <a:solidFill>
                  <a:srgbClr val="FFFFFF"/>
                </a:solidFill>
                <a:latin typeface="Arial"/>
              </a:rPr>
              <a:t>5</a:t>
            </a:r>
          </a:p>
        </p:txBody>
      </p:sp>
      <p:pic>
        <p:nvPicPr>
          <p:cNvPr id="6" name="Picture 5" descr="eje_fracturado.png"/>
          <p:cNvPicPr>
            <a:picLocks noChangeAspect="1"/>
          </p:cNvPicPr>
          <p:nvPr/>
        </p:nvPicPr>
        <p:blipFill>
          <a:blip r:embed="rId2"/>
          <a:stretch>
            <a:fillRect/>
          </a:stretch>
        </p:blipFill>
        <p:spPr>
          <a:xfrm>
            <a:off x="841248" y="1466523"/>
            <a:ext cx="5989320" cy="1474361"/>
          </a:xfrm>
          <a:prstGeom prst="rect">
            <a:avLst/>
          </a:prstGeom>
        </p:spPr>
      </p:pic>
      <p:sp>
        <p:nvSpPr>
          <p:cNvPr id="7" name="TextBox 6"/>
          <p:cNvSpPr txBox="1"/>
          <p:nvPr/>
        </p:nvSpPr>
        <p:spPr>
          <a:xfrm>
            <a:off x="841248" y="2999232"/>
            <a:ext cx="5989320" cy="136384"/>
          </a:xfrm>
          <a:prstGeom prst="rect">
            <a:avLst/>
          </a:prstGeom>
          <a:noFill/>
        </p:spPr>
        <p:txBody>
          <a:bodyPr wrap="square" lIns="0" tIns="0" rIns="0" bIns="0" anchor="t">
            <a:spAutoFit/>
          </a:bodyPr>
          <a:lstStyle/>
          <a:p>
            <a:pPr algn="l">
              <a:lnSpc>
                <a:spcPct val="106000"/>
              </a:lnSpc>
              <a:spcBef>
                <a:spcPts val="0"/>
              </a:spcBef>
              <a:spcAft>
                <a:spcPts val="400"/>
              </a:spcAft>
            </a:pPr>
            <a:r>
              <a:rPr lang="es-PE" sz="900" b="0" i="0" noProof="0" dirty="0">
                <a:solidFill>
                  <a:srgbClr val="7A8494"/>
                </a:solidFill>
                <a:latin typeface="Arial"/>
              </a:rPr>
              <a:t>Eje palier fracturado. Informe DIESA-AFA2023085189_00.</a:t>
            </a:r>
          </a:p>
        </p:txBody>
      </p:sp>
      <p:pic>
        <p:nvPicPr>
          <p:cNvPr id="8" name="Picture 7" descr="fractura_tubo.png"/>
          <p:cNvPicPr>
            <a:picLocks noChangeAspect="1"/>
          </p:cNvPicPr>
          <p:nvPr/>
        </p:nvPicPr>
        <p:blipFill>
          <a:blip r:embed="rId3"/>
          <a:stretch>
            <a:fillRect/>
          </a:stretch>
        </p:blipFill>
        <p:spPr>
          <a:xfrm>
            <a:off x="7321902" y="1463040"/>
            <a:ext cx="1495355" cy="1481328"/>
          </a:xfrm>
          <a:prstGeom prst="rect">
            <a:avLst/>
          </a:prstGeom>
        </p:spPr>
      </p:pic>
      <p:pic>
        <p:nvPicPr>
          <p:cNvPr id="9" name="Picture 8" descr="dano_pinon.png"/>
          <p:cNvPicPr>
            <a:picLocks noChangeAspect="1"/>
          </p:cNvPicPr>
          <p:nvPr/>
        </p:nvPicPr>
        <p:blipFill>
          <a:blip r:embed="rId4"/>
          <a:stretch>
            <a:fillRect/>
          </a:stretch>
        </p:blipFill>
        <p:spPr>
          <a:xfrm>
            <a:off x="9272016" y="1539306"/>
            <a:ext cx="2084831" cy="1328794"/>
          </a:xfrm>
          <a:prstGeom prst="rect">
            <a:avLst/>
          </a:prstGeom>
        </p:spPr>
      </p:pic>
      <p:sp>
        <p:nvSpPr>
          <p:cNvPr id="10" name="TextBox 9"/>
          <p:cNvSpPr txBox="1"/>
          <p:nvPr/>
        </p:nvSpPr>
        <p:spPr>
          <a:xfrm>
            <a:off x="7333487" y="2999231"/>
            <a:ext cx="4270248" cy="274320"/>
          </a:xfrm>
          <a:prstGeom prst="rect">
            <a:avLst/>
          </a:prstGeom>
          <a:noFill/>
        </p:spPr>
        <p:txBody>
          <a:bodyPr wrap="square" lIns="0" tIns="0" rIns="0" bIns="0" anchor="t">
            <a:spAutoFit/>
          </a:bodyPr>
          <a:lstStyle/>
          <a:p>
            <a:pPr algn="l">
              <a:lnSpc>
                <a:spcPct val="106000"/>
              </a:lnSpc>
              <a:spcBef>
                <a:spcPts val="0"/>
              </a:spcBef>
              <a:spcAft>
                <a:spcPts val="400"/>
              </a:spcAft>
            </a:pPr>
            <a:r>
              <a:rPr lang="es-PE" sz="900" b="0" i="0" noProof="0" dirty="0">
                <a:solidFill>
                  <a:srgbClr val="7A8494"/>
                </a:solidFill>
                <a:latin typeface="Arial"/>
              </a:rPr>
              <a:t>Fractura del tubo y daño propagado al piñón solar y al tren de engranajes.</a:t>
            </a:r>
          </a:p>
        </p:txBody>
      </p:sp>
      <p:sp>
        <p:nvSpPr>
          <p:cNvPr id="11" name="Rectangle 10"/>
          <p:cNvSpPr/>
          <p:nvPr/>
        </p:nvSpPr>
        <p:spPr>
          <a:xfrm>
            <a:off x="841248" y="3401568"/>
            <a:ext cx="2450592" cy="1078992"/>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2" name="Rectangle 11"/>
          <p:cNvSpPr/>
          <p:nvPr/>
        </p:nvSpPr>
        <p:spPr>
          <a:xfrm>
            <a:off x="841248" y="3401568"/>
            <a:ext cx="2450592" cy="41148"/>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3" name="TextBox 12"/>
          <p:cNvSpPr txBox="1"/>
          <p:nvPr/>
        </p:nvSpPr>
        <p:spPr>
          <a:xfrm>
            <a:off x="1005840" y="3529584"/>
            <a:ext cx="2121408" cy="822959"/>
          </a:xfrm>
          <a:prstGeom prst="rect">
            <a:avLst/>
          </a:prstGeom>
          <a:noFill/>
        </p:spPr>
        <p:txBody>
          <a:bodyPr wrap="square" lIns="0" tIns="0" rIns="0" bIns="0" anchor="ctr">
            <a:spAutoFit/>
          </a:bodyPr>
          <a:lstStyle/>
          <a:p>
            <a:pPr algn="l">
              <a:lnSpc>
                <a:spcPct val="95000"/>
              </a:lnSpc>
              <a:spcBef>
                <a:spcPts val="0"/>
              </a:spcBef>
              <a:spcAft>
                <a:spcPts val="300"/>
              </a:spcAft>
            </a:pPr>
            <a:r>
              <a:rPr lang="es-PE" sz="2800" b="1" i="0" noProof="0" dirty="0">
                <a:solidFill>
                  <a:srgbClr val="C3094A"/>
                </a:solidFill>
                <a:latin typeface="Arial"/>
              </a:rPr>
              <a:t>13</a:t>
            </a:r>
          </a:p>
          <a:p>
            <a:pPr algn="l">
              <a:lnSpc>
                <a:spcPct val="108000"/>
              </a:lnSpc>
              <a:spcBef>
                <a:spcPts val="0"/>
              </a:spcBef>
              <a:spcAft>
                <a:spcPts val="0"/>
              </a:spcAft>
            </a:pPr>
            <a:r>
              <a:rPr lang="es-PE" sz="950" b="0" i="0" noProof="0" dirty="0">
                <a:solidFill>
                  <a:srgbClr val="4A5568"/>
                </a:solidFill>
                <a:latin typeface="Arial"/>
              </a:rPr>
              <a:t>eventos
en 36 meses</a:t>
            </a:r>
          </a:p>
        </p:txBody>
      </p:sp>
      <p:sp>
        <p:nvSpPr>
          <p:cNvPr id="14" name="Rectangle 13"/>
          <p:cNvSpPr/>
          <p:nvPr/>
        </p:nvSpPr>
        <p:spPr>
          <a:xfrm>
            <a:off x="3474720" y="3401568"/>
            <a:ext cx="2450592" cy="1078992"/>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5" name="Rectangle 14"/>
          <p:cNvSpPr/>
          <p:nvPr/>
        </p:nvSpPr>
        <p:spPr>
          <a:xfrm>
            <a:off x="3474720" y="3401568"/>
            <a:ext cx="2450592" cy="41148"/>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6" name="TextBox 15"/>
          <p:cNvSpPr txBox="1"/>
          <p:nvPr/>
        </p:nvSpPr>
        <p:spPr>
          <a:xfrm>
            <a:off x="3639312" y="3529584"/>
            <a:ext cx="2121408" cy="822959"/>
          </a:xfrm>
          <a:prstGeom prst="rect">
            <a:avLst/>
          </a:prstGeom>
          <a:noFill/>
        </p:spPr>
        <p:txBody>
          <a:bodyPr wrap="square" lIns="0" tIns="0" rIns="0" bIns="0" anchor="ctr">
            <a:spAutoFit/>
          </a:bodyPr>
          <a:lstStyle/>
          <a:p>
            <a:pPr algn="l">
              <a:lnSpc>
                <a:spcPct val="95000"/>
              </a:lnSpc>
              <a:spcBef>
                <a:spcPts val="0"/>
              </a:spcBef>
              <a:spcAft>
                <a:spcPts val="300"/>
              </a:spcAft>
            </a:pPr>
            <a:r>
              <a:rPr lang="es-PE" sz="2400" b="1" i="0" noProof="0" dirty="0">
                <a:solidFill>
                  <a:srgbClr val="C3094A"/>
                </a:solidFill>
                <a:latin typeface="Arial"/>
              </a:rPr>
              <a:t>59,3 h</a:t>
            </a:r>
          </a:p>
          <a:p>
            <a:pPr algn="l">
              <a:lnSpc>
                <a:spcPct val="108000"/>
              </a:lnSpc>
              <a:spcBef>
                <a:spcPts val="0"/>
              </a:spcBef>
              <a:spcAft>
                <a:spcPts val="0"/>
              </a:spcAft>
            </a:pPr>
            <a:r>
              <a:rPr lang="es-PE" sz="950" b="0" i="0" noProof="0" dirty="0">
                <a:solidFill>
                  <a:srgbClr val="4A5568"/>
                </a:solidFill>
                <a:latin typeface="Arial"/>
              </a:rPr>
              <a:t>de detención
por evento</a:t>
            </a:r>
          </a:p>
        </p:txBody>
      </p:sp>
      <p:sp>
        <p:nvSpPr>
          <p:cNvPr id="17" name="Rectangle 16"/>
          <p:cNvSpPr/>
          <p:nvPr/>
        </p:nvSpPr>
        <p:spPr>
          <a:xfrm>
            <a:off x="6108192" y="3401568"/>
            <a:ext cx="2450592" cy="1078992"/>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8" name="Rectangle 17"/>
          <p:cNvSpPr/>
          <p:nvPr/>
        </p:nvSpPr>
        <p:spPr>
          <a:xfrm>
            <a:off x="6108192" y="3401568"/>
            <a:ext cx="2450592" cy="41148"/>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9" name="TextBox 18"/>
          <p:cNvSpPr txBox="1"/>
          <p:nvPr/>
        </p:nvSpPr>
        <p:spPr>
          <a:xfrm>
            <a:off x="6272783" y="3529584"/>
            <a:ext cx="2121408" cy="822959"/>
          </a:xfrm>
          <a:prstGeom prst="rect">
            <a:avLst/>
          </a:prstGeom>
          <a:noFill/>
        </p:spPr>
        <p:txBody>
          <a:bodyPr wrap="square" lIns="0" tIns="0" rIns="0" bIns="0" anchor="ctr">
            <a:spAutoFit/>
          </a:bodyPr>
          <a:lstStyle/>
          <a:p>
            <a:pPr algn="l">
              <a:lnSpc>
                <a:spcPct val="95000"/>
              </a:lnSpc>
              <a:spcBef>
                <a:spcPts val="0"/>
              </a:spcBef>
              <a:spcAft>
                <a:spcPts val="300"/>
              </a:spcAft>
            </a:pPr>
            <a:r>
              <a:rPr lang="es-PE" sz="1700" b="1" i="0" noProof="0" dirty="0">
                <a:solidFill>
                  <a:srgbClr val="C3094A"/>
                </a:solidFill>
                <a:latin typeface="Arial"/>
              </a:rPr>
              <a:t>US$ 763 393</a:t>
            </a:r>
          </a:p>
          <a:p>
            <a:pPr algn="l">
              <a:lnSpc>
                <a:spcPct val="108000"/>
              </a:lnSpc>
              <a:spcBef>
                <a:spcPts val="0"/>
              </a:spcBef>
              <a:spcAft>
                <a:spcPts val="0"/>
              </a:spcAft>
            </a:pPr>
            <a:r>
              <a:rPr lang="es-PE" sz="950" b="0" i="0" noProof="0" dirty="0">
                <a:solidFill>
                  <a:srgbClr val="4A5568"/>
                </a:solidFill>
                <a:latin typeface="Arial"/>
              </a:rPr>
              <a:t>por evento: evaluación
y reparación mayor</a:t>
            </a:r>
          </a:p>
        </p:txBody>
      </p:sp>
      <p:sp>
        <p:nvSpPr>
          <p:cNvPr id="20" name="Rectangle 19"/>
          <p:cNvSpPr/>
          <p:nvPr/>
        </p:nvSpPr>
        <p:spPr>
          <a:xfrm>
            <a:off x="8741664" y="3401568"/>
            <a:ext cx="2450592" cy="1078992"/>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21" name="Rectangle 20"/>
          <p:cNvSpPr/>
          <p:nvPr/>
        </p:nvSpPr>
        <p:spPr>
          <a:xfrm>
            <a:off x="8741664" y="3401568"/>
            <a:ext cx="2450592" cy="41148"/>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22" name="TextBox 21"/>
          <p:cNvSpPr txBox="1"/>
          <p:nvPr/>
        </p:nvSpPr>
        <p:spPr>
          <a:xfrm>
            <a:off x="8906256" y="3608985"/>
            <a:ext cx="2121408" cy="664156"/>
          </a:xfrm>
          <a:prstGeom prst="rect">
            <a:avLst/>
          </a:prstGeom>
          <a:noFill/>
        </p:spPr>
        <p:txBody>
          <a:bodyPr wrap="square" lIns="0" tIns="0" rIns="0" bIns="0" anchor="ctr">
            <a:spAutoFit/>
          </a:bodyPr>
          <a:lstStyle/>
          <a:p>
            <a:pPr algn="l">
              <a:lnSpc>
                <a:spcPct val="95000"/>
              </a:lnSpc>
              <a:spcBef>
                <a:spcPts val="0"/>
              </a:spcBef>
              <a:spcAft>
                <a:spcPts val="300"/>
              </a:spcAft>
            </a:pPr>
            <a:r>
              <a:rPr lang="es-PE" sz="2200" b="1" i="0" noProof="0" dirty="0">
                <a:solidFill>
                  <a:srgbClr val="C3094A"/>
                </a:solidFill>
                <a:latin typeface="Arial"/>
              </a:rPr>
              <a:t>0,36 </a:t>
            </a:r>
            <a:r>
              <a:rPr lang="es-PE" sz="2200" b="1" noProof="0" dirty="0">
                <a:solidFill>
                  <a:srgbClr val="C3094A"/>
                </a:solidFill>
              </a:rPr>
              <a:t>%</a:t>
            </a:r>
            <a:endParaRPr lang="es-PE" sz="2200" b="1" i="0" noProof="0" dirty="0">
              <a:solidFill>
                <a:srgbClr val="C3094A"/>
              </a:solidFill>
              <a:latin typeface="Arial"/>
            </a:endParaRPr>
          </a:p>
          <a:p>
            <a:pPr algn="l">
              <a:lnSpc>
                <a:spcPct val="108000"/>
              </a:lnSpc>
              <a:spcBef>
                <a:spcPts val="0"/>
              </a:spcBef>
              <a:spcAft>
                <a:spcPts val="0"/>
              </a:spcAft>
            </a:pPr>
            <a:r>
              <a:rPr lang="es-PE" sz="950" b="0" i="0" noProof="0" dirty="0">
                <a:solidFill>
                  <a:srgbClr val="4A5568"/>
                </a:solidFill>
                <a:latin typeface="Arial"/>
              </a:rPr>
              <a:t>de disponibilidad
de flota consumida</a:t>
            </a:r>
          </a:p>
        </p:txBody>
      </p:sp>
      <p:sp>
        <p:nvSpPr>
          <p:cNvPr id="23" name="TextBox 22"/>
          <p:cNvSpPr txBox="1"/>
          <p:nvPr/>
        </p:nvSpPr>
        <p:spPr>
          <a:xfrm>
            <a:off x="841248" y="4700016"/>
            <a:ext cx="10515600" cy="136384"/>
          </a:xfrm>
          <a:prstGeom prst="rect">
            <a:avLst/>
          </a:prstGeom>
          <a:noFill/>
        </p:spPr>
        <p:txBody>
          <a:bodyPr wrap="square" lIns="0" tIns="0" rIns="0" bIns="0" anchor="t">
            <a:spAutoFit/>
          </a:bodyPr>
          <a:lstStyle/>
          <a:p>
            <a:pPr algn="l">
              <a:lnSpc>
                <a:spcPct val="106000"/>
              </a:lnSpc>
              <a:spcBef>
                <a:spcPts val="0"/>
              </a:spcBef>
              <a:spcAft>
                <a:spcPts val="400"/>
              </a:spcAft>
            </a:pPr>
            <a:r>
              <a:rPr lang="es-PE" sz="900" b="0" i="0" noProof="0" dirty="0">
                <a:solidFill>
                  <a:srgbClr val="7A8494"/>
                </a:solidFill>
                <a:latin typeface="Arial"/>
              </a:rPr>
              <a:t>Cada evento contó con un análisis de falla (AFA) y con un informe metalográfico externo; pero la falla persistió y reapareció en posiciones ya intervenidas.</a:t>
            </a:r>
          </a:p>
        </p:txBody>
      </p:sp>
      <p:sp>
        <p:nvSpPr>
          <p:cNvPr id="24" name="Rectangle 23"/>
          <p:cNvSpPr/>
          <p:nvPr/>
        </p:nvSpPr>
        <p:spPr>
          <a:xfrm>
            <a:off x="841248" y="5175504"/>
            <a:ext cx="45720" cy="457200"/>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25" name="TextBox 24"/>
          <p:cNvSpPr txBox="1"/>
          <p:nvPr/>
        </p:nvSpPr>
        <p:spPr>
          <a:xfrm>
            <a:off x="1024128" y="5157216"/>
            <a:ext cx="10277856" cy="493776"/>
          </a:xfrm>
          <a:prstGeom prst="rect">
            <a:avLst/>
          </a:prstGeom>
          <a:noFill/>
        </p:spPr>
        <p:txBody>
          <a:bodyPr wrap="square" lIns="0" tIns="0" rIns="0" bIns="0" anchor="t">
            <a:spAutoFit/>
          </a:bodyPr>
          <a:lstStyle/>
          <a:p>
            <a:pPr algn="l">
              <a:lnSpc>
                <a:spcPct val="114000"/>
              </a:lnSpc>
              <a:spcBef>
                <a:spcPts val="0"/>
              </a:spcBef>
              <a:spcAft>
                <a:spcPts val="400"/>
              </a:spcAft>
            </a:pPr>
            <a:r>
              <a:rPr lang="es-PE" sz="1150" b="1" i="0" noProof="0" dirty="0">
                <a:solidFill>
                  <a:srgbClr val="042354"/>
                </a:solidFill>
                <a:latin typeface="Arial"/>
              </a:rPr>
              <a:t>Las fracturas ocurrían entre 7 000 y 17 000 h, frente a un TBO de referencia de 20 000 h: el eje entregaba una vida inferior a la planificada.</a:t>
            </a:r>
          </a:p>
        </p:txBody>
      </p:sp>
      <p:pic>
        <p:nvPicPr>
          <p:cNvPr id="26" name="Imagen 25">
            <a:extLst>
              <a:ext uri="{FF2B5EF4-FFF2-40B4-BE49-F238E27FC236}">
                <a16:creationId xmlns:a16="http://schemas.microsoft.com/office/drawing/2014/main" id="{3C451C0A-C695-7776-1A43-2E9578874DF5}"/>
              </a:ext>
            </a:extLst>
          </p:cNvPr>
          <p:cNvPicPr>
            <a:picLocks noChangeAspect="1"/>
          </p:cNvPicPr>
          <p:nvPr/>
        </p:nvPicPr>
        <p:blipFill>
          <a:blip r:embed="rId5"/>
          <a:stretch>
            <a:fillRect/>
          </a:stretch>
        </p:blipFill>
        <p:spPr>
          <a:xfrm>
            <a:off x="158617" y="5943600"/>
            <a:ext cx="5620013" cy="55067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PE" sz="2200" b="1" i="0" noProof="0" dirty="0">
                <a:solidFill>
                  <a:srgbClr val="042354"/>
                </a:solidFill>
                <a:latin typeface="Arial"/>
              </a:rPr>
              <a:t>Objetivos</a:t>
            </a: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PE" sz="1100" b="1" i="0" noProof="0" dirty="0">
                <a:solidFill>
                  <a:srgbClr val="FFFFFF"/>
                </a:solidFill>
                <a:latin typeface="Arial"/>
              </a:rPr>
              <a:t>6</a:t>
            </a:r>
          </a:p>
        </p:txBody>
      </p:sp>
      <p:sp>
        <p:nvSpPr>
          <p:cNvPr id="6" name="Rectangle 5"/>
          <p:cNvSpPr/>
          <p:nvPr/>
        </p:nvSpPr>
        <p:spPr>
          <a:xfrm>
            <a:off x="841248" y="1463040"/>
            <a:ext cx="10515600" cy="987552"/>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7" name="TextBox 6"/>
          <p:cNvSpPr txBox="1"/>
          <p:nvPr/>
        </p:nvSpPr>
        <p:spPr>
          <a:xfrm>
            <a:off x="1078992" y="1647244"/>
            <a:ext cx="10040112" cy="619144"/>
          </a:xfrm>
          <a:prstGeom prst="rect">
            <a:avLst/>
          </a:prstGeom>
          <a:noFill/>
        </p:spPr>
        <p:txBody>
          <a:bodyPr wrap="square" lIns="0" tIns="0" rIns="0" bIns="0" anchor="ctr">
            <a:spAutoFit/>
          </a:bodyPr>
          <a:lstStyle/>
          <a:p>
            <a:pPr algn="l">
              <a:lnSpc>
                <a:spcPct val="114000"/>
              </a:lnSpc>
              <a:spcBef>
                <a:spcPts val="0"/>
              </a:spcBef>
              <a:spcAft>
                <a:spcPts val="400"/>
              </a:spcAft>
            </a:pPr>
            <a:r>
              <a:rPr lang="es-PE" sz="900" b="1" i="0" noProof="0" dirty="0">
                <a:solidFill>
                  <a:srgbClr val="8FE4C6"/>
                </a:solidFill>
                <a:latin typeface="Arial"/>
              </a:rPr>
              <a:t>OBJETIVO GENERAL</a:t>
            </a:r>
          </a:p>
          <a:p>
            <a:pPr algn="l">
              <a:lnSpc>
                <a:spcPct val="116000"/>
              </a:lnSpc>
              <a:spcBef>
                <a:spcPts val="0"/>
              </a:spcBef>
              <a:spcAft>
                <a:spcPts val="400"/>
              </a:spcAft>
            </a:pPr>
            <a:r>
              <a:rPr lang="es-PE" sz="1200" b="0" i="0" noProof="0" dirty="0">
                <a:solidFill>
                  <a:srgbClr val="FFFFFF"/>
                </a:solidFill>
                <a:latin typeface="Arial"/>
              </a:rPr>
              <a:t>Recuperar los indicadores de mantenimiento </a:t>
            </a:r>
            <a:r>
              <a:rPr lang="es-PE" sz="1200" noProof="0" dirty="0">
                <a:solidFill>
                  <a:srgbClr val="FFFFFF"/>
                </a:solidFill>
              </a:rPr>
              <a:t>(</a:t>
            </a:r>
            <a:r>
              <a:rPr lang="es-PE" sz="1200" b="0" i="0" noProof="0" dirty="0">
                <a:solidFill>
                  <a:srgbClr val="FFFFFF"/>
                </a:solidFill>
                <a:latin typeface="Arial"/>
              </a:rPr>
              <a:t>MTBF, MTTR y disponibilidad</a:t>
            </a:r>
            <a:r>
              <a:rPr lang="es-PE" sz="1200" noProof="0" dirty="0">
                <a:solidFill>
                  <a:srgbClr val="FFFFFF"/>
                </a:solidFill>
              </a:rPr>
              <a:t>) </a:t>
            </a:r>
            <a:r>
              <a:rPr lang="es-PE" sz="1200" b="0" i="0" noProof="0" dirty="0">
                <a:solidFill>
                  <a:srgbClr val="FFFFFF"/>
                </a:solidFill>
                <a:latin typeface="Arial"/>
              </a:rPr>
              <a:t>del motor de tracción de los camiones mineros 980E-5 mediante la eliminación de la fractura del eje palier del sistema de propulsión.</a:t>
            </a:r>
          </a:p>
        </p:txBody>
      </p:sp>
      <p:sp>
        <p:nvSpPr>
          <p:cNvPr id="8" name="Rectangle 7"/>
          <p:cNvSpPr/>
          <p:nvPr/>
        </p:nvSpPr>
        <p:spPr>
          <a:xfrm>
            <a:off x="841248" y="2670048"/>
            <a:ext cx="10515600" cy="69494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9" name="Rectangle 8"/>
          <p:cNvSpPr/>
          <p:nvPr/>
        </p:nvSpPr>
        <p:spPr>
          <a:xfrm>
            <a:off x="841248" y="2670048"/>
            <a:ext cx="45720" cy="694944"/>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0" name="TextBox 9"/>
          <p:cNvSpPr txBox="1"/>
          <p:nvPr/>
        </p:nvSpPr>
        <p:spPr>
          <a:xfrm>
            <a:off x="1078992" y="2752344"/>
            <a:ext cx="731520" cy="457200"/>
          </a:xfrm>
          <a:prstGeom prst="rect">
            <a:avLst/>
          </a:prstGeom>
          <a:noFill/>
        </p:spPr>
        <p:txBody>
          <a:bodyPr wrap="square" lIns="0" tIns="0" rIns="0" bIns="0" anchor="t">
            <a:spAutoFit/>
          </a:bodyPr>
          <a:lstStyle/>
          <a:p>
            <a:pPr algn="l">
              <a:lnSpc>
                <a:spcPct val="114000"/>
              </a:lnSpc>
              <a:spcBef>
                <a:spcPts val="0"/>
              </a:spcBef>
              <a:spcAft>
                <a:spcPts val="400"/>
              </a:spcAft>
            </a:pPr>
            <a:r>
              <a:rPr lang="es-PE" sz="1350" b="1" i="0" noProof="0" dirty="0">
                <a:solidFill>
                  <a:srgbClr val="C3094A"/>
                </a:solidFill>
                <a:latin typeface="Arial"/>
              </a:rPr>
              <a:t>OE1</a:t>
            </a:r>
          </a:p>
        </p:txBody>
      </p:sp>
      <p:sp>
        <p:nvSpPr>
          <p:cNvPr id="11" name="TextBox 10"/>
          <p:cNvSpPr txBox="1"/>
          <p:nvPr/>
        </p:nvSpPr>
        <p:spPr>
          <a:xfrm>
            <a:off x="1810512" y="2752344"/>
            <a:ext cx="9272016" cy="530352"/>
          </a:xfrm>
          <a:prstGeom prst="rect">
            <a:avLst/>
          </a:prstGeom>
          <a:noFill/>
        </p:spPr>
        <p:txBody>
          <a:bodyPr wrap="square" lIns="0" tIns="0" rIns="0" bIns="0" anchor="ctr">
            <a:spAutoFit/>
          </a:bodyPr>
          <a:lstStyle/>
          <a:p>
            <a:pPr algn="l">
              <a:lnSpc>
                <a:spcPct val="116000"/>
              </a:lnSpc>
              <a:spcBef>
                <a:spcPts val="0"/>
              </a:spcBef>
              <a:spcAft>
                <a:spcPts val="400"/>
              </a:spcAft>
            </a:pPr>
            <a:r>
              <a:rPr lang="es-PE" sz="1150" b="0" i="0" noProof="0" dirty="0">
                <a:solidFill>
                  <a:srgbClr val="191919"/>
                </a:solidFill>
                <a:latin typeface="Arial"/>
              </a:rPr>
              <a:t>Identificar la falla recurrente y cuantificar su impacto sobre los indicadores del motor de tracción y sobre los costos de mantenimiento de la flota.</a:t>
            </a:r>
          </a:p>
        </p:txBody>
      </p:sp>
      <p:sp>
        <p:nvSpPr>
          <p:cNvPr id="12" name="Rectangle 11"/>
          <p:cNvSpPr/>
          <p:nvPr/>
        </p:nvSpPr>
        <p:spPr>
          <a:xfrm>
            <a:off x="841248" y="3438144"/>
            <a:ext cx="10515600" cy="69494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3" name="Rectangle 12"/>
          <p:cNvSpPr/>
          <p:nvPr/>
        </p:nvSpPr>
        <p:spPr>
          <a:xfrm>
            <a:off x="841248" y="3438144"/>
            <a:ext cx="45720" cy="694944"/>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4" name="TextBox 13"/>
          <p:cNvSpPr txBox="1"/>
          <p:nvPr/>
        </p:nvSpPr>
        <p:spPr>
          <a:xfrm>
            <a:off x="1078992" y="3520439"/>
            <a:ext cx="731520" cy="457200"/>
          </a:xfrm>
          <a:prstGeom prst="rect">
            <a:avLst/>
          </a:prstGeom>
          <a:noFill/>
        </p:spPr>
        <p:txBody>
          <a:bodyPr wrap="square" lIns="0" tIns="0" rIns="0" bIns="0" anchor="t">
            <a:spAutoFit/>
          </a:bodyPr>
          <a:lstStyle/>
          <a:p>
            <a:pPr algn="l">
              <a:lnSpc>
                <a:spcPct val="114000"/>
              </a:lnSpc>
              <a:spcBef>
                <a:spcPts val="0"/>
              </a:spcBef>
              <a:spcAft>
                <a:spcPts val="400"/>
              </a:spcAft>
            </a:pPr>
            <a:r>
              <a:rPr lang="es-PE" sz="1350" b="1" i="0" noProof="0" dirty="0">
                <a:solidFill>
                  <a:srgbClr val="C3094A"/>
                </a:solidFill>
                <a:latin typeface="Arial"/>
              </a:rPr>
              <a:t>OE2</a:t>
            </a:r>
          </a:p>
        </p:txBody>
      </p:sp>
      <p:sp>
        <p:nvSpPr>
          <p:cNvPr id="15" name="TextBox 14"/>
          <p:cNvSpPr txBox="1"/>
          <p:nvPr/>
        </p:nvSpPr>
        <p:spPr>
          <a:xfrm>
            <a:off x="1810512" y="3520439"/>
            <a:ext cx="9272016" cy="530352"/>
          </a:xfrm>
          <a:prstGeom prst="rect">
            <a:avLst/>
          </a:prstGeom>
          <a:noFill/>
        </p:spPr>
        <p:txBody>
          <a:bodyPr wrap="square" lIns="0" tIns="0" rIns="0" bIns="0" anchor="ctr">
            <a:spAutoFit/>
          </a:bodyPr>
          <a:lstStyle/>
          <a:p>
            <a:pPr algn="l">
              <a:lnSpc>
                <a:spcPct val="116000"/>
              </a:lnSpc>
              <a:spcBef>
                <a:spcPts val="0"/>
              </a:spcBef>
              <a:spcAft>
                <a:spcPts val="400"/>
              </a:spcAft>
            </a:pPr>
            <a:r>
              <a:rPr lang="es-PE" sz="1150" b="0" i="0" noProof="0" dirty="0">
                <a:solidFill>
                  <a:srgbClr val="191919"/>
                </a:solidFill>
                <a:latin typeface="Arial"/>
              </a:rPr>
              <a:t>Determinar las causas latentes de la recurrencia mediante un análisis de causa raíz que evalúe los procesos y procedimientos involucrados.</a:t>
            </a:r>
          </a:p>
        </p:txBody>
      </p:sp>
      <p:sp>
        <p:nvSpPr>
          <p:cNvPr id="16" name="Rectangle 15"/>
          <p:cNvSpPr/>
          <p:nvPr/>
        </p:nvSpPr>
        <p:spPr>
          <a:xfrm>
            <a:off x="841248" y="4206240"/>
            <a:ext cx="10515600" cy="69494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7" name="Rectangle 16"/>
          <p:cNvSpPr/>
          <p:nvPr/>
        </p:nvSpPr>
        <p:spPr>
          <a:xfrm>
            <a:off x="841248" y="4206240"/>
            <a:ext cx="45720" cy="694944"/>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8" name="TextBox 17"/>
          <p:cNvSpPr txBox="1"/>
          <p:nvPr/>
        </p:nvSpPr>
        <p:spPr>
          <a:xfrm>
            <a:off x="1078992" y="4288536"/>
            <a:ext cx="731520" cy="457200"/>
          </a:xfrm>
          <a:prstGeom prst="rect">
            <a:avLst/>
          </a:prstGeom>
          <a:noFill/>
        </p:spPr>
        <p:txBody>
          <a:bodyPr wrap="square" lIns="0" tIns="0" rIns="0" bIns="0" anchor="t">
            <a:spAutoFit/>
          </a:bodyPr>
          <a:lstStyle/>
          <a:p>
            <a:pPr algn="l">
              <a:lnSpc>
                <a:spcPct val="114000"/>
              </a:lnSpc>
              <a:spcBef>
                <a:spcPts val="0"/>
              </a:spcBef>
              <a:spcAft>
                <a:spcPts val="400"/>
              </a:spcAft>
            </a:pPr>
            <a:r>
              <a:rPr lang="es-PE" sz="1350" b="1" i="0" noProof="0" dirty="0">
                <a:solidFill>
                  <a:srgbClr val="C3094A"/>
                </a:solidFill>
                <a:latin typeface="Arial"/>
              </a:rPr>
              <a:t>OE3</a:t>
            </a:r>
          </a:p>
        </p:txBody>
      </p:sp>
      <p:sp>
        <p:nvSpPr>
          <p:cNvPr id="19" name="TextBox 18"/>
          <p:cNvSpPr txBox="1"/>
          <p:nvPr/>
        </p:nvSpPr>
        <p:spPr>
          <a:xfrm>
            <a:off x="1810512" y="4288536"/>
            <a:ext cx="9272016" cy="530352"/>
          </a:xfrm>
          <a:prstGeom prst="rect">
            <a:avLst/>
          </a:prstGeom>
          <a:noFill/>
        </p:spPr>
        <p:txBody>
          <a:bodyPr wrap="square" lIns="0" tIns="0" rIns="0" bIns="0" anchor="ctr">
            <a:spAutoFit/>
          </a:bodyPr>
          <a:lstStyle/>
          <a:p>
            <a:pPr algn="l">
              <a:lnSpc>
                <a:spcPct val="116000"/>
              </a:lnSpc>
              <a:spcBef>
                <a:spcPts val="0"/>
              </a:spcBef>
              <a:spcAft>
                <a:spcPts val="400"/>
              </a:spcAft>
            </a:pPr>
            <a:r>
              <a:rPr lang="es-PE" sz="1150" b="0" i="0" noProof="0" dirty="0">
                <a:solidFill>
                  <a:srgbClr val="191919"/>
                </a:solidFill>
                <a:latin typeface="Arial"/>
              </a:rPr>
              <a:t>Implementar el rediseño de la unión soldada, sustentando el plan de acción con la lógica de decisión del RCM, que ante la ausencia de tarea factible deriva en un cambio de diseño.</a:t>
            </a:r>
          </a:p>
        </p:txBody>
      </p:sp>
      <p:sp>
        <p:nvSpPr>
          <p:cNvPr id="20" name="Rectangle 19"/>
          <p:cNvSpPr/>
          <p:nvPr/>
        </p:nvSpPr>
        <p:spPr>
          <a:xfrm>
            <a:off x="841248" y="4974336"/>
            <a:ext cx="10515600" cy="69494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21" name="Rectangle 20"/>
          <p:cNvSpPr/>
          <p:nvPr/>
        </p:nvSpPr>
        <p:spPr>
          <a:xfrm>
            <a:off x="841248" y="4974336"/>
            <a:ext cx="45720" cy="694944"/>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22" name="TextBox 21"/>
          <p:cNvSpPr txBox="1"/>
          <p:nvPr/>
        </p:nvSpPr>
        <p:spPr>
          <a:xfrm>
            <a:off x="1078992" y="5056631"/>
            <a:ext cx="731520" cy="457200"/>
          </a:xfrm>
          <a:prstGeom prst="rect">
            <a:avLst/>
          </a:prstGeom>
          <a:noFill/>
        </p:spPr>
        <p:txBody>
          <a:bodyPr wrap="square" lIns="0" tIns="0" rIns="0" bIns="0" anchor="t">
            <a:spAutoFit/>
          </a:bodyPr>
          <a:lstStyle/>
          <a:p>
            <a:pPr algn="l">
              <a:lnSpc>
                <a:spcPct val="114000"/>
              </a:lnSpc>
              <a:spcBef>
                <a:spcPts val="0"/>
              </a:spcBef>
              <a:spcAft>
                <a:spcPts val="400"/>
              </a:spcAft>
            </a:pPr>
            <a:r>
              <a:rPr lang="es-PE" sz="1350" b="1" i="0" noProof="0" dirty="0">
                <a:solidFill>
                  <a:srgbClr val="C3094A"/>
                </a:solidFill>
                <a:latin typeface="Arial"/>
              </a:rPr>
              <a:t>OE4</a:t>
            </a:r>
          </a:p>
        </p:txBody>
      </p:sp>
      <p:sp>
        <p:nvSpPr>
          <p:cNvPr id="23" name="TextBox 22"/>
          <p:cNvSpPr txBox="1"/>
          <p:nvPr/>
        </p:nvSpPr>
        <p:spPr>
          <a:xfrm>
            <a:off x="1810512" y="5056631"/>
            <a:ext cx="9272016" cy="530352"/>
          </a:xfrm>
          <a:prstGeom prst="rect">
            <a:avLst/>
          </a:prstGeom>
          <a:noFill/>
        </p:spPr>
        <p:txBody>
          <a:bodyPr wrap="square" lIns="0" tIns="0" rIns="0" bIns="0" anchor="ctr">
            <a:spAutoFit/>
          </a:bodyPr>
          <a:lstStyle/>
          <a:p>
            <a:pPr algn="l">
              <a:lnSpc>
                <a:spcPct val="116000"/>
              </a:lnSpc>
              <a:spcBef>
                <a:spcPts val="0"/>
              </a:spcBef>
              <a:spcAft>
                <a:spcPts val="400"/>
              </a:spcAft>
            </a:pPr>
            <a:r>
              <a:rPr lang="es-PE" sz="1150" b="0" i="0" noProof="0" dirty="0">
                <a:solidFill>
                  <a:srgbClr val="191919"/>
                </a:solidFill>
                <a:latin typeface="Arial"/>
              </a:rPr>
              <a:t>Evaluar la recuperación de los indicadores y el costo evitado, comparando el desempeño de la flota antes y después de la implementación.</a:t>
            </a:r>
          </a:p>
        </p:txBody>
      </p:sp>
      <p:pic>
        <p:nvPicPr>
          <p:cNvPr id="24" name="Imagen 23">
            <a:extLst>
              <a:ext uri="{FF2B5EF4-FFF2-40B4-BE49-F238E27FC236}">
                <a16:creationId xmlns:a16="http://schemas.microsoft.com/office/drawing/2014/main" id="{8EF53863-1501-1C64-0C61-476944C7B044}"/>
              </a:ext>
            </a:extLst>
          </p:cNvPr>
          <p:cNvPicPr>
            <a:picLocks noChangeAspect="1"/>
          </p:cNvPicPr>
          <p:nvPr/>
        </p:nvPicPr>
        <p:blipFill>
          <a:blip r:embed="rId2"/>
          <a:stretch>
            <a:fillRect/>
          </a:stretch>
        </p:blipFill>
        <p:spPr>
          <a:xfrm>
            <a:off x="158617" y="5943600"/>
            <a:ext cx="5620013" cy="55067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969" cy="6858000"/>
          </a:xfrm>
          <a:prstGeom prst="rect">
            <a:avLst/>
          </a:prstGeom>
          <a:solidFill>
            <a:srgbClr val="042354">
              <a:alpha val="86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4" name="Rectangle 3"/>
          <p:cNvSpPr/>
          <p:nvPr/>
        </p:nvSpPr>
        <p:spPr>
          <a:xfrm>
            <a:off x="841248" y="2432304"/>
            <a:ext cx="530352" cy="68580"/>
          </a:xfrm>
          <a:prstGeom prst="rect">
            <a:avLst/>
          </a:prstGeom>
          <a:solidFill>
            <a:srgbClr val="16C78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5" name="TextBox 4"/>
          <p:cNvSpPr txBox="1"/>
          <p:nvPr/>
        </p:nvSpPr>
        <p:spPr>
          <a:xfrm>
            <a:off x="841248" y="1956816"/>
            <a:ext cx="9052560" cy="365760"/>
          </a:xfrm>
          <a:prstGeom prst="rect">
            <a:avLst/>
          </a:prstGeom>
          <a:noFill/>
        </p:spPr>
        <p:txBody>
          <a:bodyPr wrap="square" lIns="0" tIns="0" rIns="0" bIns="0" anchor="t">
            <a:spAutoFit/>
          </a:bodyPr>
          <a:lstStyle/>
          <a:p>
            <a:pPr algn="l">
              <a:lnSpc>
                <a:spcPct val="114000"/>
              </a:lnSpc>
              <a:spcBef>
                <a:spcPts val="0"/>
              </a:spcBef>
              <a:spcAft>
                <a:spcPts val="400"/>
              </a:spcAft>
            </a:pPr>
            <a:r>
              <a:rPr lang="es-PE" sz="1150" b="1" i="0" noProof="0" dirty="0">
                <a:solidFill>
                  <a:srgbClr val="8FE4C6"/>
                </a:solidFill>
                <a:latin typeface="Arial"/>
              </a:rPr>
              <a:t>CAPÍTULO II</a:t>
            </a:r>
          </a:p>
        </p:txBody>
      </p:sp>
      <p:sp>
        <p:nvSpPr>
          <p:cNvPr id="6" name="TextBox 5"/>
          <p:cNvSpPr txBox="1"/>
          <p:nvPr/>
        </p:nvSpPr>
        <p:spPr>
          <a:xfrm>
            <a:off x="841248" y="2651760"/>
            <a:ext cx="9235440" cy="1280160"/>
          </a:xfrm>
          <a:prstGeom prst="rect">
            <a:avLst/>
          </a:prstGeom>
          <a:noFill/>
        </p:spPr>
        <p:txBody>
          <a:bodyPr wrap="square" lIns="0" tIns="0" rIns="0" bIns="0" anchor="t">
            <a:spAutoFit/>
          </a:bodyPr>
          <a:lstStyle/>
          <a:p>
            <a:pPr algn="l">
              <a:lnSpc>
                <a:spcPct val="102000"/>
              </a:lnSpc>
              <a:spcBef>
                <a:spcPts val="0"/>
              </a:spcBef>
              <a:spcAft>
                <a:spcPts val="400"/>
              </a:spcAft>
            </a:pPr>
            <a:r>
              <a:rPr lang="es-PE" sz="3600" b="1" i="0" noProof="0" dirty="0">
                <a:solidFill>
                  <a:srgbClr val="FFFFFF"/>
                </a:solidFill>
                <a:latin typeface="Arial"/>
              </a:rPr>
              <a:t>METODOLOGÍA</a:t>
            </a:r>
          </a:p>
        </p:txBody>
      </p:sp>
      <p:sp>
        <p:nvSpPr>
          <p:cNvPr id="7" name="TextBox 6"/>
          <p:cNvSpPr txBox="1"/>
          <p:nvPr/>
        </p:nvSpPr>
        <p:spPr>
          <a:xfrm>
            <a:off x="841248" y="4041648"/>
            <a:ext cx="11350752" cy="232628"/>
          </a:xfrm>
          <a:prstGeom prst="rect">
            <a:avLst/>
          </a:prstGeom>
          <a:noFill/>
        </p:spPr>
        <p:txBody>
          <a:bodyPr wrap="square" lIns="0" tIns="0" rIns="0" bIns="0" anchor="t">
            <a:spAutoFit/>
          </a:bodyPr>
          <a:lstStyle/>
          <a:p>
            <a:pPr algn="l">
              <a:lnSpc>
                <a:spcPct val="124000"/>
              </a:lnSpc>
              <a:spcBef>
                <a:spcPts val="0"/>
              </a:spcBef>
              <a:spcAft>
                <a:spcPts val="400"/>
              </a:spcAft>
            </a:pPr>
            <a:r>
              <a:rPr lang="es-PE" sz="1350" b="0" i="0" noProof="0" dirty="0">
                <a:solidFill>
                  <a:srgbClr val="C6D2E4"/>
                </a:solidFill>
                <a:latin typeface="Arial"/>
              </a:rPr>
              <a:t>Un proceso de mantenimiento centrado en confiabilidad conforme a la norma SAE JA1011.</a:t>
            </a:r>
          </a:p>
        </p:txBody>
      </p:sp>
      <p:sp>
        <p:nvSpPr>
          <p:cNvPr id="8" name="TextBox 7"/>
          <p:cNvSpPr txBox="1"/>
          <p:nvPr/>
        </p:nvSpPr>
        <p:spPr>
          <a:xfrm>
            <a:off x="9997409" y="1901952"/>
            <a:ext cx="1280160" cy="1005840"/>
          </a:xfrm>
          <a:prstGeom prst="rect">
            <a:avLst/>
          </a:prstGeom>
          <a:noFill/>
        </p:spPr>
        <p:txBody>
          <a:bodyPr wrap="square" lIns="0" tIns="0" rIns="0" bIns="0" anchor="t">
            <a:spAutoFit/>
          </a:bodyPr>
          <a:lstStyle/>
          <a:p>
            <a:pPr algn="r">
              <a:lnSpc>
                <a:spcPct val="114000"/>
              </a:lnSpc>
              <a:spcBef>
                <a:spcPts val="0"/>
              </a:spcBef>
              <a:spcAft>
                <a:spcPts val="400"/>
              </a:spcAft>
            </a:pPr>
            <a:r>
              <a:rPr lang="es-PE" sz="5000" b="1" i="0" noProof="0" dirty="0">
                <a:solidFill>
                  <a:srgbClr val="2A4576"/>
                </a:solidFill>
                <a:latin typeface="Arial"/>
              </a:rPr>
              <a:t>02</a:t>
            </a:r>
          </a:p>
        </p:txBody>
      </p:sp>
      <p:pic>
        <p:nvPicPr>
          <p:cNvPr id="9" name="Picture 8" descr="pucp_blanco.png"/>
          <p:cNvPicPr>
            <a:picLocks noChangeAspect="1"/>
          </p:cNvPicPr>
          <p:nvPr/>
        </p:nvPicPr>
        <p:blipFill>
          <a:blip r:embed="rId2"/>
          <a:stretch>
            <a:fillRect/>
          </a:stretch>
        </p:blipFill>
        <p:spPr>
          <a:xfrm>
            <a:off x="841248" y="5870448"/>
            <a:ext cx="1389888" cy="457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PE" sz="2200" dirty="0">
                <a:solidFill>
                  <a:srgbClr val="042354"/>
                </a:solidFill>
              </a:rPr>
              <a:t>Etapas de la metodología</a:t>
            </a:r>
            <a:endParaRPr lang="es-PE" sz="2200" b="1" i="0" noProof="0" dirty="0">
              <a:solidFill>
                <a:srgbClr val="042354"/>
              </a:solidFill>
              <a:latin typeface="Arial"/>
            </a:endParaRP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PE" sz="1100" b="1" i="0" noProof="0" dirty="0">
                <a:solidFill>
                  <a:srgbClr val="FFFFFF"/>
                </a:solidFill>
                <a:latin typeface="Arial"/>
              </a:rPr>
              <a:t>8</a:t>
            </a:r>
          </a:p>
        </p:txBody>
      </p:sp>
      <p:sp>
        <p:nvSpPr>
          <p:cNvPr id="6" name="Rectangle 5"/>
          <p:cNvSpPr/>
          <p:nvPr/>
        </p:nvSpPr>
        <p:spPr>
          <a:xfrm>
            <a:off x="841248" y="1463040"/>
            <a:ext cx="2414016" cy="128016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7" name="Rectangle 6"/>
          <p:cNvSpPr/>
          <p:nvPr/>
        </p:nvSpPr>
        <p:spPr>
          <a:xfrm>
            <a:off x="841248" y="1463040"/>
            <a:ext cx="2414016" cy="45720"/>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8" name="TextBox 7"/>
          <p:cNvSpPr txBox="1"/>
          <p:nvPr/>
        </p:nvSpPr>
        <p:spPr>
          <a:xfrm>
            <a:off x="1024128" y="1627632"/>
            <a:ext cx="2048256" cy="1042415"/>
          </a:xfrm>
          <a:prstGeom prst="rect">
            <a:avLst/>
          </a:prstGeom>
          <a:noFill/>
        </p:spPr>
        <p:txBody>
          <a:bodyPr wrap="square" lIns="0" tIns="0" rIns="0" bIns="0" anchor="t">
            <a:spAutoFit/>
          </a:bodyPr>
          <a:lstStyle/>
          <a:p>
            <a:pPr algn="l">
              <a:lnSpc>
                <a:spcPct val="114000"/>
              </a:lnSpc>
              <a:spcBef>
                <a:spcPts val="0"/>
              </a:spcBef>
              <a:spcAft>
                <a:spcPts val="400"/>
              </a:spcAft>
            </a:pPr>
            <a:r>
              <a:rPr lang="es-PE" sz="850" b="1" i="0" noProof="0" dirty="0">
                <a:solidFill>
                  <a:srgbClr val="C3094A"/>
                </a:solidFill>
                <a:latin typeface="Arial"/>
              </a:rPr>
              <a:t>ETAPA 1</a:t>
            </a:r>
          </a:p>
          <a:p>
            <a:pPr algn="l">
              <a:lnSpc>
                <a:spcPct val="106000"/>
              </a:lnSpc>
              <a:spcBef>
                <a:spcPts val="0"/>
              </a:spcBef>
              <a:spcAft>
                <a:spcPts val="400"/>
              </a:spcAft>
            </a:pPr>
            <a:r>
              <a:rPr lang="es-PE" sz="1200" b="1" i="0" noProof="0" dirty="0">
                <a:solidFill>
                  <a:srgbClr val="042354"/>
                </a:solidFill>
                <a:latin typeface="Arial"/>
              </a:rPr>
              <a:t>Desempeño previo</a:t>
            </a:r>
          </a:p>
          <a:p>
            <a:pPr algn="l">
              <a:lnSpc>
                <a:spcPct val="112000"/>
              </a:lnSpc>
              <a:spcBef>
                <a:spcPts val="0"/>
              </a:spcBef>
              <a:spcAft>
                <a:spcPts val="400"/>
              </a:spcAft>
            </a:pPr>
            <a:r>
              <a:rPr lang="es-PE" sz="950" b="0" i="0" noProof="0" dirty="0">
                <a:solidFill>
                  <a:srgbClr val="4A5568"/>
                </a:solidFill>
                <a:latin typeface="Arial"/>
              </a:rPr>
              <a:t>Cálculo de indicadores
y desviación contractual</a:t>
            </a:r>
          </a:p>
        </p:txBody>
      </p:sp>
      <p:sp>
        <p:nvSpPr>
          <p:cNvPr id="9" name="TextBox 8"/>
          <p:cNvSpPr txBox="1"/>
          <p:nvPr/>
        </p:nvSpPr>
        <p:spPr>
          <a:xfrm>
            <a:off x="3255264" y="1956816"/>
            <a:ext cx="274320" cy="274320"/>
          </a:xfrm>
          <a:prstGeom prst="rect">
            <a:avLst/>
          </a:prstGeom>
          <a:noFill/>
        </p:spPr>
        <p:txBody>
          <a:bodyPr wrap="square" lIns="0" tIns="0" rIns="0" bIns="0" anchor="t">
            <a:spAutoFit/>
          </a:bodyPr>
          <a:lstStyle/>
          <a:p>
            <a:pPr algn="ctr">
              <a:lnSpc>
                <a:spcPct val="114000"/>
              </a:lnSpc>
              <a:spcBef>
                <a:spcPts val="0"/>
              </a:spcBef>
              <a:spcAft>
                <a:spcPts val="400"/>
              </a:spcAft>
            </a:pPr>
            <a:r>
              <a:rPr lang="es-PE" sz="1600" b="1" i="0" noProof="0" dirty="0">
                <a:solidFill>
                  <a:srgbClr val="7A8494"/>
                </a:solidFill>
                <a:latin typeface="Arial"/>
              </a:rPr>
              <a:t>›</a:t>
            </a:r>
          </a:p>
        </p:txBody>
      </p:sp>
      <p:sp>
        <p:nvSpPr>
          <p:cNvPr id="10" name="Rectangle 9"/>
          <p:cNvSpPr/>
          <p:nvPr/>
        </p:nvSpPr>
        <p:spPr>
          <a:xfrm>
            <a:off x="3538728" y="1463040"/>
            <a:ext cx="2414016" cy="128016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1" name="Rectangle 10"/>
          <p:cNvSpPr/>
          <p:nvPr/>
        </p:nvSpPr>
        <p:spPr>
          <a:xfrm>
            <a:off x="3538728" y="1463040"/>
            <a:ext cx="2414016" cy="45720"/>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2" name="TextBox 11"/>
          <p:cNvSpPr txBox="1"/>
          <p:nvPr/>
        </p:nvSpPr>
        <p:spPr>
          <a:xfrm>
            <a:off x="3721608" y="1627632"/>
            <a:ext cx="2048256" cy="1042415"/>
          </a:xfrm>
          <a:prstGeom prst="rect">
            <a:avLst/>
          </a:prstGeom>
          <a:noFill/>
        </p:spPr>
        <p:txBody>
          <a:bodyPr wrap="square" lIns="0" tIns="0" rIns="0" bIns="0" anchor="t">
            <a:spAutoFit/>
          </a:bodyPr>
          <a:lstStyle/>
          <a:p>
            <a:pPr algn="l">
              <a:lnSpc>
                <a:spcPct val="114000"/>
              </a:lnSpc>
              <a:spcBef>
                <a:spcPts val="0"/>
              </a:spcBef>
              <a:spcAft>
                <a:spcPts val="400"/>
              </a:spcAft>
            </a:pPr>
            <a:r>
              <a:rPr lang="es-PE" sz="850" b="1" i="0" noProof="0" dirty="0">
                <a:solidFill>
                  <a:srgbClr val="C3094A"/>
                </a:solidFill>
                <a:latin typeface="Arial"/>
              </a:rPr>
              <a:t>ETAPA 2</a:t>
            </a:r>
          </a:p>
          <a:p>
            <a:pPr algn="l">
              <a:lnSpc>
                <a:spcPct val="106000"/>
              </a:lnSpc>
              <a:spcBef>
                <a:spcPts val="0"/>
              </a:spcBef>
              <a:spcAft>
                <a:spcPts val="400"/>
              </a:spcAft>
            </a:pPr>
            <a:r>
              <a:rPr lang="es-PE" sz="1200" b="1" i="0" noProof="0" dirty="0">
                <a:solidFill>
                  <a:srgbClr val="042354"/>
                </a:solidFill>
                <a:latin typeface="Arial"/>
              </a:rPr>
              <a:t>Focalización</a:t>
            </a:r>
          </a:p>
          <a:p>
            <a:pPr algn="l">
              <a:lnSpc>
                <a:spcPct val="112000"/>
              </a:lnSpc>
              <a:spcBef>
                <a:spcPts val="0"/>
              </a:spcBef>
              <a:spcAft>
                <a:spcPts val="400"/>
              </a:spcAft>
            </a:pPr>
            <a:r>
              <a:rPr lang="es-PE" sz="950" b="0" i="0" noProof="0" dirty="0">
                <a:solidFill>
                  <a:srgbClr val="4A5568"/>
                </a:solidFill>
                <a:latin typeface="Arial"/>
              </a:rPr>
              <a:t>Matriz de criticidad y
delimitación del activo</a:t>
            </a:r>
          </a:p>
        </p:txBody>
      </p:sp>
      <p:sp>
        <p:nvSpPr>
          <p:cNvPr id="13" name="TextBox 12"/>
          <p:cNvSpPr txBox="1"/>
          <p:nvPr/>
        </p:nvSpPr>
        <p:spPr>
          <a:xfrm>
            <a:off x="5952744" y="1956816"/>
            <a:ext cx="274320" cy="274320"/>
          </a:xfrm>
          <a:prstGeom prst="rect">
            <a:avLst/>
          </a:prstGeom>
          <a:noFill/>
        </p:spPr>
        <p:txBody>
          <a:bodyPr wrap="square" lIns="0" tIns="0" rIns="0" bIns="0" anchor="t">
            <a:spAutoFit/>
          </a:bodyPr>
          <a:lstStyle/>
          <a:p>
            <a:pPr algn="ctr">
              <a:lnSpc>
                <a:spcPct val="114000"/>
              </a:lnSpc>
              <a:spcBef>
                <a:spcPts val="0"/>
              </a:spcBef>
              <a:spcAft>
                <a:spcPts val="400"/>
              </a:spcAft>
            </a:pPr>
            <a:r>
              <a:rPr lang="es-PE" sz="1600" b="1" i="0" noProof="0" dirty="0">
                <a:solidFill>
                  <a:srgbClr val="7A8494"/>
                </a:solidFill>
                <a:latin typeface="Arial"/>
              </a:rPr>
              <a:t>›</a:t>
            </a:r>
          </a:p>
        </p:txBody>
      </p:sp>
      <p:sp>
        <p:nvSpPr>
          <p:cNvPr id="14" name="Rectangle 13"/>
          <p:cNvSpPr/>
          <p:nvPr/>
        </p:nvSpPr>
        <p:spPr>
          <a:xfrm>
            <a:off x="6236208" y="1463040"/>
            <a:ext cx="2414016" cy="128016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5" name="Rectangle 14"/>
          <p:cNvSpPr/>
          <p:nvPr/>
        </p:nvSpPr>
        <p:spPr>
          <a:xfrm>
            <a:off x="6236208" y="1463040"/>
            <a:ext cx="2414016" cy="45720"/>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6" name="TextBox 15"/>
          <p:cNvSpPr txBox="1"/>
          <p:nvPr/>
        </p:nvSpPr>
        <p:spPr>
          <a:xfrm>
            <a:off x="6419088" y="1627632"/>
            <a:ext cx="2048256" cy="1042415"/>
          </a:xfrm>
          <a:prstGeom prst="rect">
            <a:avLst/>
          </a:prstGeom>
          <a:noFill/>
        </p:spPr>
        <p:txBody>
          <a:bodyPr wrap="square" lIns="0" tIns="0" rIns="0" bIns="0" anchor="t">
            <a:spAutoFit/>
          </a:bodyPr>
          <a:lstStyle/>
          <a:p>
            <a:pPr algn="l">
              <a:lnSpc>
                <a:spcPct val="114000"/>
              </a:lnSpc>
              <a:spcBef>
                <a:spcPts val="0"/>
              </a:spcBef>
              <a:spcAft>
                <a:spcPts val="400"/>
              </a:spcAft>
            </a:pPr>
            <a:r>
              <a:rPr lang="es-PE" sz="850" b="1" i="0" noProof="0" dirty="0">
                <a:solidFill>
                  <a:srgbClr val="C3094A"/>
                </a:solidFill>
                <a:latin typeface="Arial"/>
              </a:rPr>
              <a:t>ETAPA 3</a:t>
            </a:r>
          </a:p>
          <a:p>
            <a:pPr algn="l">
              <a:lnSpc>
                <a:spcPct val="106000"/>
              </a:lnSpc>
              <a:spcBef>
                <a:spcPts val="0"/>
              </a:spcBef>
              <a:spcAft>
                <a:spcPts val="400"/>
              </a:spcAft>
            </a:pPr>
            <a:r>
              <a:rPr lang="es-PE" sz="1200" b="1" i="0" noProof="0" dirty="0">
                <a:solidFill>
                  <a:srgbClr val="042354"/>
                </a:solidFill>
                <a:latin typeface="Arial"/>
              </a:rPr>
              <a:t>Proceso RCM</a:t>
            </a:r>
          </a:p>
          <a:p>
            <a:pPr algn="l">
              <a:lnSpc>
                <a:spcPct val="112000"/>
              </a:lnSpc>
              <a:spcBef>
                <a:spcPts val="0"/>
              </a:spcBef>
              <a:spcAft>
                <a:spcPts val="400"/>
              </a:spcAft>
            </a:pPr>
            <a:r>
              <a:rPr lang="es-PE" sz="950" b="0" i="0" noProof="0" dirty="0">
                <a:solidFill>
                  <a:srgbClr val="4A5568"/>
                </a:solidFill>
                <a:latin typeface="Arial"/>
              </a:rPr>
              <a:t>Las siete preguntas de
la SAE JA1011 en secuencia</a:t>
            </a:r>
          </a:p>
        </p:txBody>
      </p:sp>
      <p:sp>
        <p:nvSpPr>
          <p:cNvPr id="17" name="TextBox 16"/>
          <p:cNvSpPr txBox="1"/>
          <p:nvPr/>
        </p:nvSpPr>
        <p:spPr>
          <a:xfrm>
            <a:off x="8650224" y="1956816"/>
            <a:ext cx="274320" cy="274320"/>
          </a:xfrm>
          <a:prstGeom prst="rect">
            <a:avLst/>
          </a:prstGeom>
          <a:noFill/>
        </p:spPr>
        <p:txBody>
          <a:bodyPr wrap="square" lIns="0" tIns="0" rIns="0" bIns="0" anchor="t">
            <a:spAutoFit/>
          </a:bodyPr>
          <a:lstStyle/>
          <a:p>
            <a:pPr algn="ctr">
              <a:lnSpc>
                <a:spcPct val="114000"/>
              </a:lnSpc>
              <a:spcBef>
                <a:spcPts val="0"/>
              </a:spcBef>
              <a:spcAft>
                <a:spcPts val="400"/>
              </a:spcAft>
            </a:pPr>
            <a:r>
              <a:rPr lang="es-PE" sz="1600" b="1" i="0" noProof="0" dirty="0">
                <a:solidFill>
                  <a:srgbClr val="7A8494"/>
                </a:solidFill>
                <a:latin typeface="Arial"/>
              </a:rPr>
              <a:t>›</a:t>
            </a:r>
          </a:p>
        </p:txBody>
      </p:sp>
      <p:sp>
        <p:nvSpPr>
          <p:cNvPr id="18" name="Rectangle 17"/>
          <p:cNvSpPr/>
          <p:nvPr/>
        </p:nvSpPr>
        <p:spPr>
          <a:xfrm>
            <a:off x="8933688" y="1463040"/>
            <a:ext cx="2414016" cy="128016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9" name="Rectangle 18"/>
          <p:cNvSpPr/>
          <p:nvPr/>
        </p:nvSpPr>
        <p:spPr>
          <a:xfrm>
            <a:off x="8933688" y="1463040"/>
            <a:ext cx="2414016" cy="45720"/>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20" name="TextBox 19"/>
          <p:cNvSpPr txBox="1"/>
          <p:nvPr/>
        </p:nvSpPr>
        <p:spPr>
          <a:xfrm>
            <a:off x="9116567" y="1627632"/>
            <a:ext cx="2048256" cy="1042415"/>
          </a:xfrm>
          <a:prstGeom prst="rect">
            <a:avLst/>
          </a:prstGeom>
          <a:noFill/>
        </p:spPr>
        <p:txBody>
          <a:bodyPr wrap="square" lIns="0" tIns="0" rIns="0" bIns="0" anchor="t">
            <a:spAutoFit/>
          </a:bodyPr>
          <a:lstStyle/>
          <a:p>
            <a:pPr algn="l">
              <a:lnSpc>
                <a:spcPct val="114000"/>
              </a:lnSpc>
              <a:spcBef>
                <a:spcPts val="0"/>
              </a:spcBef>
              <a:spcAft>
                <a:spcPts val="400"/>
              </a:spcAft>
            </a:pPr>
            <a:r>
              <a:rPr lang="es-PE" sz="850" b="1" i="0" noProof="0" dirty="0">
                <a:solidFill>
                  <a:srgbClr val="C3094A"/>
                </a:solidFill>
                <a:latin typeface="Arial"/>
              </a:rPr>
              <a:t>ETAPA 4</a:t>
            </a:r>
          </a:p>
          <a:p>
            <a:pPr algn="l">
              <a:lnSpc>
                <a:spcPct val="106000"/>
              </a:lnSpc>
              <a:spcBef>
                <a:spcPts val="0"/>
              </a:spcBef>
              <a:spcAft>
                <a:spcPts val="400"/>
              </a:spcAft>
            </a:pPr>
            <a:r>
              <a:rPr lang="es-PE" sz="1200" b="1" i="0" noProof="0" dirty="0">
                <a:solidFill>
                  <a:srgbClr val="042354"/>
                </a:solidFill>
                <a:latin typeface="Arial"/>
              </a:rPr>
              <a:t>Implementación
y verificación</a:t>
            </a:r>
          </a:p>
          <a:p>
            <a:pPr algn="l">
              <a:lnSpc>
                <a:spcPct val="112000"/>
              </a:lnSpc>
              <a:spcBef>
                <a:spcPts val="0"/>
              </a:spcBef>
              <a:spcAft>
                <a:spcPts val="400"/>
              </a:spcAft>
            </a:pPr>
            <a:r>
              <a:rPr lang="es-PE" sz="950" b="0" i="0" noProof="0" dirty="0">
                <a:solidFill>
                  <a:srgbClr val="4A5568"/>
                </a:solidFill>
                <a:latin typeface="Arial"/>
              </a:rPr>
              <a:t>Validación, control de
cambio y verificación</a:t>
            </a:r>
          </a:p>
        </p:txBody>
      </p:sp>
      <p:sp>
        <p:nvSpPr>
          <p:cNvPr id="21" name="TextBox 20"/>
          <p:cNvSpPr txBox="1"/>
          <p:nvPr/>
        </p:nvSpPr>
        <p:spPr>
          <a:xfrm>
            <a:off x="841248" y="2999232"/>
            <a:ext cx="10515600" cy="152799"/>
          </a:xfrm>
          <a:prstGeom prst="rect">
            <a:avLst/>
          </a:prstGeom>
          <a:noFill/>
        </p:spPr>
        <p:txBody>
          <a:bodyPr wrap="square" lIns="0" tIns="0" rIns="0" bIns="0" anchor="t">
            <a:spAutoFit/>
          </a:bodyPr>
          <a:lstStyle/>
          <a:p>
            <a:pPr algn="l">
              <a:lnSpc>
                <a:spcPct val="114000"/>
              </a:lnSpc>
              <a:spcBef>
                <a:spcPts val="0"/>
              </a:spcBef>
              <a:spcAft>
                <a:spcPts val="400"/>
              </a:spcAft>
            </a:pPr>
            <a:r>
              <a:rPr lang="es-PE" sz="950" b="1" i="0" noProof="0" dirty="0">
                <a:solidFill>
                  <a:srgbClr val="4A5568"/>
                </a:solidFill>
                <a:latin typeface="Arial"/>
              </a:rPr>
              <a:t>LAS SIETE PREGUNTAS DE LA NORMA SAE JA1011 (Criterios mínimos a cumplir en un proceso RCM)</a:t>
            </a:r>
          </a:p>
        </p:txBody>
      </p:sp>
      <p:cxnSp>
        <p:nvCxnSpPr>
          <p:cNvPr id="22" name="Connector 21"/>
          <p:cNvCxnSpPr/>
          <p:nvPr/>
        </p:nvCxnSpPr>
        <p:spPr>
          <a:xfrm>
            <a:off x="841248" y="327355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841248" y="3419856"/>
            <a:ext cx="1416013" cy="1353312"/>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24" name="TextBox 23"/>
          <p:cNvSpPr txBox="1"/>
          <p:nvPr/>
        </p:nvSpPr>
        <p:spPr>
          <a:xfrm>
            <a:off x="950976" y="3547872"/>
            <a:ext cx="1196557" cy="1133856"/>
          </a:xfrm>
          <a:prstGeom prst="rect">
            <a:avLst/>
          </a:prstGeom>
          <a:noFill/>
        </p:spPr>
        <p:txBody>
          <a:bodyPr wrap="square" lIns="0" tIns="0" rIns="0" bIns="0" anchor="t">
            <a:spAutoFit/>
          </a:bodyPr>
          <a:lstStyle/>
          <a:p>
            <a:pPr algn="l">
              <a:lnSpc>
                <a:spcPct val="95000"/>
              </a:lnSpc>
              <a:spcBef>
                <a:spcPts val="0"/>
              </a:spcBef>
              <a:spcAft>
                <a:spcPts val="500"/>
              </a:spcAft>
            </a:pPr>
            <a:r>
              <a:rPr lang="es-PE" sz="1900" b="1" i="0" noProof="0" dirty="0">
                <a:solidFill>
                  <a:srgbClr val="2841DD"/>
                </a:solidFill>
                <a:latin typeface="Arial"/>
              </a:rPr>
              <a:t>1</a:t>
            </a:r>
          </a:p>
          <a:p>
            <a:pPr algn="l">
              <a:lnSpc>
                <a:spcPct val="112000"/>
              </a:lnSpc>
              <a:spcBef>
                <a:spcPts val="0"/>
              </a:spcBef>
              <a:spcAft>
                <a:spcPts val="400"/>
              </a:spcAft>
            </a:pPr>
            <a:r>
              <a:rPr lang="es-PE" sz="900" b="0" i="0" noProof="0" dirty="0">
                <a:solidFill>
                  <a:srgbClr val="191919"/>
                </a:solidFill>
                <a:latin typeface="Arial"/>
              </a:rPr>
              <a:t>Funciones y estándares de desempeño</a:t>
            </a:r>
          </a:p>
        </p:txBody>
      </p:sp>
      <p:sp>
        <p:nvSpPr>
          <p:cNvPr id="25" name="Rectangle 24"/>
          <p:cNvSpPr/>
          <p:nvPr/>
        </p:nvSpPr>
        <p:spPr>
          <a:xfrm>
            <a:off x="2357845" y="3419856"/>
            <a:ext cx="1416013" cy="1353312"/>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26" name="TextBox 25"/>
          <p:cNvSpPr txBox="1"/>
          <p:nvPr/>
        </p:nvSpPr>
        <p:spPr>
          <a:xfrm>
            <a:off x="2467573" y="3547872"/>
            <a:ext cx="1196557" cy="1133856"/>
          </a:xfrm>
          <a:prstGeom prst="rect">
            <a:avLst/>
          </a:prstGeom>
          <a:noFill/>
        </p:spPr>
        <p:txBody>
          <a:bodyPr wrap="square" lIns="0" tIns="0" rIns="0" bIns="0" anchor="t">
            <a:spAutoFit/>
          </a:bodyPr>
          <a:lstStyle/>
          <a:p>
            <a:pPr algn="l">
              <a:lnSpc>
                <a:spcPct val="95000"/>
              </a:lnSpc>
              <a:spcBef>
                <a:spcPts val="0"/>
              </a:spcBef>
              <a:spcAft>
                <a:spcPts val="500"/>
              </a:spcAft>
            </a:pPr>
            <a:r>
              <a:rPr lang="es-PE" sz="1900" b="1" i="0" noProof="0" dirty="0">
                <a:solidFill>
                  <a:srgbClr val="2841DD"/>
                </a:solidFill>
                <a:latin typeface="Arial"/>
              </a:rPr>
              <a:t>2</a:t>
            </a:r>
          </a:p>
          <a:p>
            <a:pPr algn="l">
              <a:lnSpc>
                <a:spcPct val="112000"/>
              </a:lnSpc>
              <a:spcBef>
                <a:spcPts val="0"/>
              </a:spcBef>
              <a:spcAft>
                <a:spcPts val="400"/>
              </a:spcAft>
            </a:pPr>
            <a:r>
              <a:rPr lang="es-PE" sz="900" b="0" i="0" noProof="0" dirty="0">
                <a:solidFill>
                  <a:srgbClr val="191919"/>
                </a:solidFill>
                <a:latin typeface="Arial"/>
              </a:rPr>
              <a:t>Fallas funcionales</a:t>
            </a:r>
          </a:p>
        </p:txBody>
      </p:sp>
      <p:sp>
        <p:nvSpPr>
          <p:cNvPr id="27" name="Rectangle 26"/>
          <p:cNvSpPr/>
          <p:nvPr/>
        </p:nvSpPr>
        <p:spPr>
          <a:xfrm>
            <a:off x="3874443" y="3419856"/>
            <a:ext cx="1416013" cy="1353312"/>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28" name="TextBox 27"/>
          <p:cNvSpPr txBox="1"/>
          <p:nvPr/>
        </p:nvSpPr>
        <p:spPr>
          <a:xfrm>
            <a:off x="3984171" y="3547872"/>
            <a:ext cx="1196557" cy="1133856"/>
          </a:xfrm>
          <a:prstGeom prst="rect">
            <a:avLst/>
          </a:prstGeom>
          <a:noFill/>
        </p:spPr>
        <p:txBody>
          <a:bodyPr wrap="square" lIns="0" tIns="0" rIns="0" bIns="0" anchor="t">
            <a:spAutoFit/>
          </a:bodyPr>
          <a:lstStyle/>
          <a:p>
            <a:pPr algn="l">
              <a:lnSpc>
                <a:spcPct val="95000"/>
              </a:lnSpc>
              <a:spcBef>
                <a:spcPts val="0"/>
              </a:spcBef>
              <a:spcAft>
                <a:spcPts val="500"/>
              </a:spcAft>
            </a:pPr>
            <a:r>
              <a:rPr lang="es-PE" sz="1900" b="1" i="0" noProof="0" dirty="0">
                <a:solidFill>
                  <a:srgbClr val="FFFFFF"/>
                </a:solidFill>
                <a:latin typeface="Arial"/>
              </a:rPr>
              <a:t>3</a:t>
            </a:r>
          </a:p>
          <a:p>
            <a:pPr algn="l">
              <a:lnSpc>
                <a:spcPct val="112000"/>
              </a:lnSpc>
              <a:spcBef>
                <a:spcPts val="0"/>
              </a:spcBef>
              <a:spcAft>
                <a:spcPts val="400"/>
              </a:spcAft>
            </a:pPr>
            <a:r>
              <a:rPr lang="es-PE" sz="900" b="0" i="0" noProof="0" dirty="0">
                <a:solidFill>
                  <a:srgbClr val="FFFFFF"/>
                </a:solidFill>
                <a:latin typeface="Arial"/>
              </a:rPr>
              <a:t>Modos de falla · ACR anidado</a:t>
            </a:r>
          </a:p>
        </p:txBody>
      </p:sp>
      <p:sp>
        <p:nvSpPr>
          <p:cNvPr id="29" name="Rectangle 28"/>
          <p:cNvSpPr/>
          <p:nvPr/>
        </p:nvSpPr>
        <p:spPr>
          <a:xfrm>
            <a:off x="5391041" y="3419856"/>
            <a:ext cx="1416013" cy="1353312"/>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30" name="TextBox 29"/>
          <p:cNvSpPr txBox="1"/>
          <p:nvPr/>
        </p:nvSpPr>
        <p:spPr>
          <a:xfrm>
            <a:off x="5500769" y="3547872"/>
            <a:ext cx="1196557" cy="1133856"/>
          </a:xfrm>
          <a:prstGeom prst="rect">
            <a:avLst/>
          </a:prstGeom>
          <a:noFill/>
        </p:spPr>
        <p:txBody>
          <a:bodyPr wrap="square" lIns="0" tIns="0" rIns="0" bIns="0" anchor="t">
            <a:spAutoFit/>
          </a:bodyPr>
          <a:lstStyle/>
          <a:p>
            <a:pPr algn="l">
              <a:lnSpc>
                <a:spcPct val="95000"/>
              </a:lnSpc>
              <a:spcBef>
                <a:spcPts val="0"/>
              </a:spcBef>
              <a:spcAft>
                <a:spcPts val="500"/>
              </a:spcAft>
            </a:pPr>
            <a:r>
              <a:rPr lang="es-PE" sz="1900" b="1" i="0" noProof="0" dirty="0">
                <a:solidFill>
                  <a:srgbClr val="2841DD"/>
                </a:solidFill>
                <a:latin typeface="Arial"/>
              </a:rPr>
              <a:t>4</a:t>
            </a:r>
          </a:p>
          <a:p>
            <a:pPr algn="l">
              <a:lnSpc>
                <a:spcPct val="112000"/>
              </a:lnSpc>
              <a:spcBef>
                <a:spcPts val="0"/>
              </a:spcBef>
              <a:spcAft>
                <a:spcPts val="400"/>
              </a:spcAft>
            </a:pPr>
            <a:r>
              <a:rPr lang="es-PE" sz="900" b="0" i="0" noProof="0" dirty="0">
                <a:solidFill>
                  <a:srgbClr val="191919"/>
                </a:solidFill>
                <a:latin typeface="Arial"/>
              </a:rPr>
              <a:t>Efectos de falla</a:t>
            </a:r>
          </a:p>
        </p:txBody>
      </p:sp>
      <p:sp>
        <p:nvSpPr>
          <p:cNvPr id="31" name="Rectangle 30"/>
          <p:cNvSpPr/>
          <p:nvPr/>
        </p:nvSpPr>
        <p:spPr>
          <a:xfrm>
            <a:off x="6907638" y="3419856"/>
            <a:ext cx="1416013" cy="1353312"/>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32" name="TextBox 31"/>
          <p:cNvSpPr txBox="1"/>
          <p:nvPr/>
        </p:nvSpPr>
        <p:spPr>
          <a:xfrm>
            <a:off x="7017366" y="3547872"/>
            <a:ext cx="1196557" cy="1133856"/>
          </a:xfrm>
          <a:prstGeom prst="rect">
            <a:avLst/>
          </a:prstGeom>
          <a:noFill/>
        </p:spPr>
        <p:txBody>
          <a:bodyPr wrap="square" lIns="0" tIns="0" rIns="0" bIns="0" anchor="t">
            <a:spAutoFit/>
          </a:bodyPr>
          <a:lstStyle/>
          <a:p>
            <a:pPr algn="l">
              <a:lnSpc>
                <a:spcPct val="95000"/>
              </a:lnSpc>
              <a:spcBef>
                <a:spcPts val="0"/>
              </a:spcBef>
              <a:spcAft>
                <a:spcPts val="500"/>
              </a:spcAft>
            </a:pPr>
            <a:r>
              <a:rPr lang="es-PE" sz="1900" b="1" i="0" noProof="0" dirty="0">
                <a:solidFill>
                  <a:srgbClr val="2841DD"/>
                </a:solidFill>
                <a:latin typeface="Arial"/>
              </a:rPr>
              <a:t>5</a:t>
            </a:r>
          </a:p>
          <a:p>
            <a:pPr algn="l">
              <a:lnSpc>
                <a:spcPct val="112000"/>
              </a:lnSpc>
              <a:spcBef>
                <a:spcPts val="0"/>
              </a:spcBef>
              <a:spcAft>
                <a:spcPts val="400"/>
              </a:spcAft>
            </a:pPr>
            <a:r>
              <a:rPr lang="es-PE" sz="900" b="0" i="0" noProof="0" dirty="0">
                <a:solidFill>
                  <a:srgbClr val="191919"/>
                </a:solidFill>
                <a:latin typeface="Arial"/>
              </a:rPr>
              <a:t>Consecuencias de falla</a:t>
            </a:r>
          </a:p>
        </p:txBody>
      </p:sp>
      <p:sp>
        <p:nvSpPr>
          <p:cNvPr id="33" name="Rectangle 32"/>
          <p:cNvSpPr/>
          <p:nvPr/>
        </p:nvSpPr>
        <p:spPr>
          <a:xfrm>
            <a:off x="8424236" y="3419856"/>
            <a:ext cx="1416013" cy="1353312"/>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34" name="TextBox 33"/>
          <p:cNvSpPr txBox="1"/>
          <p:nvPr/>
        </p:nvSpPr>
        <p:spPr>
          <a:xfrm>
            <a:off x="8533964" y="3547872"/>
            <a:ext cx="1196557" cy="1133856"/>
          </a:xfrm>
          <a:prstGeom prst="rect">
            <a:avLst/>
          </a:prstGeom>
          <a:noFill/>
        </p:spPr>
        <p:txBody>
          <a:bodyPr wrap="square" lIns="0" tIns="0" rIns="0" bIns="0" anchor="t">
            <a:spAutoFit/>
          </a:bodyPr>
          <a:lstStyle/>
          <a:p>
            <a:pPr algn="l">
              <a:lnSpc>
                <a:spcPct val="95000"/>
              </a:lnSpc>
              <a:spcBef>
                <a:spcPts val="0"/>
              </a:spcBef>
              <a:spcAft>
                <a:spcPts val="500"/>
              </a:spcAft>
            </a:pPr>
            <a:r>
              <a:rPr lang="es-PE" sz="1900" b="1" i="0" noProof="0" dirty="0">
                <a:solidFill>
                  <a:srgbClr val="FFFFFF"/>
                </a:solidFill>
                <a:latin typeface="Arial"/>
              </a:rPr>
              <a:t>6</a:t>
            </a:r>
          </a:p>
          <a:p>
            <a:pPr algn="l">
              <a:lnSpc>
                <a:spcPct val="112000"/>
              </a:lnSpc>
              <a:spcBef>
                <a:spcPts val="0"/>
              </a:spcBef>
              <a:spcAft>
                <a:spcPts val="400"/>
              </a:spcAft>
            </a:pPr>
            <a:r>
              <a:rPr lang="es-PE" sz="900" b="0" i="0" noProof="0" dirty="0">
                <a:solidFill>
                  <a:srgbClr val="FFFFFF"/>
                </a:solidFill>
                <a:latin typeface="Arial"/>
              </a:rPr>
              <a:t>Evaluación de tareas proactivas</a:t>
            </a:r>
          </a:p>
        </p:txBody>
      </p:sp>
      <p:sp>
        <p:nvSpPr>
          <p:cNvPr id="35" name="Rectangle 34"/>
          <p:cNvSpPr/>
          <p:nvPr/>
        </p:nvSpPr>
        <p:spPr>
          <a:xfrm>
            <a:off x="9940834" y="3419856"/>
            <a:ext cx="1416013" cy="1353312"/>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36" name="TextBox 35"/>
          <p:cNvSpPr txBox="1"/>
          <p:nvPr/>
        </p:nvSpPr>
        <p:spPr>
          <a:xfrm>
            <a:off x="10050562" y="3547872"/>
            <a:ext cx="1196557" cy="1133856"/>
          </a:xfrm>
          <a:prstGeom prst="rect">
            <a:avLst/>
          </a:prstGeom>
          <a:noFill/>
        </p:spPr>
        <p:txBody>
          <a:bodyPr wrap="square" lIns="0" tIns="0" rIns="0" bIns="0" anchor="t">
            <a:spAutoFit/>
          </a:bodyPr>
          <a:lstStyle/>
          <a:p>
            <a:pPr algn="l">
              <a:lnSpc>
                <a:spcPct val="95000"/>
              </a:lnSpc>
              <a:spcBef>
                <a:spcPts val="0"/>
              </a:spcBef>
              <a:spcAft>
                <a:spcPts val="500"/>
              </a:spcAft>
            </a:pPr>
            <a:r>
              <a:rPr lang="es-PE" sz="1900" b="1" i="0" noProof="0" dirty="0">
                <a:solidFill>
                  <a:srgbClr val="FFFFFF"/>
                </a:solidFill>
                <a:latin typeface="Arial"/>
              </a:rPr>
              <a:t>7</a:t>
            </a:r>
          </a:p>
          <a:p>
            <a:pPr algn="l">
              <a:lnSpc>
                <a:spcPct val="112000"/>
              </a:lnSpc>
              <a:spcBef>
                <a:spcPts val="0"/>
              </a:spcBef>
              <a:spcAft>
                <a:spcPts val="400"/>
              </a:spcAft>
            </a:pPr>
            <a:r>
              <a:rPr lang="es-PE" sz="900" b="0" i="0" noProof="0" dirty="0">
                <a:solidFill>
                  <a:srgbClr val="FFFFFF"/>
                </a:solidFill>
                <a:latin typeface="Arial"/>
              </a:rPr>
              <a:t>Acción "a falta de"</a:t>
            </a:r>
          </a:p>
        </p:txBody>
      </p:sp>
      <p:sp>
        <p:nvSpPr>
          <p:cNvPr id="37" name="TextBox 36"/>
          <p:cNvSpPr txBox="1"/>
          <p:nvPr/>
        </p:nvSpPr>
        <p:spPr>
          <a:xfrm>
            <a:off x="841248" y="4864608"/>
            <a:ext cx="10515600" cy="136384"/>
          </a:xfrm>
          <a:prstGeom prst="rect">
            <a:avLst/>
          </a:prstGeom>
          <a:noFill/>
        </p:spPr>
        <p:txBody>
          <a:bodyPr wrap="square" lIns="0" tIns="0" rIns="0" bIns="0" anchor="t">
            <a:spAutoFit/>
          </a:bodyPr>
          <a:lstStyle/>
          <a:p>
            <a:pPr algn="l">
              <a:lnSpc>
                <a:spcPct val="106000"/>
              </a:lnSpc>
              <a:spcBef>
                <a:spcPts val="0"/>
              </a:spcBef>
              <a:spcAft>
                <a:spcPts val="400"/>
              </a:spcAft>
            </a:pPr>
            <a:r>
              <a:rPr lang="es-PE" sz="900" b="0" i="0" noProof="0" dirty="0">
                <a:solidFill>
                  <a:srgbClr val="7A8494"/>
                </a:solidFill>
                <a:highlight>
                  <a:srgbClr val="FFFF00"/>
                </a:highlight>
                <a:latin typeface="Arial"/>
              </a:rPr>
              <a:t>El ACR se utilizó para responder en profundidad la pregunta 3; el AFA se empleó como herramienta anidada para resolver el nivel físico</a:t>
            </a:r>
            <a:r>
              <a:rPr lang="es-PE" sz="900" b="0" i="0" noProof="0" dirty="0">
                <a:solidFill>
                  <a:srgbClr val="7A8494"/>
                </a:solidFill>
                <a:latin typeface="Arial"/>
              </a:rPr>
              <a:t>.</a:t>
            </a:r>
          </a:p>
        </p:txBody>
      </p:sp>
      <p:sp>
        <p:nvSpPr>
          <p:cNvPr id="38" name="Rectangle 37"/>
          <p:cNvSpPr/>
          <p:nvPr/>
        </p:nvSpPr>
        <p:spPr>
          <a:xfrm>
            <a:off x="841248" y="5175504"/>
            <a:ext cx="45720" cy="457200"/>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39" name="TextBox 38"/>
          <p:cNvSpPr txBox="1"/>
          <p:nvPr/>
        </p:nvSpPr>
        <p:spPr>
          <a:xfrm>
            <a:off x="1024128" y="5157216"/>
            <a:ext cx="10277856" cy="493776"/>
          </a:xfrm>
          <a:prstGeom prst="rect">
            <a:avLst/>
          </a:prstGeom>
          <a:noFill/>
        </p:spPr>
        <p:txBody>
          <a:bodyPr wrap="square" lIns="0" tIns="0" rIns="0" bIns="0" anchor="t">
            <a:spAutoFit/>
          </a:bodyPr>
          <a:lstStyle/>
          <a:p>
            <a:pPr algn="l">
              <a:lnSpc>
                <a:spcPct val="114000"/>
              </a:lnSpc>
              <a:spcBef>
                <a:spcPts val="0"/>
              </a:spcBef>
              <a:spcAft>
                <a:spcPts val="400"/>
              </a:spcAft>
            </a:pPr>
            <a:r>
              <a:rPr lang="es-PE" sz="1150" b="1" i="0" noProof="0" dirty="0">
                <a:solidFill>
                  <a:srgbClr val="042354"/>
                </a:solidFill>
                <a:latin typeface="Arial"/>
              </a:rPr>
              <a:t>Las preguntas 6 y 7 constituyen la lógica de decisión: una tarea proactiva se adopta solo si es técnicamente factible y si el beneficio supera el costo de ejecutarla.</a:t>
            </a:r>
          </a:p>
        </p:txBody>
      </p:sp>
      <p:pic>
        <p:nvPicPr>
          <p:cNvPr id="40" name="Imagen 39">
            <a:extLst>
              <a:ext uri="{FF2B5EF4-FFF2-40B4-BE49-F238E27FC236}">
                <a16:creationId xmlns:a16="http://schemas.microsoft.com/office/drawing/2014/main" id="{2AE72ACE-7D04-ABDF-37DD-CAAA251FF1F1}"/>
              </a:ext>
            </a:extLst>
          </p:cNvPr>
          <p:cNvPicPr>
            <a:picLocks noChangeAspect="1"/>
          </p:cNvPicPr>
          <p:nvPr/>
        </p:nvPicPr>
        <p:blipFill>
          <a:blip r:embed="rId2"/>
          <a:stretch>
            <a:fillRect/>
          </a:stretch>
        </p:blipFill>
        <p:spPr>
          <a:xfrm>
            <a:off x="158617" y="5943600"/>
            <a:ext cx="5620013" cy="55067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969" cy="6858000"/>
          </a:xfrm>
          <a:prstGeom prst="rect">
            <a:avLst/>
          </a:prstGeom>
          <a:solidFill>
            <a:srgbClr val="042354">
              <a:alpha val="86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4" name="Rectangle 3"/>
          <p:cNvSpPr/>
          <p:nvPr/>
        </p:nvSpPr>
        <p:spPr>
          <a:xfrm>
            <a:off x="841248" y="2432304"/>
            <a:ext cx="530352" cy="68580"/>
          </a:xfrm>
          <a:prstGeom prst="rect">
            <a:avLst/>
          </a:prstGeom>
          <a:solidFill>
            <a:srgbClr val="16C78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5" name="TextBox 4"/>
          <p:cNvSpPr txBox="1"/>
          <p:nvPr/>
        </p:nvSpPr>
        <p:spPr>
          <a:xfrm>
            <a:off x="841248" y="1956816"/>
            <a:ext cx="9052560" cy="365760"/>
          </a:xfrm>
          <a:prstGeom prst="rect">
            <a:avLst/>
          </a:prstGeom>
          <a:noFill/>
        </p:spPr>
        <p:txBody>
          <a:bodyPr wrap="square" lIns="0" tIns="0" rIns="0" bIns="0" anchor="t">
            <a:spAutoFit/>
          </a:bodyPr>
          <a:lstStyle/>
          <a:p>
            <a:pPr algn="l">
              <a:lnSpc>
                <a:spcPct val="114000"/>
              </a:lnSpc>
              <a:spcBef>
                <a:spcPts val="0"/>
              </a:spcBef>
              <a:spcAft>
                <a:spcPts val="400"/>
              </a:spcAft>
            </a:pPr>
            <a:r>
              <a:rPr lang="es-PE" sz="1150" b="1" i="0" noProof="0" dirty="0">
                <a:solidFill>
                  <a:srgbClr val="8FE4C6"/>
                </a:solidFill>
                <a:latin typeface="Arial"/>
              </a:rPr>
              <a:t>CAPÍTULO III</a:t>
            </a:r>
          </a:p>
        </p:txBody>
      </p:sp>
      <p:sp>
        <p:nvSpPr>
          <p:cNvPr id="6" name="TextBox 5"/>
          <p:cNvSpPr txBox="1"/>
          <p:nvPr/>
        </p:nvSpPr>
        <p:spPr>
          <a:xfrm>
            <a:off x="841248" y="2651760"/>
            <a:ext cx="9235440" cy="1280160"/>
          </a:xfrm>
          <a:prstGeom prst="rect">
            <a:avLst/>
          </a:prstGeom>
          <a:noFill/>
        </p:spPr>
        <p:txBody>
          <a:bodyPr wrap="square" lIns="0" tIns="0" rIns="0" bIns="0" anchor="t">
            <a:spAutoFit/>
          </a:bodyPr>
          <a:lstStyle/>
          <a:p>
            <a:pPr algn="l">
              <a:lnSpc>
                <a:spcPct val="102000"/>
              </a:lnSpc>
              <a:spcBef>
                <a:spcPts val="0"/>
              </a:spcBef>
              <a:spcAft>
                <a:spcPts val="400"/>
              </a:spcAft>
            </a:pPr>
            <a:r>
              <a:rPr lang="es-PE" sz="3600" b="1" i="0" noProof="0" dirty="0">
                <a:solidFill>
                  <a:srgbClr val="FFFFFF"/>
                </a:solidFill>
                <a:latin typeface="Arial"/>
              </a:rPr>
              <a:t>DESARROLLO</a:t>
            </a:r>
          </a:p>
        </p:txBody>
      </p:sp>
      <p:sp>
        <p:nvSpPr>
          <p:cNvPr id="7" name="TextBox 6"/>
          <p:cNvSpPr txBox="1"/>
          <p:nvPr/>
        </p:nvSpPr>
        <p:spPr>
          <a:xfrm>
            <a:off x="841248" y="4041648"/>
            <a:ext cx="11117072" cy="232628"/>
          </a:xfrm>
          <a:prstGeom prst="rect">
            <a:avLst/>
          </a:prstGeom>
          <a:noFill/>
        </p:spPr>
        <p:txBody>
          <a:bodyPr wrap="square" lIns="0" tIns="0" rIns="0" bIns="0" anchor="t">
            <a:spAutoFit/>
          </a:bodyPr>
          <a:lstStyle/>
          <a:p>
            <a:pPr algn="l">
              <a:lnSpc>
                <a:spcPct val="124000"/>
              </a:lnSpc>
              <a:spcBef>
                <a:spcPts val="0"/>
              </a:spcBef>
              <a:spcAft>
                <a:spcPts val="400"/>
              </a:spcAft>
            </a:pPr>
            <a:r>
              <a:rPr lang="es-PE" sz="1350" b="0" i="0" noProof="0" dirty="0">
                <a:solidFill>
                  <a:srgbClr val="C6D2E4"/>
                </a:solidFill>
                <a:latin typeface="Arial"/>
              </a:rPr>
              <a:t>De la brecha contractual a la decisión de cambiar el diseño: focalización, verificación de quince hipótesis causales y descenso al nivel latente.</a:t>
            </a:r>
          </a:p>
        </p:txBody>
      </p:sp>
      <p:sp>
        <p:nvSpPr>
          <p:cNvPr id="8" name="TextBox 7"/>
          <p:cNvSpPr txBox="1"/>
          <p:nvPr/>
        </p:nvSpPr>
        <p:spPr>
          <a:xfrm>
            <a:off x="9997409" y="1901952"/>
            <a:ext cx="1280160" cy="1005840"/>
          </a:xfrm>
          <a:prstGeom prst="rect">
            <a:avLst/>
          </a:prstGeom>
          <a:noFill/>
        </p:spPr>
        <p:txBody>
          <a:bodyPr wrap="square" lIns="0" tIns="0" rIns="0" bIns="0" anchor="t">
            <a:spAutoFit/>
          </a:bodyPr>
          <a:lstStyle/>
          <a:p>
            <a:pPr algn="r">
              <a:lnSpc>
                <a:spcPct val="114000"/>
              </a:lnSpc>
              <a:spcBef>
                <a:spcPts val="0"/>
              </a:spcBef>
              <a:spcAft>
                <a:spcPts val="400"/>
              </a:spcAft>
            </a:pPr>
            <a:r>
              <a:rPr lang="es-PE" sz="5000" b="1" i="0" noProof="0" dirty="0">
                <a:solidFill>
                  <a:srgbClr val="2A4576"/>
                </a:solidFill>
                <a:latin typeface="Arial"/>
              </a:rPr>
              <a:t>03</a:t>
            </a:r>
          </a:p>
        </p:txBody>
      </p:sp>
      <p:pic>
        <p:nvPicPr>
          <p:cNvPr id="9" name="Picture 8" descr="pucp_blanco.png"/>
          <p:cNvPicPr>
            <a:picLocks noChangeAspect="1"/>
          </p:cNvPicPr>
          <p:nvPr/>
        </p:nvPicPr>
        <p:blipFill>
          <a:blip r:embed="rId2"/>
          <a:stretch>
            <a:fillRect/>
          </a:stretch>
        </p:blipFill>
        <p:spPr>
          <a:xfrm>
            <a:off x="841248" y="5870448"/>
            <a:ext cx="1389888" cy="457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PE" sz="2200" b="1" i="0" noProof="0" dirty="0">
                <a:solidFill>
                  <a:srgbClr val="042354"/>
                </a:solidFill>
                <a:latin typeface="Arial"/>
              </a:rPr>
              <a:t>Focalización: qué modo de falla justifica un tratamiento diferenciado</a:t>
            </a: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PE" sz="1100" b="1" i="0" noProof="0" dirty="0">
                <a:solidFill>
                  <a:srgbClr val="FFFFFF"/>
                </a:solidFill>
                <a:latin typeface="Arial"/>
              </a:rPr>
              <a:t>10</a:t>
            </a:r>
          </a:p>
        </p:txBody>
      </p:sp>
      <p:pic>
        <p:nvPicPr>
          <p:cNvPr id="6" name="Picture 5" descr="pu_g2_criticidad.png"/>
          <p:cNvPicPr>
            <a:picLocks noChangeAspect="1"/>
          </p:cNvPicPr>
          <p:nvPr/>
        </p:nvPicPr>
        <p:blipFill>
          <a:blip r:embed="rId2"/>
          <a:stretch>
            <a:fillRect/>
          </a:stretch>
        </p:blipFill>
        <p:spPr>
          <a:xfrm>
            <a:off x="566928" y="1437992"/>
            <a:ext cx="6492240" cy="3460806"/>
          </a:xfrm>
          <a:prstGeom prst="rect">
            <a:avLst/>
          </a:prstGeom>
        </p:spPr>
      </p:pic>
      <p:sp>
        <p:nvSpPr>
          <p:cNvPr id="7" name="TextBox 6"/>
          <p:cNvSpPr txBox="1"/>
          <p:nvPr/>
        </p:nvSpPr>
        <p:spPr>
          <a:xfrm>
            <a:off x="6492240" y="1481328"/>
            <a:ext cx="4864608" cy="274320"/>
          </a:xfrm>
          <a:prstGeom prst="rect">
            <a:avLst/>
          </a:prstGeom>
          <a:noFill/>
        </p:spPr>
        <p:txBody>
          <a:bodyPr wrap="square" lIns="0" tIns="0" rIns="0" bIns="0" anchor="t">
            <a:spAutoFit/>
          </a:bodyPr>
          <a:lstStyle/>
          <a:p>
            <a:pPr algn="l">
              <a:lnSpc>
                <a:spcPct val="114000"/>
              </a:lnSpc>
              <a:spcBef>
                <a:spcPts val="0"/>
              </a:spcBef>
              <a:spcAft>
                <a:spcPts val="400"/>
              </a:spcAft>
            </a:pPr>
            <a:r>
              <a:rPr lang="es-PE" sz="950" b="1" i="0" noProof="0" dirty="0">
                <a:solidFill>
                  <a:srgbClr val="4A5568"/>
                </a:solidFill>
                <a:latin typeface="Arial"/>
              </a:rPr>
              <a:t>CALIFICACIÓN DE CRITICIDAD</a:t>
            </a:r>
          </a:p>
        </p:txBody>
      </p:sp>
      <p:sp>
        <p:nvSpPr>
          <p:cNvPr id="8" name="Rectangle 7"/>
          <p:cNvSpPr/>
          <p:nvPr/>
        </p:nvSpPr>
        <p:spPr>
          <a:xfrm>
            <a:off x="6492240" y="1810512"/>
            <a:ext cx="292608" cy="292608"/>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PE" sz="1000" b="1" i="0" noProof="0" dirty="0">
                <a:solidFill>
                  <a:srgbClr val="FFFFFF"/>
                </a:solidFill>
                <a:latin typeface="Arial"/>
              </a:rPr>
              <a:t>F</a:t>
            </a:r>
          </a:p>
        </p:txBody>
      </p:sp>
      <p:sp>
        <p:nvSpPr>
          <p:cNvPr id="9" name="Rectangle 8"/>
          <p:cNvSpPr/>
          <p:nvPr/>
        </p:nvSpPr>
        <p:spPr>
          <a:xfrm>
            <a:off x="6830568" y="1810512"/>
            <a:ext cx="292608" cy="292608"/>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PE" sz="1000" b="1" i="0" noProof="0" dirty="0">
                <a:solidFill>
                  <a:srgbClr val="C3094A"/>
                </a:solidFill>
                <a:latin typeface="Arial"/>
              </a:rPr>
              <a:t>5</a:t>
            </a:r>
          </a:p>
        </p:txBody>
      </p:sp>
      <p:sp>
        <p:nvSpPr>
          <p:cNvPr id="10" name="TextBox 9"/>
          <p:cNvSpPr txBox="1"/>
          <p:nvPr/>
        </p:nvSpPr>
        <p:spPr>
          <a:xfrm>
            <a:off x="7242048" y="1819656"/>
            <a:ext cx="4114800" cy="292608"/>
          </a:xfrm>
          <a:prstGeom prst="rect">
            <a:avLst/>
          </a:prstGeom>
          <a:noFill/>
        </p:spPr>
        <p:txBody>
          <a:bodyPr wrap="square" lIns="0" tIns="0" rIns="0" bIns="0" anchor="ctr">
            <a:spAutoFit/>
          </a:bodyPr>
          <a:lstStyle/>
          <a:p>
            <a:pPr algn="l">
              <a:lnSpc>
                <a:spcPct val="108000"/>
              </a:lnSpc>
              <a:spcBef>
                <a:spcPts val="0"/>
              </a:spcBef>
              <a:spcAft>
                <a:spcPts val="400"/>
              </a:spcAft>
            </a:pPr>
            <a:r>
              <a:rPr lang="es-PE" sz="950" b="0" i="0" noProof="0" dirty="0">
                <a:solidFill>
                  <a:srgbClr val="191919"/>
                </a:solidFill>
                <a:latin typeface="Arial"/>
              </a:rPr>
              <a:t>13 eventos en 36 meses en la flota (4,33 por año)</a:t>
            </a:r>
          </a:p>
        </p:txBody>
      </p:sp>
      <p:sp>
        <p:nvSpPr>
          <p:cNvPr id="11" name="Rectangle 10"/>
          <p:cNvSpPr/>
          <p:nvPr/>
        </p:nvSpPr>
        <p:spPr>
          <a:xfrm>
            <a:off x="6492240" y="2240280"/>
            <a:ext cx="292608" cy="292608"/>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PE" sz="1000" b="1" i="0" noProof="0" dirty="0">
                <a:solidFill>
                  <a:srgbClr val="FFFFFF"/>
                </a:solidFill>
                <a:latin typeface="Arial"/>
              </a:rPr>
              <a:t>S</a:t>
            </a:r>
          </a:p>
        </p:txBody>
      </p:sp>
      <p:sp>
        <p:nvSpPr>
          <p:cNvPr id="12" name="Rectangle 11"/>
          <p:cNvSpPr/>
          <p:nvPr/>
        </p:nvSpPr>
        <p:spPr>
          <a:xfrm>
            <a:off x="6830568" y="2240280"/>
            <a:ext cx="292608" cy="292608"/>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PE" sz="1000" b="1" i="0" noProof="0" dirty="0">
                <a:solidFill>
                  <a:srgbClr val="C3094A"/>
                </a:solidFill>
                <a:latin typeface="Arial"/>
              </a:rPr>
              <a:t>4</a:t>
            </a:r>
          </a:p>
        </p:txBody>
      </p:sp>
      <p:sp>
        <p:nvSpPr>
          <p:cNvPr id="13" name="TextBox 12"/>
          <p:cNvSpPr txBox="1"/>
          <p:nvPr/>
        </p:nvSpPr>
        <p:spPr>
          <a:xfrm>
            <a:off x="7242048" y="2249424"/>
            <a:ext cx="4114800" cy="292608"/>
          </a:xfrm>
          <a:prstGeom prst="rect">
            <a:avLst/>
          </a:prstGeom>
          <a:noFill/>
        </p:spPr>
        <p:txBody>
          <a:bodyPr wrap="square" lIns="0" tIns="0" rIns="0" bIns="0" anchor="ctr">
            <a:spAutoFit/>
          </a:bodyPr>
          <a:lstStyle/>
          <a:p>
            <a:pPr algn="l">
              <a:lnSpc>
                <a:spcPct val="108000"/>
              </a:lnSpc>
              <a:spcBef>
                <a:spcPts val="0"/>
              </a:spcBef>
              <a:spcAft>
                <a:spcPts val="400"/>
              </a:spcAft>
            </a:pPr>
            <a:r>
              <a:rPr lang="es-PE" sz="950" b="0" i="0" noProof="0" dirty="0">
                <a:solidFill>
                  <a:srgbClr val="191919"/>
                </a:solidFill>
                <a:latin typeface="Arial"/>
              </a:rPr>
              <a:t>Free </a:t>
            </a:r>
            <a:r>
              <a:rPr lang="es-PE" sz="950" b="0" i="0" noProof="0" dirty="0" err="1">
                <a:solidFill>
                  <a:srgbClr val="191919"/>
                </a:solidFill>
                <a:latin typeface="Arial"/>
              </a:rPr>
              <a:t>wheeling</a:t>
            </a:r>
            <a:r>
              <a:rPr lang="es-PE" sz="950" b="0" i="0" noProof="0" dirty="0">
                <a:solidFill>
                  <a:srgbClr val="191919"/>
                </a:solidFill>
                <a:latin typeface="Arial"/>
              </a:rPr>
              <a:t>: pérdida de tracción y retardo dinámico en rampa</a:t>
            </a:r>
          </a:p>
        </p:txBody>
      </p:sp>
      <p:sp>
        <p:nvSpPr>
          <p:cNvPr id="14" name="Rectangle 13"/>
          <p:cNvSpPr/>
          <p:nvPr/>
        </p:nvSpPr>
        <p:spPr>
          <a:xfrm>
            <a:off x="6492240" y="2670048"/>
            <a:ext cx="292608" cy="292608"/>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PE" sz="1000" b="1" i="0" noProof="0" dirty="0">
                <a:solidFill>
                  <a:srgbClr val="FFFFFF"/>
                </a:solidFill>
                <a:latin typeface="Arial"/>
              </a:rPr>
              <a:t>O</a:t>
            </a:r>
          </a:p>
        </p:txBody>
      </p:sp>
      <p:sp>
        <p:nvSpPr>
          <p:cNvPr id="15" name="Rectangle 14"/>
          <p:cNvSpPr/>
          <p:nvPr/>
        </p:nvSpPr>
        <p:spPr>
          <a:xfrm>
            <a:off x="6830568" y="2670048"/>
            <a:ext cx="292608" cy="292608"/>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PE" sz="1000" b="1" i="0" noProof="0" dirty="0">
                <a:solidFill>
                  <a:srgbClr val="C3094A"/>
                </a:solidFill>
                <a:latin typeface="Arial"/>
              </a:rPr>
              <a:t>4</a:t>
            </a:r>
          </a:p>
        </p:txBody>
      </p:sp>
      <p:sp>
        <p:nvSpPr>
          <p:cNvPr id="16" name="TextBox 15"/>
          <p:cNvSpPr txBox="1"/>
          <p:nvPr/>
        </p:nvSpPr>
        <p:spPr>
          <a:xfrm>
            <a:off x="7242048" y="2679191"/>
            <a:ext cx="4114800" cy="292608"/>
          </a:xfrm>
          <a:prstGeom prst="rect">
            <a:avLst/>
          </a:prstGeom>
          <a:noFill/>
        </p:spPr>
        <p:txBody>
          <a:bodyPr wrap="square" lIns="0" tIns="0" rIns="0" bIns="0" anchor="ctr">
            <a:spAutoFit/>
          </a:bodyPr>
          <a:lstStyle/>
          <a:p>
            <a:pPr algn="l">
              <a:lnSpc>
                <a:spcPct val="108000"/>
              </a:lnSpc>
              <a:spcBef>
                <a:spcPts val="0"/>
              </a:spcBef>
              <a:spcAft>
                <a:spcPts val="400"/>
              </a:spcAft>
            </a:pPr>
            <a:r>
              <a:rPr lang="es-PE" sz="950" b="0" i="0" noProof="0" dirty="0">
                <a:solidFill>
                  <a:srgbClr val="191919"/>
                </a:solidFill>
                <a:latin typeface="Arial"/>
              </a:rPr>
              <a:t>MTTR de 59,3 h, rango de 25,7 h a 94,2 h</a:t>
            </a:r>
          </a:p>
        </p:txBody>
      </p:sp>
      <p:sp>
        <p:nvSpPr>
          <p:cNvPr id="17" name="Rectangle 16"/>
          <p:cNvSpPr/>
          <p:nvPr/>
        </p:nvSpPr>
        <p:spPr>
          <a:xfrm>
            <a:off x="6492240" y="3099815"/>
            <a:ext cx="292608" cy="292608"/>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PE" sz="1000" b="1" i="0" noProof="0" dirty="0">
                <a:solidFill>
                  <a:srgbClr val="FFFFFF"/>
                </a:solidFill>
                <a:latin typeface="Arial"/>
              </a:rPr>
              <a:t>C</a:t>
            </a:r>
          </a:p>
        </p:txBody>
      </p:sp>
      <p:sp>
        <p:nvSpPr>
          <p:cNvPr id="18" name="Rectangle 17"/>
          <p:cNvSpPr/>
          <p:nvPr/>
        </p:nvSpPr>
        <p:spPr>
          <a:xfrm>
            <a:off x="6830568" y="3099815"/>
            <a:ext cx="292608" cy="292608"/>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PE" sz="1000" b="1" i="0" noProof="0" dirty="0">
                <a:solidFill>
                  <a:srgbClr val="C3094A"/>
                </a:solidFill>
                <a:latin typeface="Arial"/>
              </a:rPr>
              <a:t>4</a:t>
            </a:r>
          </a:p>
        </p:txBody>
      </p:sp>
      <p:sp>
        <p:nvSpPr>
          <p:cNvPr id="19" name="TextBox 18"/>
          <p:cNvSpPr txBox="1"/>
          <p:nvPr/>
        </p:nvSpPr>
        <p:spPr>
          <a:xfrm>
            <a:off x="7242048" y="3108959"/>
            <a:ext cx="4114800" cy="292608"/>
          </a:xfrm>
          <a:prstGeom prst="rect">
            <a:avLst/>
          </a:prstGeom>
          <a:noFill/>
        </p:spPr>
        <p:txBody>
          <a:bodyPr wrap="square" lIns="0" tIns="0" rIns="0" bIns="0" anchor="ctr">
            <a:spAutoFit/>
          </a:bodyPr>
          <a:lstStyle/>
          <a:p>
            <a:pPr algn="l">
              <a:lnSpc>
                <a:spcPct val="108000"/>
              </a:lnSpc>
              <a:spcBef>
                <a:spcPts val="0"/>
              </a:spcBef>
              <a:spcAft>
                <a:spcPts val="400"/>
              </a:spcAft>
            </a:pPr>
            <a:r>
              <a:rPr lang="es-PE" sz="950" b="0" i="0" noProof="0" dirty="0">
                <a:solidFill>
                  <a:srgbClr val="191919"/>
                </a:solidFill>
                <a:latin typeface="Arial"/>
              </a:rPr>
              <a:t>US$ 763 393 por evento; 35 días de reparación</a:t>
            </a:r>
          </a:p>
        </p:txBody>
      </p:sp>
      <p:sp>
        <p:nvSpPr>
          <p:cNvPr id="20" name="Rectangle 19"/>
          <p:cNvSpPr/>
          <p:nvPr/>
        </p:nvSpPr>
        <p:spPr>
          <a:xfrm>
            <a:off x="6492240" y="3529583"/>
            <a:ext cx="292608" cy="292608"/>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PE" sz="1000" b="1" i="0" noProof="0" dirty="0">
                <a:solidFill>
                  <a:srgbClr val="FFFFFF"/>
                </a:solidFill>
                <a:latin typeface="Arial"/>
              </a:rPr>
              <a:t>K</a:t>
            </a:r>
          </a:p>
        </p:txBody>
      </p:sp>
      <p:sp>
        <p:nvSpPr>
          <p:cNvPr id="21" name="Rectangle 20"/>
          <p:cNvSpPr/>
          <p:nvPr/>
        </p:nvSpPr>
        <p:spPr>
          <a:xfrm>
            <a:off x="6830568" y="3529583"/>
            <a:ext cx="292608" cy="292608"/>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PE" sz="1000" b="1" i="0" noProof="0" dirty="0">
                <a:solidFill>
                  <a:srgbClr val="C3094A"/>
                </a:solidFill>
                <a:latin typeface="Arial"/>
              </a:rPr>
              <a:t>4</a:t>
            </a:r>
          </a:p>
        </p:txBody>
      </p:sp>
      <p:sp>
        <p:nvSpPr>
          <p:cNvPr id="22" name="TextBox 21"/>
          <p:cNvSpPr txBox="1"/>
          <p:nvPr/>
        </p:nvSpPr>
        <p:spPr>
          <a:xfrm>
            <a:off x="7242048" y="3538727"/>
            <a:ext cx="4114800" cy="292608"/>
          </a:xfrm>
          <a:prstGeom prst="rect">
            <a:avLst/>
          </a:prstGeom>
          <a:noFill/>
        </p:spPr>
        <p:txBody>
          <a:bodyPr wrap="square" lIns="0" tIns="0" rIns="0" bIns="0" anchor="ctr">
            <a:spAutoFit/>
          </a:bodyPr>
          <a:lstStyle/>
          <a:p>
            <a:pPr algn="l">
              <a:lnSpc>
                <a:spcPct val="108000"/>
              </a:lnSpc>
              <a:spcBef>
                <a:spcPts val="0"/>
              </a:spcBef>
              <a:spcAft>
                <a:spcPts val="400"/>
              </a:spcAft>
            </a:pPr>
            <a:r>
              <a:rPr lang="es-PE" sz="950" b="0" i="0" noProof="0" dirty="0">
                <a:solidFill>
                  <a:srgbClr val="191919"/>
                </a:solidFill>
                <a:latin typeface="Arial"/>
              </a:rPr>
              <a:t>315 h anuales = 0,36 % de disponibilidad de flota</a:t>
            </a:r>
          </a:p>
        </p:txBody>
      </p:sp>
      <p:sp>
        <p:nvSpPr>
          <p:cNvPr id="23" name="Rectangle 22"/>
          <p:cNvSpPr/>
          <p:nvPr/>
        </p:nvSpPr>
        <p:spPr>
          <a:xfrm>
            <a:off x="6492240" y="3959351"/>
            <a:ext cx="292608" cy="292608"/>
          </a:xfrm>
          <a:prstGeom prst="rect">
            <a:avLst/>
          </a:prstGeom>
          <a:solidFill>
            <a:srgbClr val="2841D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PE" sz="1000" b="1" i="0" noProof="0" dirty="0">
                <a:solidFill>
                  <a:srgbClr val="FFFFFF"/>
                </a:solidFill>
                <a:latin typeface="Arial"/>
              </a:rPr>
              <a:t>D</a:t>
            </a:r>
          </a:p>
        </p:txBody>
      </p:sp>
      <p:sp>
        <p:nvSpPr>
          <p:cNvPr id="24" name="Rectangle 23"/>
          <p:cNvSpPr/>
          <p:nvPr/>
        </p:nvSpPr>
        <p:spPr>
          <a:xfrm>
            <a:off x="6830568" y="3959351"/>
            <a:ext cx="292608" cy="29260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PE" sz="1000" b="1" i="0" noProof="0" dirty="0">
                <a:solidFill>
                  <a:srgbClr val="2841DD"/>
                </a:solidFill>
                <a:latin typeface="Arial"/>
              </a:rPr>
              <a:t>5</a:t>
            </a:r>
          </a:p>
        </p:txBody>
      </p:sp>
      <p:sp>
        <p:nvSpPr>
          <p:cNvPr id="25" name="TextBox 24"/>
          <p:cNvSpPr txBox="1"/>
          <p:nvPr/>
        </p:nvSpPr>
        <p:spPr>
          <a:xfrm>
            <a:off x="7242048" y="3968495"/>
            <a:ext cx="4114800" cy="292608"/>
          </a:xfrm>
          <a:prstGeom prst="rect">
            <a:avLst/>
          </a:prstGeom>
          <a:noFill/>
        </p:spPr>
        <p:txBody>
          <a:bodyPr wrap="square" lIns="0" tIns="0" rIns="0" bIns="0" anchor="ctr">
            <a:spAutoFit/>
          </a:bodyPr>
          <a:lstStyle/>
          <a:p>
            <a:pPr algn="l">
              <a:lnSpc>
                <a:spcPct val="108000"/>
              </a:lnSpc>
              <a:spcBef>
                <a:spcPts val="0"/>
              </a:spcBef>
              <a:spcAft>
                <a:spcPts val="400"/>
              </a:spcAft>
            </a:pPr>
            <a:r>
              <a:rPr lang="es-PE" sz="950" b="0" i="0" noProof="0" dirty="0">
                <a:solidFill>
                  <a:srgbClr val="191919"/>
                </a:solidFill>
                <a:latin typeface="Arial"/>
              </a:rPr>
              <a:t>La grieta nuclea dentro del motor cerrado: sin acceso de inspección</a:t>
            </a:r>
          </a:p>
        </p:txBody>
      </p:sp>
      <p:sp>
        <p:nvSpPr>
          <p:cNvPr id="26" name="TextBox 25"/>
          <p:cNvSpPr txBox="1"/>
          <p:nvPr/>
        </p:nvSpPr>
        <p:spPr>
          <a:xfrm>
            <a:off x="841248" y="4864608"/>
            <a:ext cx="10515600" cy="274320"/>
          </a:xfrm>
          <a:prstGeom prst="rect">
            <a:avLst/>
          </a:prstGeom>
          <a:noFill/>
        </p:spPr>
        <p:txBody>
          <a:bodyPr wrap="square" lIns="0" tIns="0" rIns="0" bIns="0" anchor="t">
            <a:spAutoFit/>
          </a:bodyPr>
          <a:lstStyle/>
          <a:p>
            <a:pPr algn="l">
              <a:lnSpc>
                <a:spcPct val="106000"/>
              </a:lnSpc>
              <a:spcBef>
                <a:spcPts val="0"/>
              </a:spcBef>
              <a:spcAft>
                <a:spcPts val="400"/>
              </a:spcAft>
            </a:pPr>
            <a:r>
              <a:rPr lang="es-PE" sz="900" b="0" i="0" noProof="0" dirty="0">
                <a:solidFill>
                  <a:srgbClr val="7A8494"/>
                </a:solidFill>
                <a:latin typeface="Arial"/>
              </a:rPr>
              <a:t>Consecuencia consolidada C = </a:t>
            </a:r>
            <a:r>
              <a:rPr lang="es-PE" sz="900" b="0" i="0" noProof="0" dirty="0" err="1">
                <a:solidFill>
                  <a:srgbClr val="7A8494"/>
                </a:solidFill>
                <a:latin typeface="Arial"/>
              </a:rPr>
              <a:t>máx</a:t>
            </a:r>
            <a:r>
              <a:rPr lang="es-PE" sz="900" b="0" i="0" noProof="0" dirty="0">
                <a:solidFill>
                  <a:srgbClr val="7A8494"/>
                </a:solidFill>
                <a:latin typeface="Arial"/>
              </a:rPr>
              <a:t> (S, O, Co, K) = 4 con F = 5; la detectabilidad D = 5 promueve la celda. Rúbrica de puntuación: Anexo C.</a:t>
            </a:r>
          </a:p>
        </p:txBody>
      </p:sp>
      <p:sp>
        <p:nvSpPr>
          <p:cNvPr id="27" name="Rectangle 26"/>
          <p:cNvSpPr/>
          <p:nvPr/>
        </p:nvSpPr>
        <p:spPr>
          <a:xfrm>
            <a:off x="841248" y="5175504"/>
            <a:ext cx="45720" cy="457200"/>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28" name="TextBox 27"/>
          <p:cNvSpPr txBox="1"/>
          <p:nvPr/>
        </p:nvSpPr>
        <p:spPr>
          <a:xfrm>
            <a:off x="1024128" y="5157216"/>
            <a:ext cx="10277856" cy="493776"/>
          </a:xfrm>
          <a:prstGeom prst="rect">
            <a:avLst/>
          </a:prstGeom>
          <a:noFill/>
        </p:spPr>
        <p:txBody>
          <a:bodyPr wrap="square" lIns="0" tIns="0" rIns="0" bIns="0" anchor="t">
            <a:spAutoFit/>
          </a:bodyPr>
          <a:lstStyle/>
          <a:p>
            <a:pPr algn="l">
              <a:lnSpc>
                <a:spcPct val="114000"/>
              </a:lnSpc>
              <a:spcBef>
                <a:spcPts val="0"/>
              </a:spcBef>
              <a:spcAft>
                <a:spcPts val="400"/>
              </a:spcAft>
            </a:pPr>
            <a:r>
              <a:rPr lang="es-PE" sz="1150" b="1" i="0" noProof="0" dirty="0">
                <a:solidFill>
                  <a:srgbClr val="042354"/>
                </a:solidFill>
                <a:latin typeface="Arial"/>
              </a:rPr>
              <a:t>La acción que corresponde al cuadrante de criticidad máxima es la eliminación de la causa raíz mediante rediseño, no un incremento de inspecciones.</a:t>
            </a:r>
          </a:p>
        </p:txBody>
      </p:sp>
      <p:pic>
        <p:nvPicPr>
          <p:cNvPr id="29" name="Imagen 28">
            <a:extLst>
              <a:ext uri="{FF2B5EF4-FFF2-40B4-BE49-F238E27FC236}">
                <a16:creationId xmlns:a16="http://schemas.microsoft.com/office/drawing/2014/main" id="{7F28D03E-FF13-C06C-BD6E-328D1E5C69BD}"/>
              </a:ext>
            </a:extLst>
          </p:cNvPr>
          <p:cNvPicPr>
            <a:picLocks noChangeAspect="1"/>
          </p:cNvPicPr>
          <p:nvPr/>
        </p:nvPicPr>
        <p:blipFill>
          <a:blip r:embed="rId3"/>
          <a:stretch>
            <a:fillRect/>
          </a:stretch>
        </p:blipFill>
        <p:spPr>
          <a:xfrm>
            <a:off x="158617" y="5943600"/>
            <a:ext cx="5620013" cy="55067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PE" sz="2200" b="1" i="0" noProof="0" dirty="0">
                <a:solidFill>
                  <a:srgbClr val="042354"/>
                </a:solidFill>
                <a:latin typeface="Arial"/>
              </a:rPr>
              <a:t>Preguntas 1 y 2: función, estándar y falla funcional</a:t>
            </a: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PE" sz="1100" b="1" i="0" noProof="0" dirty="0">
                <a:solidFill>
                  <a:srgbClr val="FFFFFF"/>
                </a:solidFill>
                <a:latin typeface="Arial"/>
              </a:rPr>
              <a:t>11</a:t>
            </a:r>
          </a:p>
        </p:txBody>
      </p:sp>
      <p:pic>
        <p:nvPicPr>
          <p:cNvPr id="6" name="Picture 5" descr="motor_corte.png"/>
          <p:cNvPicPr>
            <a:picLocks noChangeAspect="1"/>
          </p:cNvPicPr>
          <p:nvPr/>
        </p:nvPicPr>
        <p:blipFill>
          <a:blip r:embed="rId2"/>
          <a:stretch>
            <a:fillRect/>
          </a:stretch>
        </p:blipFill>
        <p:spPr>
          <a:xfrm>
            <a:off x="1078991" y="1444752"/>
            <a:ext cx="5559552" cy="3127248"/>
          </a:xfrm>
          <a:prstGeom prst="rect">
            <a:avLst/>
          </a:prstGeom>
        </p:spPr>
      </p:pic>
      <p:sp>
        <p:nvSpPr>
          <p:cNvPr id="7" name="TextBox 6"/>
          <p:cNvSpPr txBox="1"/>
          <p:nvPr/>
        </p:nvSpPr>
        <p:spPr>
          <a:xfrm>
            <a:off x="841248" y="4663440"/>
            <a:ext cx="6035040" cy="274320"/>
          </a:xfrm>
          <a:prstGeom prst="rect">
            <a:avLst/>
          </a:prstGeom>
          <a:noFill/>
        </p:spPr>
        <p:txBody>
          <a:bodyPr wrap="square" lIns="0" tIns="0" rIns="0" bIns="0" anchor="t">
            <a:spAutoFit/>
          </a:bodyPr>
          <a:lstStyle/>
          <a:p>
            <a:pPr algn="l">
              <a:lnSpc>
                <a:spcPct val="106000"/>
              </a:lnSpc>
              <a:spcBef>
                <a:spcPts val="0"/>
              </a:spcBef>
              <a:spcAft>
                <a:spcPts val="400"/>
              </a:spcAft>
            </a:pPr>
            <a:r>
              <a:rPr lang="es-PE" sz="900" b="0" i="0" noProof="0" dirty="0">
                <a:solidFill>
                  <a:srgbClr val="7A8494"/>
                </a:solidFill>
                <a:latin typeface="Arial"/>
              </a:rPr>
              <a:t>Configuración del tren de potencia del motor de tracción. Adaptado de la documentación técnica Komatsu.</a:t>
            </a:r>
          </a:p>
        </p:txBody>
      </p:sp>
      <p:sp>
        <p:nvSpPr>
          <p:cNvPr id="8" name="Rectangle 7"/>
          <p:cNvSpPr/>
          <p:nvPr/>
        </p:nvSpPr>
        <p:spPr>
          <a:xfrm>
            <a:off x="7132320" y="1444752"/>
            <a:ext cx="4224528" cy="1426464"/>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9" name="Rectangle 8"/>
          <p:cNvSpPr/>
          <p:nvPr/>
        </p:nvSpPr>
        <p:spPr>
          <a:xfrm>
            <a:off x="7132320" y="1444752"/>
            <a:ext cx="45720" cy="1426464"/>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0" name="TextBox 9"/>
          <p:cNvSpPr txBox="1"/>
          <p:nvPr/>
        </p:nvSpPr>
        <p:spPr>
          <a:xfrm>
            <a:off x="7351775" y="1572768"/>
            <a:ext cx="3840480" cy="1188720"/>
          </a:xfrm>
          <a:prstGeom prst="rect">
            <a:avLst/>
          </a:prstGeom>
          <a:noFill/>
        </p:spPr>
        <p:txBody>
          <a:bodyPr wrap="square" lIns="0" tIns="0" rIns="0" bIns="0" anchor="t">
            <a:spAutoFit/>
          </a:bodyPr>
          <a:lstStyle/>
          <a:p>
            <a:pPr algn="l">
              <a:lnSpc>
                <a:spcPct val="114000"/>
              </a:lnSpc>
              <a:spcBef>
                <a:spcPts val="0"/>
              </a:spcBef>
              <a:spcAft>
                <a:spcPts val="500"/>
              </a:spcAft>
            </a:pPr>
            <a:r>
              <a:rPr lang="es-PE" sz="900" b="1" i="0" noProof="0" dirty="0">
                <a:solidFill>
                  <a:srgbClr val="C3094A"/>
                </a:solidFill>
                <a:latin typeface="Arial"/>
              </a:rPr>
              <a:t>P1 · FUNCIÓN Y ESTÁNDAR</a:t>
            </a:r>
          </a:p>
          <a:p>
            <a:pPr algn="l">
              <a:lnSpc>
                <a:spcPct val="116000"/>
              </a:lnSpc>
              <a:spcBef>
                <a:spcPts val="0"/>
              </a:spcBef>
              <a:spcAft>
                <a:spcPts val="400"/>
              </a:spcAft>
            </a:pPr>
            <a:r>
              <a:rPr lang="es-PE" sz="1050" b="0" i="0" noProof="0" dirty="0">
                <a:solidFill>
                  <a:srgbClr val="191919"/>
                </a:solidFill>
                <a:latin typeface="Arial"/>
              </a:rPr>
              <a:t>Transmitir a la rueda motriz el par del motor eléctrico de inducción, con reducción de 35 a 1, y sostener la tracción y el retardo dinámico durante 20 000 horas entre reparaciones mayores.</a:t>
            </a:r>
          </a:p>
        </p:txBody>
      </p:sp>
      <p:sp>
        <p:nvSpPr>
          <p:cNvPr id="11" name="Rectangle 10"/>
          <p:cNvSpPr/>
          <p:nvPr/>
        </p:nvSpPr>
        <p:spPr>
          <a:xfrm>
            <a:off x="7132320" y="2999232"/>
            <a:ext cx="4224528" cy="179222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2" name="Rectangle 11"/>
          <p:cNvSpPr/>
          <p:nvPr/>
        </p:nvSpPr>
        <p:spPr>
          <a:xfrm>
            <a:off x="7132320" y="2999232"/>
            <a:ext cx="45720" cy="1792224"/>
          </a:xfrm>
          <a:prstGeom prst="rect">
            <a:avLst/>
          </a:prstGeom>
          <a:solidFill>
            <a:srgbClr val="2841D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3" name="TextBox 12"/>
          <p:cNvSpPr txBox="1"/>
          <p:nvPr/>
        </p:nvSpPr>
        <p:spPr>
          <a:xfrm>
            <a:off x="7351775" y="3127248"/>
            <a:ext cx="3840480" cy="1554480"/>
          </a:xfrm>
          <a:prstGeom prst="rect">
            <a:avLst/>
          </a:prstGeom>
          <a:noFill/>
        </p:spPr>
        <p:txBody>
          <a:bodyPr wrap="square" lIns="0" tIns="0" rIns="0" bIns="0" anchor="t">
            <a:spAutoFit/>
          </a:bodyPr>
          <a:lstStyle/>
          <a:p>
            <a:pPr algn="l">
              <a:lnSpc>
                <a:spcPct val="114000"/>
              </a:lnSpc>
              <a:spcBef>
                <a:spcPts val="0"/>
              </a:spcBef>
              <a:spcAft>
                <a:spcPts val="500"/>
              </a:spcAft>
            </a:pPr>
            <a:r>
              <a:rPr lang="es-PE" sz="900" b="1" i="0" noProof="0" dirty="0">
                <a:solidFill>
                  <a:srgbClr val="2841DD"/>
                </a:solidFill>
                <a:latin typeface="Arial"/>
              </a:rPr>
              <a:t>P2 · FALLA FUNCIONAL</a:t>
            </a:r>
          </a:p>
          <a:p>
            <a:pPr algn="l">
              <a:lnSpc>
                <a:spcPct val="116000"/>
              </a:lnSpc>
              <a:spcBef>
                <a:spcPts val="0"/>
              </a:spcBef>
              <a:spcAft>
                <a:spcPts val="500"/>
              </a:spcAft>
            </a:pPr>
            <a:r>
              <a:rPr lang="es-PE" sz="1050" b="0" i="0" noProof="0" dirty="0">
                <a:solidFill>
                  <a:srgbClr val="191919"/>
                </a:solidFill>
                <a:latin typeface="Arial"/>
              </a:rPr>
              <a:t>El motor de tracción deja de transmitir el par a la rueda. En operación se observa pérdida de tracción y la rueda queda libre (free </a:t>
            </a:r>
            <a:r>
              <a:rPr lang="es-PE" sz="1050" b="0" i="0" noProof="0" dirty="0" err="1">
                <a:solidFill>
                  <a:srgbClr val="191919"/>
                </a:solidFill>
                <a:latin typeface="Arial"/>
              </a:rPr>
              <a:t>wheeling</a:t>
            </a:r>
            <a:r>
              <a:rPr lang="es-PE" sz="1050" b="0" i="0" noProof="0" dirty="0">
                <a:solidFill>
                  <a:srgbClr val="191919"/>
                </a:solidFill>
                <a:latin typeface="Arial"/>
              </a:rPr>
              <a:t>).</a:t>
            </a:r>
          </a:p>
          <a:p>
            <a:pPr algn="l">
              <a:lnSpc>
                <a:spcPct val="114000"/>
              </a:lnSpc>
              <a:spcBef>
                <a:spcPts val="0"/>
              </a:spcBef>
              <a:spcAft>
                <a:spcPts val="400"/>
              </a:spcAft>
            </a:pPr>
            <a:r>
              <a:rPr lang="es-PE" sz="1000" b="0" i="0" noProof="0" dirty="0">
                <a:solidFill>
                  <a:srgbClr val="4A5568"/>
                </a:solidFill>
                <a:latin typeface="Arial"/>
              </a:rPr>
              <a:t>Evidencia registrada por el monitor del equipo: M1 a 2 544,9 rpm frente a M2 a 10,3 rpm, con par realimentado nulo en el canal afectado (código VHMS 775-1).</a:t>
            </a:r>
          </a:p>
        </p:txBody>
      </p:sp>
      <p:sp>
        <p:nvSpPr>
          <p:cNvPr id="14" name="Rectangle 13"/>
          <p:cNvSpPr/>
          <p:nvPr/>
        </p:nvSpPr>
        <p:spPr>
          <a:xfrm>
            <a:off x="841248" y="5175504"/>
            <a:ext cx="45720" cy="457200"/>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5" name="TextBox 14"/>
          <p:cNvSpPr txBox="1"/>
          <p:nvPr/>
        </p:nvSpPr>
        <p:spPr>
          <a:xfrm>
            <a:off x="1024128" y="5157216"/>
            <a:ext cx="10277856" cy="493776"/>
          </a:xfrm>
          <a:prstGeom prst="rect">
            <a:avLst/>
          </a:prstGeom>
          <a:noFill/>
        </p:spPr>
        <p:txBody>
          <a:bodyPr wrap="square" lIns="0" tIns="0" rIns="0" bIns="0" anchor="t">
            <a:spAutoFit/>
          </a:bodyPr>
          <a:lstStyle/>
          <a:p>
            <a:pPr algn="l">
              <a:lnSpc>
                <a:spcPct val="114000"/>
              </a:lnSpc>
              <a:spcBef>
                <a:spcPts val="0"/>
              </a:spcBef>
              <a:spcAft>
                <a:spcPts val="400"/>
              </a:spcAft>
            </a:pPr>
            <a:r>
              <a:rPr lang="es-PE" sz="1150" b="1" i="0" noProof="0" dirty="0">
                <a:solidFill>
                  <a:srgbClr val="042354"/>
                </a:solidFill>
                <a:latin typeface="Arial"/>
              </a:rPr>
              <a:t>También se incumple la función cuando el motor de tracción no alcanza las 20 000 horas de TBO previstas entre reparaciones mayores.</a:t>
            </a:r>
          </a:p>
        </p:txBody>
      </p:sp>
      <p:pic>
        <p:nvPicPr>
          <p:cNvPr id="16" name="Imagen 15">
            <a:extLst>
              <a:ext uri="{FF2B5EF4-FFF2-40B4-BE49-F238E27FC236}">
                <a16:creationId xmlns:a16="http://schemas.microsoft.com/office/drawing/2014/main" id="{A3C54E0C-0788-60C3-25DF-AA398C6E594F}"/>
              </a:ext>
            </a:extLst>
          </p:cNvPr>
          <p:cNvPicPr>
            <a:picLocks noChangeAspect="1"/>
          </p:cNvPicPr>
          <p:nvPr/>
        </p:nvPicPr>
        <p:blipFill>
          <a:blip r:embed="rId3"/>
          <a:stretch>
            <a:fillRect/>
          </a:stretch>
        </p:blipFill>
        <p:spPr>
          <a:xfrm>
            <a:off x="158617" y="5943600"/>
            <a:ext cx="5620013" cy="55067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PE" sz="2200" b="1" i="0" noProof="0" dirty="0">
                <a:solidFill>
                  <a:srgbClr val="042354"/>
                </a:solidFill>
                <a:latin typeface="Arial"/>
              </a:rPr>
              <a:t>Pregunta 3: quince hipótesis sometidas a verificación</a:t>
            </a: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PE" sz="1100" b="1" i="0" noProof="0" dirty="0">
                <a:solidFill>
                  <a:srgbClr val="FFFFFF"/>
                </a:solidFill>
                <a:latin typeface="Arial"/>
              </a:rPr>
              <a:t>12</a:t>
            </a:r>
          </a:p>
        </p:txBody>
      </p:sp>
      <p:sp>
        <p:nvSpPr>
          <p:cNvPr id="6" name="Rectangle 5"/>
          <p:cNvSpPr/>
          <p:nvPr/>
        </p:nvSpPr>
        <p:spPr>
          <a:xfrm>
            <a:off x="841248" y="1463040"/>
            <a:ext cx="1993392" cy="1133856"/>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7" name="Rectangle 6"/>
          <p:cNvSpPr/>
          <p:nvPr/>
        </p:nvSpPr>
        <p:spPr>
          <a:xfrm>
            <a:off x="841248" y="1463040"/>
            <a:ext cx="1993392" cy="45720"/>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8" name="TextBox 7"/>
          <p:cNvSpPr txBox="1"/>
          <p:nvPr/>
        </p:nvSpPr>
        <p:spPr>
          <a:xfrm>
            <a:off x="987552" y="1609344"/>
            <a:ext cx="1700784" cy="932688"/>
          </a:xfrm>
          <a:prstGeom prst="rect">
            <a:avLst/>
          </a:prstGeom>
          <a:noFill/>
        </p:spPr>
        <p:txBody>
          <a:bodyPr wrap="square" lIns="0" tIns="0" rIns="0" bIns="0" anchor="t">
            <a:spAutoFit/>
          </a:bodyPr>
          <a:lstStyle/>
          <a:p>
            <a:pPr algn="l">
              <a:lnSpc>
                <a:spcPct val="114000"/>
              </a:lnSpc>
              <a:spcBef>
                <a:spcPts val="0"/>
              </a:spcBef>
              <a:spcAft>
                <a:spcPts val="400"/>
              </a:spcAft>
            </a:pPr>
            <a:r>
              <a:rPr lang="es-PE" sz="900" b="1" i="0" noProof="0" dirty="0">
                <a:solidFill>
                  <a:srgbClr val="4A5568"/>
                </a:solidFill>
                <a:latin typeface="Arial"/>
              </a:rPr>
              <a:t>DISEÑO</a:t>
            </a:r>
          </a:p>
          <a:p>
            <a:pPr algn="l">
              <a:lnSpc>
                <a:spcPct val="95000"/>
              </a:lnSpc>
              <a:spcBef>
                <a:spcPts val="0"/>
              </a:spcBef>
              <a:spcAft>
                <a:spcPts val="300"/>
              </a:spcAft>
            </a:pPr>
            <a:r>
              <a:rPr lang="es-PE" sz="2300" b="1" i="0" noProof="0" dirty="0">
                <a:solidFill>
                  <a:srgbClr val="C3094A"/>
                </a:solidFill>
                <a:latin typeface="Arial"/>
              </a:rPr>
              <a:t>3</a:t>
            </a:r>
          </a:p>
          <a:p>
            <a:pPr algn="l">
              <a:lnSpc>
                <a:spcPct val="105000"/>
              </a:lnSpc>
              <a:spcBef>
                <a:spcPts val="0"/>
              </a:spcBef>
              <a:spcAft>
                <a:spcPts val="400"/>
              </a:spcAft>
            </a:pPr>
            <a:r>
              <a:rPr lang="es-PE" sz="950" b="1" i="0" noProof="0" dirty="0">
                <a:solidFill>
                  <a:srgbClr val="C3094A"/>
                </a:solidFill>
                <a:latin typeface="Arial"/>
              </a:rPr>
              <a:t>2 confirmadas</a:t>
            </a:r>
          </a:p>
        </p:txBody>
      </p:sp>
      <p:sp>
        <p:nvSpPr>
          <p:cNvPr id="9" name="Rectangle 8"/>
          <p:cNvSpPr/>
          <p:nvPr/>
        </p:nvSpPr>
        <p:spPr>
          <a:xfrm>
            <a:off x="2971800" y="1463040"/>
            <a:ext cx="1993392" cy="1133856"/>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0" name="Rectangle 9"/>
          <p:cNvSpPr/>
          <p:nvPr/>
        </p:nvSpPr>
        <p:spPr>
          <a:xfrm>
            <a:off x="2971800" y="1463040"/>
            <a:ext cx="1993392" cy="45720"/>
          </a:xfrm>
          <a:prstGeom prst="rect">
            <a:avLst/>
          </a:prstGeom>
          <a:solidFill>
            <a:srgbClr val="CFD6D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1" name="TextBox 10"/>
          <p:cNvSpPr txBox="1"/>
          <p:nvPr/>
        </p:nvSpPr>
        <p:spPr>
          <a:xfrm>
            <a:off x="3118104" y="1609344"/>
            <a:ext cx="1700784" cy="932688"/>
          </a:xfrm>
          <a:prstGeom prst="rect">
            <a:avLst/>
          </a:prstGeom>
          <a:noFill/>
        </p:spPr>
        <p:txBody>
          <a:bodyPr wrap="square" lIns="0" tIns="0" rIns="0" bIns="0" anchor="t">
            <a:spAutoFit/>
          </a:bodyPr>
          <a:lstStyle/>
          <a:p>
            <a:pPr algn="l">
              <a:lnSpc>
                <a:spcPct val="114000"/>
              </a:lnSpc>
              <a:spcBef>
                <a:spcPts val="0"/>
              </a:spcBef>
              <a:spcAft>
                <a:spcPts val="400"/>
              </a:spcAft>
            </a:pPr>
            <a:r>
              <a:rPr lang="es-PE" sz="900" b="1" i="0" noProof="0" dirty="0">
                <a:solidFill>
                  <a:srgbClr val="4A5568"/>
                </a:solidFill>
                <a:latin typeface="Arial"/>
              </a:rPr>
              <a:t>FABRICACIÓN</a:t>
            </a:r>
          </a:p>
          <a:p>
            <a:pPr algn="l">
              <a:lnSpc>
                <a:spcPct val="95000"/>
              </a:lnSpc>
              <a:spcBef>
                <a:spcPts val="0"/>
              </a:spcBef>
              <a:spcAft>
                <a:spcPts val="300"/>
              </a:spcAft>
            </a:pPr>
            <a:r>
              <a:rPr lang="es-PE" sz="2300" b="1" i="0" noProof="0" dirty="0">
                <a:solidFill>
                  <a:srgbClr val="7A8494"/>
                </a:solidFill>
                <a:latin typeface="Arial"/>
              </a:rPr>
              <a:t>3</a:t>
            </a:r>
          </a:p>
          <a:p>
            <a:pPr algn="l">
              <a:lnSpc>
                <a:spcPct val="105000"/>
              </a:lnSpc>
              <a:spcBef>
                <a:spcPts val="0"/>
              </a:spcBef>
              <a:spcAft>
                <a:spcPts val="400"/>
              </a:spcAft>
            </a:pPr>
            <a:r>
              <a:rPr lang="es-PE" sz="950" b="0" i="0" noProof="0" dirty="0">
                <a:solidFill>
                  <a:srgbClr val="7A8494"/>
                </a:solidFill>
                <a:latin typeface="Arial"/>
              </a:rPr>
              <a:t>3 descartadas</a:t>
            </a:r>
          </a:p>
        </p:txBody>
      </p:sp>
      <p:sp>
        <p:nvSpPr>
          <p:cNvPr id="12" name="Rectangle 11"/>
          <p:cNvSpPr/>
          <p:nvPr/>
        </p:nvSpPr>
        <p:spPr>
          <a:xfrm>
            <a:off x="5102352" y="1463040"/>
            <a:ext cx="1993392" cy="1133856"/>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3" name="Rectangle 12"/>
          <p:cNvSpPr/>
          <p:nvPr/>
        </p:nvSpPr>
        <p:spPr>
          <a:xfrm>
            <a:off x="5102352" y="1463040"/>
            <a:ext cx="1993392" cy="45720"/>
          </a:xfrm>
          <a:prstGeom prst="rect">
            <a:avLst/>
          </a:prstGeom>
          <a:solidFill>
            <a:srgbClr val="CFD6D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4" name="TextBox 13"/>
          <p:cNvSpPr txBox="1"/>
          <p:nvPr/>
        </p:nvSpPr>
        <p:spPr>
          <a:xfrm>
            <a:off x="5248656" y="1609344"/>
            <a:ext cx="1700784" cy="932688"/>
          </a:xfrm>
          <a:prstGeom prst="rect">
            <a:avLst/>
          </a:prstGeom>
          <a:noFill/>
        </p:spPr>
        <p:txBody>
          <a:bodyPr wrap="square" lIns="0" tIns="0" rIns="0" bIns="0" anchor="t">
            <a:spAutoFit/>
          </a:bodyPr>
          <a:lstStyle/>
          <a:p>
            <a:pPr algn="l">
              <a:lnSpc>
                <a:spcPct val="114000"/>
              </a:lnSpc>
              <a:spcBef>
                <a:spcPts val="0"/>
              </a:spcBef>
              <a:spcAft>
                <a:spcPts val="400"/>
              </a:spcAft>
            </a:pPr>
            <a:r>
              <a:rPr lang="es-PE" sz="900" b="1" i="0" noProof="0" dirty="0">
                <a:solidFill>
                  <a:srgbClr val="4A5568"/>
                </a:solidFill>
                <a:latin typeface="Arial"/>
              </a:rPr>
              <a:t>MONTAJE</a:t>
            </a:r>
          </a:p>
          <a:p>
            <a:pPr algn="l">
              <a:lnSpc>
                <a:spcPct val="95000"/>
              </a:lnSpc>
              <a:spcBef>
                <a:spcPts val="0"/>
              </a:spcBef>
              <a:spcAft>
                <a:spcPts val="300"/>
              </a:spcAft>
            </a:pPr>
            <a:r>
              <a:rPr lang="es-PE" sz="2300" b="1" i="0" noProof="0" dirty="0">
                <a:solidFill>
                  <a:srgbClr val="7A8494"/>
                </a:solidFill>
                <a:latin typeface="Arial"/>
              </a:rPr>
              <a:t>2</a:t>
            </a:r>
          </a:p>
          <a:p>
            <a:pPr algn="l">
              <a:lnSpc>
                <a:spcPct val="105000"/>
              </a:lnSpc>
              <a:spcBef>
                <a:spcPts val="0"/>
              </a:spcBef>
              <a:spcAft>
                <a:spcPts val="400"/>
              </a:spcAft>
            </a:pPr>
            <a:r>
              <a:rPr lang="es-PE" sz="950" b="0" i="0" noProof="0" dirty="0">
                <a:solidFill>
                  <a:srgbClr val="7A8494"/>
                </a:solidFill>
                <a:latin typeface="Arial"/>
              </a:rPr>
              <a:t>2 descartadas</a:t>
            </a:r>
          </a:p>
        </p:txBody>
      </p:sp>
      <p:sp>
        <p:nvSpPr>
          <p:cNvPr id="15" name="Rectangle 14"/>
          <p:cNvSpPr/>
          <p:nvPr/>
        </p:nvSpPr>
        <p:spPr>
          <a:xfrm>
            <a:off x="7232904" y="1463040"/>
            <a:ext cx="1993392" cy="1133856"/>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6" name="Rectangle 15"/>
          <p:cNvSpPr/>
          <p:nvPr/>
        </p:nvSpPr>
        <p:spPr>
          <a:xfrm>
            <a:off x="7232904" y="1463040"/>
            <a:ext cx="1993392" cy="45720"/>
          </a:xfrm>
          <a:prstGeom prst="rect">
            <a:avLst/>
          </a:prstGeom>
          <a:solidFill>
            <a:srgbClr val="CFD6D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7" name="TextBox 16"/>
          <p:cNvSpPr txBox="1"/>
          <p:nvPr/>
        </p:nvSpPr>
        <p:spPr>
          <a:xfrm>
            <a:off x="7379208" y="1609344"/>
            <a:ext cx="1700784" cy="932688"/>
          </a:xfrm>
          <a:prstGeom prst="rect">
            <a:avLst/>
          </a:prstGeom>
          <a:noFill/>
        </p:spPr>
        <p:txBody>
          <a:bodyPr wrap="square" lIns="0" tIns="0" rIns="0" bIns="0" anchor="t">
            <a:spAutoFit/>
          </a:bodyPr>
          <a:lstStyle/>
          <a:p>
            <a:pPr algn="l">
              <a:lnSpc>
                <a:spcPct val="114000"/>
              </a:lnSpc>
              <a:spcBef>
                <a:spcPts val="0"/>
              </a:spcBef>
              <a:spcAft>
                <a:spcPts val="400"/>
              </a:spcAft>
            </a:pPr>
            <a:r>
              <a:rPr lang="es-PE" sz="900" b="1" i="0" noProof="0" dirty="0">
                <a:solidFill>
                  <a:srgbClr val="4A5568"/>
                </a:solidFill>
                <a:latin typeface="Arial"/>
              </a:rPr>
              <a:t>OPERACIÓN</a:t>
            </a:r>
          </a:p>
          <a:p>
            <a:pPr algn="l">
              <a:lnSpc>
                <a:spcPct val="95000"/>
              </a:lnSpc>
              <a:spcBef>
                <a:spcPts val="0"/>
              </a:spcBef>
              <a:spcAft>
                <a:spcPts val="300"/>
              </a:spcAft>
            </a:pPr>
            <a:r>
              <a:rPr lang="es-PE" sz="2300" b="1" i="0" noProof="0" dirty="0">
                <a:solidFill>
                  <a:srgbClr val="7A8494"/>
                </a:solidFill>
                <a:latin typeface="Arial"/>
              </a:rPr>
              <a:t>4</a:t>
            </a:r>
          </a:p>
          <a:p>
            <a:pPr algn="l">
              <a:lnSpc>
                <a:spcPct val="105000"/>
              </a:lnSpc>
              <a:spcBef>
                <a:spcPts val="0"/>
              </a:spcBef>
              <a:spcAft>
                <a:spcPts val="400"/>
              </a:spcAft>
            </a:pPr>
            <a:r>
              <a:rPr lang="es-PE" sz="950" b="0" i="0" noProof="0" dirty="0">
                <a:solidFill>
                  <a:srgbClr val="7A8494"/>
                </a:solidFill>
                <a:latin typeface="Arial"/>
              </a:rPr>
              <a:t>4 descartadas</a:t>
            </a:r>
          </a:p>
        </p:txBody>
      </p:sp>
      <p:sp>
        <p:nvSpPr>
          <p:cNvPr id="18" name="Rectangle 17"/>
          <p:cNvSpPr/>
          <p:nvPr/>
        </p:nvSpPr>
        <p:spPr>
          <a:xfrm>
            <a:off x="9363456" y="1463040"/>
            <a:ext cx="1993392" cy="1133856"/>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9" name="Rectangle 18"/>
          <p:cNvSpPr/>
          <p:nvPr/>
        </p:nvSpPr>
        <p:spPr>
          <a:xfrm>
            <a:off x="9363456" y="1463040"/>
            <a:ext cx="1993392" cy="45720"/>
          </a:xfrm>
          <a:prstGeom prst="rect">
            <a:avLst/>
          </a:prstGeom>
          <a:solidFill>
            <a:srgbClr val="CFD6D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20" name="TextBox 19"/>
          <p:cNvSpPr txBox="1"/>
          <p:nvPr/>
        </p:nvSpPr>
        <p:spPr>
          <a:xfrm>
            <a:off x="9509760" y="1609344"/>
            <a:ext cx="1700784" cy="932688"/>
          </a:xfrm>
          <a:prstGeom prst="rect">
            <a:avLst/>
          </a:prstGeom>
          <a:noFill/>
        </p:spPr>
        <p:txBody>
          <a:bodyPr wrap="square" lIns="0" tIns="0" rIns="0" bIns="0" anchor="t">
            <a:spAutoFit/>
          </a:bodyPr>
          <a:lstStyle/>
          <a:p>
            <a:pPr algn="l">
              <a:lnSpc>
                <a:spcPct val="114000"/>
              </a:lnSpc>
              <a:spcBef>
                <a:spcPts val="0"/>
              </a:spcBef>
              <a:spcAft>
                <a:spcPts val="400"/>
              </a:spcAft>
            </a:pPr>
            <a:r>
              <a:rPr lang="es-PE" sz="900" b="1" i="0" noProof="0" dirty="0">
                <a:solidFill>
                  <a:srgbClr val="4A5568"/>
                </a:solidFill>
                <a:latin typeface="Arial"/>
              </a:rPr>
              <a:t>MANTENIMIENTO</a:t>
            </a:r>
          </a:p>
          <a:p>
            <a:pPr algn="l">
              <a:lnSpc>
                <a:spcPct val="95000"/>
              </a:lnSpc>
              <a:spcBef>
                <a:spcPts val="0"/>
              </a:spcBef>
              <a:spcAft>
                <a:spcPts val="300"/>
              </a:spcAft>
            </a:pPr>
            <a:r>
              <a:rPr lang="es-PE" sz="2300" b="1" i="0" noProof="0" dirty="0">
                <a:solidFill>
                  <a:srgbClr val="7A8494"/>
                </a:solidFill>
                <a:latin typeface="Arial"/>
              </a:rPr>
              <a:t>3</a:t>
            </a:r>
          </a:p>
          <a:p>
            <a:pPr algn="l">
              <a:lnSpc>
                <a:spcPct val="105000"/>
              </a:lnSpc>
              <a:spcBef>
                <a:spcPts val="0"/>
              </a:spcBef>
              <a:spcAft>
                <a:spcPts val="400"/>
              </a:spcAft>
            </a:pPr>
            <a:r>
              <a:rPr lang="es-PE" sz="950" b="0" i="0" noProof="0" dirty="0">
                <a:solidFill>
                  <a:srgbClr val="7A8494"/>
                </a:solidFill>
                <a:latin typeface="Arial"/>
              </a:rPr>
              <a:t>3 descartadas</a:t>
            </a:r>
          </a:p>
        </p:txBody>
      </p:sp>
      <p:sp>
        <p:nvSpPr>
          <p:cNvPr id="21" name="TextBox 20"/>
          <p:cNvSpPr txBox="1"/>
          <p:nvPr/>
        </p:nvSpPr>
        <p:spPr>
          <a:xfrm>
            <a:off x="841248" y="2779776"/>
            <a:ext cx="10515600" cy="274320"/>
          </a:xfrm>
          <a:prstGeom prst="rect">
            <a:avLst/>
          </a:prstGeom>
          <a:noFill/>
        </p:spPr>
        <p:txBody>
          <a:bodyPr wrap="square" lIns="0" tIns="0" rIns="0" bIns="0" anchor="t">
            <a:spAutoFit/>
          </a:bodyPr>
          <a:lstStyle/>
          <a:p>
            <a:pPr algn="l">
              <a:lnSpc>
                <a:spcPct val="114000"/>
              </a:lnSpc>
              <a:spcBef>
                <a:spcPts val="0"/>
              </a:spcBef>
              <a:spcAft>
                <a:spcPts val="400"/>
              </a:spcAft>
            </a:pPr>
            <a:r>
              <a:rPr lang="es-PE" sz="950" b="1" i="0" noProof="0" dirty="0">
                <a:solidFill>
                  <a:srgbClr val="4A5568"/>
                </a:solidFill>
                <a:latin typeface="Arial"/>
              </a:rPr>
              <a:t>LAS DOS HIPÓTESIS CONFIRMADAS</a:t>
            </a:r>
          </a:p>
        </p:txBody>
      </p:sp>
      <p:cxnSp>
        <p:nvCxnSpPr>
          <p:cNvPr id="22" name="Connector 21"/>
          <p:cNvCxnSpPr/>
          <p:nvPr/>
        </p:nvCxnSpPr>
        <p:spPr>
          <a:xfrm>
            <a:off x="841248" y="3054096"/>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841248" y="3218688"/>
            <a:ext cx="10515600" cy="877824"/>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24" name="Rectangle 23"/>
          <p:cNvSpPr/>
          <p:nvPr/>
        </p:nvSpPr>
        <p:spPr>
          <a:xfrm>
            <a:off x="841248" y="3218688"/>
            <a:ext cx="45720" cy="877824"/>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25" name="TextBox 24"/>
          <p:cNvSpPr txBox="1"/>
          <p:nvPr/>
        </p:nvSpPr>
        <p:spPr>
          <a:xfrm>
            <a:off x="1097280" y="3346704"/>
            <a:ext cx="1371600" cy="658368"/>
          </a:xfrm>
          <a:prstGeom prst="rect">
            <a:avLst/>
          </a:prstGeom>
          <a:noFill/>
        </p:spPr>
        <p:txBody>
          <a:bodyPr wrap="square" lIns="0" tIns="0" rIns="0" bIns="0" anchor="t">
            <a:spAutoFit/>
          </a:bodyPr>
          <a:lstStyle/>
          <a:p>
            <a:pPr algn="l">
              <a:lnSpc>
                <a:spcPct val="95000"/>
              </a:lnSpc>
              <a:spcBef>
                <a:spcPts val="0"/>
              </a:spcBef>
              <a:spcAft>
                <a:spcPts val="200"/>
              </a:spcAft>
            </a:pPr>
            <a:r>
              <a:rPr lang="es-PE" sz="1700" b="1" i="0" noProof="0" dirty="0">
                <a:solidFill>
                  <a:srgbClr val="C3094A"/>
                </a:solidFill>
                <a:latin typeface="Arial"/>
              </a:rPr>
              <a:t>D1</a:t>
            </a:r>
          </a:p>
          <a:p>
            <a:pPr algn="l">
              <a:lnSpc>
                <a:spcPct val="105000"/>
              </a:lnSpc>
              <a:spcBef>
                <a:spcPts val="0"/>
              </a:spcBef>
              <a:spcAft>
                <a:spcPts val="400"/>
              </a:spcAft>
            </a:pPr>
            <a:r>
              <a:rPr lang="es-PE" sz="900" b="0" i="0" noProof="0" dirty="0">
                <a:solidFill>
                  <a:srgbClr val="4A5568"/>
                </a:solidFill>
                <a:latin typeface="Arial"/>
              </a:rPr>
              <a:t>Causa determinante</a:t>
            </a:r>
          </a:p>
        </p:txBody>
      </p:sp>
      <p:sp>
        <p:nvSpPr>
          <p:cNvPr id="26" name="TextBox 25"/>
          <p:cNvSpPr txBox="1"/>
          <p:nvPr/>
        </p:nvSpPr>
        <p:spPr>
          <a:xfrm>
            <a:off x="2487168" y="3364992"/>
            <a:ext cx="6766560" cy="603504"/>
          </a:xfrm>
          <a:prstGeom prst="rect">
            <a:avLst/>
          </a:prstGeom>
          <a:noFill/>
        </p:spPr>
        <p:txBody>
          <a:bodyPr wrap="square" lIns="0" tIns="0" rIns="0" bIns="0" anchor="ctr">
            <a:spAutoFit/>
          </a:bodyPr>
          <a:lstStyle/>
          <a:p>
            <a:pPr algn="l">
              <a:lnSpc>
                <a:spcPct val="116000"/>
              </a:lnSpc>
              <a:spcBef>
                <a:spcPts val="0"/>
              </a:spcBef>
              <a:spcAft>
                <a:spcPts val="400"/>
              </a:spcAft>
            </a:pPr>
            <a:r>
              <a:rPr lang="es-PE" sz="1150" b="0" i="0" noProof="0" dirty="0">
                <a:solidFill>
                  <a:srgbClr val="191919"/>
                </a:solidFill>
                <a:latin typeface="Arial"/>
              </a:rPr>
              <a:t>La unión soldada de penetración parcial deja una raíz sin fusión que actúa como concentrador de esfuerzos.</a:t>
            </a:r>
          </a:p>
        </p:txBody>
      </p:sp>
      <p:sp>
        <p:nvSpPr>
          <p:cNvPr id="27" name="TextBox 26"/>
          <p:cNvSpPr txBox="1"/>
          <p:nvPr/>
        </p:nvSpPr>
        <p:spPr>
          <a:xfrm>
            <a:off x="9390888" y="3364992"/>
            <a:ext cx="1737360" cy="585216"/>
          </a:xfrm>
          <a:prstGeom prst="rect">
            <a:avLst/>
          </a:prstGeom>
          <a:noFill/>
        </p:spPr>
        <p:txBody>
          <a:bodyPr wrap="square" lIns="0" tIns="0" rIns="0" bIns="0" anchor="ctr">
            <a:spAutoFit/>
          </a:bodyPr>
          <a:lstStyle/>
          <a:p>
            <a:pPr algn="r">
              <a:lnSpc>
                <a:spcPct val="114000"/>
              </a:lnSpc>
              <a:spcBef>
                <a:spcPts val="0"/>
              </a:spcBef>
              <a:spcAft>
                <a:spcPts val="400"/>
              </a:spcAft>
            </a:pPr>
            <a:r>
              <a:rPr lang="es-PE" sz="1600" b="1" i="0" noProof="0" dirty="0">
                <a:solidFill>
                  <a:srgbClr val="C3094A"/>
                </a:solidFill>
                <a:latin typeface="Arial"/>
              </a:rPr>
              <a:t>FS = 0,31</a:t>
            </a:r>
          </a:p>
        </p:txBody>
      </p:sp>
      <p:sp>
        <p:nvSpPr>
          <p:cNvPr id="28" name="Rectangle 27"/>
          <p:cNvSpPr/>
          <p:nvPr/>
        </p:nvSpPr>
        <p:spPr>
          <a:xfrm>
            <a:off x="841248" y="4187952"/>
            <a:ext cx="10515600" cy="87782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29" name="Rectangle 28"/>
          <p:cNvSpPr/>
          <p:nvPr/>
        </p:nvSpPr>
        <p:spPr>
          <a:xfrm>
            <a:off x="841248" y="4187952"/>
            <a:ext cx="45720" cy="877824"/>
          </a:xfrm>
          <a:prstGeom prst="rect">
            <a:avLst/>
          </a:prstGeom>
          <a:solidFill>
            <a:srgbClr val="2841D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30" name="TextBox 29"/>
          <p:cNvSpPr txBox="1"/>
          <p:nvPr/>
        </p:nvSpPr>
        <p:spPr>
          <a:xfrm>
            <a:off x="1097280" y="4315968"/>
            <a:ext cx="1371600" cy="658368"/>
          </a:xfrm>
          <a:prstGeom prst="rect">
            <a:avLst/>
          </a:prstGeom>
          <a:noFill/>
        </p:spPr>
        <p:txBody>
          <a:bodyPr wrap="square" lIns="0" tIns="0" rIns="0" bIns="0" anchor="t">
            <a:spAutoFit/>
          </a:bodyPr>
          <a:lstStyle/>
          <a:p>
            <a:pPr algn="l">
              <a:lnSpc>
                <a:spcPct val="95000"/>
              </a:lnSpc>
              <a:spcBef>
                <a:spcPts val="0"/>
              </a:spcBef>
              <a:spcAft>
                <a:spcPts val="200"/>
              </a:spcAft>
            </a:pPr>
            <a:r>
              <a:rPr lang="es-PE" sz="1700" b="1" i="0" noProof="0" dirty="0">
                <a:solidFill>
                  <a:srgbClr val="2841DD"/>
                </a:solidFill>
                <a:latin typeface="Arial"/>
              </a:rPr>
              <a:t>D2</a:t>
            </a:r>
          </a:p>
          <a:p>
            <a:pPr algn="l">
              <a:lnSpc>
                <a:spcPct val="105000"/>
              </a:lnSpc>
              <a:spcBef>
                <a:spcPts val="0"/>
              </a:spcBef>
              <a:spcAft>
                <a:spcPts val="400"/>
              </a:spcAft>
            </a:pPr>
            <a:r>
              <a:rPr lang="es-PE" sz="900" b="0" i="0" noProof="0" dirty="0">
                <a:solidFill>
                  <a:srgbClr val="4A5568"/>
                </a:solidFill>
                <a:latin typeface="Arial"/>
              </a:rPr>
              <a:t>Causa contribuyente</a:t>
            </a:r>
          </a:p>
        </p:txBody>
      </p:sp>
      <p:sp>
        <p:nvSpPr>
          <p:cNvPr id="31" name="TextBox 30"/>
          <p:cNvSpPr txBox="1"/>
          <p:nvPr/>
        </p:nvSpPr>
        <p:spPr>
          <a:xfrm>
            <a:off x="2487168" y="4334256"/>
            <a:ext cx="6766560" cy="603504"/>
          </a:xfrm>
          <a:prstGeom prst="rect">
            <a:avLst/>
          </a:prstGeom>
          <a:noFill/>
        </p:spPr>
        <p:txBody>
          <a:bodyPr wrap="square" lIns="0" tIns="0" rIns="0" bIns="0" anchor="ctr">
            <a:spAutoFit/>
          </a:bodyPr>
          <a:lstStyle/>
          <a:p>
            <a:pPr algn="l">
              <a:lnSpc>
                <a:spcPct val="116000"/>
              </a:lnSpc>
              <a:spcBef>
                <a:spcPts val="0"/>
              </a:spcBef>
              <a:spcAft>
                <a:spcPts val="400"/>
              </a:spcAft>
            </a:pPr>
            <a:r>
              <a:rPr lang="es-PE" sz="1150" b="0" i="0" noProof="0" dirty="0">
                <a:solidFill>
                  <a:srgbClr val="191919"/>
                </a:solidFill>
                <a:latin typeface="Arial"/>
              </a:rPr>
              <a:t>La sección resistente del tubo es insuficiente para el par nominal transmitido; su corrección recupera el margen por vía geométrica.</a:t>
            </a:r>
          </a:p>
        </p:txBody>
      </p:sp>
      <p:sp>
        <p:nvSpPr>
          <p:cNvPr id="32" name="TextBox 31"/>
          <p:cNvSpPr txBox="1"/>
          <p:nvPr/>
        </p:nvSpPr>
        <p:spPr>
          <a:xfrm>
            <a:off x="9390888" y="4334256"/>
            <a:ext cx="1737360" cy="585216"/>
          </a:xfrm>
          <a:prstGeom prst="rect">
            <a:avLst/>
          </a:prstGeom>
          <a:noFill/>
        </p:spPr>
        <p:txBody>
          <a:bodyPr wrap="square" lIns="0" tIns="0" rIns="0" bIns="0" anchor="ctr">
            <a:spAutoFit/>
          </a:bodyPr>
          <a:lstStyle/>
          <a:p>
            <a:pPr algn="r">
              <a:lnSpc>
                <a:spcPct val="114000"/>
              </a:lnSpc>
              <a:spcBef>
                <a:spcPts val="0"/>
              </a:spcBef>
              <a:spcAft>
                <a:spcPts val="400"/>
              </a:spcAft>
            </a:pPr>
            <a:r>
              <a:rPr lang="es-PE" sz="1600" b="1" i="0" noProof="0" dirty="0">
                <a:solidFill>
                  <a:srgbClr val="2841DD"/>
                </a:solidFill>
                <a:latin typeface="Arial"/>
              </a:rPr>
              <a:t>FS = 2,23</a:t>
            </a:r>
          </a:p>
        </p:txBody>
      </p:sp>
      <p:sp>
        <p:nvSpPr>
          <p:cNvPr id="33" name="Rectangle 32"/>
          <p:cNvSpPr/>
          <p:nvPr/>
        </p:nvSpPr>
        <p:spPr>
          <a:xfrm>
            <a:off x="841248" y="5175504"/>
            <a:ext cx="45720" cy="457200"/>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34" name="TextBox 33"/>
          <p:cNvSpPr txBox="1"/>
          <p:nvPr/>
        </p:nvSpPr>
        <p:spPr>
          <a:xfrm>
            <a:off x="1024128" y="5157216"/>
            <a:ext cx="10277856" cy="493776"/>
          </a:xfrm>
          <a:prstGeom prst="rect">
            <a:avLst/>
          </a:prstGeom>
          <a:noFill/>
        </p:spPr>
        <p:txBody>
          <a:bodyPr wrap="square" lIns="0" tIns="0" rIns="0" bIns="0" anchor="t">
            <a:spAutoFit/>
          </a:bodyPr>
          <a:lstStyle/>
          <a:p>
            <a:pPr algn="l">
              <a:lnSpc>
                <a:spcPct val="114000"/>
              </a:lnSpc>
              <a:spcBef>
                <a:spcPts val="0"/>
              </a:spcBef>
              <a:spcAft>
                <a:spcPts val="400"/>
              </a:spcAft>
            </a:pPr>
            <a:r>
              <a:rPr lang="es-PE" sz="1150" b="1" i="0" noProof="0" dirty="0">
                <a:solidFill>
                  <a:srgbClr val="042354"/>
                </a:solidFill>
                <a:latin typeface="Arial"/>
              </a:rPr>
              <a:t>Una hipótesis se descartó solo cuando resultó incompatible con la evidencia, no por ser menos probable. Las dos confirmadas están en la rama de diseño.</a:t>
            </a:r>
          </a:p>
        </p:txBody>
      </p:sp>
      <p:pic>
        <p:nvPicPr>
          <p:cNvPr id="35" name="Imagen 34">
            <a:extLst>
              <a:ext uri="{FF2B5EF4-FFF2-40B4-BE49-F238E27FC236}">
                <a16:creationId xmlns:a16="http://schemas.microsoft.com/office/drawing/2014/main" id="{2F9F7F49-BA85-6935-5DBC-BCB1D605210B}"/>
              </a:ext>
            </a:extLst>
          </p:cNvPr>
          <p:cNvPicPr>
            <a:picLocks noChangeAspect="1"/>
          </p:cNvPicPr>
          <p:nvPr/>
        </p:nvPicPr>
        <p:blipFill>
          <a:blip r:embed="rId2"/>
          <a:stretch>
            <a:fillRect/>
          </a:stretch>
        </p:blipFill>
        <p:spPr>
          <a:xfrm>
            <a:off x="158617" y="5943600"/>
            <a:ext cx="5620013" cy="55067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PE" sz="2200" b="1" i="0" noProof="0" dirty="0">
                <a:solidFill>
                  <a:srgbClr val="042354"/>
                </a:solidFill>
                <a:latin typeface="Arial"/>
              </a:rPr>
              <a:t>Verificación de la causa física: </a:t>
            </a:r>
            <a:r>
              <a:rPr lang="es-PE" sz="2200" b="1" i="0" noProof="0" dirty="0" err="1">
                <a:solidFill>
                  <a:srgbClr val="042354"/>
                </a:solidFill>
                <a:latin typeface="Arial"/>
              </a:rPr>
              <a:t>fractografía</a:t>
            </a:r>
            <a:r>
              <a:rPr lang="es-PE" sz="2200" b="1" i="0" noProof="0" dirty="0">
                <a:solidFill>
                  <a:srgbClr val="042354"/>
                </a:solidFill>
                <a:latin typeface="Arial"/>
              </a:rPr>
              <a:t> y metalografía</a:t>
            </a: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PE" sz="1100" b="1" i="0" noProof="0" dirty="0">
                <a:solidFill>
                  <a:srgbClr val="FFFFFF"/>
                </a:solidFill>
                <a:latin typeface="Arial"/>
              </a:rPr>
              <a:t>13</a:t>
            </a:r>
          </a:p>
        </p:txBody>
      </p:sp>
      <p:pic>
        <p:nvPicPr>
          <p:cNvPr id="6" name="Picture 5" descr="fractografia.png"/>
          <p:cNvPicPr>
            <a:picLocks noChangeAspect="1"/>
          </p:cNvPicPr>
          <p:nvPr/>
        </p:nvPicPr>
        <p:blipFill>
          <a:blip r:embed="rId2"/>
          <a:stretch>
            <a:fillRect/>
          </a:stretch>
        </p:blipFill>
        <p:spPr>
          <a:xfrm>
            <a:off x="1550876" y="1444752"/>
            <a:ext cx="3518502" cy="2468880"/>
          </a:xfrm>
          <a:prstGeom prst="rect">
            <a:avLst/>
          </a:prstGeom>
        </p:spPr>
      </p:pic>
      <p:sp>
        <p:nvSpPr>
          <p:cNvPr id="7" name="TextBox 6"/>
          <p:cNvSpPr txBox="1"/>
          <p:nvPr/>
        </p:nvSpPr>
        <p:spPr>
          <a:xfrm>
            <a:off x="841248" y="3968496"/>
            <a:ext cx="4937760" cy="274320"/>
          </a:xfrm>
          <a:prstGeom prst="rect">
            <a:avLst/>
          </a:prstGeom>
          <a:noFill/>
        </p:spPr>
        <p:txBody>
          <a:bodyPr wrap="square" lIns="0" tIns="0" rIns="0" bIns="0" anchor="t">
            <a:spAutoFit/>
          </a:bodyPr>
          <a:lstStyle/>
          <a:p>
            <a:pPr algn="l">
              <a:lnSpc>
                <a:spcPct val="106000"/>
              </a:lnSpc>
              <a:spcBef>
                <a:spcPts val="0"/>
              </a:spcBef>
              <a:spcAft>
                <a:spcPts val="400"/>
              </a:spcAft>
            </a:pPr>
            <a:r>
              <a:rPr lang="es-PE" sz="900" b="0" i="0" noProof="0" dirty="0">
                <a:solidFill>
                  <a:srgbClr val="7A8494"/>
                </a:solidFill>
                <a:latin typeface="Arial"/>
              </a:rPr>
              <a:t>Superficie de fractura en F1: marcas de trinquete en el diámetro menor, zona de propagación estable y área de fractura final de ~20 %.</a:t>
            </a:r>
          </a:p>
        </p:txBody>
      </p:sp>
      <p:pic>
        <p:nvPicPr>
          <p:cNvPr id="8" name="Picture 7" descr="macrografia.png"/>
          <p:cNvPicPr>
            <a:picLocks noChangeAspect="1"/>
          </p:cNvPicPr>
          <p:nvPr/>
        </p:nvPicPr>
        <p:blipFill>
          <a:blip r:embed="rId3"/>
          <a:stretch>
            <a:fillRect/>
          </a:stretch>
        </p:blipFill>
        <p:spPr>
          <a:xfrm>
            <a:off x="6053328" y="1659818"/>
            <a:ext cx="2724912" cy="2038747"/>
          </a:xfrm>
          <a:prstGeom prst="rect">
            <a:avLst/>
          </a:prstGeom>
        </p:spPr>
      </p:pic>
      <p:pic>
        <p:nvPicPr>
          <p:cNvPr id="9" name="Picture 8" descr="micro_base.png"/>
          <p:cNvPicPr>
            <a:picLocks noChangeAspect="1"/>
          </p:cNvPicPr>
          <p:nvPr/>
        </p:nvPicPr>
        <p:blipFill>
          <a:blip r:embed="rId4"/>
          <a:stretch>
            <a:fillRect/>
          </a:stretch>
        </p:blipFill>
        <p:spPr>
          <a:xfrm>
            <a:off x="9006840" y="1621232"/>
            <a:ext cx="1115568" cy="835759"/>
          </a:xfrm>
          <a:prstGeom prst="rect">
            <a:avLst/>
          </a:prstGeom>
        </p:spPr>
      </p:pic>
      <p:pic>
        <p:nvPicPr>
          <p:cNvPr id="10" name="Picture 9" descr="micro_soldadura.png"/>
          <p:cNvPicPr>
            <a:picLocks noChangeAspect="1"/>
          </p:cNvPicPr>
          <p:nvPr/>
        </p:nvPicPr>
        <p:blipFill>
          <a:blip r:embed="rId5"/>
          <a:stretch>
            <a:fillRect/>
          </a:stretch>
        </p:blipFill>
        <p:spPr>
          <a:xfrm>
            <a:off x="10222992" y="1620774"/>
            <a:ext cx="1115568" cy="836675"/>
          </a:xfrm>
          <a:prstGeom prst="rect">
            <a:avLst/>
          </a:prstGeom>
        </p:spPr>
      </p:pic>
      <p:pic>
        <p:nvPicPr>
          <p:cNvPr id="11" name="Picture 10" descr="grieta_secundaria.png"/>
          <p:cNvPicPr>
            <a:picLocks noChangeAspect="1"/>
          </p:cNvPicPr>
          <p:nvPr/>
        </p:nvPicPr>
        <p:blipFill>
          <a:blip r:embed="rId6"/>
          <a:stretch>
            <a:fillRect/>
          </a:stretch>
        </p:blipFill>
        <p:spPr>
          <a:xfrm>
            <a:off x="9006840" y="2787666"/>
            <a:ext cx="2331720" cy="1063210"/>
          </a:xfrm>
          <a:prstGeom prst="rect">
            <a:avLst/>
          </a:prstGeom>
        </p:spPr>
      </p:pic>
      <p:sp>
        <p:nvSpPr>
          <p:cNvPr id="12" name="TextBox 11"/>
          <p:cNvSpPr txBox="1"/>
          <p:nvPr/>
        </p:nvSpPr>
        <p:spPr>
          <a:xfrm>
            <a:off x="6053328" y="3968496"/>
            <a:ext cx="5303520" cy="274320"/>
          </a:xfrm>
          <a:prstGeom prst="rect">
            <a:avLst/>
          </a:prstGeom>
          <a:noFill/>
        </p:spPr>
        <p:txBody>
          <a:bodyPr wrap="square" lIns="0" tIns="0" rIns="0" bIns="0" anchor="t">
            <a:spAutoFit/>
          </a:bodyPr>
          <a:lstStyle/>
          <a:p>
            <a:pPr algn="l">
              <a:lnSpc>
                <a:spcPct val="106000"/>
              </a:lnSpc>
              <a:spcBef>
                <a:spcPts val="0"/>
              </a:spcBef>
              <a:spcAft>
                <a:spcPts val="400"/>
              </a:spcAft>
            </a:pPr>
            <a:r>
              <a:rPr lang="es-PE" sz="900" b="0" i="0" noProof="0" dirty="0">
                <a:solidFill>
                  <a:srgbClr val="7A8494"/>
                </a:solidFill>
                <a:latin typeface="Arial"/>
              </a:rPr>
              <a:t>Macrografía de la región de falla: discontinuidad tipo grieta en la raíz de la unión, punto de iniciación y zonas MS / ZAC / MB. Microestructuras a 40×.</a:t>
            </a:r>
          </a:p>
        </p:txBody>
      </p:sp>
      <p:sp>
        <p:nvSpPr>
          <p:cNvPr id="13" name="TextBox 12"/>
          <p:cNvSpPr txBox="1"/>
          <p:nvPr/>
        </p:nvSpPr>
        <p:spPr>
          <a:xfrm>
            <a:off x="841248" y="4443984"/>
            <a:ext cx="10515600" cy="640080"/>
          </a:xfrm>
          <a:prstGeom prst="rect">
            <a:avLst/>
          </a:prstGeom>
          <a:noFill/>
        </p:spPr>
        <p:txBody>
          <a:bodyPr wrap="square" lIns="0" tIns="0" rIns="0" bIns="0" anchor="t">
            <a:spAutoFit/>
          </a:bodyPr>
          <a:lstStyle/>
          <a:p>
            <a:pPr algn="l">
              <a:lnSpc>
                <a:spcPct val="116000"/>
              </a:lnSpc>
              <a:spcBef>
                <a:spcPts val="0"/>
              </a:spcBef>
              <a:spcAft>
                <a:spcPts val="400"/>
              </a:spcAft>
            </a:pPr>
            <a:r>
              <a:rPr lang="es-PE" sz="1100" b="0" i="0" noProof="0" dirty="0">
                <a:solidFill>
                  <a:srgbClr val="191919"/>
                </a:solidFill>
                <a:latin typeface="Arial"/>
              </a:rPr>
              <a:t>La nucleación se produce en la raíz de la unión soldada y propaga radialmente hacia el exterior. La composición química, la dureza y la resistencia a la tracción cumplen la especificación ASTM A618 Gr. III: el material no condiciona el resultado.</a:t>
            </a:r>
          </a:p>
        </p:txBody>
      </p:sp>
      <p:sp>
        <p:nvSpPr>
          <p:cNvPr id="14" name="Rectangle 13"/>
          <p:cNvSpPr/>
          <p:nvPr/>
        </p:nvSpPr>
        <p:spPr>
          <a:xfrm>
            <a:off x="841248" y="5175504"/>
            <a:ext cx="45720" cy="457200"/>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5" name="TextBox 14"/>
          <p:cNvSpPr txBox="1"/>
          <p:nvPr/>
        </p:nvSpPr>
        <p:spPr>
          <a:xfrm>
            <a:off x="1024128" y="5157216"/>
            <a:ext cx="10277856" cy="493776"/>
          </a:xfrm>
          <a:prstGeom prst="rect">
            <a:avLst/>
          </a:prstGeom>
          <a:noFill/>
        </p:spPr>
        <p:txBody>
          <a:bodyPr wrap="square" lIns="0" tIns="0" rIns="0" bIns="0" anchor="t">
            <a:spAutoFit/>
          </a:bodyPr>
          <a:lstStyle/>
          <a:p>
            <a:pPr algn="l">
              <a:lnSpc>
                <a:spcPct val="114000"/>
              </a:lnSpc>
              <a:spcBef>
                <a:spcPts val="0"/>
              </a:spcBef>
              <a:spcAft>
                <a:spcPts val="400"/>
              </a:spcAft>
            </a:pPr>
            <a:r>
              <a:rPr lang="es-PE" sz="1150" b="1" i="0" noProof="0" dirty="0">
                <a:solidFill>
                  <a:srgbClr val="042354"/>
                </a:solidFill>
                <a:latin typeface="Arial"/>
              </a:rPr>
              <a:t>La extensión reducida de la zona de rotura final indica que el componente operó largo tiempo con la discontinuidad en propagación.   ·   Informe DIESA-AFA2023085189_00.</a:t>
            </a:r>
          </a:p>
        </p:txBody>
      </p:sp>
      <p:pic>
        <p:nvPicPr>
          <p:cNvPr id="16" name="Imagen 15">
            <a:extLst>
              <a:ext uri="{FF2B5EF4-FFF2-40B4-BE49-F238E27FC236}">
                <a16:creationId xmlns:a16="http://schemas.microsoft.com/office/drawing/2014/main" id="{1963A53C-5B57-A08E-A42C-1D8693638160}"/>
              </a:ext>
            </a:extLst>
          </p:cNvPr>
          <p:cNvPicPr>
            <a:picLocks noChangeAspect="1"/>
          </p:cNvPicPr>
          <p:nvPr/>
        </p:nvPicPr>
        <p:blipFill>
          <a:blip r:embed="rId7"/>
          <a:stretch>
            <a:fillRect/>
          </a:stretch>
        </p:blipFill>
        <p:spPr>
          <a:xfrm>
            <a:off x="158617" y="5943600"/>
            <a:ext cx="5620013" cy="55067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PE" sz="2200" b="1" i="0" noProof="0" dirty="0">
                <a:solidFill>
                  <a:srgbClr val="042354"/>
                </a:solidFill>
                <a:latin typeface="Arial"/>
              </a:rPr>
              <a:t>Verificación por resistencia de materiales</a:t>
            </a: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PE" sz="1100" b="1" i="0" noProof="0" dirty="0">
                <a:solidFill>
                  <a:srgbClr val="FFFFFF"/>
                </a:solidFill>
                <a:latin typeface="Arial"/>
              </a:rPr>
              <a:t>14</a:t>
            </a:r>
          </a:p>
        </p:txBody>
      </p:sp>
      <p:pic>
        <p:nvPicPr>
          <p:cNvPr id="6" name="Picture 5" descr="concentracion.png"/>
          <p:cNvPicPr>
            <a:picLocks noChangeAspect="1"/>
          </p:cNvPicPr>
          <p:nvPr/>
        </p:nvPicPr>
        <p:blipFill>
          <a:blip r:embed="rId2"/>
          <a:stretch>
            <a:fillRect/>
          </a:stretch>
        </p:blipFill>
        <p:spPr>
          <a:xfrm>
            <a:off x="1092160" y="1463039"/>
            <a:ext cx="4573095" cy="2651760"/>
          </a:xfrm>
          <a:prstGeom prst="rect">
            <a:avLst/>
          </a:prstGeom>
        </p:spPr>
      </p:pic>
      <p:sp>
        <p:nvSpPr>
          <p:cNvPr id="7" name="TextBox 6"/>
          <p:cNvSpPr txBox="1"/>
          <p:nvPr/>
        </p:nvSpPr>
        <p:spPr>
          <a:xfrm>
            <a:off x="1102379" y="4247510"/>
            <a:ext cx="5074920" cy="283219"/>
          </a:xfrm>
          <a:prstGeom prst="rect">
            <a:avLst/>
          </a:prstGeom>
          <a:noFill/>
        </p:spPr>
        <p:txBody>
          <a:bodyPr wrap="square" lIns="0" tIns="0" rIns="0" bIns="0" anchor="t">
            <a:spAutoFit/>
          </a:bodyPr>
          <a:lstStyle/>
          <a:p>
            <a:pPr algn="l">
              <a:lnSpc>
                <a:spcPct val="106000"/>
              </a:lnSpc>
              <a:spcBef>
                <a:spcPts val="0"/>
              </a:spcBef>
              <a:spcAft>
                <a:spcPts val="400"/>
              </a:spcAft>
            </a:pPr>
            <a:r>
              <a:rPr lang="es-PE" sz="900" b="0" i="0" noProof="0" dirty="0">
                <a:solidFill>
                  <a:srgbClr val="7A8494"/>
                </a:solidFill>
                <a:latin typeface="Arial"/>
              </a:rPr>
              <a:t>Eje palier sometido a momento </a:t>
            </a:r>
            <a:r>
              <a:rPr lang="es-PE" sz="900" b="0" i="0" noProof="0" dirty="0" err="1">
                <a:solidFill>
                  <a:srgbClr val="7A8494"/>
                </a:solidFill>
                <a:latin typeface="Arial"/>
              </a:rPr>
              <a:t>torsor</a:t>
            </a:r>
            <a:r>
              <a:rPr lang="es-PE" sz="900" b="0" i="0" noProof="0" dirty="0">
                <a:solidFill>
                  <a:srgbClr val="7A8494"/>
                </a:solidFill>
                <a:latin typeface="Arial"/>
              </a:rPr>
              <a:t>: el vértice V del cambio de sección interno actúa como concentrador de esfuerzos. Informe AFA - DIESA</a:t>
            </a:r>
          </a:p>
        </p:txBody>
      </p:sp>
      <p:sp>
        <p:nvSpPr>
          <p:cNvPr id="8" name="TextBox 7"/>
          <p:cNvSpPr txBox="1"/>
          <p:nvPr/>
        </p:nvSpPr>
        <p:spPr>
          <a:xfrm>
            <a:off x="6355080" y="1481328"/>
            <a:ext cx="5001768" cy="274320"/>
          </a:xfrm>
          <a:prstGeom prst="rect">
            <a:avLst/>
          </a:prstGeom>
          <a:noFill/>
        </p:spPr>
        <p:txBody>
          <a:bodyPr wrap="square" lIns="0" tIns="0" rIns="0" bIns="0" anchor="t">
            <a:spAutoFit/>
          </a:bodyPr>
          <a:lstStyle/>
          <a:p>
            <a:pPr algn="l">
              <a:lnSpc>
                <a:spcPct val="114000"/>
              </a:lnSpc>
              <a:spcBef>
                <a:spcPts val="0"/>
              </a:spcBef>
              <a:spcAft>
                <a:spcPts val="400"/>
              </a:spcAft>
            </a:pPr>
            <a:r>
              <a:rPr lang="es-PE" sz="950" b="1" i="0" noProof="0" dirty="0">
                <a:solidFill>
                  <a:srgbClr val="4A5568"/>
                </a:solidFill>
                <a:latin typeface="Arial"/>
              </a:rPr>
              <a:t>CADENA DE CÁLCULO · P/N OBSOLETO</a:t>
            </a:r>
          </a:p>
        </p:txBody>
      </p:sp>
      <p:sp>
        <p:nvSpPr>
          <p:cNvPr id="9" name="Rectangle 8"/>
          <p:cNvSpPr/>
          <p:nvPr/>
        </p:nvSpPr>
        <p:spPr>
          <a:xfrm>
            <a:off x="6355080" y="1810512"/>
            <a:ext cx="5001768" cy="45720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0" name="Rectangle 9"/>
          <p:cNvSpPr/>
          <p:nvPr/>
        </p:nvSpPr>
        <p:spPr>
          <a:xfrm>
            <a:off x="6355080" y="1810512"/>
            <a:ext cx="365760" cy="457200"/>
          </a:xfrm>
          <a:prstGeom prst="rect">
            <a:avLst/>
          </a:prstGeom>
          <a:solidFill>
            <a:srgbClr val="CFD6D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PE" sz="1000" b="1" i="0" noProof="0" dirty="0">
                <a:solidFill>
                  <a:srgbClr val="4A5568"/>
                </a:solidFill>
                <a:latin typeface="Arial"/>
              </a:rPr>
              <a:t>1</a:t>
            </a:r>
          </a:p>
        </p:txBody>
      </p:sp>
      <p:sp>
        <p:nvSpPr>
          <p:cNvPr id="11" name="TextBox 10"/>
          <p:cNvSpPr txBox="1"/>
          <p:nvPr/>
        </p:nvSpPr>
        <p:spPr>
          <a:xfrm>
            <a:off x="6839712" y="1828800"/>
            <a:ext cx="2926080" cy="420624"/>
          </a:xfrm>
          <a:prstGeom prst="rect">
            <a:avLst/>
          </a:prstGeom>
          <a:noFill/>
        </p:spPr>
        <p:txBody>
          <a:bodyPr wrap="square" lIns="0" tIns="0" rIns="0" bIns="0" anchor="ctr">
            <a:spAutoFit/>
          </a:bodyPr>
          <a:lstStyle/>
          <a:p>
            <a:pPr algn="l">
              <a:lnSpc>
                <a:spcPct val="108000"/>
              </a:lnSpc>
              <a:spcBef>
                <a:spcPts val="0"/>
              </a:spcBef>
              <a:spcAft>
                <a:spcPts val="400"/>
              </a:spcAft>
            </a:pPr>
            <a:r>
              <a:rPr lang="es-PE" sz="1000" b="0" i="0" noProof="0" dirty="0">
                <a:solidFill>
                  <a:srgbClr val="191919"/>
                </a:solidFill>
                <a:latin typeface="Arial"/>
              </a:rPr>
              <a:t>Par transmitido en la posición</a:t>
            </a:r>
          </a:p>
        </p:txBody>
      </p:sp>
      <p:sp>
        <p:nvSpPr>
          <p:cNvPr id="12" name="TextBox 11"/>
          <p:cNvSpPr txBox="1"/>
          <p:nvPr/>
        </p:nvSpPr>
        <p:spPr>
          <a:xfrm>
            <a:off x="9802368" y="1828800"/>
            <a:ext cx="1444752" cy="420624"/>
          </a:xfrm>
          <a:prstGeom prst="rect">
            <a:avLst/>
          </a:prstGeom>
          <a:noFill/>
        </p:spPr>
        <p:txBody>
          <a:bodyPr wrap="square" lIns="0" tIns="0" rIns="0" bIns="0" anchor="ctr">
            <a:spAutoFit/>
          </a:bodyPr>
          <a:lstStyle/>
          <a:p>
            <a:pPr algn="r">
              <a:lnSpc>
                <a:spcPct val="114000"/>
              </a:lnSpc>
              <a:spcBef>
                <a:spcPts val="0"/>
              </a:spcBef>
              <a:spcAft>
                <a:spcPts val="400"/>
              </a:spcAft>
            </a:pPr>
            <a:r>
              <a:rPr lang="es-PE" sz="1100" b="1" i="0" noProof="0" dirty="0">
                <a:solidFill>
                  <a:srgbClr val="191919"/>
                </a:solidFill>
                <a:latin typeface="Arial"/>
              </a:rPr>
              <a:t>17,81 </a:t>
            </a:r>
            <a:r>
              <a:rPr lang="es-PE" sz="1100" b="1" i="0" noProof="0" dirty="0" err="1">
                <a:solidFill>
                  <a:srgbClr val="191919"/>
                </a:solidFill>
                <a:latin typeface="Arial"/>
              </a:rPr>
              <a:t>kN·m</a:t>
            </a:r>
            <a:endParaRPr lang="es-PE" sz="1100" b="1" i="0" noProof="0" dirty="0">
              <a:solidFill>
                <a:srgbClr val="191919"/>
              </a:solidFill>
              <a:latin typeface="Arial"/>
            </a:endParaRPr>
          </a:p>
        </p:txBody>
      </p:sp>
      <p:sp>
        <p:nvSpPr>
          <p:cNvPr id="13" name="Rectangle 12"/>
          <p:cNvSpPr/>
          <p:nvPr/>
        </p:nvSpPr>
        <p:spPr>
          <a:xfrm>
            <a:off x="6355080" y="2340864"/>
            <a:ext cx="5001768" cy="45720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4" name="Rectangle 13"/>
          <p:cNvSpPr/>
          <p:nvPr/>
        </p:nvSpPr>
        <p:spPr>
          <a:xfrm>
            <a:off x="6355080" y="2340864"/>
            <a:ext cx="365760" cy="457200"/>
          </a:xfrm>
          <a:prstGeom prst="rect">
            <a:avLst/>
          </a:prstGeom>
          <a:solidFill>
            <a:srgbClr val="CFD6D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PE" sz="1000" b="1" i="0" noProof="0" dirty="0">
                <a:solidFill>
                  <a:srgbClr val="4A5568"/>
                </a:solidFill>
                <a:latin typeface="Arial"/>
              </a:rPr>
              <a:t>2</a:t>
            </a:r>
          </a:p>
        </p:txBody>
      </p:sp>
      <p:sp>
        <p:nvSpPr>
          <p:cNvPr id="15" name="TextBox 14"/>
          <p:cNvSpPr txBox="1"/>
          <p:nvPr/>
        </p:nvSpPr>
        <p:spPr>
          <a:xfrm>
            <a:off x="6839712" y="2359152"/>
            <a:ext cx="2926080" cy="420624"/>
          </a:xfrm>
          <a:prstGeom prst="rect">
            <a:avLst/>
          </a:prstGeom>
          <a:noFill/>
        </p:spPr>
        <p:txBody>
          <a:bodyPr wrap="square" lIns="0" tIns="0" rIns="0" bIns="0" anchor="ctr">
            <a:spAutoFit/>
          </a:bodyPr>
          <a:lstStyle/>
          <a:p>
            <a:pPr algn="l">
              <a:lnSpc>
                <a:spcPct val="108000"/>
              </a:lnSpc>
              <a:spcBef>
                <a:spcPts val="0"/>
              </a:spcBef>
              <a:spcAft>
                <a:spcPts val="400"/>
              </a:spcAft>
            </a:pPr>
            <a:r>
              <a:rPr lang="es-PE" sz="1000" b="0" i="0" noProof="0" dirty="0">
                <a:solidFill>
                  <a:srgbClr val="191919"/>
                </a:solidFill>
                <a:latin typeface="Arial"/>
              </a:rPr>
              <a:t>Esfuerzo cortante nominal en la sección crítica</a:t>
            </a:r>
          </a:p>
        </p:txBody>
      </p:sp>
      <p:sp>
        <p:nvSpPr>
          <p:cNvPr id="16" name="TextBox 15"/>
          <p:cNvSpPr txBox="1"/>
          <p:nvPr/>
        </p:nvSpPr>
        <p:spPr>
          <a:xfrm>
            <a:off x="9802368" y="2359152"/>
            <a:ext cx="1444752" cy="420624"/>
          </a:xfrm>
          <a:prstGeom prst="rect">
            <a:avLst/>
          </a:prstGeom>
          <a:noFill/>
        </p:spPr>
        <p:txBody>
          <a:bodyPr wrap="square" lIns="0" tIns="0" rIns="0" bIns="0" anchor="ctr">
            <a:spAutoFit/>
          </a:bodyPr>
          <a:lstStyle/>
          <a:p>
            <a:pPr algn="r">
              <a:lnSpc>
                <a:spcPct val="114000"/>
              </a:lnSpc>
              <a:spcBef>
                <a:spcPts val="0"/>
              </a:spcBef>
              <a:spcAft>
                <a:spcPts val="400"/>
              </a:spcAft>
            </a:pPr>
            <a:r>
              <a:rPr lang="es-PE" sz="1100" b="1" i="0" noProof="0" dirty="0">
                <a:solidFill>
                  <a:srgbClr val="191919"/>
                </a:solidFill>
                <a:latin typeface="Arial"/>
              </a:rPr>
              <a:t>35,7 MPa</a:t>
            </a:r>
          </a:p>
        </p:txBody>
      </p:sp>
      <p:sp>
        <p:nvSpPr>
          <p:cNvPr id="17" name="Rectangle 16"/>
          <p:cNvSpPr/>
          <p:nvPr/>
        </p:nvSpPr>
        <p:spPr>
          <a:xfrm>
            <a:off x="6355080" y="2871216"/>
            <a:ext cx="5001768" cy="45720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8" name="Rectangle 17"/>
          <p:cNvSpPr/>
          <p:nvPr/>
        </p:nvSpPr>
        <p:spPr>
          <a:xfrm>
            <a:off x="6355080" y="2871216"/>
            <a:ext cx="365760" cy="457200"/>
          </a:xfrm>
          <a:prstGeom prst="rect">
            <a:avLst/>
          </a:prstGeom>
          <a:solidFill>
            <a:srgbClr val="CFD6D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PE" sz="1000" b="1" i="0" noProof="0" dirty="0">
                <a:solidFill>
                  <a:srgbClr val="4A5568"/>
                </a:solidFill>
                <a:latin typeface="Arial"/>
              </a:rPr>
              <a:t>3</a:t>
            </a:r>
          </a:p>
        </p:txBody>
      </p:sp>
      <p:sp>
        <p:nvSpPr>
          <p:cNvPr id="19" name="TextBox 18"/>
          <p:cNvSpPr txBox="1"/>
          <p:nvPr/>
        </p:nvSpPr>
        <p:spPr>
          <a:xfrm>
            <a:off x="6839712" y="2889504"/>
            <a:ext cx="2926080" cy="420624"/>
          </a:xfrm>
          <a:prstGeom prst="rect">
            <a:avLst/>
          </a:prstGeom>
          <a:noFill/>
        </p:spPr>
        <p:txBody>
          <a:bodyPr wrap="square" lIns="0" tIns="0" rIns="0" bIns="0" anchor="ctr">
            <a:spAutoFit/>
          </a:bodyPr>
          <a:lstStyle/>
          <a:p>
            <a:pPr algn="l">
              <a:lnSpc>
                <a:spcPct val="108000"/>
              </a:lnSpc>
              <a:spcBef>
                <a:spcPts val="0"/>
              </a:spcBef>
              <a:spcAft>
                <a:spcPts val="400"/>
              </a:spcAft>
            </a:pPr>
            <a:r>
              <a:rPr lang="es-PE" sz="1000" b="0" i="0" noProof="0" dirty="0">
                <a:solidFill>
                  <a:srgbClr val="191919"/>
                </a:solidFill>
                <a:latin typeface="Arial"/>
              </a:rPr>
              <a:t>Rango de esfuerzo aplicado</a:t>
            </a:r>
          </a:p>
        </p:txBody>
      </p:sp>
      <p:sp>
        <p:nvSpPr>
          <p:cNvPr id="20" name="TextBox 19"/>
          <p:cNvSpPr txBox="1"/>
          <p:nvPr/>
        </p:nvSpPr>
        <p:spPr>
          <a:xfrm>
            <a:off x="9802368" y="2889504"/>
            <a:ext cx="1444752" cy="420624"/>
          </a:xfrm>
          <a:prstGeom prst="rect">
            <a:avLst/>
          </a:prstGeom>
          <a:noFill/>
        </p:spPr>
        <p:txBody>
          <a:bodyPr wrap="square" lIns="0" tIns="0" rIns="0" bIns="0" anchor="ctr">
            <a:spAutoFit/>
          </a:bodyPr>
          <a:lstStyle/>
          <a:p>
            <a:pPr algn="r">
              <a:lnSpc>
                <a:spcPct val="114000"/>
              </a:lnSpc>
              <a:spcBef>
                <a:spcPts val="0"/>
              </a:spcBef>
              <a:spcAft>
                <a:spcPts val="400"/>
              </a:spcAft>
            </a:pPr>
            <a:r>
              <a:rPr lang="es-PE" sz="1100" b="1" i="0" noProof="0" dirty="0">
                <a:solidFill>
                  <a:srgbClr val="191919"/>
                </a:solidFill>
                <a:latin typeface="Arial"/>
              </a:rPr>
              <a:t>53,6 MPa</a:t>
            </a:r>
          </a:p>
        </p:txBody>
      </p:sp>
      <p:sp>
        <p:nvSpPr>
          <p:cNvPr id="21" name="Rectangle 20"/>
          <p:cNvSpPr/>
          <p:nvPr/>
        </p:nvSpPr>
        <p:spPr>
          <a:xfrm>
            <a:off x="6355080" y="3401568"/>
            <a:ext cx="5001768" cy="45720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22" name="Rectangle 21"/>
          <p:cNvSpPr/>
          <p:nvPr/>
        </p:nvSpPr>
        <p:spPr>
          <a:xfrm>
            <a:off x="6355080" y="3401568"/>
            <a:ext cx="365760" cy="457200"/>
          </a:xfrm>
          <a:prstGeom prst="rect">
            <a:avLst/>
          </a:prstGeom>
          <a:solidFill>
            <a:srgbClr val="CFD6D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PE" sz="1000" b="1" i="0" noProof="0" dirty="0">
                <a:solidFill>
                  <a:srgbClr val="4A5568"/>
                </a:solidFill>
                <a:latin typeface="Arial"/>
              </a:rPr>
              <a:t>4</a:t>
            </a:r>
          </a:p>
        </p:txBody>
      </p:sp>
      <p:sp>
        <p:nvSpPr>
          <p:cNvPr id="23" name="TextBox 22"/>
          <p:cNvSpPr txBox="1"/>
          <p:nvPr/>
        </p:nvSpPr>
        <p:spPr>
          <a:xfrm>
            <a:off x="6839712" y="3419856"/>
            <a:ext cx="2926080" cy="420624"/>
          </a:xfrm>
          <a:prstGeom prst="rect">
            <a:avLst/>
          </a:prstGeom>
          <a:noFill/>
        </p:spPr>
        <p:txBody>
          <a:bodyPr wrap="square" lIns="0" tIns="0" rIns="0" bIns="0" anchor="ctr">
            <a:spAutoFit/>
          </a:bodyPr>
          <a:lstStyle/>
          <a:p>
            <a:pPr algn="l">
              <a:lnSpc>
                <a:spcPct val="108000"/>
              </a:lnSpc>
              <a:spcBef>
                <a:spcPts val="0"/>
              </a:spcBef>
              <a:spcAft>
                <a:spcPts val="400"/>
              </a:spcAft>
            </a:pPr>
            <a:r>
              <a:rPr lang="es-PE" sz="1000" b="0" i="0" noProof="0" dirty="0">
                <a:solidFill>
                  <a:srgbClr val="191919"/>
                </a:solidFill>
                <a:latin typeface="Arial"/>
              </a:rPr>
              <a:t>Clasificación de la unión soldada</a:t>
            </a:r>
          </a:p>
        </p:txBody>
      </p:sp>
      <p:sp>
        <p:nvSpPr>
          <p:cNvPr id="24" name="TextBox 23"/>
          <p:cNvSpPr txBox="1"/>
          <p:nvPr/>
        </p:nvSpPr>
        <p:spPr>
          <a:xfrm>
            <a:off x="9802368" y="3541714"/>
            <a:ext cx="1444752" cy="176908"/>
          </a:xfrm>
          <a:prstGeom prst="rect">
            <a:avLst/>
          </a:prstGeom>
          <a:noFill/>
        </p:spPr>
        <p:txBody>
          <a:bodyPr wrap="square" lIns="0" tIns="0" rIns="0" bIns="0" anchor="ctr">
            <a:spAutoFit/>
          </a:bodyPr>
          <a:lstStyle/>
          <a:p>
            <a:pPr algn="r">
              <a:lnSpc>
                <a:spcPct val="114000"/>
              </a:lnSpc>
              <a:spcBef>
                <a:spcPts val="0"/>
              </a:spcBef>
              <a:spcAft>
                <a:spcPts val="400"/>
              </a:spcAft>
            </a:pPr>
            <a:r>
              <a:rPr lang="es-PE" sz="1100" b="1" i="0" noProof="0" dirty="0">
                <a:solidFill>
                  <a:srgbClr val="191919"/>
                </a:solidFill>
                <a:highlight>
                  <a:srgbClr val="FFFF00"/>
                </a:highlight>
                <a:latin typeface="Arial"/>
              </a:rPr>
              <a:t>FAT 36</a:t>
            </a:r>
          </a:p>
        </p:txBody>
      </p:sp>
      <p:sp>
        <p:nvSpPr>
          <p:cNvPr id="25" name="Rectangle 24"/>
          <p:cNvSpPr/>
          <p:nvPr/>
        </p:nvSpPr>
        <p:spPr>
          <a:xfrm>
            <a:off x="6355080" y="3931920"/>
            <a:ext cx="5001768" cy="457200"/>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26" name="Rectangle 25"/>
          <p:cNvSpPr/>
          <p:nvPr/>
        </p:nvSpPr>
        <p:spPr>
          <a:xfrm>
            <a:off x="6355080" y="3931920"/>
            <a:ext cx="365760" cy="457200"/>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PE" sz="1000" b="1" i="0" noProof="0" dirty="0">
                <a:solidFill>
                  <a:srgbClr val="FFFFFF"/>
                </a:solidFill>
                <a:latin typeface="Arial"/>
              </a:rPr>
              <a:t>5</a:t>
            </a:r>
          </a:p>
        </p:txBody>
      </p:sp>
      <p:sp>
        <p:nvSpPr>
          <p:cNvPr id="27" name="TextBox 26"/>
          <p:cNvSpPr txBox="1"/>
          <p:nvPr/>
        </p:nvSpPr>
        <p:spPr>
          <a:xfrm>
            <a:off x="6839712" y="3950207"/>
            <a:ext cx="2926080" cy="420624"/>
          </a:xfrm>
          <a:prstGeom prst="rect">
            <a:avLst/>
          </a:prstGeom>
          <a:noFill/>
        </p:spPr>
        <p:txBody>
          <a:bodyPr wrap="square" lIns="0" tIns="0" rIns="0" bIns="0" anchor="ctr">
            <a:spAutoFit/>
          </a:bodyPr>
          <a:lstStyle/>
          <a:p>
            <a:pPr algn="l">
              <a:lnSpc>
                <a:spcPct val="108000"/>
              </a:lnSpc>
              <a:spcBef>
                <a:spcPts val="0"/>
              </a:spcBef>
              <a:spcAft>
                <a:spcPts val="400"/>
              </a:spcAft>
            </a:pPr>
            <a:r>
              <a:rPr lang="es-PE" sz="1000" b="0" i="0" noProof="0" dirty="0">
                <a:solidFill>
                  <a:srgbClr val="191919"/>
                </a:solidFill>
                <a:latin typeface="Arial"/>
              </a:rPr>
              <a:t>Factor de seguridad a la vida planificada</a:t>
            </a:r>
          </a:p>
        </p:txBody>
      </p:sp>
      <p:sp>
        <p:nvSpPr>
          <p:cNvPr id="28" name="TextBox 27"/>
          <p:cNvSpPr txBox="1"/>
          <p:nvPr/>
        </p:nvSpPr>
        <p:spPr>
          <a:xfrm>
            <a:off x="9802368" y="3950207"/>
            <a:ext cx="1444752" cy="420624"/>
          </a:xfrm>
          <a:prstGeom prst="rect">
            <a:avLst/>
          </a:prstGeom>
          <a:noFill/>
        </p:spPr>
        <p:txBody>
          <a:bodyPr wrap="square" lIns="0" tIns="0" rIns="0" bIns="0" anchor="ctr">
            <a:spAutoFit/>
          </a:bodyPr>
          <a:lstStyle/>
          <a:p>
            <a:pPr algn="r">
              <a:lnSpc>
                <a:spcPct val="114000"/>
              </a:lnSpc>
              <a:spcBef>
                <a:spcPts val="0"/>
              </a:spcBef>
              <a:spcAft>
                <a:spcPts val="400"/>
              </a:spcAft>
            </a:pPr>
            <a:r>
              <a:rPr lang="es-PE" sz="1250" b="1" i="0" noProof="0" dirty="0">
                <a:solidFill>
                  <a:srgbClr val="C3094A"/>
                </a:solidFill>
                <a:latin typeface="Arial"/>
              </a:rPr>
              <a:t>0,31</a:t>
            </a:r>
          </a:p>
        </p:txBody>
      </p:sp>
      <p:sp>
        <p:nvSpPr>
          <p:cNvPr id="29" name="TextBox 28"/>
          <p:cNvSpPr txBox="1"/>
          <p:nvPr/>
        </p:nvSpPr>
        <p:spPr>
          <a:xfrm>
            <a:off x="6355080" y="4590288"/>
            <a:ext cx="5001768" cy="274320"/>
          </a:xfrm>
          <a:prstGeom prst="rect">
            <a:avLst/>
          </a:prstGeom>
          <a:noFill/>
        </p:spPr>
        <p:txBody>
          <a:bodyPr wrap="square" lIns="0" tIns="0" rIns="0" bIns="0" anchor="t">
            <a:spAutoFit/>
          </a:bodyPr>
          <a:lstStyle/>
          <a:p>
            <a:pPr algn="l">
              <a:lnSpc>
                <a:spcPct val="106000"/>
              </a:lnSpc>
              <a:spcBef>
                <a:spcPts val="0"/>
              </a:spcBef>
              <a:spcAft>
                <a:spcPts val="400"/>
              </a:spcAft>
            </a:pPr>
            <a:r>
              <a:rPr lang="es-PE" sz="900" b="0" i="0" noProof="0" dirty="0">
                <a:solidFill>
                  <a:srgbClr val="7A8494"/>
                </a:solidFill>
                <a:latin typeface="Arial"/>
              </a:rPr>
              <a:t>Cadena analítica completa: Anexo D.</a:t>
            </a:r>
          </a:p>
        </p:txBody>
      </p:sp>
      <p:sp>
        <p:nvSpPr>
          <p:cNvPr id="30" name="Rectangle 29"/>
          <p:cNvSpPr/>
          <p:nvPr/>
        </p:nvSpPr>
        <p:spPr>
          <a:xfrm>
            <a:off x="841248" y="5175504"/>
            <a:ext cx="45720" cy="457200"/>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31" name="TextBox 30"/>
          <p:cNvSpPr txBox="1"/>
          <p:nvPr/>
        </p:nvSpPr>
        <p:spPr>
          <a:xfrm>
            <a:off x="1024128" y="5157216"/>
            <a:ext cx="10277856" cy="493776"/>
          </a:xfrm>
          <a:prstGeom prst="rect">
            <a:avLst/>
          </a:prstGeom>
          <a:noFill/>
        </p:spPr>
        <p:txBody>
          <a:bodyPr wrap="square" lIns="0" tIns="0" rIns="0" bIns="0" anchor="t">
            <a:spAutoFit/>
          </a:bodyPr>
          <a:lstStyle/>
          <a:p>
            <a:pPr algn="l">
              <a:lnSpc>
                <a:spcPct val="114000"/>
              </a:lnSpc>
              <a:spcBef>
                <a:spcPts val="0"/>
              </a:spcBef>
              <a:spcAft>
                <a:spcPts val="400"/>
              </a:spcAft>
            </a:pPr>
            <a:r>
              <a:rPr lang="es-PE" sz="1150" b="1" i="0" noProof="0" dirty="0">
                <a:solidFill>
                  <a:srgbClr val="042354"/>
                </a:solidFill>
                <a:latin typeface="Arial"/>
              </a:rPr>
              <a:t>Un factor de seguridad inferior a la unidad significa que la unión, tal como estaba diseñada, no podía alcanzar la vida planificada bajo el par nominal.</a:t>
            </a:r>
          </a:p>
        </p:txBody>
      </p:sp>
      <p:pic>
        <p:nvPicPr>
          <p:cNvPr id="32" name="Imagen 31">
            <a:extLst>
              <a:ext uri="{FF2B5EF4-FFF2-40B4-BE49-F238E27FC236}">
                <a16:creationId xmlns:a16="http://schemas.microsoft.com/office/drawing/2014/main" id="{6A5E642A-A9B0-605B-6CD0-A636BC332064}"/>
              </a:ext>
            </a:extLst>
          </p:cNvPr>
          <p:cNvPicPr>
            <a:picLocks noChangeAspect="1"/>
          </p:cNvPicPr>
          <p:nvPr/>
        </p:nvPicPr>
        <p:blipFill>
          <a:blip r:embed="rId3"/>
          <a:stretch>
            <a:fillRect/>
          </a:stretch>
        </p:blipFill>
        <p:spPr>
          <a:xfrm>
            <a:off x="158617" y="5943600"/>
            <a:ext cx="5620013" cy="55067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PE" sz="2200" b="1" i="0" noProof="0" dirty="0">
                <a:solidFill>
                  <a:srgbClr val="042354"/>
                </a:solidFill>
                <a:latin typeface="Arial"/>
              </a:rPr>
              <a:t>Del mecanismo físico a la causa latente</a:t>
            </a: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PE" sz="1100" b="1" i="0" noProof="0" dirty="0">
                <a:solidFill>
                  <a:srgbClr val="FFFFFF"/>
                </a:solidFill>
                <a:latin typeface="Arial"/>
              </a:rPr>
              <a:t>16</a:t>
            </a:r>
          </a:p>
        </p:txBody>
      </p:sp>
      <p:sp>
        <p:nvSpPr>
          <p:cNvPr id="6" name="TextBox 5"/>
          <p:cNvSpPr txBox="1"/>
          <p:nvPr/>
        </p:nvSpPr>
        <p:spPr>
          <a:xfrm>
            <a:off x="841248" y="1426464"/>
            <a:ext cx="10515600" cy="292608"/>
          </a:xfrm>
          <a:prstGeom prst="rect">
            <a:avLst/>
          </a:prstGeom>
          <a:noFill/>
        </p:spPr>
        <p:txBody>
          <a:bodyPr wrap="square" lIns="0" tIns="0" rIns="0" bIns="0" anchor="t">
            <a:spAutoFit/>
          </a:bodyPr>
          <a:lstStyle/>
          <a:p>
            <a:pPr algn="l">
              <a:lnSpc>
                <a:spcPct val="110000"/>
              </a:lnSpc>
              <a:spcBef>
                <a:spcPts val="0"/>
              </a:spcBef>
              <a:spcAft>
                <a:spcPts val="400"/>
              </a:spcAft>
            </a:pPr>
            <a:r>
              <a:rPr lang="es-PE" sz="1200" b="0" i="1" noProof="0" dirty="0">
                <a:solidFill>
                  <a:srgbClr val="4A5568"/>
                </a:solidFill>
                <a:latin typeface="Arial"/>
              </a:rPr>
              <a:t>¿Por qué la organización convivió tres años con un modo de falla de criticidad máxima?</a:t>
            </a:r>
          </a:p>
        </p:txBody>
      </p:sp>
      <p:sp>
        <p:nvSpPr>
          <p:cNvPr id="7" name="Rectangle 6"/>
          <p:cNvSpPr/>
          <p:nvPr/>
        </p:nvSpPr>
        <p:spPr>
          <a:xfrm>
            <a:off x="841248" y="1828800"/>
            <a:ext cx="10515600" cy="768096"/>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8" name="Rectangle 7"/>
          <p:cNvSpPr/>
          <p:nvPr/>
        </p:nvSpPr>
        <p:spPr>
          <a:xfrm>
            <a:off x="841248" y="1828800"/>
            <a:ext cx="45720" cy="768096"/>
          </a:xfrm>
          <a:prstGeom prst="rect">
            <a:avLst/>
          </a:prstGeom>
          <a:solidFill>
            <a:srgbClr val="CFD6D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9" name="TextBox 8"/>
          <p:cNvSpPr txBox="1"/>
          <p:nvPr/>
        </p:nvSpPr>
        <p:spPr>
          <a:xfrm>
            <a:off x="1060704" y="1938528"/>
            <a:ext cx="365760" cy="457200"/>
          </a:xfrm>
          <a:prstGeom prst="rect">
            <a:avLst/>
          </a:prstGeom>
          <a:noFill/>
        </p:spPr>
        <p:txBody>
          <a:bodyPr wrap="square" lIns="0" tIns="0" rIns="0" bIns="0" anchor="t">
            <a:spAutoFit/>
          </a:bodyPr>
          <a:lstStyle/>
          <a:p>
            <a:pPr algn="l">
              <a:lnSpc>
                <a:spcPct val="114000"/>
              </a:lnSpc>
              <a:spcBef>
                <a:spcPts val="0"/>
              </a:spcBef>
              <a:spcAft>
                <a:spcPts val="400"/>
              </a:spcAft>
            </a:pPr>
            <a:r>
              <a:rPr lang="es-PE" sz="1500" b="1" i="0" noProof="0" dirty="0">
                <a:solidFill>
                  <a:srgbClr val="7A8494"/>
                </a:solidFill>
                <a:latin typeface="Arial"/>
              </a:rPr>
              <a:t>1</a:t>
            </a:r>
          </a:p>
        </p:txBody>
      </p:sp>
      <p:sp>
        <p:nvSpPr>
          <p:cNvPr id="10" name="TextBox 9"/>
          <p:cNvSpPr txBox="1"/>
          <p:nvPr/>
        </p:nvSpPr>
        <p:spPr>
          <a:xfrm>
            <a:off x="1444752" y="1920240"/>
            <a:ext cx="4069080" cy="621792"/>
          </a:xfrm>
          <a:prstGeom prst="rect">
            <a:avLst/>
          </a:prstGeom>
          <a:noFill/>
        </p:spPr>
        <p:txBody>
          <a:bodyPr wrap="square" lIns="0" tIns="0" rIns="0" bIns="0" anchor="t">
            <a:spAutoFit/>
          </a:bodyPr>
          <a:lstStyle/>
          <a:p>
            <a:pPr algn="l">
              <a:lnSpc>
                <a:spcPct val="110000"/>
              </a:lnSpc>
              <a:spcBef>
                <a:spcPts val="0"/>
              </a:spcBef>
              <a:spcAft>
                <a:spcPts val="300"/>
              </a:spcAft>
            </a:pPr>
            <a:r>
              <a:rPr lang="es-PE" sz="1050" b="1" i="0" noProof="0" dirty="0">
                <a:solidFill>
                  <a:srgbClr val="042354"/>
                </a:solidFill>
                <a:latin typeface="Arial"/>
              </a:rPr>
              <a:t>¿Por qué se fracturó el eje palier?</a:t>
            </a:r>
          </a:p>
          <a:p>
            <a:pPr algn="l">
              <a:lnSpc>
                <a:spcPct val="110000"/>
              </a:lnSpc>
              <a:spcBef>
                <a:spcPts val="0"/>
              </a:spcBef>
              <a:spcAft>
                <a:spcPts val="400"/>
              </a:spcAft>
            </a:pPr>
            <a:r>
              <a:rPr lang="es-PE" sz="950" b="0" i="0" noProof="0" dirty="0">
                <a:solidFill>
                  <a:srgbClr val="4A5568"/>
                </a:solidFill>
                <a:latin typeface="Arial"/>
              </a:rPr>
              <a:t>La raíz sin fusión concentra el esfuerzo y nuclea una grieta de fatiga bajo el par nominal.</a:t>
            </a:r>
          </a:p>
        </p:txBody>
      </p:sp>
      <p:sp>
        <p:nvSpPr>
          <p:cNvPr id="11" name="TextBox 10"/>
          <p:cNvSpPr txBox="1"/>
          <p:nvPr/>
        </p:nvSpPr>
        <p:spPr>
          <a:xfrm>
            <a:off x="5733288" y="1920240"/>
            <a:ext cx="3794760" cy="603504"/>
          </a:xfrm>
          <a:prstGeom prst="rect">
            <a:avLst/>
          </a:prstGeom>
          <a:noFill/>
        </p:spPr>
        <p:txBody>
          <a:bodyPr wrap="square" lIns="0" tIns="0" rIns="0" bIns="0" anchor="ctr">
            <a:spAutoFit/>
          </a:bodyPr>
          <a:lstStyle/>
          <a:p>
            <a:pPr algn="l">
              <a:lnSpc>
                <a:spcPct val="114000"/>
              </a:lnSpc>
              <a:spcBef>
                <a:spcPts val="0"/>
              </a:spcBef>
              <a:spcAft>
                <a:spcPts val="400"/>
              </a:spcAft>
            </a:pPr>
            <a:r>
              <a:rPr lang="es-PE" sz="1000" b="0" i="0" noProof="0" dirty="0">
                <a:solidFill>
                  <a:srgbClr val="191919"/>
                </a:solidFill>
                <a:latin typeface="Arial"/>
              </a:rPr>
              <a:t>› Rediseño de la unión: penetración completa y mayor sección resistente.</a:t>
            </a:r>
          </a:p>
        </p:txBody>
      </p:sp>
      <p:sp>
        <p:nvSpPr>
          <p:cNvPr id="12" name="Rectangle 11"/>
          <p:cNvSpPr/>
          <p:nvPr/>
        </p:nvSpPr>
        <p:spPr>
          <a:xfrm>
            <a:off x="9756648" y="2048256"/>
            <a:ext cx="1298448" cy="329184"/>
          </a:xfrm>
          <a:prstGeom prst="rect">
            <a:avLst/>
          </a:prstGeom>
          <a:solidFill>
            <a:srgbClr val="CFD6D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PE" sz="850" b="1" i="0" noProof="0" dirty="0">
                <a:solidFill>
                  <a:srgbClr val="4A5568"/>
                </a:solidFill>
                <a:latin typeface="Arial"/>
              </a:rPr>
              <a:t>FÍSICO</a:t>
            </a:r>
          </a:p>
        </p:txBody>
      </p:sp>
      <p:sp>
        <p:nvSpPr>
          <p:cNvPr id="13" name="Rectangle 12"/>
          <p:cNvSpPr/>
          <p:nvPr/>
        </p:nvSpPr>
        <p:spPr>
          <a:xfrm>
            <a:off x="841248" y="2670048"/>
            <a:ext cx="10515600" cy="768096"/>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4" name="Rectangle 13"/>
          <p:cNvSpPr/>
          <p:nvPr/>
        </p:nvSpPr>
        <p:spPr>
          <a:xfrm>
            <a:off x="841248" y="2670048"/>
            <a:ext cx="45720" cy="768096"/>
          </a:xfrm>
          <a:prstGeom prst="rect">
            <a:avLst/>
          </a:prstGeom>
          <a:solidFill>
            <a:srgbClr val="CFD6D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5" name="TextBox 14"/>
          <p:cNvSpPr txBox="1"/>
          <p:nvPr/>
        </p:nvSpPr>
        <p:spPr>
          <a:xfrm>
            <a:off x="1060704" y="2779776"/>
            <a:ext cx="365760" cy="457200"/>
          </a:xfrm>
          <a:prstGeom prst="rect">
            <a:avLst/>
          </a:prstGeom>
          <a:noFill/>
        </p:spPr>
        <p:txBody>
          <a:bodyPr wrap="square" lIns="0" tIns="0" rIns="0" bIns="0" anchor="t">
            <a:spAutoFit/>
          </a:bodyPr>
          <a:lstStyle/>
          <a:p>
            <a:pPr algn="l">
              <a:lnSpc>
                <a:spcPct val="114000"/>
              </a:lnSpc>
              <a:spcBef>
                <a:spcPts val="0"/>
              </a:spcBef>
              <a:spcAft>
                <a:spcPts val="400"/>
              </a:spcAft>
            </a:pPr>
            <a:r>
              <a:rPr lang="es-PE" sz="1500" b="1" i="0" noProof="0" dirty="0">
                <a:solidFill>
                  <a:srgbClr val="7A8494"/>
                </a:solidFill>
                <a:latin typeface="Arial"/>
              </a:rPr>
              <a:t>2</a:t>
            </a:r>
          </a:p>
        </p:txBody>
      </p:sp>
      <p:sp>
        <p:nvSpPr>
          <p:cNvPr id="16" name="TextBox 15"/>
          <p:cNvSpPr txBox="1"/>
          <p:nvPr/>
        </p:nvSpPr>
        <p:spPr>
          <a:xfrm>
            <a:off x="1444752" y="2761488"/>
            <a:ext cx="4069080" cy="621792"/>
          </a:xfrm>
          <a:prstGeom prst="rect">
            <a:avLst/>
          </a:prstGeom>
          <a:noFill/>
        </p:spPr>
        <p:txBody>
          <a:bodyPr wrap="square" lIns="0" tIns="0" rIns="0" bIns="0" anchor="t">
            <a:spAutoFit/>
          </a:bodyPr>
          <a:lstStyle/>
          <a:p>
            <a:pPr algn="l">
              <a:lnSpc>
                <a:spcPct val="110000"/>
              </a:lnSpc>
              <a:spcBef>
                <a:spcPts val="0"/>
              </a:spcBef>
              <a:spcAft>
                <a:spcPts val="300"/>
              </a:spcAft>
            </a:pPr>
            <a:r>
              <a:rPr lang="es-PE" sz="1050" b="1" i="0" noProof="0" dirty="0">
                <a:solidFill>
                  <a:srgbClr val="042354"/>
                </a:solidFill>
                <a:latin typeface="Arial"/>
              </a:rPr>
              <a:t>¿Por qué permaneció en servicio una unión que no alcanza la vida planificada?</a:t>
            </a:r>
          </a:p>
          <a:p>
            <a:pPr algn="l">
              <a:lnSpc>
                <a:spcPct val="110000"/>
              </a:lnSpc>
              <a:spcBef>
                <a:spcPts val="0"/>
              </a:spcBef>
              <a:spcAft>
                <a:spcPts val="400"/>
              </a:spcAft>
            </a:pPr>
            <a:r>
              <a:rPr lang="es-PE" sz="950" b="0" i="0" noProof="0" dirty="0">
                <a:solidFill>
                  <a:srgbClr val="4A5568"/>
                </a:solidFill>
                <a:latin typeface="Arial"/>
              </a:rPr>
              <a:t>El componente se recibe con el diseño predeterminado y no se verifica.</a:t>
            </a:r>
          </a:p>
        </p:txBody>
      </p:sp>
      <p:sp>
        <p:nvSpPr>
          <p:cNvPr id="17" name="TextBox 16"/>
          <p:cNvSpPr txBox="1"/>
          <p:nvPr/>
        </p:nvSpPr>
        <p:spPr>
          <a:xfrm>
            <a:off x="5733288" y="2761488"/>
            <a:ext cx="3794760" cy="603504"/>
          </a:xfrm>
          <a:prstGeom prst="rect">
            <a:avLst/>
          </a:prstGeom>
          <a:noFill/>
        </p:spPr>
        <p:txBody>
          <a:bodyPr wrap="square" lIns="0" tIns="0" rIns="0" bIns="0" anchor="ctr">
            <a:spAutoFit/>
          </a:bodyPr>
          <a:lstStyle/>
          <a:p>
            <a:pPr algn="l">
              <a:lnSpc>
                <a:spcPct val="114000"/>
              </a:lnSpc>
              <a:spcBef>
                <a:spcPts val="0"/>
              </a:spcBef>
              <a:spcAft>
                <a:spcPts val="400"/>
              </a:spcAft>
            </a:pPr>
            <a:r>
              <a:rPr lang="es-PE" sz="1000" b="0" i="0" noProof="0" dirty="0">
                <a:solidFill>
                  <a:srgbClr val="191919"/>
                </a:solidFill>
                <a:latin typeface="Arial"/>
              </a:rPr>
              <a:t>› Verificación de resistencia del N/P frente al par nominal antes de aceptarlo.</a:t>
            </a:r>
          </a:p>
        </p:txBody>
      </p:sp>
      <p:sp>
        <p:nvSpPr>
          <p:cNvPr id="18" name="Rectangle 17"/>
          <p:cNvSpPr/>
          <p:nvPr/>
        </p:nvSpPr>
        <p:spPr>
          <a:xfrm>
            <a:off x="9756648" y="2889504"/>
            <a:ext cx="1298448" cy="329184"/>
          </a:xfrm>
          <a:prstGeom prst="rect">
            <a:avLst/>
          </a:prstGeom>
          <a:solidFill>
            <a:srgbClr val="CFD6D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PE" sz="850" b="1" i="0" noProof="0" dirty="0">
                <a:solidFill>
                  <a:srgbClr val="4A5568"/>
                </a:solidFill>
                <a:latin typeface="Arial"/>
              </a:rPr>
              <a:t>HUMANO</a:t>
            </a:r>
          </a:p>
        </p:txBody>
      </p:sp>
      <p:sp>
        <p:nvSpPr>
          <p:cNvPr id="19" name="Rectangle 18"/>
          <p:cNvSpPr/>
          <p:nvPr/>
        </p:nvSpPr>
        <p:spPr>
          <a:xfrm>
            <a:off x="841248" y="3511296"/>
            <a:ext cx="10515600" cy="768096"/>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20" name="Rectangle 19"/>
          <p:cNvSpPr/>
          <p:nvPr/>
        </p:nvSpPr>
        <p:spPr>
          <a:xfrm>
            <a:off x="841248" y="3511296"/>
            <a:ext cx="45720" cy="768096"/>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21" name="TextBox 20"/>
          <p:cNvSpPr txBox="1"/>
          <p:nvPr/>
        </p:nvSpPr>
        <p:spPr>
          <a:xfrm>
            <a:off x="1060704" y="3621024"/>
            <a:ext cx="365760" cy="457200"/>
          </a:xfrm>
          <a:prstGeom prst="rect">
            <a:avLst/>
          </a:prstGeom>
          <a:noFill/>
        </p:spPr>
        <p:txBody>
          <a:bodyPr wrap="square" lIns="0" tIns="0" rIns="0" bIns="0" anchor="t">
            <a:spAutoFit/>
          </a:bodyPr>
          <a:lstStyle/>
          <a:p>
            <a:pPr algn="l">
              <a:lnSpc>
                <a:spcPct val="114000"/>
              </a:lnSpc>
              <a:spcBef>
                <a:spcPts val="0"/>
              </a:spcBef>
              <a:spcAft>
                <a:spcPts val="400"/>
              </a:spcAft>
            </a:pPr>
            <a:r>
              <a:rPr lang="es-PE" sz="1500" b="1" i="0" noProof="0" dirty="0">
                <a:solidFill>
                  <a:srgbClr val="C3094A"/>
                </a:solidFill>
                <a:latin typeface="Arial"/>
              </a:rPr>
              <a:t>3</a:t>
            </a:r>
          </a:p>
        </p:txBody>
      </p:sp>
      <p:sp>
        <p:nvSpPr>
          <p:cNvPr id="22" name="TextBox 21"/>
          <p:cNvSpPr txBox="1"/>
          <p:nvPr/>
        </p:nvSpPr>
        <p:spPr>
          <a:xfrm>
            <a:off x="1444752" y="3602736"/>
            <a:ext cx="4069080" cy="621792"/>
          </a:xfrm>
          <a:prstGeom prst="rect">
            <a:avLst/>
          </a:prstGeom>
          <a:noFill/>
        </p:spPr>
        <p:txBody>
          <a:bodyPr wrap="square" lIns="0" tIns="0" rIns="0" bIns="0" anchor="t">
            <a:spAutoFit/>
          </a:bodyPr>
          <a:lstStyle/>
          <a:p>
            <a:pPr algn="l">
              <a:lnSpc>
                <a:spcPct val="110000"/>
              </a:lnSpc>
              <a:spcBef>
                <a:spcPts val="0"/>
              </a:spcBef>
              <a:spcAft>
                <a:spcPts val="300"/>
              </a:spcAft>
            </a:pPr>
            <a:r>
              <a:rPr lang="es-PE" sz="1050" b="1" i="0" noProof="0" dirty="0">
                <a:solidFill>
                  <a:srgbClr val="042354"/>
                </a:solidFill>
                <a:latin typeface="Arial"/>
              </a:rPr>
              <a:t>¿Por qué no se detectó que la falla era recurrente?</a:t>
            </a:r>
          </a:p>
          <a:p>
            <a:pPr algn="l">
              <a:lnSpc>
                <a:spcPct val="110000"/>
              </a:lnSpc>
              <a:spcBef>
                <a:spcPts val="0"/>
              </a:spcBef>
              <a:spcAft>
                <a:spcPts val="400"/>
              </a:spcAft>
            </a:pPr>
            <a:r>
              <a:rPr lang="es-PE" sz="950" b="0" i="0" noProof="0" dirty="0">
                <a:solidFill>
                  <a:srgbClr val="4A5568"/>
                </a:solidFill>
                <a:latin typeface="Arial"/>
              </a:rPr>
              <a:t>Cada análisis de falla se ejecutó por evento y ninguno consolidó el conjunto de casos.</a:t>
            </a:r>
          </a:p>
        </p:txBody>
      </p:sp>
      <p:sp>
        <p:nvSpPr>
          <p:cNvPr id="23" name="TextBox 22"/>
          <p:cNvSpPr txBox="1"/>
          <p:nvPr/>
        </p:nvSpPr>
        <p:spPr>
          <a:xfrm>
            <a:off x="5733288" y="3602736"/>
            <a:ext cx="3794760" cy="603504"/>
          </a:xfrm>
          <a:prstGeom prst="rect">
            <a:avLst/>
          </a:prstGeom>
          <a:noFill/>
        </p:spPr>
        <p:txBody>
          <a:bodyPr wrap="square" lIns="0" tIns="0" rIns="0" bIns="0" anchor="ctr">
            <a:spAutoFit/>
          </a:bodyPr>
          <a:lstStyle/>
          <a:p>
            <a:pPr algn="l">
              <a:lnSpc>
                <a:spcPct val="114000"/>
              </a:lnSpc>
              <a:spcBef>
                <a:spcPts val="0"/>
              </a:spcBef>
              <a:spcAft>
                <a:spcPts val="400"/>
              </a:spcAft>
            </a:pPr>
            <a:r>
              <a:rPr lang="es-PE" sz="1000" b="0" i="0" noProof="0" dirty="0">
                <a:solidFill>
                  <a:srgbClr val="191919"/>
                </a:solidFill>
                <a:latin typeface="Arial"/>
              </a:rPr>
              <a:t>› Consolidación periódica de los análisis por modo de falla, no por evento.</a:t>
            </a:r>
          </a:p>
        </p:txBody>
      </p:sp>
      <p:sp>
        <p:nvSpPr>
          <p:cNvPr id="24" name="Rectangle 23"/>
          <p:cNvSpPr/>
          <p:nvPr/>
        </p:nvSpPr>
        <p:spPr>
          <a:xfrm>
            <a:off x="9756648" y="3730752"/>
            <a:ext cx="1298448" cy="329184"/>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PE" sz="850" b="1" i="0" noProof="0" dirty="0">
                <a:solidFill>
                  <a:srgbClr val="FFFFFF"/>
                </a:solidFill>
                <a:latin typeface="Arial"/>
              </a:rPr>
              <a:t>LATENTE</a:t>
            </a:r>
          </a:p>
        </p:txBody>
      </p:sp>
      <p:sp>
        <p:nvSpPr>
          <p:cNvPr id="25" name="Rectangle 24"/>
          <p:cNvSpPr/>
          <p:nvPr/>
        </p:nvSpPr>
        <p:spPr>
          <a:xfrm>
            <a:off x="841248" y="4352544"/>
            <a:ext cx="10515600" cy="768096"/>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26" name="Rectangle 25"/>
          <p:cNvSpPr/>
          <p:nvPr/>
        </p:nvSpPr>
        <p:spPr>
          <a:xfrm>
            <a:off x="841248" y="4352544"/>
            <a:ext cx="45720" cy="768096"/>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27" name="TextBox 26"/>
          <p:cNvSpPr txBox="1"/>
          <p:nvPr/>
        </p:nvSpPr>
        <p:spPr>
          <a:xfrm>
            <a:off x="1060704" y="4462272"/>
            <a:ext cx="365760" cy="457200"/>
          </a:xfrm>
          <a:prstGeom prst="rect">
            <a:avLst/>
          </a:prstGeom>
          <a:noFill/>
        </p:spPr>
        <p:txBody>
          <a:bodyPr wrap="square" lIns="0" tIns="0" rIns="0" bIns="0" anchor="t">
            <a:spAutoFit/>
          </a:bodyPr>
          <a:lstStyle/>
          <a:p>
            <a:pPr algn="l">
              <a:lnSpc>
                <a:spcPct val="114000"/>
              </a:lnSpc>
              <a:spcBef>
                <a:spcPts val="0"/>
              </a:spcBef>
              <a:spcAft>
                <a:spcPts val="400"/>
              </a:spcAft>
            </a:pPr>
            <a:r>
              <a:rPr lang="es-PE" sz="1500" b="1" i="0" noProof="0" dirty="0">
                <a:solidFill>
                  <a:srgbClr val="C3094A"/>
                </a:solidFill>
                <a:latin typeface="Arial"/>
              </a:rPr>
              <a:t>4</a:t>
            </a:r>
          </a:p>
        </p:txBody>
      </p:sp>
      <p:sp>
        <p:nvSpPr>
          <p:cNvPr id="28" name="TextBox 27"/>
          <p:cNvSpPr txBox="1"/>
          <p:nvPr/>
        </p:nvSpPr>
        <p:spPr>
          <a:xfrm>
            <a:off x="1444752" y="4443983"/>
            <a:ext cx="4069080" cy="621792"/>
          </a:xfrm>
          <a:prstGeom prst="rect">
            <a:avLst/>
          </a:prstGeom>
          <a:noFill/>
        </p:spPr>
        <p:txBody>
          <a:bodyPr wrap="square" lIns="0" tIns="0" rIns="0" bIns="0" anchor="t">
            <a:spAutoFit/>
          </a:bodyPr>
          <a:lstStyle/>
          <a:p>
            <a:pPr algn="l">
              <a:lnSpc>
                <a:spcPct val="110000"/>
              </a:lnSpc>
              <a:spcBef>
                <a:spcPts val="0"/>
              </a:spcBef>
              <a:spcAft>
                <a:spcPts val="300"/>
              </a:spcAft>
            </a:pPr>
            <a:r>
              <a:rPr lang="es-PE" sz="1050" b="1" i="0" noProof="0" dirty="0">
                <a:solidFill>
                  <a:srgbClr val="042354"/>
                </a:solidFill>
                <a:latin typeface="Arial"/>
              </a:rPr>
              <a:t>¿Por qué las recomendaciones de los análisis no se ejecutaron?</a:t>
            </a:r>
          </a:p>
          <a:p>
            <a:pPr algn="l">
              <a:lnSpc>
                <a:spcPct val="110000"/>
              </a:lnSpc>
              <a:spcBef>
                <a:spcPts val="0"/>
              </a:spcBef>
              <a:spcAft>
                <a:spcPts val="400"/>
              </a:spcAft>
            </a:pPr>
            <a:r>
              <a:rPr lang="es-PE" sz="950" b="0" i="0" noProof="0" dirty="0">
                <a:solidFill>
                  <a:srgbClr val="4A5568"/>
                </a:solidFill>
                <a:latin typeface="Arial"/>
              </a:rPr>
              <a:t>No existía un proceso que asignara responsable, plazo ni cierre verificado.</a:t>
            </a:r>
          </a:p>
        </p:txBody>
      </p:sp>
      <p:sp>
        <p:nvSpPr>
          <p:cNvPr id="29" name="TextBox 28"/>
          <p:cNvSpPr txBox="1"/>
          <p:nvPr/>
        </p:nvSpPr>
        <p:spPr>
          <a:xfrm>
            <a:off x="5733288" y="4443983"/>
            <a:ext cx="3794760" cy="603504"/>
          </a:xfrm>
          <a:prstGeom prst="rect">
            <a:avLst/>
          </a:prstGeom>
          <a:noFill/>
        </p:spPr>
        <p:txBody>
          <a:bodyPr wrap="square" lIns="0" tIns="0" rIns="0" bIns="0" anchor="ctr">
            <a:spAutoFit/>
          </a:bodyPr>
          <a:lstStyle/>
          <a:p>
            <a:pPr algn="l">
              <a:lnSpc>
                <a:spcPct val="114000"/>
              </a:lnSpc>
              <a:spcBef>
                <a:spcPts val="0"/>
              </a:spcBef>
              <a:spcAft>
                <a:spcPts val="400"/>
              </a:spcAft>
            </a:pPr>
            <a:r>
              <a:rPr lang="es-PE" sz="1000" b="0" i="0" noProof="0" dirty="0">
                <a:solidFill>
                  <a:srgbClr val="191919"/>
                </a:solidFill>
                <a:latin typeface="Arial"/>
              </a:rPr>
              <a:t>› Proceso de gestión de hallazgos con responsable, plazo y cierre verificado.</a:t>
            </a:r>
          </a:p>
        </p:txBody>
      </p:sp>
      <p:sp>
        <p:nvSpPr>
          <p:cNvPr id="30" name="Rectangle 29"/>
          <p:cNvSpPr/>
          <p:nvPr/>
        </p:nvSpPr>
        <p:spPr>
          <a:xfrm>
            <a:off x="9756648" y="4572000"/>
            <a:ext cx="1298448" cy="329184"/>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400"/>
              </a:spcAft>
            </a:pPr>
            <a:r>
              <a:rPr lang="es-PE" sz="850" b="1" i="0" noProof="0" dirty="0">
                <a:solidFill>
                  <a:srgbClr val="FFFFFF"/>
                </a:solidFill>
                <a:latin typeface="Arial"/>
              </a:rPr>
              <a:t>LATENTE</a:t>
            </a:r>
          </a:p>
        </p:txBody>
      </p:sp>
      <p:sp>
        <p:nvSpPr>
          <p:cNvPr id="31" name="Rectangle 30"/>
          <p:cNvSpPr/>
          <p:nvPr/>
        </p:nvSpPr>
        <p:spPr>
          <a:xfrm>
            <a:off x="841248" y="5175504"/>
            <a:ext cx="45720" cy="457200"/>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32" name="TextBox 31"/>
          <p:cNvSpPr txBox="1"/>
          <p:nvPr/>
        </p:nvSpPr>
        <p:spPr>
          <a:xfrm>
            <a:off x="1024128" y="5157216"/>
            <a:ext cx="10277856" cy="493776"/>
          </a:xfrm>
          <a:prstGeom prst="rect">
            <a:avLst/>
          </a:prstGeom>
          <a:noFill/>
        </p:spPr>
        <p:txBody>
          <a:bodyPr wrap="square" lIns="0" tIns="0" rIns="0" bIns="0" anchor="t">
            <a:spAutoFit/>
          </a:bodyPr>
          <a:lstStyle/>
          <a:p>
            <a:pPr algn="l">
              <a:lnSpc>
                <a:spcPct val="114000"/>
              </a:lnSpc>
              <a:spcBef>
                <a:spcPts val="0"/>
              </a:spcBef>
              <a:spcAft>
                <a:spcPts val="400"/>
              </a:spcAft>
            </a:pPr>
            <a:r>
              <a:rPr lang="es-PE" sz="1150" b="1" i="0" noProof="0" dirty="0">
                <a:solidFill>
                  <a:srgbClr val="042354"/>
                </a:solidFill>
                <a:latin typeface="Arial"/>
              </a:rPr>
              <a:t>Causa raíz latente: la ausencia de un mecanismo que convierta el hallazgo de un análisis de falla en un cambio del diseño del componente.</a:t>
            </a:r>
          </a:p>
        </p:txBody>
      </p:sp>
      <p:pic>
        <p:nvPicPr>
          <p:cNvPr id="33" name="Imagen 32">
            <a:extLst>
              <a:ext uri="{FF2B5EF4-FFF2-40B4-BE49-F238E27FC236}">
                <a16:creationId xmlns:a16="http://schemas.microsoft.com/office/drawing/2014/main" id="{6A70E9B0-85ED-7947-5ABB-9FE744523619}"/>
              </a:ext>
            </a:extLst>
          </p:cNvPr>
          <p:cNvPicPr>
            <a:picLocks noChangeAspect="1"/>
          </p:cNvPicPr>
          <p:nvPr/>
        </p:nvPicPr>
        <p:blipFill>
          <a:blip r:embed="rId2"/>
          <a:stretch>
            <a:fillRect/>
          </a:stretch>
        </p:blipFill>
        <p:spPr>
          <a:xfrm>
            <a:off x="158617" y="5943600"/>
            <a:ext cx="5620013" cy="55067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PE" sz="2200" b="1" i="0" noProof="0" dirty="0">
                <a:solidFill>
                  <a:srgbClr val="042354"/>
                </a:solidFill>
                <a:latin typeface="Arial"/>
              </a:rPr>
              <a:t>Preguntas 6 y 7: ninguna tarea proactiva cumple ambos criterios</a:t>
            </a: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PE" sz="1100" b="1" i="0" noProof="0" dirty="0">
                <a:solidFill>
                  <a:srgbClr val="FFFFFF"/>
                </a:solidFill>
                <a:latin typeface="Arial"/>
              </a:rPr>
              <a:t>17</a:t>
            </a:r>
          </a:p>
        </p:txBody>
      </p:sp>
      <p:sp>
        <p:nvSpPr>
          <p:cNvPr id="6" name="TextBox 5"/>
          <p:cNvSpPr txBox="1"/>
          <p:nvPr/>
        </p:nvSpPr>
        <p:spPr>
          <a:xfrm>
            <a:off x="841248" y="1444752"/>
            <a:ext cx="10515600" cy="457200"/>
          </a:xfrm>
          <a:prstGeom prst="rect">
            <a:avLst/>
          </a:prstGeom>
          <a:noFill/>
        </p:spPr>
        <p:txBody>
          <a:bodyPr wrap="square" lIns="0" tIns="0" rIns="0" bIns="0" anchor="t">
            <a:spAutoFit/>
          </a:bodyPr>
          <a:lstStyle/>
          <a:p>
            <a:pPr algn="l">
              <a:lnSpc>
                <a:spcPct val="116000"/>
              </a:lnSpc>
              <a:spcBef>
                <a:spcPts val="0"/>
              </a:spcBef>
              <a:spcAft>
                <a:spcPts val="400"/>
              </a:spcAft>
            </a:pPr>
            <a:r>
              <a:rPr lang="es-PE" sz="1200" b="0" i="0" noProof="0" dirty="0">
                <a:solidFill>
                  <a:srgbClr val="4A5568"/>
                </a:solidFill>
                <a:latin typeface="Arial"/>
              </a:rPr>
              <a:t>Una tarea proactiva se adopta solo si es técnicamente factible y si el costo de ejecutarla es menor que el de las consecuencias que evita.</a:t>
            </a:r>
          </a:p>
        </p:txBody>
      </p:sp>
      <p:pic>
        <p:nvPicPr>
          <p:cNvPr id="7" name="Picture 6" descr="pu_g8_logica.png"/>
          <p:cNvPicPr>
            <a:picLocks noChangeAspect="1"/>
          </p:cNvPicPr>
          <p:nvPr/>
        </p:nvPicPr>
        <p:blipFill>
          <a:blip r:embed="rId2"/>
          <a:stretch>
            <a:fillRect/>
          </a:stretch>
        </p:blipFill>
        <p:spPr>
          <a:xfrm>
            <a:off x="2368296" y="1883664"/>
            <a:ext cx="7461503" cy="2331720"/>
          </a:xfrm>
          <a:prstGeom prst="rect">
            <a:avLst/>
          </a:prstGeom>
        </p:spPr>
      </p:pic>
      <p:sp>
        <p:nvSpPr>
          <p:cNvPr id="8" name="Rectangle 7"/>
          <p:cNvSpPr/>
          <p:nvPr/>
        </p:nvSpPr>
        <p:spPr>
          <a:xfrm>
            <a:off x="841248" y="4352544"/>
            <a:ext cx="10515600" cy="804672"/>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9" name="Rectangle 8"/>
          <p:cNvSpPr/>
          <p:nvPr/>
        </p:nvSpPr>
        <p:spPr>
          <a:xfrm>
            <a:off x="841248" y="4352544"/>
            <a:ext cx="45720" cy="804672"/>
          </a:xfrm>
          <a:prstGeom prst="rect">
            <a:avLst/>
          </a:prstGeom>
          <a:solidFill>
            <a:srgbClr val="2841D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0" name="TextBox 9"/>
          <p:cNvSpPr txBox="1"/>
          <p:nvPr/>
        </p:nvSpPr>
        <p:spPr>
          <a:xfrm>
            <a:off x="1078992" y="4462272"/>
            <a:ext cx="10040112" cy="603504"/>
          </a:xfrm>
          <a:prstGeom prst="rect">
            <a:avLst/>
          </a:prstGeom>
          <a:noFill/>
        </p:spPr>
        <p:txBody>
          <a:bodyPr wrap="square" lIns="0" tIns="0" rIns="0" bIns="0" anchor="t">
            <a:spAutoFit/>
          </a:bodyPr>
          <a:lstStyle/>
          <a:p>
            <a:pPr algn="l">
              <a:lnSpc>
                <a:spcPct val="114000"/>
              </a:lnSpc>
              <a:spcBef>
                <a:spcPts val="0"/>
              </a:spcBef>
              <a:spcAft>
                <a:spcPts val="400"/>
              </a:spcAft>
            </a:pPr>
            <a:r>
              <a:rPr lang="es-PE" sz="1200" b="1" i="0" noProof="0" dirty="0">
                <a:solidFill>
                  <a:srgbClr val="2841DD"/>
                </a:solidFill>
                <a:latin typeface="Arial"/>
              </a:rPr>
              <a:t>El rediseño es el resultado del proceso RCM, no su punto de partida.</a:t>
            </a:r>
          </a:p>
          <a:p>
            <a:pPr algn="l">
              <a:lnSpc>
                <a:spcPct val="114000"/>
              </a:lnSpc>
              <a:spcBef>
                <a:spcPts val="0"/>
              </a:spcBef>
              <a:spcAft>
                <a:spcPts val="400"/>
              </a:spcAft>
            </a:pPr>
            <a:r>
              <a:rPr lang="es-PE" sz="1000" b="0" i="0" noProof="0" dirty="0">
                <a:solidFill>
                  <a:srgbClr val="191919"/>
                </a:solidFill>
                <a:latin typeface="Arial"/>
              </a:rPr>
              <a:t>Se siguió la secuencia completa, incluso se realizó el cambio de componente ( ejecución de la tarea disponible) y la comprobación de que la falla volvió a presentarse, se llegó al rediseño solo después de haber agotado y documentado las demás alternativas.</a:t>
            </a:r>
          </a:p>
        </p:txBody>
      </p:sp>
      <p:sp>
        <p:nvSpPr>
          <p:cNvPr id="11" name="TextBox 10"/>
          <p:cNvSpPr txBox="1"/>
          <p:nvPr/>
        </p:nvSpPr>
        <p:spPr>
          <a:xfrm>
            <a:off x="841248" y="5303520"/>
            <a:ext cx="10515600" cy="274320"/>
          </a:xfrm>
          <a:prstGeom prst="rect">
            <a:avLst/>
          </a:prstGeom>
          <a:noFill/>
        </p:spPr>
        <p:txBody>
          <a:bodyPr wrap="square" lIns="0" tIns="0" rIns="0" bIns="0" anchor="t">
            <a:spAutoFit/>
          </a:bodyPr>
          <a:lstStyle/>
          <a:p>
            <a:pPr algn="l">
              <a:lnSpc>
                <a:spcPct val="106000"/>
              </a:lnSpc>
              <a:spcBef>
                <a:spcPts val="0"/>
              </a:spcBef>
              <a:spcAft>
                <a:spcPts val="400"/>
              </a:spcAft>
            </a:pPr>
            <a:r>
              <a:rPr lang="es-PE" sz="900" b="0" i="0" noProof="0" dirty="0">
                <a:solidFill>
                  <a:srgbClr val="7A8494"/>
                </a:solidFill>
                <a:latin typeface="Arial"/>
              </a:rPr>
              <a:t>Umbral de indiferencia declarado: si el costo de una reparación mayor programada bajara de US$ 424 mil, la sustitución cíclica sí sería conveniente.</a:t>
            </a:r>
          </a:p>
        </p:txBody>
      </p:sp>
      <p:pic>
        <p:nvPicPr>
          <p:cNvPr id="12" name="Imagen 11">
            <a:extLst>
              <a:ext uri="{FF2B5EF4-FFF2-40B4-BE49-F238E27FC236}">
                <a16:creationId xmlns:a16="http://schemas.microsoft.com/office/drawing/2014/main" id="{01F7DA6E-4097-00ED-42AE-00EE20CCF02C}"/>
              </a:ext>
            </a:extLst>
          </p:cNvPr>
          <p:cNvPicPr>
            <a:picLocks noChangeAspect="1"/>
          </p:cNvPicPr>
          <p:nvPr/>
        </p:nvPicPr>
        <p:blipFill>
          <a:blip r:embed="rId3"/>
          <a:stretch>
            <a:fillRect/>
          </a:stretch>
        </p:blipFill>
        <p:spPr>
          <a:xfrm>
            <a:off x="158617" y="5943600"/>
            <a:ext cx="5620013" cy="55067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969" cy="6858000"/>
          </a:xfrm>
          <a:prstGeom prst="rect">
            <a:avLst/>
          </a:prstGeom>
          <a:solidFill>
            <a:srgbClr val="042354">
              <a:alpha val="86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4" name="Rectangle 3"/>
          <p:cNvSpPr/>
          <p:nvPr/>
        </p:nvSpPr>
        <p:spPr>
          <a:xfrm>
            <a:off x="841248" y="2432304"/>
            <a:ext cx="530352" cy="68580"/>
          </a:xfrm>
          <a:prstGeom prst="rect">
            <a:avLst/>
          </a:prstGeom>
          <a:solidFill>
            <a:srgbClr val="16C78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5" name="TextBox 4"/>
          <p:cNvSpPr txBox="1"/>
          <p:nvPr/>
        </p:nvSpPr>
        <p:spPr>
          <a:xfrm>
            <a:off x="841248" y="1956816"/>
            <a:ext cx="9052560" cy="365760"/>
          </a:xfrm>
          <a:prstGeom prst="rect">
            <a:avLst/>
          </a:prstGeom>
          <a:noFill/>
        </p:spPr>
        <p:txBody>
          <a:bodyPr wrap="square" lIns="0" tIns="0" rIns="0" bIns="0" anchor="t">
            <a:spAutoFit/>
          </a:bodyPr>
          <a:lstStyle/>
          <a:p>
            <a:pPr algn="l">
              <a:lnSpc>
                <a:spcPct val="114000"/>
              </a:lnSpc>
              <a:spcBef>
                <a:spcPts val="0"/>
              </a:spcBef>
              <a:spcAft>
                <a:spcPts val="400"/>
              </a:spcAft>
            </a:pPr>
            <a:r>
              <a:rPr lang="es-PE" sz="1150" b="1" i="0" noProof="0" dirty="0">
                <a:solidFill>
                  <a:srgbClr val="8FE4C6"/>
                </a:solidFill>
                <a:latin typeface="Arial"/>
              </a:rPr>
              <a:t>CAPÍTULO III Y IV</a:t>
            </a:r>
          </a:p>
        </p:txBody>
      </p:sp>
      <p:sp>
        <p:nvSpPr>
          <p:cNvPr id="6" name="TextBox 5"/>
          <p:cNvSpPr txBox="1"/>
          <p:nvPr/>
        </p:nvSpPr>
        <p:spPr>
          <a:xfrm>
            <a:off x="841248" y="2651760"/>
            <a:ext cx="9235440" cy="1280160"/>
          </a:xfrm>
          <a:prstGeom prst="rect">
            <a:avLst/>
          </a:prstGeom>
          <a:noFill/>
        </p:spPr>
        <p:txBody>
          <a:bodyPr wrap="square" lIns="0" tIns="0" rIns="0" bIns="0" anchor="t">
            <a:spAutoFit/>
          </a:bodyPr>
          <a:lstStyle/>
          <a:p>
            <a:pPr algn="l">
              <a:lnSpc>
                <a:spcPct val="102000"/>
              </a:lnSpc>
              <a:spcBef>
                <a:spcPts val="0"/>
              </a:spcBef>
              <a:spcAft>
                <a:spcPts val="400"/>
              </a:spcAft>
            </a:pPr>
            <a:r>
              <a:rPr lang="es-PE" sz="3600" b="1" i="0" noProof="0" dirty="0">
                <a:solidFill>
                  <a:srgbClr val="FFFFFF"/>
                </a:solidFill>
                <a:latin typeface="Arial"/>
              </a:rPr>
              <a:t>SOLUCIÓN Y RESULTADOS</a:t>
            </a:r>
          </a:p>
        </p:txBody>
      </p:sp>
      <p:sp>
        <p:nvSpPr>
          <p:cNvPr id="7" name="TextBox 6"/>
          <p:cNvSpPr txBox="1"/>
          <p:nvPr/>
        </p:nvSpPr>
        <p:spPr>
          <a:xfrm>
            <a:off x="841248" y="4041648"/>
            <a:ext cx="7589520" cy="914400"/>
          </a:xfrm>
          <a:prstGeom prst="rect">
            <a:avLst/>
          </a:prstGeom>
          <a:noFill/>
        </p:spPr>
        <p:txBody>
          <a:bodyPr wrap="square" lIns="0" tIns="0" rIns="0" bIns="0" anchor="t">
            <a:spAutoFit/>
          </a:bodyPr>
          <a:lstStyle/>
          <a:p>
            <a:pPr algn="l">
              <a:lnSpc>
                <a:spcPct val="124000"/>
              </a:lnSpc>
              <a:spcBef>
                <a:spcPts val="0"/>
              </a:spcBef>
              <a:spcAft>
                <a:spcPts val="400"/>
              </a:spcAft>
            </a:pPr>
            <a:r>
              <a:rPr lang="es-PE" sz="1350" b="0" i="0" noProof="0" dirty="0">
                <a:solidFill>
                  <a:srgbClr val="C6D2E4"/>
                </a:solidFill>
                <a:latin typeface="Arial"/>
              </a:rPr>
              <a:t>El rediseño de la unión soldada, su implementación como cambio controlado y la verificación en dos niveles.</a:t>
            </a:r>
          </a:p>
        </p:txBody>
      </p:sp>
      <p:sp>
        <p:nvSpPr>
          <p:cNvPr id="8" name="TextBox 7"/>
          <p:cNvSpPr txBox="1"/>
          <p:nvPr/>
        </p:nvSpPr>
        <p:spPr>
          <a:xfrm>
            <a:off x="9997409" y="1901952"/>
            <a:ext cx="1280160" cy="1005840"/>
          </a:xfrm>
          <a:prstGeom prst="rect">
            <a:avLst/>
          </a:prstGeom>
          <a:noFill/>
        </p:spPr>
        <p:txBody>
          <a:bodyPr wrap="square" lIns="0" tIns="0" rIns="0" bIns="0" anchor="t">
            <a:spAutoFit/>
          </a:bodyPr>
          <a:lstStyle/>
          <a:p>
            <a:pPr algn="r">
              <a:lnSpc>
                <a:spcPct val="114000"/>
              </a:lnSpc>
              <a:spcBef>
                <a:spcPts val="0"/>
              </a:spcBef>
              <a:spcAft>
                <a:spcPts val="400"/>
              </a:spcAft>
            </a:pPr>
            <a:r>
              <a:rPr lang="es-PE" sz="5000" b="1" i="0" noProof="0" dirty="0">
                <a:solidFill>
                  <a:srgbClr val="2A4576"/>
                </a:solidFill>
                <a:latin typeface="Arial"/>
              </a:rPr>
              <a:t>04</a:t>
            </a:r>
          </a:p>
        </p:txBody>
      </p:sp>
      <p:pic>
        <p:nvPicPr>
          <p:cNvPr id="9" name="Picture 8" descr="pucp_blanco.png"/>
          <p:cNvPicPr>
            <a:picLocks noChangeAspect="1"/>
          </p:cNvPicPr>
          <p:nvPr/>
        </p:nvPicPr>
        <p:blipFill>
          <a:blip r:embed="rId2"/>
          <a:stretch>
            <a:fillRect/>
          </a:stretch>
        </p:blipFill>
        <p:spPr>
          <a:xfrm>
            <a:off x="841248" y="5870448"/>
            <a:ext cx="1389888" cy="4572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PE" sz="2200" b="1" i="0" noProof="0" dirty="0">
                <a:solidFill>
                  <a:srgbClr val="042354"/>
                </a:solidFill>
                <a:latin typeface="Arial"/>
              </a:rPr>
              <a:t>La solución: rediseño de la unión soldada del eje palier</a:t>
            </a: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PE" sz="1100" b="1" i="0" noProof="0" dirty="0">
                <a:solidFill>
                  <a:srgbClr val="FFFFFF"/>
                </a:solidFill>
                <a:latin typeface="Arial"/>
              </a:rPr>
              <a:t>19</a:t>
            </a:r>
          </a:p>
        </p:txBody>
      </p:sp>
      <p:sp>
        <p:nvSpPr>
          <p:cNvPr id="7" name="TextBox 6"/>
          <p:cNvSpPr txBox="1"/>
          <p:nvPr/>
        </p:nvSpPr>
        <p:spPr>
          <a:xfrm>
            <a:off x="1063932" y="6686840"/>
            <a:ext cx="4297680" cy="274320"/>
          </a:xfrm>
          <a:prstGeom prst="rect">
            <a:avLst/>
          </a:prstGeom>
          <a:noFill/>
        </p:spPr>
        <p:txBody>
          <a:bodyPr wrap="square" lIns="0" tIns="0" rIns="0" bIns="0" anchor="t">
            <a:spAutoFit/>
          </a:bodyPr>
          <a:lstStyle/>
          <a:p>
            <a:pPr algn="l">
              <a:lnSpc>
                <a:spcPct val="106000"/>
              </a:lnSpc>
              <a:spcBef>
                <a:spcPts val="0"/>
              </a:spcBef>
              <a:spcAft>
                <a:spcPts val="400"/>
              </a:spcAft>
            </a:pPr>
            <a:r>
              <a:rPr lang="es-PE" sz="900" b="0" i="0" noProof="0" dirty="0">
                <a:solidFill>
                  <a:srgbClr val="7A8494"/>
                </a:solidFill>
                <a:latin typeface="Arial"/>
              </a:rPr>
              <a:t>Comparación de la unión soldada. Elaboración propia.</a:t>
            </a:r>
          </a:p>
        </p:txBody>
      </p:sp>
      <p:sp>
        <p:nvSpPr>
          <p:cNvPr id="8" name="TextBox 7"/>
          <p:cNvSpPr txBox="1"/>
          <p:nvPr/>
        </p:nvSpPr>
        <p:spPr>
          <a:xfrm>
            <a:off x="6607705" y="1453896"/>
            <a:ext cx="6620256" cy="274320"/>
          </a:xfrm>
          <a:prstGeom prst="rect">
            <a:avLst/>
          </a:prstGeom>
          <a:noFill/>
        </p:spPr>
        <p:txBody>
          <a:bodyPr wrap="square" lIns="0" tIns="0" rIns="0" bIns="0" anchor="t">
            <a:spAutoFit/>
          </a:bodyPr>
          <a:lstStyle/>
          <a:p>
            <a:pPr algn="l">
              <a:lnSpc>
                <a:spcPct val="114000"/>
              </a:lnSpc>
              <a:spcBef>
                <a:spcPts val="0"/>
              </a:spcBef>
              <a:spcAft>
                <a:spcPts val="400"/>
              </a:spcAft>
            </a:pPr>
            <a:r>
              <a:rPr lang="es-PE" sz="950" b="1" i="0" noProof="0" dirty="0">
                <a:solidFill>
                  <a:srgbClr val="4A5568"/>
                </a:solidFill>
                <a:latin typeface="Arial"/>
              </a:rPr>
              <a:t>CONTROL DE CONFIGURACIÓN DEL NÚMERO DE PARTE</a:t>
            </a:r>
          </a:p>
        </p:txBody>
      </p:sp>
      <p:sp>
        <p:nvSpPr>
          <p:cNvPr id="9" name="Rectangle 8"/>
          <p:cNvSpPr/>
          <p:nvPr/>
        </p:nvSpPr>
        <p:spPr>
          <a:xfrm>
            <a:off x="6548897" y="1792224"/>
            <a:ext cx="4801855" cy="1343983"/>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0" name="Rectangle 9"/>
          <p:cNvSpPr/>
          <p:nvPr/>
        </p:nvSpPr>
        <p:spPr>
          <a:xfrm>
            <a:off x="6561985" y="1783259"/>
            <a:ext cx="45720" cy="1353312"/>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1" name="TextBox 10"/>
          <p:cNvSpPr txBox="1"/>
          <p:nvPr/>
        </p:nvSpPr>
        <p:spPr>
          <a:xfrm>
            <a:off x="6786641" y="1920240"/>
            <a:ext cx="4069080" cy="671530"/>
          </a:xfrm>
          <a:prstGeom prst="rect">
            <a:avLst/>
          </a:prstGeom>
          <a:noFill/>
        </p:spPr>
        <p:txBody>
          <a:bodyPr wrap="square" lIns="0" tIns="0" rIns="0" bIns="0" anchor="t">
            <a:spAutoFit/>
          </a:bodyPr>
          <a:lstStyle/>
          <a:p>
            <a:pPr algn="l">
              <a:lnSpc>
                <a:spcPct val="114000"/>
              </a:lnSpc>
              <a:spcBef>
                <a:spcPts val="0"/>
              </a:spcBef>
              <a:spcAft>
                <a:spcPts val="300"/>
              </a:spcAft>
            </a:pPr>
            <a:r>
              <a:rPr lang="es-PE" sz="1400" b="1" i="0" noProof="0" dirty="0">
                <a:solidFill>
                  <a:srgbClr val="C3094A"/>
                </a:solidFill>
                <a:latin typeface="Arial"/>
              </a:rPr>
              <a:t>Componente obsoleto</a:t>
            </a:r>
          </a:p>
          <a:p>
            <a:pPr algn="l">
              <a:lnSpc>
                <a:spcPct val="114000"/>
              </a:lnSpc>
              <a:spcBef>
                <a:spcPts val="0"/>
              </a:spcBef>
              <a:spcAft>
                <a:spcPts val="400"/>
              </a:spcAft>
            </a:pPr>
            <a:r>
              <a:rPr lang="es-PE" sz="1000" b="0" i="0" noProof="0" dirty="0">
                <a:solidFill>
                  <a:srgbClr val="191919"/>
                </a:solidFill>
                <a:latin typeface="Arial"/>
              </a:rPr>
              <a:t>Unión soldada de penetración parcial;
raíz sin fusión en el diámetro interior del tubo</a:t>
            </a:r>
          </a:p>
        </p:txBody>
      </p:sp>
      <p:sp>
        <p:nvSpPr>
          <p:cNvPr id="12" name="TextBox 11"/>
          <p:cNvSpPr txBox="1"/>
          <p:nvPr/>
        </p:nvSpPr>
        <p:spPr>
          <a:xfrm>
            <a:off x="9144000" y="2048256"/>
            <a:ext cx="1975104" cy="305468"/>
          </a:xfrm>
          <a:prstGeom prst="rect">
            <a:avLst/>
          </a:prstGeom>
          <a:noFill/>
        </p:spPr>
        <p:txBody>
          <a:bodyPr wrap="square" lIns="0" tIns="0" rIns="0" bIns="0" anchor="t">
            <a:spAutoFit/>
          </a:bodyPr>
          <a:lstStyle/>
          <a:p>
            <a:pPr algn="r">
              <a:lnSpc>
                <a:spcPct val="114000"/>
              </a:lnSpc>
              <a:spcBef>
                <a:spcPts val="0"/>
              </a:spcBef>
              <a:spcAft>
                <a:spcPts val="400"/>
              </a:spcAft>
            </a:pPr>
            <a:r>
              <a:rPr lang="es-PE" sz="1900" b="1" i="0" noProof="0" dirty="0">
                <a:solidFill>
                  <a:srgbClr val="C3094A"/>
                </a:solidFill>
                <a:latin typeface="Arial"/>
              </a:rPr>
              <a:t>FS = 0,31</a:t>
            </a:r>
          </a:p>
        </p:txBody>
      </p:sp>
      <p:sp>
        <p:nvSpPr>
          <p:cNvPr id="13" name="Rectangle 12"/>
          <p:cNvSpPr/>
          <p:nvPr/>
        </p:nvSpPr>
        <p:spPr>
          <a:xfrm>
            <a:off x="6548896" y="3255264"/>
            <a:ext cx="4807951" cy="1353312"/>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4" name="Rectangle 13"/>
          <p:cNvSpPr/>
          <p:nvPr/>
        </p:nvSpPr>
        <p:spPr>
          <a:xfrm>
            <a:off x="6566109" y="3255264"/>
            <a:ext cx="45720" cy="1353312"/>
          </a:xfrm>
          <a:prstGeom prst="rect">
            <a:avLst/>
          </a:prstGeom>
          <a:solidFill>
            <a:srgbClr val="2841D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5" name="TextBox 14"/>
          <p:cNvSpPr txBox="1"/>
          <p:nvPr/>
        </p:nvSpPr>
        <p:spPr>
          <a:xfrm>
            <a:off x="6786641" y="3328265"/>
            <a:ext cx="4069080" cy="671530"/>
          </a:xfrm>
          <a:prstGeom prst="rect">
            <a:avLst/>
          </a:prstGeom>
          <a:noFill/>
        </p:spPr>
        <p:txBody>
          <a:bodyPr wrap="square" lIns="0" tIns="0" rIns="0" bIns="0" anchor="t">
            <a:spAutoFit/>
          </a:bodyPr>
          <a:lstStyle/>
          <a:p>
            <a:pPr algn="l">
              <a:lnSpc>
                <a:spcPct val="114000"/>
              </a:lnSpc>
              <a:spcBef>
                <a:spcPts val="0"/>
              </a:spcBef>
              <a:spcAft>
                <a:spcPts val="300"/>
              </a:spcAft>
            </a:pPr>
            <a:r>
              <a:rPr lang="es-PE" sz="1400" b="1" i="0" noProof="0" dirty="0">
                <a:solidFill>
                  <a:srgbClr val="2841DD"/>
                </a:solidFill>
                <a:latin typeface="Arial"/>
              </a:rPr>
              <a:t>Componente mejorado</a:t>
            </a:r>
          </a:p>
          <a:p>
            <a:pPr algn="l">
              <a:lnSpc>
                <a:spcPct val="114000"/>
              </a:lnSpc>
              <a:spcBef>
                <a:spcPts val="0"/>
              </a:spcBef>
              <a:spcAft>
                <a:spcPts val="400"/>
              </a:spcAft>
            </a:pPr>
            <a:r>
              <a:rPr lang="es-PE" sz="1000" b="0" i="0" noProof="0" dirty="0">
                <a:solidFill>
                  <a:srgbClr val="191919"/>
                </a:solidFill>
                <a:latin typeface="Arial"/>
              </a:rPr>
              <a:t>Penetración completa sobre sección resistente
mayor; sin cambio de material</a:t>
            </a:r>
          </a:p>
        </p:txBody>
      </p:sp>
      <p:sp>
        <p:nvSpPr>
          <p:cNvPr id="16" name="TextBox 15"/>
          <p:cNvSpPr txBox="1"/>
          <p:nvPr/>
        </p:nvSpPr>
        <p:spPr>
          <a:xfrm>
            <a:off x="9144000" y="3511296"/>
            <a:ext cx="1975104" cy="305468"/>
          </a:xfrm>
          <a:prstGeom prst="rect">
            <a:avLst/>
          </a:prstGeom>
          <a:noFill/>
        </p:spPr>
        <p:txBody>
          <a:bodyPr wrap="square" lIns="0" tIns="0" rIns="0" bIns="0" anchor="t">
            <a:spAutoFit/>
          </a:bodyPr>
          <a:lstStyle/>
          <a:p>
            <a:pPr algn="r">
              <a:lnSpc>
                <a:spcPct val="114000"/>
              </a:lnSpc>
              <a:spcBef>
                <a:spcPts val="0"/>
              </a:spcBef>
              <a:spcAft>
                <a:spcPts val="400"/>
              </a:spcAft>
            </a:pPr>
            <a:r>
              <a:rPr lang="es-PE" sz="1900" b="1" i="0" noProof="0" dirty="0">
                <a:solidFill>
                  <a:srgbClr val="2841DD"/>
                </a:solidFill>
                <a:latin typeface="Arial"/>
              </a:rPr>
              <a:t>FS = 2,23</a:t>
            </a:r>
          </a:p>
        </p:txBody>
      </p:sp>
      <p:sp>
        <p:nvSpPr>
          <p:cNvPr id="17" name="Rectangle 16"/>
          <p:cNvSpPr/>
          <p:nvPr/>
        </p:nvSpPr>
        <p:spPr>
          <a:xfrm>
            <a:off x="6561984" y="4718304"/>
            <a:ext cx="4794863" cy="91440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8" name="TextBox 17"/>
          <p:cNvSpPr txBox="1"/>
          <p:nvPr/>
        </p:nvSpPr>
        <p:spPr>
          <a:xfrm>
            <a:off x="6641231" y="4864608"/>
            <a:ext cx="4709521" cy="755913"/>
          </a:xfrm>
          <a:prstGeom prst="rect">
            <a:avLst/>
          </a:prstGeom>
          <a:noFill/>
        </p:spPr>
        <p:txBody>
          <a:bodyPr wrap="square" lIns="0" tIns="0" rIns="0" bIns="0" anchor="t">
            <a:spAutoFit/>
          </a:bodyPr>
          <a:lstStyle/>
          <a:p>
            <a:pPr algn="l">
              <a:lnSpc>
                <a:spcPct val="114000"/>
              </a:lnSpc>
              <a:spcBef>
                <a:spcPts val="0"/>
              </a:spcBef>
              <a:spcAft>
                <a:spcPts val="400"/>
              </a:spcAft>
            </a:pPr>
            <a:r>
              <a:rPr lang="es-PE" sz="1100" b="1" i="0" noProof="0" dirty="0">
                <a:solidFill>
                  <a:srgbClr val="C3094A"/>
                </a:solidFill>
                <a:latin typeface="Arial"/>
              </a:rPr>
              <a:t>Una mejora OEM adoptada, no un desarrollo propio</a:t>
            </a:r>
          </a:p>
          <a:p>
            <a:pPr algn="l">
              <a:lnSpc>
                <a:spcPct val="114000"/>
              </a:lnSpc>
              <a:spcBef>
                <a:spcPts val="0"/>
              </a:spcBef>
              <a:spcAft>
                <a:spcPts val="400"/>
              </a:spcAft>
            </a:pPr>
            <a:r>
              <a:rPr lang="es-PE" sz="1000" b="0" i="0" noProof="0" dirty="0">
                <a:solidFill>
                  <a:srgbClr val="191919"/>
                </a:solidFill>
                <a:latin typeface="Arial"/>
              </a:rPr>
              <a:t>La recomendación de modificar el proceso de soldadura y eliminar el concentrador surgió de los propios AFA. La casa matriz adoptó la mejora y esta operación fue la primera en implementarla, en 2025.</a:t>
            </a:r>
          </a:p>
        </p:txBody>
      </p:sp>
      <p:pic>
        <p:nvPicPr>
          <p:cNvPr id="19" name="Imagen 18">
            <a:extLst>
              <a:ext uri="{FF2B5EF4-FFF2-40B4-BE49-F238E27FC236}">
                <a16:creationId xmlns:a16="http://schemas.microsoft.com/office/drawing/2014/main" id="{96A3C54D-2A70-4746-BEA4-6D4F03EB5F6D}"/>
              </a:ext>
            </a:extLst>
          </p:cNvPr>
          <p:cNvPicPr>
            <a:picLocks noChangeAspect="1"/>
          </p:cNvPicPr>
          <p:nvPr/>
        </p:nvPicPr>
        <p:blipFill>
          <a:blip r:embed="rId2"/>
          <a:stretch>
            <a:fillRect/>
          </a:stretch>
        </p:blipFill>
        <p:spPr>
          <a:xfrm>
            <a:off x="158617" y="5943600"/>
            <a:ext cx="5620013" cy="550672"/>
          </a:xfrm>
          <a:prstGeom prst="rect">
            <a:avLst/>
          </a:prstGeom>
        </p:spPr>
      </p:pic>
      <p:pic>
        <p:nvPicPr>
          <p:cNvPr id="6" name="Picture 5" descr="union_soldada.png"/>
          <p:cNvPicPr>
            <a:picLocks noChangeAspect="1"/>
          </p:cNvPicPr>
          <p:nvPr/>
        </p:nvPicPr>
        <p:blipFill>
          <a:blip r:embed="rId3"/>
          <a:stretch>
            <a:fillRect/>
          </a:stretch>
        </p:blipFill>
        <p:spPr>
          <a:xfrm>
            <a:off x="398083" y="1351293"/>
            <a:ext cx="6074433" cy="533554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PE" sz="2200" b="1" i="0" noProof="0" dirty="0">
                <a:solidFill>
                  <a:srgbClr val="042354"/>
                </a:solidFill>
                <a:latin typeface="Arial"/>
              </a:rPr>
              <a:t>Implementación</a:t>
            </a: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PE" sz="1100" b="1" i="0" noProof="0" dirty="0">
                <a:solidFill>
                  <a:srgbClr val="FFFFFF"/>
                </a:solidFill>
                <a:latin typeface="Arial"/>
              </a:rPr>
              <a:t>20</a:t>
            </a:r>
          </a:p>
        </p:txBody>
      </p:sp>
      <p:sp>
        <p:nvSpPr>
          <p:cNvPr id="6" name="Rectangle 5"/>
          <p:cNvSpPr/>
          <p:nvPr/>
        </p:nvSpPr>
        <p:spPr>
          <a:xfrm>
            <a:off x="841248" y="1463040"/>
            <a:ext cx="3334512" cy="22128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7" name="Rectangle 6"/>
          <p:cNvSpPr/>
          <p:nvPr/>
        </p:nvSpPr>
        <p:spPr>
          <a:xfrm>
            <a:off x="841248" y="1463040"/>
            <a:ext cx="3334512" cy="45720"/>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8" name="TextBox 7"/>
          <p:cNvSpPr txBox="1"/>
          <p:nvPr/>
        </p:nvSpPr>
        <p:spPr>
          <a:xfrm>
            <a:off x="1060704" y="1664208"/>
            <a:ext cx="2895600" cy="1883664"/>
          </a:xfrm>
          <a:prstGeom prst="rect">
            <a:avLst/>
          </a:prstGeom>
          <a:noFill/>
        </p:spPr>
        <p:txBody>
          <a:bodyPr wrap="square" lIns="0" tIns="0" rIns="0" bIns="0" anchor="t">
            <a:spAutoFit/>
          </a:bodyPr>
          <a:lstStyle/>
          <a:p>
            <a:pPr algn="l">
              <a:lnSpc>
                <a:spcPct val="95000"/>
              </a:lnSpc>
              <a:spcBef>
                <a:spcPts val="0"/>
              </a:spcBef>
              <a:spcAft>
                <a:spcPts val="700"/>
              </a:spcAft>
            </a:pPr>
            <a:r>
              <a:rPr lang="es-PE" sz="2500" b="1" i="0" noProof="0" dirty="0">
                <a:solidFill>
                  <a:srgbClr val="C3094A"/>
                </a:solidFill>
                <a:latin typeface="Arial"/>
              </a:rPr>
              <a:t>01</a:t>
            </a:r>
          </a:p>
          <a:p>
            <a:pPr algn="l">
              <a:lnSpc>
                <a:spcPct val="110000"/>
              </a:lnSpc>
              <a:spcBef>
                <a:spcPts val="0"/>
              </a:spcBef>
              <a:spcAft>
                <a:spcPts val="700"/>
              </a:spcAft>
            </a:pPr>
            <a:r>
              <a:rPr lang="es-PE" sz="1250" b="1" i="0" noProof="0" dirty="0">
                <a:solidFill>
                  <a:srgbClr val="042354"/>
                </a:solidFill>
                <a:latin typeface="Arial"/>
              </a:rPr>
              <a:t>Priorización por horómetro y riesgo</a:t>
            </a:r>
          </a:p>
          <a:p>
            <a:pPr algn="l">
              <a:lnSpc>
                <a:spcPct val="116000"/>
              </a:lnSpc>
              <a:spcBef>
                <a:spcPts val="0"/>
              </a:spcBef>
              <a:spcAft>
                <a:spcPts val="400"/>
              </a:spcAft>
            </a:pPr>
            <a:r>
              <a:rPr lang="es-PE" sz="1000" b="0" i="0" noProof="0" dirty="0">
                <a:solidFill>
                  <a:srgbClr val="4A5568"/>
                </a:solidFill>
                <a:latin typeface="Arial"/>
              </a:rPr>
              <a:t>Las posiciones con mayor vida acumulada del componente se atendieron primero, por ser las más próximas al rango de vidas en el que se concentraban las fracturas.</a:t>
            </a:r>
          </a:p>
        </p:txBody>
      </p:sp>
      <p:sp>
        <p:nvSpPr>
          <p:cNvPr id="9" name="Rectangle 8"/>
          <p:cNvSpPr/>
          <p:nvPr/>
        </p:nvSpPr>
        <p:spPr>
          <a:xfrm>
            <a:off x="4431792" y="1463040"/>
            <a:ext cx="3334512" cy="22128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0" name="Rectangle 9"/>
          <p:cNvSpPr/>
          <p:nvPr/>
        </p:nvSpPr>
        <p:spPr>
          <a:xfrm>
            <a:off x="4431792" y="1463040"/>
            <a:ext cx="3334512" cy="45720"/>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1" name="TextBox 10"/>
          <p:cNvSpPr txBox="1"/>
          <p:nvPr/>
        </p:nvSpPr>
        <p:spPr>
          <a:xfrm>
            <a:off x="4651248" y="1664208"/>
            <a:ext cx="2895600" cy="1883664"/>
          </a:xfrm>
          <a:prstGeom prst="rect">
            <a:avLst/>
          </a:prstGeom>
          <a:noFill/>
        </p:spPr>
        <p:txBody>
          <a:bodyPr wrap="square" lIns="0" tIns="0" rIns="0" bIns="0" anchor="t">
            <a:spAutoFit/>
          </a:bodyPr>
          <a:lstStyle/>
          <a:p>
            <a:pPr algn="l">
              <a:lnSpc>
                <a:spcPct val="95000"/>
              </a:lnSpc>
              <a:spcBef>
                <a:spcPts val="0"/>
              </a:spcBef>
              <a:spcAft>
                <a:spcPts val="700"/>
              </a:spcAft>
            </a:pPr>
            <a:r>
              <a:rPr lang="es-PE" sz="2500" b="1" i="0" noProof="0" dirty="0">
                <a:solidFill>
                  <a:srgbClr val="C3094A"/>
                </a:solidFill>
                <a:latin typeface="Arial"/>
              </a:rPr>
              <a:t>02</a:t>
            </a:r>
          </a:p>
          <a:p>
            <a:pPr algn="l">
              <a:lnSpc>
                <a:spcPct val="110000"/>
              </a:lnSpc>
              <a:spcBef>
                <a:spcPts val="0"/>
              </a:spcBef>
              <a:spcAft>
                <a:spcPts val="700"/>
              </a:spcAft>
            </a:pPr>
            <a:r>
              <a:rPr lang="es-PE" sz="1250" b="1" i="0" noProof="0" dirty="0">
                <a:solidFill>
                  <a:srgbClr val="042354"/>
                </a:solidFill>
                <a:latin typeface="Arial"/>
              </a:rPr>
              <a:t>Ejecución por sustitución del conjunto</a:t>
            </a:r>
          </a:p>
          <a:p>
            <a:pPr algn="l">
              <a:lnSpc>
                <a:spcPct val="116000"/>
              </a:lnSpc>
              <a:spcBef>
                <a:spcPts val="0"/>
              </a:spcBef>
              <a:spcAft>
                <a:spcPts val="400"/>
              </a:spcAft>
            </a:pPr>
            <a:r>
              <a:rPr lang="es-PE" sz="1000" b="0" i="0" noProof="0" dirty="0">
                <a:solidFill>
                  <a:srgbClr val="4A5568"/>
                </a:solidFill>
                <a:latin typeface="Arial"/>
              </a:rPr>
              <a:t>El cambio no se realiza sobre el eje instalado, sino mediante el reemplazo del motor de tracción por uno de intercambio que incorpora el número de parte mejorado.</a:t>
            </a:r>
          </a:p>
        </p:txBody>
      </p:sp>
      <p:sp>
        <p:nvSpPr>
          <p:cNvPr id="12" name="Rectangle 11"/>
          <p:cNvSpPr/>
          <p:nvPr/>
        </p:nvSpPr>
        <p:spPr>
          <a:xfrm>
            <a:off x="8022336" y="1463040"/>
            <a:ext cx="3334512" cy="22128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3" name="Rectangle 12"/>
          <p:cNvSpPr/>
          <p:nvPr/>
        </p:nvSpPr>
        <p:spPr>
          <a:xfrm>
            <a:off x="8022336" y="1463040"/>
            <a:ext cx="3334512" cy="45720"/>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4" name="TextBox 13"/>
          <p:cNvSpPr txBox="1"/>
          <p:nvPr/>
        </p:nvSpPr>
        <p:spPr>
          <a:xfrm>
            <a:off x="8241792" y="1664208"/>
            <a:ext cx="2895600" cy="1883664"/>
          </a:xfrm>
          <a:prstGeom prst="rect">
            <a:avLst/>
          </a:prstGeom>
          <a:noFill/>
        </p:spPr>
        <p:txBody>
          <a:bodyPr wrap="square" lIns="0" tIns="0" rIns="0" bIns="0" anchor="t">
            <a:spAutoFit/>
          </a:bodyPr>
          <a:lstStyle/>
          <a:p>
            <a:pPr algn="l">
              <a:lnSpc>
                <a:spcPct val="95000"/>
              </a:lnSpc>
              <a:spcBef>
                <a:spcPts val="0"/>
              </a:spcBef>
              <a:spcAft>
                <a:spcPts val="700"/>
              </a:spcAft>
            </a:pPr>
            <a:r>
              <a:rPr lang="es-PE" sz="2500" b="1" i="0" noProof="0" dirty="0">
                <a:solidFill>
                  <a:srgbClr val="C3094A"/>
                </a:solidFill>
                <a:latin typeface="Arial"/>
              </a:rPr>
              <a:t>03</a:t>
            </a:r>
          </a:p>
          <a:p>
            <a:pPr algn="l">
              <a:lnSpc>
                <a:spcPct val="110000"/>
              </a:lnSpc>
              <a:spcBef>
                <a:spcPts val="0"/>
              </a:spcBef>
              <a:spcAft>
                <a:spcPts val="700"/>
              </a:spcAft>
            </a:pPr>
            <a:r>
              <a:rPr lang="es-PE" sz="1250" b="1" i="0" noProof="0" dirty="0">
                <a:solidFill>
                  <a:srgbClr val="042354"/>
                </a:solidFill>
                <a:latin typeface="Arial"/>
              </a:rPr>
              <a:t>Control de la mejora instalada</a:t>
            </a:r>
          </a:p>
          <a:p>
            <a:pPr algn="l">
              <a:lnSpc>
                <a:spcPct val="116000"/>
              </a:lnSpc>
              <a:spcBef>
                <a:spcPts val="0"/>
              </a:spcBef>
              <a:spcAft>
                <a:spcPts val="400"/>
              </a:spcAft>
            </a:pPr>
            <a:r>
              <a:rPr lang="es-PE" sz="1000" b="0" i="0" noProof="0" dirty="0">
                <a:solidFill>
                  <a:srgbClr val="4A5568"/>
                </a:solidFill>
                <a:latin typeface="Arial"/>
              </a:rPr>
              <a:t>Se registra para cada posición el número de parte montado y la fecha de instalación, lo que impide la reposición del número de parte obsoleto.</a:t>
            </a:r>
          </a:p>
        </p:txBody>
      </p:sp>
      <p:sp>
        <p:nvSpPr>
          <p:cNvPr id="15" name="Rectangle 14"/>
          <p:cNvSpPr/>
          <p:nvPr/>
        </p:nvSpPr>
        <p:spPr>
          <a:xfrm>
            <a:off x="841248" y="3877056"/>
            <a:ext cx="10515600" cy="969264"/>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6" name="Rectangle 15"/>
          <p:cNvSpPr/>
          <p:nvPr/>
        </p:nvSpPr>
        <p:spPr>
          <a:xfrm>
            <a:off x="841248" y="3877056"/>
            <a:ext cx="45720" cy="969264"/>
          </a:xfrm>
          <a:prstGeom prst="rect">
            <a:avLst/>
          </a:prstGeom>
          <a:solidFill>
            <a:srgbClr val="2841D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7" name="TextBox 16"/>
          <p:cNvSpPr txBox="1"/>
          <p:nvPr/>
        </p:nvSpPr>
        <p:spPr>
          <a:xfrm>
            <a:off x="1078992" y="4005072"/>
            <a:ext cx="10040112" cy="749808"/>
          </a:xfrm>
          <a:prstGeom prst="rect">
            <a:avLst/>
          </a:prstGeom>
          <a:noFill/>
        </p:spPr>
        <p:txBody>
          <a:bodyPr wrap="square" lIns="0" tIns="0" rIns="0" bIns="0" anchor="t">
            <a:spAutoFit/>
          </a:bodyPr>
          <a:lstStyle/>
          <a:p>
            <a:pPr algn="l">
              <a:lnSpc>
                <a:spcPct val="114000"/>
              </a:lnSpc>
              <a:spcBef>
                <a:spcPts val="0"/>
              </a:spcBef>
              <a:spcAft>
                <a:spcPts val="500"/>
              </a:spcAft>
            </a:pPr>
            <a:r>
              <a:rPr lang="es-PE" sz="1200" b="1" i="0" noProof="0" dirty="0">
                <a:solidFill>
                  <a:srgbClr val="2841DD"/>
                </a:solidFill>
                <a:latin typeface="Arial"/>
              </a:rPr>
              <a:t>Validación previa con el equipo técnico</a:t>
            </a:r>
          </a:p>
          <a:p>
            <a:pPr algn="l">
              <a:lnSpc>
                <a:spcPct val="116000"/>
              </a:lnSpc>
              <a:spcBef>
                <a:spcPts val="0"/>
              </a:spcBef>
              <a:spcAft>
                <a:spcPts val="400"/>
              </a:spcAft>
            </a:pPr>
            <a:r>
              <a:rPr lang="es-PE" sz="1000" b="0" i="0" noProof="0" dirty="0">
                <a:solidFill>
                  <a:srgbClr val="191919"/>
                </a:solidFill>
                <a:latin typeface="Arial"/>
              </a:rPr>
              <a:t>Con las áreas de confiabilidad, planeamiento y ejecución de mantenimiento, y con el personal de operación: consistencia del diagrama de posibles causas con la experiencia de campo, verificación de que ninguna posible causa relevante quedara sin contrastar y revisión de la evidencia cuantitativa.</a:t>
            </a:r>
          </a:p>
        </p:txBody>
      </p:sp>
      <p:sp>
        <p:nvSpPr>
          <p:cNvPr id="18" name="Rectangle 17"/>
          <p:cNvSpPr/>
          <p:nvPr/>
        </p:nvSpPr>
        <p:spPr>
          <a:xfrm>
            <a:off x="841248" y="5175504"/>
            <a:ext cx="45720" cy="457200"/>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9" name="TextBox 18"/>
          <p:cNvSpPr txBox="1"/>
          <p:nvPr/>
        </p:nvSpPr>
        <p:spPr>
          <a:xfrm>
            <a:off x="1024128" y="5157216"/>
            <a:ext cx="10277856" cy="493776"/>
          </a:xfrm>
          <a:prstGeom prst="rect">
            <a:avLst/>
          </a:prstGeom>
          <a:noFill/>
        </p:spPr>
        <p:txBody>
          <a:bodyPr wrap="square" lIns="0" tIns="0" rIns="0" bIns="0" anchor="t">
            <a:spAutoFit/>
          </a:bodyPr>
          <a:lstStyle/>
          <a:p>
            <a:pPr algn="l">
              <a:lnSpc>
                <a:spcPct val="114000"/>
              </a:lnSpc>
              <a:spcBef>
                <a:spcPts val="0"/>
              </a:spcBef>
              <a:spcAft>
                <a:spcPts val="400"/>
              </a:spcAft>
            </a:pPr>
            <a:r>
              <a:rPr lang="es-PE" sz="1150" b="1" i="0" noProof="0" dirty="0">
                <a:solidFill>
                  <a:srgbClr val="042354"/>
                </a:solidFill>
                <a:latin typeface="Arial"/>
              </a:rPr>
              <a:t>El tercer mecanismo responde de forma directa a la causa latente identificada: impide que el hallazgo técnico vuelva a perderse en la reposición del componente.</a:t>
            </a:r>
          </a:p>
        </p:txBody>
      </p:sp>
      <p:pic>
        <p:nvPicPr>
          <p:cNvPr id="20" name="Imagen 19">
            <a:extLst>
              <a:ext uri="{FF2B5EF4-FFF2-40B4-BE49-F238E27FC236}">
                <a16:creationId xmlns:a16="http://schemas.microsoft.com/office/drawing/2014/main" id="{6FA52F15-73FA-258F-A140-33DAACE60688}"/>
              </a:ext>
            </a:extLst>
          </p:cNvPr>
          <p:cNvPicPr>
            <a:picLocks noChangeAspect="1"/>
          </p:cNvPicPr>
          <p:nvPr/>
        </p:nvPicPr>
        <p:blipFill>
          <a:blip r:embed="rId2"/>
          <a:stretch>
            <a:fillRect/>
          </a:stretch>
        </p:blipFill>
        <p:spPr>
          <a:xfrm>
            <a:off x="158617" y="5943600"/>
            <a:ext cx="5620013" cy="55067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PE" sz="2200" b="1" i="0" noProof="0" dirty="0">
                <a:solidFill>
                  <a:srgbClr val="042354"/>
                </a:solidFill>
                <a:latin typeface="Arial"/>
              </a:rPr>
              <a:t>Verificación en el nivel del componente: no recurrencia</a:t>
            </a: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PE" sz="1100" b="1" i="0" noProof="0" dirty="0">
                <a:solidFill>
                  <a:srgbClr val="FFFFFF"/>
                </a:solidFill>
                <a:latin typeface="Arial"/>
              </a:rPr>
              <a:t>21</a:t>
            </a:r>
          </a:p>
        </p:txBody>
      </p:sp>
      <p:pic>
        <p:nvPicPr>
          <p:cNvPr id="6" name="Picture 5" descr="pu_g4_norecurrencia.png"/>
          <p:cNvPicPr>
            <a:picLocks noChangeAspect="1"/>
          </p:cNvPicPr>
          <p:nvPr/>
        </p:nvPicPr>
        <p:blipFill>
          <a:blip r:embed="rId2"/>
          <a:stretch>
            <a:fillRect/>
          </a:stretch>
        </p:blipFill>
        <p:spPr>
          <a:xfrm>
            <a:off x="1225700" y="1426464"/>
            <a:ext cx="6015943" cy="3401568"/>
          </a:xfrm>
          <a:prstGeom prst="rect">
            <a:avLst/>
          </a:prstGeom>
        </p:spPr>
      </p:pic>
      <p:sp>
        <p:nvSpPr>
          <p:cNvPr id="7" name="TextBox 6"/>
          <p:cNvSpPr txBox="1"/>
          <p:nvPr/>
        </p:nvSpPr>
        <p:spPr>
          <a:xfrm>
            <a:off x="7178040" y="1517904"/>
            <a:ext cx="4178808" cy="274320"/>
          </a:xfrm>
          <a:prstGeom prst="rect">
            <a:avLst/>
          </a:prstGeom>
          <a:noFill/>
        </p:spPr>
        <p:txBody>
          <a:bodyPr wrap="square" lIns="0" tIns="0" rIns="0" bIns="0" anchor="t">
            <a:spAutoFit/>
          </a:bodyPr>
          <a:lstStyle/>
          <a:p>
            <a:pPr algn="l">
              <a:lnSpc>
                <a:spcPct val="114000"/>
              </a:lnSpc>
              <a:spcBef>
                <a:spcPts val="0"/>
              </a:spcBef>
              <a:spcAft>
                <a:spcPts val="400"/>
              </a:spcAft>
            </a:pPr>
            <a:r>
              <a:rPr lang="es-PE" sz="950" b="1" i="0" noProof="0" dirty="0">
                <a:solidFill>
                  <a:srgbClr val="4A5568"/>
                </a:solidFill>
                <a:latin typeface="Arial"/>
              </a:rPr>
              <a:t>CRITERIO DE VERIFICACIÓN</a:t>
            </a:r>
          </a:p>
        </p:txBody>
      </p:sp>
      <p:sp>
        <p:nvSpPr>
          <p:cNvPr id="8" name="Rectangle 7"/>
          <p:cNvSpPr/>
          <p:nvPr/>
        </p:nvSpPr>
        <p:spPr>
          <a:xfrm>
            <a:off x="7178040" y="1810512"/>
            <a:ext cx="4178808" cy="896112"/>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9" name="Rectangle 8"/>
          <p:cNvSpPr/>
          <p:nvPr/>
        </p:nvSpPr>
        <p:spPr>
          <a:xfrm>
            <a:off x="7178040" y="1810512"/>
            <a:ext cx="4178808" cy="41148"/>
          </a:xfrm>
          <a:prstGeom prst="rect">
            <a:avLst/>
          </a:prstGeom>
          <a:solidFill>
            <a:srgbClr val="2841D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0" name="TextBox 9"/>
          <p:cNvSpPr txBox="1"/>
          <p:nvPr/>
        </p:nvSpPr>
        <p:spPr>
          <a:xfrm>
            <a:off x="7342631" y="1938528"/>
            <a:ext cx="3849624" cy="640080"/>
          </a:xfrm>
          <a:prstGeom prst="rect">
            <a:avLst/>
          </a:prstGeom>
          <a:noFill/>
        </p:spPr>
        <p:txBody>
          <a:bodyPr wrap="square" lIns="0" tIns="0" rIns="0" bIns="0" anchor="ctr">
            <a:spAutoFit/>
          </a:bodyPr>
          <a:lstStyle/>
          <a:p>
            <a:pPr algn="l">
              <a:lnSpc>
                <a:spcPct val="95000"/>
              </a:lnSpc>
              <a:spcBef>
                <a:spcPts val="0"/>
              </a:spcBef>
              <a:spcAft>
                <a:spcPts val="300"/>
              </a:spcAft>
            </a:pPr>
            <a:r>
              <a:rPr lang="es-PE" sz="2200" b="1" i="0" noProof="0" dirty="0">
                <a:solidFill>
                  <a:srgbClr val="2841DD"/>
                </a:solidFill>
                <a:latin typeface="Arial"/>
              </a:rPr>
              <a:t>96 000 h</a:t>
            </a:r>
          </a:p>
          <a:p>
            <a:pPr algn="l">
              <a:lnSpc>
                <a:spcPct val="108000"/>
              </a:lnSpc>
              <a:spcBef>
                <a:spcPts val="0"/>
              </a:spcBef>
              <a:spcAft>
                <a:spcPts val="0"/>
              </a:spcAft>
            </a:pPr>
            <a:r>
              <a:rPr lang="es-PE" sz="950" b="0" i="0" noProof="0" dirty="0">
                <a:solidFill>
                  <a:srgbClr val="4A5568"/>
                </a:solidFill>
                <a:latin typeface="Arial"/>
              </a:rPr>
              <a:t>de operación de flota acumuladas con el P/N mejorado</a:t>
            </a:r>
          </a:p>
        </p:txBody>
      </p:sp>
      <p:sp>
        <p:nvSpPr>
          <p:cNvPr id="11" name="Rectangle 10"/>
          <p:cNvSpPr/>
          <p:nvPr/>
        </p:nvSpPr>
        <p:spPr>
          <a:xfrm>
            <a:off x="7178040" y="2798064"/>
            <a:ext cx="4178808" cy="896112"/>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2" name="Rectangle 11"/>
          <p:cNvSpPr/>
          <p:nvPr/>
        </p:nvSpPr>
        <p:spPr>
          <a:xfrm>
            <a:off x="7178040" y="2798064"/>
            <a:ext cx="4178808" cy="41148"/>
          </a:xfrm>
          <a:prstGeom prst="rect">
            <a:avLst/>
          </a:prstGeom>
          <a:solidFill>
            <a:srgbClr val="2841D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3" name="TextBox 12"/>
          <p:cNvSpPr txBox="1"/>
          <p:nvPr/>
        </p:nvSpPr>
        <p:spPr>
          <a:xfrm>
            <a:off x="7342631" y="2926080"/>
            <a:ext cx="3849624" cy="640080"/>
          </a:xfrm>
          <a:prstGeom prst="rect">
            <a:avLst/>
          </a:prstGeom>
          <a:noFill/>
        </p:spPr>
        <p:txBody>
          <a:bodyPr wrap="square" lIns="0" tIns="0" rIns="0" bIns="0" anchor="ctr">
            <a:spAutoFit/>
          </a:bodyPr>
          <a:lstStyle/>
          <a:p>
            <a:pPr algn="l">
              <a:lnSpc>
                <a:spcPct val="95000"/>
              </a:lnSpc>
              <a:spcBef>
                <a:spcPts val="0"/>
              </a:spcBef>
              <a:spcAft>
                <a:spcPts val="300"/>
              </a:spcAft>
            </a:pPr>
            <a:r>
              <a:rPr lang="es-PE" sz="2600" b="1" i="0" noProof="0" dirty="0">
                <a:solidFill>
                  <a:srgbClr val="2841DD"/>
                </a:solidFill>
                <a:latin typeface="Arial"/>
              </a:rPr>
              <a:t>0</a:t>
            </a:r>
          </a:p>
          <a:p>
            <a:pPr algn="l">
              <a:lnSpc>
                <a:spcPct val="108000"/>
              </a:lnSpc>
              <a:spcBef>
                <a:spcPts val="0"/>
              </a:spcBef>
              <a:spcAft>
                <a:spcPts val="0"/>
              </a:spcAft>
            </a:pPr>
            <a:r>
              <a:rPr lang="es-PE" sz="950" b="0" i="0" noProof="0" dirty="0">
                <a:solidFill>
                  <a:srgbClr val="4A5568"/>
                </a:solidFill>
                <a:latin typeface="Arial"/>
              </a:rPr>
              <a:t>fracturas del eje palier desde el 14 de diciembre de 2024</a:t>
            </a:r>
          </a:p>
        </p:txBody>
      </p:sp>
      <p:sp>
        <p:nvSpPr>
          <p:cNvPr id="14" name="Rectangle 13"/>
          <p:cNvSpPr/>
          <p:nvPr/>
        </p:nvSpPr>
        <p:spPr>
          <a:xfrm>
            <a:off x="7178040" y="3785615"/>
            <a:ext cx="4178808" cy="896112"/>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5" name="Rectangle 14"/>
          <p:cNvSpPr/>
          <p:nvPr/>
        </p:nvSpPr>
        <p:spPr>
          <a:xfrm>
            <a:off x="7178040" y="3785615"/>
            <a:ext cx="4178808" cy="41148"/>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6" name="TextBox 15"/>
          <p:cNvSpPr txBox="1"/>
          <p:nvPr/>
        </p:nvSpPr>
        <p:spPr>
          <a:xfrm>
            <a:off x="7342631" y="3913631"/>
            <a:ext cx="3849624" cy="640080"/>
          </a:xfrm>
          <a:prstGeom prst="rect">
            <a:avLst/>
          </a:prstGeom>
          <a:noFill/>
        </p:spPr>
        <p:txBody>
          <a:bodyPr wrap="square" lIns="0" tIns="0" rIns="0" bIns="0" anchor="ctr">
            <a:spAutoFit/>
          </a:bodyPr>
          <a:lstStyle/>
          <a:p>
            <a:pPr algn="l">
              <a:lnSpc>
                <a:spcPct val="95000"/>
              </a:lnSpc>
              <a:spcBef>
                <a:spcPts val="0"/>
              </a:spcBef>
              <a:spcAft>
                <a:spcPts val="300"/>
              </a:spcAft>
            </a:pPr>
            <a:r>
              <a:rPr lang="es-PE" sz="2000" b="1" i="0" noProof="0" dirty="0">
                <a:solidFill>
                  <a:srgbClr val="C3094A"/>
                </a:solidFill>
                <a:latin typeface="Arial"/>
              </a:rPr>
              <a:t>p = 0,0018</a:t>
            </a:r>
          </a:p>
          <a:p>
            <a:pPr algn="l">
              <a:lnSpc>
                <a:spcPct val="108000"/>
              </a:lnSpc>
              <a:spcBef>
                <a:spcPts val="0"/>
              </a:spcBef>
              <a:spcAft>
                <a:spcPts val="0"/>
              </a:spcAft>
            </a:pPr>
            <a:r>
              <a:rPr lang="es-PE" sz="950" b="0" i="0" noProof="0" dirty="0">
                <a:solidFill>
                  <a:srgbClr val="4A5568"/>
                </a:solidFill>
                <a:latin typeface="Arial"/>
              </a:rPr>
              <a:t>probabilidad de observar cero si la tasa previa persistiera</a:t>
            </a:r>
          </a:p>
        </p:txBody>
      </p:sp>
      <p:sp>
        <p:nvSpPr>
          <p:cNvPr id="17" name="TextBox 16"/>
          <p:cNvSpPr txBox="1"/>
          <p:nvPr/>
        </p:nvSpPr>
        <p:spPr>
          <a:xfrm>
            <a:off x="841248" y="4882896"/>
            <a:ext cx="10515600" cy="274320"/>
          </a:xfrm>
          <a:prstGeom prst="rect">
            <a:avLst/>
          </a:prstGeom>
          <a:noFill/>
        </p:spPr>
        <p:txBody>
          <a:bodyPr wrap="square" lIns="0" tIns="0" rIns="0" bIns="0" anchor="t">
            <a:spAutoFit/>
          </a:bodyPr>
          <a:lstStyle/>
          <a:p>
            <a:pPr algn="l">
              <a:lnSpc>
                <a:spcPct val="106000"/>
              </a:lnSpc>
              <a:spcBef>
                <a:spcPts val="0"/>
              </a:spcBef>
              <a:spcAft>
                <a:spcPts val="400"/>
              </a:spcAft>
            </a:pPr>
            <a:r>
              <a:rPr lang="es-PE" sz="900" b="0" i="0" noProof="0" dirty="0">
                <a:solidFill>
                  <a:srgbClr val="7A8494"/>
                </a:solidFill>
                <a:latin typeface="Arial"/>
              </a:rPr>
              <a:t>La verificación permanece abierta hasta que las unidades intervenidas superen las 24 540 horas, el límite superior del rango de vidas observado.</a:t>
            </a:r>
          </a:p>
        </p:txBody>
      </p:sp>
      <p:sp>
        <p:nvSpPr>
          <p:cNvPr id="18" name="Rectangle 17"/>
          <p:cNvSpPr/>
          <p:nvPr/>
        </p:nvSpPr>
        <p:spPr>
          <a:xfrm>
            <a:off x="841248" y="5175504"/>
            <a:ext cx="45720" cy="457200"/>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9" name="TextBox 18"/>
          <p:cNvSpPr txBox="1"/>
          <p:nvPr/>
        </p:nvSpPr>
        <p:spPr>
          <a:xfrm>
            <a:off x="1024128" y="5157216"/>
            <a:ext cx="10277856" cy="493776"/>
          </a:xfrm>
          <a:prstGeom prst="rect">
            <a:avLst/>
          </a:prstGeom>
          <a:noFill/>
        </p:spPr>
        <p:txBody>
          <a:bodyPr wrap="square" lIns="0" tIns="0" rIns="0" bIns="0" anchor="t">
            <a:spAutoFit/>
          </a:bodyPr>
          <a:lstStyle/>
          <a:p>
            <a:pPr algn="l">
              <a:lnSpc>
                <a:spcPct val="114000"/>
              </a:lnSpc>
              <a:spcBef>
                <a:spcPts val="0"/>
              </a:spcBef>
              <a:spcAft>
                <a:spcPts val="400"/>
              </a:spcAft>
            </a:pPr>
            <a:r>
              <a:rPr lang="es-PE" sz="1150" b="1" i="0" noProof="0" dirty="0">
                <a:solidFill>
                  <a:srgbClr val="042354"/>
                </a:solidFill>
                <a:latin typeface="Arial"/>
              </a:rPr>
              <a:t>Se rechaza con 95 % de confianza la hipótesis de que el modo persiste con su frecuencia anterior. El MTBF del modo supera 32 046 h, por encima del TBO de referencia de 20 000 h.</a:t>
            </a:r>
          </a:p>
        </p:txBody>
      </p:sp>
      <p:pic>
        <p:nvPicPr>
          <p:cNvPr id="20" name="Imagen 19">
            <a:extLst>
              <a:ext uri="{FF2B5EF4-FFF2-40B4-BE49-F238E27FC236}">
                <a16:creationId xmlns:a16="http://schemas.microsoft.com/office/drawing/2014/main" id="{D9461018-720B-F8FC-DBE1-205133E6BF15}"/>
              </a:ext>
            </a:extLst>
          </p:cNvPr>
          <p:cNvPicPr>
            <a:picLocks noChangeAspect="1"/>
          </p:cNvPicPr>
          <p:nvPr/>
        </p:nvPicPr>
        <p:blipFill>
          <a:blip r:embed="rId3"/>
          <a:stretch>
            <a:fillRect/>
          </a:stretch>
        </p:blipFill>
        <p:spPr>
          <a:xfrm>
            <a:off x="158617" y="5943600"/>
            <a:ext cx="5620013" cy="550672"/>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PE" sz="2200" b="1" i="0" noProof="0" dirty="0">
                <a:solidFill>
                  <a:srgbClr val="042354"/>
                </a:solidFill>
                <a:latin typeface="Arial"/>
              </a:rPr>
              <a:t>Recuperación de los indicadores del modo de falla</a:t>
            </a: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PE" sz="1100" b="1" i="0" noProof="0" dirty="0">
                <a:solidFill>
                  <a:srgbClr val="FFFFFF"/>
                </a:solidFill>
                <a:latin typeface="Arial"/>
              </a:rPr>
              <a:t>22</a:t>
            </a:r>
          </a:p>
        </p:txBody>
      </p:sp>
      <p:pic>
        <p:nvPicPr>
          <p:cNvPr id="6" name="Picture 5" descr="pu_g5_componente.png"/>
          <p:cNvPicPr>
            <a:picLocks noChangeAspect="1"/>
          </p:cNvPicPr>
          <p:nvPr/>
        </p:nvPicPr>
        <p:blipFill>
          <a:blip r:embed="rId2"/>
          <a:stretch>
            <a:fillRect/>
          </a:stretch>
        </p:blipFill>
        <p:spPr>
          <a:xfrm>
            <a:off x="2055509" y="1481328"/>
            <a:ext cx="8087077" cy="3017520"/>
          </a:xfrm>
          <a:prstGeom prst="rect">
            <a:avLst/>
          </a:prstGeom>
        </p:spPr>
      </p:pic>
      <p:sp>
        <p:nvSpPr>
          <p:cNvPr id="7" name="Rectangle 6"/>
          <p:cNvSpPr/>
          <p:nvPr/>
        </p:nvSpPr>
        <p:spPr>
          <a:xfrm>
            <a:off x="841248" y="4626864"/>
            <a:ext cx="5102352" cy="84124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8" name="Rectangle 7"/>
          <p:cNvSpPr/>
          <p:nvPr/>
        </p:nvSpPr>
        <p:spPr>
          <a:xfrm>
            <a:off x="841248" y="4626864"/>
            <a:ext cx="45720" cy="841248"/>
          </a:xfrm>
          <a:prstGeom prst="rect">
            <a:avLst/>
          </a:prstGeom>
          <a:solidFill>
            <a:srgbClr val="2841D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9" name="TextBox 8"/>
          <p:cNvSpPr txBox="1"/>
          <p:nvPr/>
        </p:nvSpPr>
        <p:spPr>
          <a:xfrm>
            <a:off x="1060704" y="4736592"/>
            <a:ext cx="4681728" cy="640080"/>
          </a:xfrm>
          <a:prstGeom prst="rect">
            <a:avLst/>
          </a:prstGeom>
          <a:noFill/>
        </p:spPr>
        <p:txBody>
          <a:bodyPr wrap="square" lIns="0" tIns="0" rIns="0" bIns="0" anchor="t">
            <a:spAutoFit/>
          </a:bodyPr>
          <a:lstStyle/>
          <a:p>
            <a:pPr algn="l">
              <a:lnSpc>
                <a:spcPct val="114000"/>
              </a:lnSpc>
              <a:spcBef>
                <a:spcPts val="0"/>
              </a:spcBef>
              <a:spcAft>
                <a:spcPts val="400"/>
              </a:spcAft>
            </a:pPr>
            <a:r>
              <a:rPr lang="es-PE" sz="1000" b="1" i="0" noProof="0" dirty="0">
                <a:solidFill>
                  <a:srgbClr val="2841DD"/>
                </a:solidFill>
                <a:latin typeface="Arial"/>
              </a:rPr>
              <a:t>MTBF del modo de falla</a:t>
            </a:r>
          </a:p>
          <a:p>
            <a:pPr algn="l">
              <a:lnSpc>
                <a:spcPct val="114000"/>
              </a:lnSpc>
              <a:spcBef>
                <a:spcPts val="0"/>
              </a:spcBef>
              <a:spcAft>
                <a:spcPts val="400"/>
              </a:spcAft>
            </a:pPr>
            <a:r>
              <a:rPr lang="es-PE" sz="1050" b="0" i="0" noProof="0" dirty="0">
                <a:solidFill>
                  <a:srgbClr val="191919"/>
                </a:solidFill>
                <a:latin typeface="Arial"/>
              </a:rPr>
              <a:t>De 15 231 h a más de 32 046 h (límite inferior al 95 % de confianza), por encima del TBO de referencia.</a:t>
            </a:r>
          </a:p>
        </p:txBody>
      </p:sp>
      <p:sp>
        <p:nvSpPr>
          <p:cNvPr id="10" name="Rectangle 9"/>
          <p:cNvSpPr/>
          <p:nvPr/>
        </p:nvSpPr>
        <p:spPr>
          <a:xfrm>
            <a:off x="6254496" y="4626864"/>
            <a:ext cx="5102352" cy="841248"/>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1" name="Rectangle 10"/>
          <p:cNvSpPr/>
          <p:nvPr/>
        </p:nvSpPr>
        <p:spPr>
          <a:xfrm>
            <a:off x="6254496" y="4626864"/>
            <a:ext cx="45720" cy="841248"/>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2" name="TextBox 11"/>
          <p:cNvSpPr txBox="1"/>
          <p:nvPr/>
        </p:nvSpPr>
        <p:spPr>
          <a:xfrm>
            <a:off x="6473952" y="4736592"/>
            <a:ext cx="4681728" cy="640080"/>
          </a:xfrm>
          <a:prstGeom prst="rect">
            <a:avLst/>
          </a:prstGeom>
          <a:noFill/>
        </p:spPr>
        <p:txBody>
          <a:bodyPr wrap="square" lIns="0" tIns="0" rIns="0" bIns="0" anchor="t">
            <a:spAutoFit/>
          </a:bodyPr>
          <a:lstStyle/>
          <a:p>
            <a:pPr algn="l">
              <a:lnSpc>
                <a:spcPct val="114000"/>
              </a:lnSpc>
              <a:spcBef>
                <a:spcPts val="0"/>
              </a:spcBef>
              <a:spcAft>
                <a:spcPts val="400"/>
              </a:spcAft>
            </a:pPr>
            <a:r>
              <a:rPr lang="es-PE" sz="1000" b="1" i="0" noProof="0" dirty="0">
                <a:solidFill>
                  <a:srgbClr val="C3094A"/>
                </a:solidFill>
                <a:latin typeface="Arial"/>
              </a:rPr>
              <a:t>MTTR del sistema de propulsión</a:t>
            </a:r>
          </a:p>
          <a:p>
            <a:pPr algn="l">
              <a:lnSpc>
                <a:spcPct val="114000"/>
              </a:lnSpc>
              <a:spcBef>
                <a:spcPts val="0"/>
              </a:spcBef>
              <a:spcAft>
                <a:spcPts val="400"/>
              </a:spcAft>
            </a:pPr>
            <a:r>
              <a:rPr lang="es-PE" sz="1050" b="0" i="0" noProof="0" dirty="0">
                <a:solidFill>
                  <a:srgbClr val="191919"/>
                </a:solidFill>
                <a:latin typeface="Arial"/>
              </a:rPr>
              <a:t>Desciende 46 % porque desapareció un modo cuya intervención duraba 59,3 h, cerca de ocho veces el promedio del sistema.</a:t>
            </a:r>
          </a:p>
        </p:txBody>
      </p:sp>
      <p:pic>
        <p:nvPicPr>
          <p:cNvPr id="13" name="Imagen 12">
            <a:extLst>
              <a:ext uri="{FF2B5EF4-FFF2-40B4-BE49-F238E27FC236}">
                <a16:creationId xmlns:a16="http://schemas.microsoft.com/office/drawing/2014/main" id="{3A4EC09B-FF8A-C59B-CADF-863245512403}"/>
              </a:ext>
            </a:extLst>
          </p:cNvPr>
          <p:cNvPicPr>
            <a:picLocks noChangeAspect="1"/>
          </p:cNvPicPr>
          <p:nvPr/>
        </p:nvPicPr>
        <p:blipFill>
          <a:blip r:embed="rId3"/>
          <a:stretch>
            <a:fillRect/>
          </a:stretch>
        </p:blipFill>
        <p:spPr>
          <a:xfrm>
            <a:off x="158617" y="5943600"/>
            <a:ext cx="5620013" cy="550672"/>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PE" sz="2200" b="1" i="0" noProof="0" dirty="0">
                <a:solidFill>
                  <a:srgbClr val="042354"/>
                </a:solidFill>
                <a:latin typeface="Arial"/>
              </a:rPr>
              <a:t>Verificación en el nivel de la flota: indicadores contractuales</a:t>
            </a: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PE" sz="1100" b="1" i="0" noProof="0" dirty="0">
                <a:solidFill>
                  <a:srgbClr val="FFFFFF"/>
                </a:solidFill>
                <a:latin typeface="Arial"/>
              </a:rPr>
              <a:t>23</a:t>
            </a:r>
          </a:p>
        </p:txBody>
      </p:sp>
      <p:pic>
        <p:nvPicPr>
          <p:cNvPr id="6" name="Picture 5" descr="pu_g6_contractuales.png"/>
          <p:cNvPicPr>
            <a:picLocks noChangeAspect="1"/>
          </p:cNvPicPr>
          <p:nvPr/>
        </p:nvPicPr>
        <p:blipFill>
          <a:blip r:embed="rId2"/>
          <a:stretch>
            <a:fillRect/>
          </a:stretch>
        </p:blipFill>
        <p:spPr>
          <a:xfrm>
            <a:off x="841247" y="1856805"/>
            <a:ext cx="6263640" cy="2559173"/>
          </a:xfrm>
          <a:prstGeom prst="rect">
            <a:avLst/>
          </a:prstGeom>
        </p:spPr>
      </p:pic>
      <p:sp>
        <p:nvSpPr>
          <p:cNvPr id="7" name="TextBox 6"/>
          <p:cNvSpPr txBox="1"/>
          <p:nvPr/>
        </p:nvSpPr>
        <p:spPr>
          <a:xfrm>
            <a:off x="7296912" y="1517904"/>
            <a:ext cx="4059936" cy="274320"/>
          </a:xfrm>
          <a:prstGeom prst="rect">
            <a:avLst/>
          </a:prstGeom>
          <a:noFill/>
        </p:spPr>
        <p:txBody>
          <a:bodyPr wrap="square" lIns="0" tIns="0" rIns="0" bIns="0" anchor="t">
            <a:spAutoFit/>
          </a:bodyPr>
          <a:lstStyle/>
          <a:p>
            <a:pPr algn="l">
              <a:lnSpc>
                <a:spcPct val="114000"/>
              </a:lnSpc>
              <a:spcBef>
                <a:spcPts val="0"/>
              </a:spcBef>
              <a:spcAft>
                <a:spcPts val="400"/>
              </a:spcAft>
            </a:pPr>
            <a:r>
              <a:rPr lang="es-PE" sz="950" b="1" i="0" noProof="0" dirty="0">
                <a:solidFill>
                  <a:srgbClr val="4A5568"/>
                </a:solidFill>
                <a:latin typeface="Arial"/>
              </a:rPr>
              <a:t>ATRIBUCIÓN DEL EFECTO</a:t>
            </a:r>
          </a:p>
        </p:txBody>
      </p:sp>
      <p:sp>
        <p:nvSpPr>
          <p:cNvPr id="8" name="Rectangle 7"/>
          <p:cNvSpPr/>
          <p:nvPr/>
        </p:nvSpPr>
        <p:spPr>
          <a:xfrm>
            <a:off x="7296912" y="1810512"/>
            <a:ext cx="4059936" cy="2761488"/>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9" name="TextBox 8"/>
          <p:cNvSpPr txBox="1"/>
          <p:nvPr/>
        </p:nvSpPr>
        <p:spPr>
          <a:xfrm>
            <a:off x="7498079" y="1975104"/>
            <a:ext cx="3657600" cy="2450592"/>
          </a:xfrm>
          <a:prstGeom prst="rect">
            <a:avLst/>
          </a:prstGeom>
          <a:noFill/>
        </p:spPr>
        <p:txBody>
          <a:bodyPr wrap="square" lIns="0" tIns="0" rIns="0" bIns="0" anchor="t">
            <a:spAutoFit/>
          </a:bodyPr>
          <a:lstStyle/>
          <a:p>
            <a:pPr algn="l">
              <a:lnSpc>
                <a:spcPct val="116000"/>
              </a:lnSpc>
              <a:spcBef>
                <a:spcPts val="0"/>
              </a:spcBef>
              <a:spcAft>
                <a:spcPts val="800"/>
              </a:spcAft>
            </a:pPr>
            <a:r>
              <a:rPr lang="es-PE" sz="1050" b="0" i="0" noProof="0" dirty="0">
                <a:solidFill>
                  <a:srgbClr val="191919"/>
                </a:solidFill>
                <a:latin typeface="Arial"/>
              </a:rPr>
              <a:t>Durante el mismo período se ejecutó una intervención independiente sobre el motor diésel, dirigida a eliminar la fisura de culatas.</a:t>
            </a:r>
          </a:p>
          <a:p>
            <a:pPr algn="l">
              <a:lnSpc>
                <a:spcPct val="116000"/>
              </a:lnSpc>
              <a:spcBef>
                <a:spcPts val="0"/>
              </a:spcBef>
              <a:spcAft>
                <a:spcPts val="800"/>
              </a:spcAft>
            </a:pPr>
            <a:r>
              <a:rPr lang="es-PE" sz="1050" b="0" i="0" noProof="0" dirty="0">
                <a:solidFill>
                  <a:srgbClr val="191919"/>
                </a:solidFill>
                <a:latin typeface="Arial"/>
              </a:rPr>
              <a:t>La eliminación de la fractura del eje palier explica 0,36 puntos porcentuales de disponibilidad; la recuperación restante proviene de esa acción concurrente.</a:t>
            </a:r>
          </a:p>
          <a:p>
            <a:pPr algn="l">
              <a:lnSpc>
                <a:spcPct val="116000"/>
              </a:lnSpc>
              <a:spcBef>
                <a:spcPts val="0"/>
              </a:spcBef>
              <a:spcAft>
                <a:spcPts val="400"/>
              </a:spcAft>
            </a:pPr>
            <a:r>
              <a:rPr lang="es-PE" sz="1050" b="1" i="0" noProof="0" dirty="0">
                <a:solidFill>
                  <a:srgbClr val="C3094A"/>
                </a:solidFill>
                <a:latin typeface="Arial"/>
              </a:rPr>
              <a:t>La concurrencia no debilita la verificación: lo que acredita el rediseño es el criterio del nivel del componente, donde el efecto sí es directamente atribuible.</a:t>
            </a:r>
          </a:p>
        </p:txBody>
      </p:sp>
      <p:sp>
        <p:nvSpPr>
          <p:cNvPr id="10" name="TextBox 9"/>
          <p:cNvSpPr txBox="1"/>
          <p:nvPr/>
        </p:nvSpPr>
        <p:spPr>
          <a:xfrm>
            <a:off x="841248" y="4864608"/>
            <a:ext cx="10515600" cy="274320"/>
          </a:xfrm>
          <a:prstGeom prst="rect">
            <a:avLst/>
          </a:prstGeom>
          <a:noFill/>
        </p:spPr>
        <p:txBody>
          <a:bodyPr wrap="square" lIns="0" tIns="0" rIns="0" bIns="0" anchor="t">
            <a:spAutoFit/>
          </a:bodyPr>
          <a:lstStyle/>
          <a:p>
            <a:pPr algn="l">
              <a:lnSpc>
                <a:spcPct val="106000"/>
              </a:lnSpc>
              <a:spcBef>
                <a:spcPts val="0"/>
              </a:spcBef>
              <a:spcAft>
                <a:spcPts val="400"/>
              </a:spcAft>
            </a:pPr>
            <a:r>
              <a:rPr lang="es-PE" sz="900" b="0" i="0" noProof="0" dirty="0">
                <a:solidFill>
                  <a:srgbClr val="7A8494"/>
                </a:solidFill>
                <a:latin typeface="Arial"/>
              </a:rPr>
              <a:t>El MTTR no mejora, y no debía hacerlo: la acción implementada elimina eventos, no reduce la duración de las intervenciones que subsisten.</a:t>
            </a:r>
          </a:p>
        </p:txBody>
      </p:sp>
      <p:sp>
        <p:nvSpPr>
          <p:cNvPr id="11" name="Rectangle 10"/>
          <p:cNvSpPr/>
          <p:nvPr/>
        </p:nvSpPr>
        <p:spPr>
          <a:xfrm>
            <a:off x="841248" y="5175504"/>
            <a:ext cx="45720" cy="457200"/>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2" name="TextBox 11"/>
          <p:cNvSpPr txBox="1"/>
          <p:nvPr/>
        </p:nvSpPr>
        <p:spPr>
          <a:xfrm>
            <a:off x="1024128" y="5157216"/>
            <a:ext cx="10277856" cy="493776"/>
          </a:xfrm>
          <a:prstGeom prst="rect">
            <a:avLst/>
          </a:prstGeom>
          <a:noFill/>
        </p:spPr>
        <p:txBody>
          <a:bodyPr wrap="square" lIns="0" tIns="0" rIns="0" bIns="0" anchor="t">
            <a:spAutoFit/>
          </a:bodyPr>
          <a:lstStyle/>
          <a:p>
            <a:pPr algn="l">
              <a:lnSpc>
                <a:spcPct val="114000"/>
              </a:lnSpc>
              <a:spcBef>
                <a:spcPts val="0"/>
              </a:spcBef>
              <a:spcAft>
                <a:spcPts val="400"/>
              </a:spcAft>
            </a:pPr>
            <a:r>
              <a:rPr lang="es-PE" sz="1150" b="1" i="0" noProof="0" dirty="0">
                <a:solidFill>
                  <a:srgbClr val="042354"/>
                </a:solidFill>
                <a:latin typeface="Arial"/>
              </a:rPr>
              <a:t>2025 supera por primera vez en el período analizado ambos compromisos contractuales: 93,6 % de disponibilidad y 108,4 h de MTBF.</a:t>
            </a:r>
          </a:p>
        </p:txBody>
      </p:sp>
      <p:pic>
        <p:nvPicPr>
          <p:cNvPr id="13" name="Imagen 12">
            <a:extLst>
              <a:ext uri="{FF2B5EF4-FFF2-40B4-BE49-F238E27FC236}">
                <a16:creationId xmlns:a16="http://schemas.microsoft.com/office/drawing/2014/main" id="{80B665C9-1153-4F4C-99AB-B3F4D252B2E5}"/>
              </a:ext>
            </a:extLst>
          </p:cNvPr>
          <p:cNvPicPr>
            <a:picLocks noChangeAspect="1"/>
          </p:cNvPicPr>
          <p:nvPr/>
        </p:nvPicPr>
        <p:blipFill>
          <a:blip r:embed="rId3"/>
          <a:stretch>
            <a:fillRect/>
          </a:stretch>
        </p:blipFill>
        <p:spPr>
          <a:xfrm>
            <a:off x="158617" y="5943600"/>
            <a:ext cx="5620013" cy="550672"/>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PE" sz="2200" b="1" i="0" noProof="0" dirty="0">
                <a:solidFill>
                  <a:srgbClr val="042354"/>
                </a:solidFill>
                <a:latin typeface="Arial"/>
              </a:rPr>
              <a:t>Evaluación económica del costo evitado</a:t>
            </a: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PE" sz="1100" b="1" i="0" noProof="0" dirty="0">
                <a:solidFill>
                  <a:srgbClr val="FFFFFF"/>
                </a:solidFill>
                <a:latin typeface="Arial"/>
              </a:rPr>
              <a:t>24</a:t>
            </a:r>
          </a:p>
        </p:txBody>
      </p:sp>
      <p:pic>
        <p:nvPicPr>
          <p:cNvPr id="6" name="Picture 5" descr="pu_g7_economico.png"/>
          <p:cNvPicPr>
            <a:picLocks noChangeAspect="1"/>
          </p:cNvPicPr>
          <p:nvPr/>
        </p:nvPicPr>
        <p:blipFill>
          <a:blip r:embed="rId2"/>
          <a:stretch>
            <a:fillRect/>
          </a:stretch>
        </p:blipFill>
        <p:spPr>
          <a:xfrm>
            <a:off x="2102487" y="1444752"/>
            <a:ext cx="7993120" cy="3127248"/>
          </a:xfrm>
          <a:prstGeom prst="rect">
            <a:avLst/>
          </a:prstGeom>
        </p:spPr>
      </p:pic>
      <p:sp>
        <p:nvSpPr>
          <p:cNvPr id="7" name="Rectangle 6"/>
          <p:cNvSpPr/>
          <p:nvPr/>
        </p:nvSpPr>
        <p:spPr>
          <a:xfrm>
            <a:off x="841248" y="4626864"/>
            <a:ext cx="3310128" cy="969264"/>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8" name="Rectangle 7"/>
          <p:cNvSpPr/>
          <p:nvPr/>
        </p:nvSpPr>
        <p:spPr>
          <a:xfrm>
            <a:off x="841248" y="4626864"/>
            <a:ext cx="3310128" cy="41148"/>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9" name="TextBox 8"/>
          <p:cNvSpPr txBox="1"/>
          <p:nvPr/>
        </p:nvSpPr>
        <p:spPr>
          <a:xfrm>
            <a:off x="1005840" y="4754879"/>
            <a:ext cx="2980944" cy="713232"/>
          </a:xfrm>
          <a:prstGeom prst="rect">
            <a:avLst/>
          </a:prstGeom>
          <a:noFill/>
        </p:spPr>
        <p:txBody>
          <a:bodyPr wrap="square" lIns="0" tIns="0" rIns="0" bIns="0" anchor="ctr">
            <a:spAutoFit/>
          </a:bodyPr>
          <a:lstStyle/>
          <a:p>
            <a:pPr algn="l">
              <a:lnSpc>
                <a:spcPct val="95000"/>
              </a:lnSpc>
              <a:spcBef>
                <a:spcPts val="0"/>
              </a:spcBef>
              <a:spcAft>
                <a:spcPts val="300"/>
              </a:spcAft>
            </a:pPr>
            <a:r>
              <a:rPr lang="es-PE" sz="2000" b="1" i="0" noProof="0" dirty="0">
                <a:solidFill>
                  <a:srgbClr val="C3094A"/>
                </a:solidFill>
                <a:latin typeface="Arial"/>
              </a:rPr>
              <a:t>US$ 3,05 M</a:t>
            </a:r>
          </a:p>
          <a:p>
            <a:pPr algn="l">
              <a:lnSpc>
                <a:spcPct val="108000"/>
              </a:lnSpc>
              <a:spcBef>
                <a:spcPts val="0"/>
              </a:spcBef>
              <a:spcAft>
                <a:spcPts val="0"/>
              </a:spcAft>
            </a:pPr>
            <a:r>
              <a:rPr lang="es-PE" sz="950" b="0" i="0" noProof="0" dirty="0">
                <a:solidFill>
                  <a:srgbClr val="4A5568"/>
                </a:solidFill>
                <a:latin typeface="Arial"/>
              </a:rPr>
              <a:t>Costo recurrente anual
del modo de falla eliminado</a:t>
            </a:r>
          </a:p>
        </p:txBody>
      </p:sp>
      <p:sp>
        <p:nvSpPr>
          <p:cNvPr id="10" name="Rectangle 9"/>
          <p:cNvSpPr/>
          <p:nvPr/>
        </p:nvSpPr>
        <p:spPr>
          <a:xfrm>
            <a:off x="4443984" y="4626864"/>
            <a:ext cx="3310128" cy="969264"/>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1" name="Rectangle 10"/>
          <p:cNvSpPr/>
          <p:nvPr/>
        </p:nvSpPr>
        <p:spPr>
          <a:xfrm>
            <a:off x="4443984" y="4626864"/>
            <a:ext cx="3310128" cy="41148"/>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2" name="TextBox 11"/>
          <p:cNvSpPr txBox="1"/>
          <p:nvPr/>
        </p:nvSpPr>
        <p:spPr>
          <a:xfrm>
            <a:off x="4608576" y="4754879"/>
            <a:ext cx="2980944" cy="713232"/>
          </a:xfrm>
          <a:prstGeom prst="rect">
            <a:avLst/>
          </a:prstGeom>
          <a:noFill/>
        </p:spPr>
        <p:txBody>
          <a:bodyPr wrap="square" lIns="0" tIns="0" rIns="0" bIns="0" anchor="ctr">
            <a:spAutoFit/>
          </a:bodyPr>
          <a:lstStyle/>
          <a:p>
            <a:pPr algn="l">
              <a:lnSpc>
                <a:spcPct val="95000"/>
              </a:lnSpc>
              <a:spcBef>
                <a:spcPts val="0"/>
              </a:spcBef>
              <a:spcAft>
                <a:spcPts val="300"/>
              </a:spcAft>
            </a:pPr>
            <a:r>
              <a:rPr lang="es-PE" sz="2000" b="1" i="0" noProof="0" dirty="0">
                <a:solidFill>
                  <a:srgbClr val="C3094A"/>
                </a:solidFill>
                <a:latin typeface="Arial"/>
              </a:rPr>
              <a:t>12 eventos</a:t>
            </a:r>
          </a:p>
          <a:p>
            <a:pPr algn="l">
              <a:lnSpc>
                <a:spcPct val="108000"/>
              </a:lnSpc>
              <a:spcBef>
                <a:spcPts val="0"/>
              </a:spcBef>
              <a:spcAft>
                <a:spcPts val="0"/>
              </a:spcAft>
            </a:pPr>
            <a:r>
              <a:rPr lang="es-PE" sz="950" b="0" i="0" noProof="0" dirty="0">
                <a:solidFill>
                  <a:srgbClr val="4A5568"/>
                </a:solidFill>
                <a:latin typeface="Arial"/>
              </a:rPr>
              <a:t>detectados en operación
en 36 meses</a:t>
            </a:r>
          </a:p>
        </p:txBody>
      </p:sp>
      <p:sp>
        <p:nvSpPr>
          <p:cNvPr id="13" name="Rectangle 12"/>
          <p:cNvSpPr/>
          <p:nvPr/>
        </p:nvSpPr>
        <p:spPr>
          <a:xfrm>
            <a:off x="8046720" y="4626864"/>
            <a:ext cx="3310128" cy="969264"/>
          </a:xfrm>
          <a:prstGeom prst="rect">
            <a:avLst/>
          </a:prstGeom>
          <a:solidFill>
            <a:srgbClr val="FAECF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4" name="Rectangle 13"/>
          <p:cNvSpPr/>
          <p:nvPr/>
        </p:nvSpPr>
        <p:spPr>
          <a:xfrm>
            <a:off x="8046720" y="4626864"/>
            <a:ext cx="3310128" cy="41148"/>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5" name="TextBox 14"/>
          <p:cNvSpPr txBox="1"/>
          <p:nvPr/>
        </p:nvSpPr>
        <p:spPr>
          <a:xfrm>
            <a:off x="8211312" y="4754879"/>
            <a:ext cx="2980944" cy="713232"/>
          </a:xfrm>
          <a:prstGeom prst="rect">
            <a:avLst/>
          </a:prstGeom>
          <a:noFill/>
        </p:spPr>
        <p:txBody>
          <a:bodyPr wrap="square" lIns="0" tIns="0" rIns="0" bIns="0" anchor="ctr">
            <a:spAutoFit/>
          </a:bodyPr>
          <a:lstStyle/>
          <a:p>
            <a:pPr algn="l">
              <a:lnSpc>
                <a:spcPct val="95000"/>
              </a:lnSpc>
              <a:spcBef>
                <a:spcPts val="0"/>
              </a:spcBef>
              <a:spcAft>
                <a:spcPts val="300"/>
              </a:spcAft>
            </a:pPr>
            <a:r>
              <a:rPr lang="es-PE" sz="2000" b="1" i="0" noProof="0" dirty="0">
                <a:solidFill>
                  <a:srgbClr val="C3094A"/>
                </a:solidFill>
                <a:latin typeface="Arial"/>
              </a:rPr>
              <a:t>1,41 : 1</a:t>
            </a:r>
          </a:p>
          <a:p>
            <a:pPr algn="l">
              <a:lnSpc>
                <a:spcPct val="108000"/>
              </a:lnSpc>
              <a:spcBef>
                <a:spcPts val="0"/>
              </a:spcBef>
              <a:spcAft>
                <a:spcPts val="0"/>
              </a:spcAft>
            </a:pPr>
            <a:r>
              <a:rPr lang="es-PE" sz="950" b="0" i="0" noProof="0" dirty="0">
                <a:solidFill>
                  <a:srgbClr val="4A5568"/>
                </a:solidFill>
                <a:latin typeface="Arial"/>
              </a:rPr>
              <a:t>relación de costo de la
alternativa descartada</a:t>
            </a:r>
          </a:p>
        </p:txBody>
      </p:sp>
      <p:pic>
        <p:nvPicPr>
          <p:cNvPr id="16" name="Imagen 15">
            <a:extLst>
              <a:ext uri="{FF2B5EF4-FFF2-40B4-BE49-F238E27FC236}">
                <a16:creationId xmlns:a16="http://schemas.microsoft.com/office/drawing/2014/main" id="{A55417AF-ED0A-C308-720E-1C4B94B15580}"/>
              </a:ext>
            </a:extLst>
          </p:cNvPr>
          <p:cNvPicPr>
            <a:picLocks noChangeAspect="1"/>
          </p:cNvPicPr>
          <p:nvPr/>
        </p:nvPicPr>
        <p:blipFill>
          <a:blip r:embed="rId3"/>
          <a:stretch>
            <a:fillRect/>
          </a:stretch>
        </p:blipFill>
        <p:spPr>
          <a:xfrm>
            <a:off x="158617" y="5943600"/>
            <a:ext cx="5620013" cy="550672"/>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84048"/>
            <a:ext cx="10515600" cy="804672"/>
          </a:xfrm>
        </p:spPr>
        <p:txBody>
          <a:bodyPr wrap="square" lIns="0" tIns="0" rIns="0" bIns="0" anchor="t"/>
          <a:lstStyle/>
          <a:p>
            <a:pPr algn="l">
              <a:lnSpc>
                <a:spcPct val="106000"/>
              </a:lnSpc>
              <a:spcBef>
                <a:spcPts val="0"/>
              </a:spcBef>
              <a:spcAft>
                <a:spcPts val="400"/>
              </a:spcAft>
            </a:pPr>
            <a:r>
              <a:rPr lang="es-PE" sz="2200" b="1" i="0" noProof="0" dirty="0">
                <a:solidFill>
                  <a:srgbClr val="042354"/>
                </a:solidFill>
                <a:latin typeface="Arial"/>
              </a:rPr>
              <a:t>Conclusiones</a:t>
            </a:r>
          </a:p>
        </p:txBody>
      </p:sp>
      <p:cxnSp>
        <p:nvCxnSpPr>
          <p:cNvPr id="3" name="Connector 2"/>
          <p:cNvCxnSpPr/>
          <p:nvPr/>
        </p:nvCxnSpPr>
        <p:spPr>
          <a:xfrm>
            <a:off x="841248" y="1261872"/>
            <a:ext cx="10515600" cy="0"/>
          </a:xfrm>
          <a:prstGeom prst="line">
            <a:avLst/>
          </a:prstGeom>
          <a:ln w="12700">
            <a:solidFill>
              <a:srgbClr val="CFD6D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41248" y="1261872"/>
            <a:ext cx="1051559" cy="0"/>
          </a:xfrm>
          <a:prstGeom prst="line">
            <a:avLst/>
          </a:prstGeom>
          <a:ln w="33020">
            <a:solidFill>
              <a:srgbClr val="C3094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192256" y="6053328"/>
            <a:ext cx="621792" cy="310896"/>
          </a:xfrm>
          <a:prstGeom prst="rect">
            <a:avLst/>
          </a:prstGeom>
          <a:noFill/>
        </p:spPr>
        <p:txBody>
          <a:bodyPr wrap="square" lIns="0" tIns="0" rIns="0" bIns="0" anchor="ctr">
            <a:spAutoFit/>
          </a:bodyPr>
          <a:lstStyle/>
          <a:p>
            <a:pPr algn="ctr">
              <a:lnSpc>
                <a:spcPct val="100000"/>
              </a:lnSpc>
              <a:spcBef>
                <a:spcPts val="0"/>
              </a:spcBef>
              <a:spcAft>
                <a:spcPts val="400"/>
              </a:spcAft>
            </a:pPr>
            <a:r>
              <a:rPr lang="es-PE" sz="1100" b="1" i="0" noProof="0" dirty="0">
                <a:solidFill>
                  <a:srgbClr val="FFFFFF"/>
                </a:solidFill>
                <a:latin typeface="Arial"/>
              </a:rPr>
              <a:t>25</a:t>
            </a:r>
          </a:p>
        </p:txBody>
      </p:sp>
      <p:sp>
        <p:nvSpPr>
          <p:cNvPr id="6" name="Rectangle 5"/>
          <p:cNvSpPr/>
          <p:nvPr/>
        </p:nvSpPr>
        <p:spPr>
          <a:xfrm>
            <a:off x="841248" y="1444752"/>
            <a:ext cx="10515600" cy="859536"/>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7" name="Rectangle 6"/>
          <p:cNvSpPr/>
          <p:nvPr/>
        </p:nvSpPr>
        <p:spPr>
          <a:xfrm>
            <a:off x="841248" y="1444752"/>
            <a:ext cx="45720" cy="859536"/>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8" name="TextBox 7"/>
          <p:cNvSpPr txBox="1"/>
          <p:nvPr/>
        </p:nvSpPr>
        <p:spPr>
          <a:xfrm>
            <a:off x="1078992" y="1554480"/>
            <a:ext cx="658368" cy="512064"/>
          </a:xfrm>
          <a:prstGeom prst="rect">
            <a:avLst/>
          </a:prstGeom>
          <a:noFill/>
        </p:spPr>
        <p:txBody>
          <a:bodyPr wrap="square" lIns="0" tIns="0" rIns="0" bIns="0" anchor="t">
            <a:spAutoFit/>
          </a:bodyPr>
          <a:lstStyle/>
          <a:p>
            <a:pPr algn="l">
              <a:lnSpc>
                <a:spcPct val="114000"/>
              </a:lnSpc>
              <a:spcBef>
                <a:spcPts val="0"/>
              </a:spcBef>
              <a:spcAft>
                <a:spcPts val="400"/>
              </a:spcAft>
            </a:pPr>
            <a:r>
              <a:rPr lang="es-PE" sz="1700" b="1" i="0" noProof="0" dirty="0">
                <a:solidFill>
                  <a:srgbClr val="C3094A"/>
                </a:solidFill>
                <a:latin typeface="Arial"/>
              </a:rPr>
              <a:t>01</a:t>
            </a:r>
          </a:p>
        </p:txBody>
      </p:sp>
      <p:sp>
        <p:nvSpPr>
          <p:cNvPr id="9" name="TextBox 8"/>
          <p:cNvSpPr txBox="1"/>
          <p:nvPr/>
        </p:nvSpPr>
        <p:spPr>
          <a:xfrm>
            <a:off x="1773936" y="1545336"/>
            <a:ext cx="9308592" cy="694944"/>
          </a:xfrm>
          <a:prstGeom prst="rect">
            <a:avLst/>
          </a:prstGeom>
          <a:noFill/>
        </p:spPr>
        <p:txBody>
          <a:bodyPr wrap="square" lIns="0" tIns="0" rIns="0" bIns="0" anchor="t">
            <a:spAutoFit/>
          </a:bodyPr>
          <a:lstStyle/>
          <a:p>
            <a:pPr algn="l">
              <a:lnSpc>
                <a:spcPct val="108000"/>
              </a:lnSpc>
              <a:spcBef>
                <a:spcPts val="0"/>
              </a:spcBef>
              <a:spcAft>
                <a:spcPts val="400"/>
              </a:spcAft>
            </a:pPr>
            <a:r>
              <a:rPr lang="es-PE" sz="1150" b="1" i="0" noProof="0" dirty="0">
                <a:solidFill>
                  <a:srgbClr val="042354"/>
                </a:solidFill>
                <a:latin typeface="Arial"/>
              </a:rPr>
              <a:t>El modo de falla y su impacto</a:t>
            </a:r>
          </a:p>
          <a:p>
            <a:pPr algn="l">
              <a:lnSpc>
                <a:spcPct val="114000"/>
              </a:lnSpc>
              <a:spcBef>
                <a:spcPts val="0"/>
              </a:spcBef>
              <a:spcAft>
                <a:spcPts val="400"/>
              </a:spcAft>
            </a:pPr>
            <a:r>
              <a:rPr lang="es-PE" sz="1000" b="0" i="0" noProof="0" dirty="0">
                <a:solidFill>
                  <a:srgbClr val="4A5568"/>
                </a:solidFill>
                <a:latin typeface="Arial"/>
              </a:rPr>
              <a:t>Trece ocurrencias entre 2022 y 2024 (4,33 por año), con un MTBF del modo de 15 231 h, un MTTR de 59,3 h y 315 h anuales de indisponibilidad, equivalentes a 0,36 puntos de disponibilidad física.</a:t>
            </a:r>
          </a:p>
        </p:txBody>
      </p:sp>
      <p:sp>
        <p:nvSpPr>
          <p:cNvPr id="10" name="Rectangle 9"/>
          <p:cNvSpPr/>
          <p:nvPr/>
        </p:nvSpPr>
        <p:spPr>
          <a:xfrm>
            <a:off x="841248" y="2377440"/>
            <a:ext cx="10515600" cy="859536"/>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1" name="Rectangle 10"/>
          <p:cNvSpPr/>
          <p:nvPr/>
        </p:nvSpPr>
        <p:spPr>
          <a:xfrm>
            <a:off x="841248" y="2377440"/>
            <a:ext cx="45720" cy="859536"/>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2" name="TextBox 11"/>
          <p:cNvSpPr txBox="1"/>
          <p:nvPr/>
        </p:nvSpPr>
        <p:spPr>
          <a:xfrm>
            <a:off x="1078992" y="2487168"/>
            <a:ext cx="658368" cy="512064"/>
          </a:xfrm>
          <a:prstGeom prst="rect">
            <a:avLst/>
          </a:prstGeom>
          <a:noFill/>
        </p:spPr>
        <p:txBody>
          <a:bodyPr wrap="square" lIns="0" tIns="0" rIns="0" bIns="0" anchor="t">
            <a:spAutoFit/>
          </a:bodyPr>
          <a:lstStyle/>
          <a:p>
            <a:pPr algn="l">
              <a:lnSpc>
                <a:spcPct val="114000"/>
              </a:lnSpc>
              <a:spcBef>
                <a:spcPts val="0"/>
              </a:spcBef>
              <a:spcAft>
                <a:spcPts val="400"/>
              </a:spcAft>
            </a:pPr>
            <a:r>
              <a:rPr lang="es-PE" sz="1700" b="1" i="0" noProof="0" dirty="0">
                <a:solidFill>
                  <a:srgbClr val="C3094A"/>
                </a:solidFill>
                <a:latin typeface="Arial"/>
              </a:rPr>
              <a:t>02</a:t>
            </a:r>
          </a:p>
        </p:txBody>
      </p:sp>
      <p:sp>
        <p:nvSpPr>
          <p:cNvPr id="13" name="TextBox 12"/>
          <p:cNvSpPr txBox="1"/>
          <p:nvPr/>
        </p:nvSpPr>
        <p:spPr>
          <a:xfrm>
            <a:off x="1773936" y="2478024"/>
            <a:ext cx="9308592" cy="694944"/>
          </a:xfrm>
          <a:prstGeom prst="rect">
            <a:avLst/>
          </a:prstGeom>
          <a:noFill/>
        </p:spPr>
        <p:txBody>
          <a:bodyPr wrap="square" lIns="0" tIns="0" rIns="0" bIns="0" anchor="t">
            <a:spAutoFit/>
          </a:bodyPr>
          <a:lstStyle/>
          <a:p>
            <a:pPr algn="l">
              <a:lnSpc>
                <a:spcPct val="108000"/>
              </a:lnSpc>
              <a:spcBef>
                <a:spcPts val="0"/>
              </a:spcBef>
              <a:spcAft>
                <a:spcPts val="400"/>
              </a:spcAft>
            </a:pPr>
            <a:r>
              <a:rPr lang="es-PE" sz="1150" b="1" i="0" noProof="0" dirty="0">
                <a:solidFill>
                  <a:srgbClr val="042354"/>
                </a:solidFill>
                <a:latin typeface="Arial"/>
              </a:rPr>
              <a:t>Las causas latentes de la recurrencia</a:t>
            </a:r>
          </a:p>
          <a:p>
            <a:pPr algn="l">
              <a:lnSpc>
                <a:spcPct val="114000"/>
              </a:lnSpc>
              <a:spcBef>
                <a:spcPts val="0"/>
              </a:spcBef>
              <a:spcAft>
                <a:spcPts val="400"/>
              </a:spcAft>
            </a:pPr>
            <a:r>
              <a:rPr lang="es-PE" sz="1000" b="0" i="0" noProof="0" dirty="0">
                <a:solidFill>
                  <a:srgbClr val="4A5568"/>
                </a:solidFill>
                <a:latin typeface="Arial"/>
              </a:rPr>
              <a:t>La causa física es la nucleación en la raíz sin fusión, con FS = 0,31 bajo el par nominal de 17,81 </a:t>
            </a:r>
            <a:r>
              <a:rPr lang="es-PE" sz="1000" b="0" i="0" noProof="0" dirty="0" err="1">
                <a:solidFill>
                  <a:srgbClr val="4A5568"/>
                </a:solidFill>
                <a:latin typeface="Arial"/>
              </a:rPr>
              <a:t>kN·m</a:t>
            </a:r>
            <a:r>
              <a:rPr lang="es-PE" sz="1000" b="0" i="0" noProof="0" dirty="0">
                <a:solidFill>
                  <a:srgbClr val="4A5568"/>
                </a:solidFill>
                <a:latin typeface="Arial"/>
              </a:rPr>
              <a:t>. Por debajo de ella, tres causas de sistema: análisis por evento, taxonomía del registro y ausencia de cierre de los hallazgos.</a:t>
            </a:r>
          </a:p>
        </p:txBody>
      </p:sp>
      <p:sp>
        <p:nvSpPr>
          <p:cNvPr id="14" name="Rectangle 13"/>
          <p:cNvSpPr/>
          <p:nvPr/>
        </p:nvSpPr>
        <p:spPr>
          <a:xfrm>
            <a:off x="841248" y="3310128"/>
            <a:ext cx="10515600" cy="859536"/>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5" name="Rectangle 14"/>
          <p:cNvSpPr/>
          <p:nvPr/>
        </p:nvSpPr>
        <p:spPr>
          <a:xfrm>
            <a:off x="841248" y="3310128"/>
            <a:ext cx="45720" cy="859536"/>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6" name="TextBox 15"/>
          <p:cNvSpPr txBox="1"/>
          <p:nvPr/>
        </p:nvSpPr>
        <p:spPr>
          <a:xfrm>
            <a:off x="1078992" y="3419856"/>
            <a:ext cx="658368" cy="512064"/>
          </a:xfrm>
          <a:prstGeom prst="rect">
            <a:avLst/>
          </a:prstGeom>
          <a:noFill/>
        </p:spPr>
        <p:txBody>
          <a:bodyPr wrap="square" lIns="0" tIns="0" rIns="0" bIns="0" anchor="t">
            <a:spAutoFit/>
          </a:bodyPr>
          <a:lstStyle/>
          <a:p>
            <a:pPr algn="l">
              <a:lnSpc>
                <a:spcPct val="114000"/>
              </a:lnSpc>
              <a:spcBef>
                <a:spcPts val="0"/>
              </a:spcBef>
              <a:spcAft>
                <a:spcPts val="400"/>
              </a:spcAft>
            </a:pPr>
            <a:r>
              <a:rPr lang="es-PE" sz="1700" b="1" i="0" noProof="0" dirty="0">
                <a:solidFill>
                  <a:srgbClr val="C3094A"/>
                </a:solidFill>
                <a:latin typeface="Arial"/>
              </a:rPr>
              <a:t>03</a:t>
            </a:r>
          </a:p>
        </p:txBody>
      </p:sp>
      <p:sp>
        <p:nvSpPr>
          <p:cNvPr id="17" name="TextBox 16"/>
          <p:cNvSpPr txBox="1"/>
          <p:nvPr/>
        </p:nvSpPr>
        <p:spPr>
          <a:xfrm>
            <a:off x="1773936" y="3410712"/>
            <a:ext cx="9308592" cy="694944"/>
          </a:xfrm>
          <a:prstGeom prst="rect">
            <a:avLst/>
          </a:prstGeom>
          <a:noFill/>
        </p:spPr>
        <p:txBody>
          <a:bodyPr wrap="square" lIns="0" tIns="0" rIns="0" bIns="0" anchor="t">
            <a:spAutoFit/>
          </a:bodyPr>
          <a:lstStyle/>
          <a:p>
            <a:pPr algn="l">
              <a:lnSpc>
                <a:spcPct val="108000"/>
              </a:lnSpc>
              <a:spcBef>
                <a:spcPts val="0"/>
              </a:spcBef>
              <a:spcAft>
                <a:spcPts val="400"/>
              </a:spcAft>
            </a:pPr>
            <a:r>
              <a:rPr lang="es-PE" sz="1150" b="1" i="0" noProof="0" dirty="0">
                <a:solidFill>
                  <a:srgbClr val="042354"/>
                </a:solidFill>
                <a:latin typeface="Arial"/>
              </a:rPr>
              <a:t>El rediseño como desenlace de la lógica RCM</a:t>
            </a:r>
          </a:p>
          <a:p>
            <a:pPr algn="l">
              <a:lnSpc>
                <a:spcPct val="114000"/>
              </a:lnSpc>
              <a:spcBef>
                <a:spcPts val="0"/>
              </a:spcBef>
              <a:spcAft>
                <a:spcPts val="400"/>
              </a:spcAft>
            </a:pPr>
            <a:r>
              <a:rPr lang="es-PE" sz="1000" b="0" i="0" noProof="0" dirty="0">
                <a:solidFill>
                  <a:srgbClr val="4A5568"/>
                </a:solidFill>
                <a:latin typeface="Arial"/>
              </a:rPr>
              <a:t>Descartadas las tres familias de tareas proactivas y siendo la consecuencia operacional con implicación de seguridad, la norma prescribe el cambio de diseño. El FS se eleva de 0,31 a 2,23 sin modificar el material.</a:t>
            </a:r>
          </a:p>
        </p:txBody>
      </p:sp>
      <p:sp>
        <p:nvSpPr>
          <p:cNvPr id="18" name="Rectangle 17"/>
          <p:cNvSpPr/>
          <p:nvPr/>
        </p:nvSpPr>
        <p:spPr>
          <a:xfrm>
            <a:off x="841248" y="4242816"/>
            <a:ext cx="10515600" cy="859536"/>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19" name="Rectangle 18"/>
          <p:cNvSpPr/>
          <p:nvPr/>
        </p:nvSpPr>
        <p:spPr>
          <a:xfrm>
            <a:off x="841248" y="4242816"/>
            <a:ext cx="45720" cy="859536"/>
          </a:xfrm>
          <a:prstGeom prst="rect">
            <a:avLst/>
          </a:prstGeom>
          <a:solidFill>
            <a:srgbClr val="C309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20" name="TextBox 19"/>
          <p:cNvSpPr txBox="1"/>
          <p:nvPr/>
        </p:nvSpPr>
        <p:spPr>
          <a:xfrm>
            <a:off x="1078992" y="4352544"/>
            <a:ext cx="658368" cy="512064"/>
          </a:xfrm>
          <a:prstGeom prst="rect">
            <a:avLst/>
          </a:prstGeom>
          <a:noFill/>
        </p:spPr>
        <p:txBody>
          <a:bodyPr wrap="square" lIns="0" tIns="0" rIns="0" bIns="0" anchor="t">
            <a:spAutoFit/>
          </a:bodyPr>
          <a:lstStyle/>
          <a:p>
            <a:pPr algn="l">
              <a:lnSpc>
                <a:spcPct val="114000"/>
              </a:lnSpc>
              <a:spcBef>
                <a:spcPts val="0"/>
              </a:spcBef>
              <a:spcAft>
                <a:spcPts val="400"/>
              </a:spcAft>
            </a:pPr>
            <a:r>
              <a:rPr lang="es-PE" sz="1700" b="1" i="0" noProof="0" dirty="0">
                <a:solidFill>
                  <a:srgbClr val="C3094A"/>
                </a:solidFill>
                <a:latin typeface="Arial"/>
              </a:rPr>
              <a:t>04</a:t>
            </a:r>
          </a:p>
        </p:txBody>
      </p:sp>
      <p:sp>
        <p:nvSpPr>
          <p:cNvPr id="21" name="TextBox 20"/>
          <p:cNvSpPr txBox="1"/>
          <p:nvPr/>
        </p:nvSpPr>
        <p:spPr>
          <a:xfrm>
            <a:off x="1773936" y="4343400"/>
            <a:ext cx="9308592" cy="694944"/>
          </a:xfrm>
          <a:prstGeom prst="rect">
            <a:avLst/>
          </a:prstGeom>
          <a:noFill/>
        </p:spPr>
        <p:txBody>
          <a:bodyPr wrap="square" lIns="0" tIns="0" rIns="0" bIns="0" anchor="t">
            <a:spAutoFit/>
          </a:bodyPr>
          <a:lstStyle/>
          <a:p>
            <a:pPr algn="l">
              <a:lnSpc>
                <a:spcPct val="108000"/>
              </a:lnSpc>
              <a:spcBef>
                <a:spcPts val="0"/>
              </a:spcBef>
              <a:spcAft>
                <a:spcPts val="400"/>
              </a:spcAft>
            </a:pPr>
            <a:r>
              <a:rPr lang="es-PE" sz="1150" b="1" i="0" noProof="0" dirty="0">
                <a:solidFill>
                  <a:srgbClr val="042354"/>
                </a:solidFill>
                <a:latin typeface="Arial"/>
              </a:rPr>
              <a:t>La recuperación verificada</a:t>
            </a:r>
          </a:p>
          <a:p>
            <a:pPr algn="l">
              <a:lnSpc>
                <a:spcPct val="114000"/>
              </a:lnSpc>
              <a:spcBef>
                <a:spcPts val="0"/>
              </a:spcBef>
              <a:spcAft>
                <a:spcPts val="400"/>
              </a:spcAft>
            </a:pPr>
            <a:r>
              <a:rPr lang="es-PE" sz="1000" b="0" i="0" noProof="0" dirty="0">
                <a:solidFill>
                  <a:srgbClr val="4A5568"/>
                </a:solidFill>
                <a:latin typeface="Arial"/>
              </a:rPr>
              <a:t>96 000 h sin nuevas ocurrencias frente a las 6,3 que predecía la tasa previa (p = 0,0018). El MTTR del sistema desciende de 6,2 a 3,3 h y se recuperan 0,36 puntos de disponibilidad.</a:t>
            </a:r>
          </a:p>
        </p:txBody>
      </p:sp>
      <p:sp>
        <p:nvSpPr>
          <p:cNvPr id="22" name="Rectangle 21"/>
          <p:cNvSpPr/>
          <p:nvPr/>
        </p:nvSpPr>
        <p:spPr>
          <a:xfrm>
            <a:off x="841248" y="5193792"/>
            <a:ext cx="10515600" cy="457200"/>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23" name="TextBox 22"/>
          <p:cNvSpPr txBox="1"/>
          <p:nvPr/>
        </p:nvSpPr>
        <p:spPr>
          <a:xfrm>
            <a:off x="1060704" y="5248656"/>
            <a:ext cx="10076688" cy="347472"/>
          </a:xfrm>
          <a:prstGeom prst="rect">
            <a:avLst/>
          </a:prstGeom>
          <a:noFill/>
        </p:spPr>
        <p:txBody>
          <a:bodyPr wrap="square" lIns="0" tIns="0" rIns="0" bIns="0" anchor="ctr">
            <a:spAutoFit/>
          </a:bodyPr>
          <a:lstStyle/>
          <a:p>
            <a:pPr algn="l">
              <a:lnSpc>
                <a:spcPct val="110000"/>
              </a:lnSpc>
              <a:spcBef>
                <a:spcPts val="0"/>
              </a:spcBef>
              <a:spcAft>
                <a:spcPts val="400"/>
              </a:spcAft>
            </a:pPr>
            <a:r>
              <a:rPr lang="es-PE" sz="1100" b="1" i="0" noProof="0" dirty="0">
                <a:solidFill>
                  <a:srgbClr val="FFFFFF"/>
                </a:solidFill>
                <a:latin typeface="Arial"/>
              </a:rPr>
              <a:t>El aporte de la ingeniería de confiabilidad no consistió en explicar por qué se fracturaba el eje, sino en eliminar el modo de falla usando la lógica de decisión del RCM.</a:t>
            </a:r>
          </a:p>
        </p:txBody>
      </p:sp>
      <p:pic>
        <p:nvPicPr>
          <p:cNvPr id="24" name="Imagen 23">
            <a:extLst>
              <a:ext uri="{FF2B5EF4-FFF2-40B4-BE49-F238E27FC236}">
                <a16:creationId xmlns:a16="http://schemas.microsoft.com/office/drawing/2014/main" id="{16E0653B-9B52-4D58-64D8-892AD9593C17}"/>
              </a:ext>
            </a:extLst>
          </p:cNvPr>
          <p:cNvPicPr>
            <a:picLocks noChangeAspect="1"/>
          </p:cNvPicPr>
          <p:nvPr/>
        </p:nvPicPr>
        <p:blipFill>
          <a:blip r:embed="rId2"/>
          <a:stretch>
            <a:fillRect/>
          </a:stretch>
        </p:blipFill>
        <p:spPr>
          <a:xfrm>
            <a:off x="158617" y="5943600"/>
            <a:ext cx="5620013" cy="550672"/>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3" name="Rectangle 2"/>
          <p:cNvSpPr/>
          <p:nvPr/>
        </p:nvSpPr>
        <p:spPr>
          <a:xfrm>
            <a:off x="841248" y="2834640"/>
            <a:ext cx="530352" cy="68580"/>
          </a:xfrm>
          <a:prstGeom prst="rect">
            <a:avLst/>
          </a:prstGeom>
          <a:solidFill>
            <a:srgbClr val="16C78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4" name="TextBox 3"/>
          <p:cNvSpPr txBox="1"/>
          <p:nvPr/>
        </p:nvSpPr>
        <p:spPr>
          <a:xfrm>
            <a:off x="841248" y="3127248"/>
            <a:ext cx="10515600" cy="914400"/>
          </a:xfrm>
          <a:prstGeom prst="rect">
            <a:avLst/>
          </a:prstGeom>
          <a:noFill/>
        </p:spPr>
        <p:txBody>
          <a:bodyPr wrap="square" lIns="0" tIns="0" rIns="0" bIns="0" anchor="t">
            <a:spAutoFit/>
          </a:bodyPr>
          <a:lstStyle/>
          <a:p>
            <a:pPr algn="l">
              <a:lnSpc>
                <a:spcPct val="100000"/>
              </a:lnSpc>
              <a:spcBef>
                <a:spcPts val="0"/>
              </a:spcBef>
              <a:spcAft>
                <a:spcPts val="400"/>
              </a:spcAft>
            </a:pPr>
            <a:r>
              <a:rPr lang="es-PE" sz="4200" b="1" i="0" noProof="0" dirty="0">
                <a:solidFill>
                  <a:srgbClr val="FFFFFF"/>
                </a:solidFill>
                <a:latin typeface="Arial"/>
              </a:rPr>
              <a:t>PREGUNTAS</a:t>
            </a:r>
          </a:p>
        </p:txBody>
      </p:sp>
      <p:pic>
        <p:nvPicPr>
          <p:cNvPr id="5" name="Picture 4" descr="pucp_blanco.png"/>
          <p:cNvPicPr>
            <a:picLocks noChangeAspect="1"/>
          </p:cNvPicPr>
          <p:nvPr/>
        </p:nvPicPr>
        <p:blipFill>
          <a:blip r:embed="rId2"/>
          <a:stretch>
            <a:fillRect/>
          </a:stretch>
        </p:blipFill>
        <p:spPr>
          <a:xfrm>
            <a:off x="841248" y="5870448"/>
            <a:ext cx="1389888" cy="4572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04235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3" name="Rectangle 2"/>
          <p:cNvSpPr/>
          <p:nvPr/>
        </p:nvSpPr>
        <p:spPr>
          <a:xfrm>
            <a:off x="841248" y="2834640"/>
            <a:ext cx="530352" cy="68580"/>
          </a:xfrm>
          <a:prstGeom prst="rect">
            <a:avLst/>
          </a:prstGeom>
          <a:solidFill>
            <a:srgbClr val="16C78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lang="es-PE" noProof="0" dirty="0"/>
          </a:p>
        </p:txBody>
      </p:sp>
      <p:sp>
        <p:nvSpPr>
          <p:cNvPr id="4" name="TextBox 3"/>
          <p:cNvSpPr txBox="1"/>
          <p:nvPr/>
        </p:nvSpPr>
        <p:spPr>
          <a:xfrm>
            <a:off x="841248" y="3127248"/>
            <a:ext cx="10515600" cy="914400"/>
          </a:xfrm>
          <a:prstGeom prst="rect">
            <a:avLst/>
          </a:prstGeom>
          <a:noFill/>
        </p:spPr>
        <p:txBody>
          <a:bodyPr wrap="square" lIns="0" tIns="0" rIns="0" bIns="0" anchor="t">
            <a:spAutoFit/>
          </a:bodyPr>
          <a:lstStyle/>
          <a:p>
            <a:pPr algn="l">
              <a:lnSpc>
                <a:spcPct val="100000"/>
              </a:lnSpc>
              <a:spcBef>
                <a:spcPts val="0"/>
              </a:spcBef>
              <a:spcAft>
                <a:spcPts val="400"/>
              </a:spcAft>
            </a:pPr>
            <a:r>
              <a:rPr lang="es-PE" sz="4200" b="1" i="0" noProof="0" dirty="0">
                <a:solidFill>
                  <a:srgbClr val="FFFFFF"/>
                </a:solidFill>
                <a:latin typeface="Arial"/>
              </a:rPr>
              <a:t>MUCHAS GRACIAS</a:t>
            </a:r>
          </a:p>
        </p:txBody>
      </p:sp>
      <p:sp>
        <p:nvSpPr>
          <p:cNvPr id="5" name="TextBox 4"/>
          <p:cNvSpPr txBox="1"/>
          <p:nvPr/>
        </p:nvSpPr>
        <p:spPr>
          <a:xfrm>
            <a:off x="841248" y="4187952"/>
            <a:ext cx="10515600" cy="457200"/>
          </a:xfrm>
          <a:prstGeom prst="rect">
            <a:avLst/>
          </a:prstGeom>
          <a:noFill/>
        </p:spPr>
        <p:txBody>
          <a:bodyPr wrap="square" lIns="0" tIns="0" rIns="0" bIns="0" anchor="t">
            <a:spAutoFit/>
          </a:bodyPr>
          <a:lstStyle/>
          <a:p>
            <a:pPr algn="l">
              <a:lnSpc>
                <a:spcPct val="114000"/>
              </a:lnSpc>
              <a:spcBef>
                <a:spcPts val="0"/>
              </a:spcBef>
              <a:spcAft>
                <a:spcPts val="400"/>
              </a:spcAft>
            </a:pPr>
            <a:r>
              <a:rPr lang="es-PE" sz="1250" b="0" i="0" noProof="0" dirty="0">
                <a:solidFill>
                  <a:srgbClr val="B9C6DC"/>
                </a:solidFill>
                <a:latin typeface="Arial"/>
              </a:rPr>
              <a:t>Samir Aldair Cedillo Preciado  ·  Facultad de Ciencias e Ingeniería</a:t>
            </a:r>
          </a:p>
        </p:txBody>
      </p:sp>
      <p:pic>
        <p:nvPicPr>
          <p:cNvPr id="6" name="Picture 5" descr="pucp_blanco.png"/>
          <p:cNvPicPr>
            <a:picLocks noChangeAspect="1"/>
          </p:cNvPicPr>
          <p:nvPr/>
        </p:nvPicPr>
        <p:blipFill>
          <a:blip r:embed="rId2"/>
          <a:stretch>
            <a:fillRect/>
          </a:stretch>
        </p:blipFill>
        <p:spPr>
          <a:xfrm>
            <a:off x="841248" y="5870448"/>
            <a:ext cx="1389888" cy="457200"/>
          </a:xfrm>
          <a:prstGeom prst="rect">
            <a:avLst/>
          </a:prstGeom>
        </p:spPr>
      </p:pic>
    </p:spTree>
  </p:cSld>
  <p:clrMapOvr>
    <a:masterClrMapping/>
  </p:clrMapOvr>
</p:sld>
</file>

<file path=ppt/theme/theme1.xml><?xml version="1.0" encoding="utf-8"?>
<a:theme xmlns:a="http://schemas.openxmlformats.org/drawingml/2006/main" name="Tema de Office">
  <a:themeElements>
    <a:clrScheme name="PUCP">
      <a:dk1>
        <a:srgbClr val="191919"/>
      </a:dk1>
      <a:lt1>
        <a:srgbClr val="FFFFFF"/>
      </a:lt1>
      <a:dk2>
        <a:srgbClr val="042354"/>
      </a:dk2>
      <a:lt2>
        <a:srgbClr val="E7EDED"/>
      </a:lt2>
      <a:accent1>
        <a:srgbClr val="2841DD"/>
      </a:accent1>
      <a:accent2>
        <a:srgbClr val="FF9929"/>
      </a:accent2>
      <a:accent3>
        <a:srgbClr val="7F32C8"/>
      </a:accent3>
      <a:accent4>
        <a:srgbClr val="F0AE19"/>
      </a:accent4>
      <a:accent5>
        <a:srgbClr val="0A7BC2"/>
      </a:accent5>
      <a:accent6>
        <a:srgbClr val="16C78E"/>
      </a:accent6>
      <a:hlink>
        <a:srgbClr val="004EA8"/>
      </a:hlink>
      <a:folHlink>
        <a:srgbClr val="C309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1749</TotalTime>
  <Words>2678</Words>
  <Application>Microsoft Office PowerPoint</Application>
  <PresentationFormat>Panorámica</PresentationFormat>
  <Paragraphs>306</Paragraphs>
  <Slides>26</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26</vt:i4>
      </vt:variant>
    </vt:vector>
  </HeadingPairs>
  <TitlesOfParts>
    <vt:vector size="29" baseType="lpstr">
      <vt:lpstr>Arial</vt:lpstr>
      <vt:lpstr>Calibri</vt:lpstr>
      <vt:lpstr>Tema de Office</vt:lpstr>
      <vt:lpstr>Presentación de PowerPoint</vt:lpstr>
      <vt:lpstr>Contenido</vt:lpstr>
      <vt:lpstr>Presentación de PowerPoint</vt:lpstr>
      <vt:lpstr>Metas contractuales</vt:lpstr>
      <vt:lpstr>La falla más crítica: fractura por fatiga del eje palier</vt:lpstr>
      <vt:lpstr>Objetivos</vt:lpstr>
      <vt:lpstr>Presentación de PowerPoint</vt:lpstr>
      <vt:lpstr>Etapas de la metodología</vt:lpstr>
      <vt:lpstr>Presentación de PowerPoint</vt:lpstr>
      <vt:lpstr>Focalización: qué modo de falla justifica un tratamiento diferenciado</vt:lpstr>
      <vt:lpstr>Preguntas 1 y 2: función, estándar y falla funcional</vt:lpstr>
      <vt:lpstr>Pregunta 3: quince hipótesis sometidas a verificación</vt:lpstr>
      <vt:lpstr>Verificación de la causa física: fractografía y metalografía</vt:lpstr>
      <vt:lpstr>Verificación por resistencia de materiales</vt:lpstr>
      <vt:lpstr>Del mecanismo físico a la causa latente</vt:lpstr>
      <vt:lpstr>Preguntas 6 y 7: ninguna tarea proactiva cumple ambos criterios</vt:lpstr>
      <vt:lpstr>Presentación de PowerPoint</vt:lpstr>
      <vt:lpstr>La solución: rediseño de la unión soldada del eje palier</vt:lpstr>
      <vt:lpstr>Implementación</vt:lpstr>
      <vt:lpstr>Verificación en el nivel del componente: no recurrencia</vt:lpstr>
      <vt:lpstr>Recuperación de los indicadores del modo de falla</vt:lpstr>
      <vt:lpstr>Verificación en el nivel de la flota: indicadores contractuales</vt:lpstr>
      <vt:lpstr>Evaluación económica del costo evitado</vt:lpstr>
      <vt:lpstr>Conclusiones</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Samir Cedillo Preciado</cp:lastModifiedBy>
  <cp:revision>10</cp:revision>
  <dcterms:modified xsi:type="dcterms:W3CDTF">2026-09-27T14:30:34Z</dcterms:modified>
</cp:coreProperties>
</file>