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8"/>
  </p:notesMasterIdLst>
  <p:sldIdLst>
    <p:sldId id="260" r:id="rId2"/>
    <p:sldId id="261" r:id="rId3"/>
    <p:sldId id="262" r:id="rId4"/>
    <p:sldId id="263" r:id="rId5"/>
    <p:sldId id="264" r:id="rId6"/>
    <p:sldId id="265" r:id="rId7"/>
    <p:sldId id="266" r:id="rId8"/>
    <p:sldId id="267" r:id="rId9"/>
    <p:sldId id="268" r:id="rId10"/>
    <p:sldId id="269" r:id="rId11"/>
    <p:sldId id="270" r:id="rId12"/>
    <p:sldId id="271" r:id="rId13"/>
    <p:sldId id="287" r:id="rId33"/>
    <p:sldId id="272" r:id="rId14"/>
    <p:sldId id="288" r:id="rId34"/>
    <p:sldId id="289" r:id="rId35"/>
    <p:sldId id="290" r:id="rId36"/>
    <p:sldId id="273"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4.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3.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PE" sz="1300" b="1" i="0" noProof="0" dirty="0">
                <a:solidFill>
                  <a:srgbClr val="042354"/>
                </a:solidFill>
                <a:latin typeface="Arial"/>
              </a:rPr>
              <a:t>PONTIFICIA UNIVERSIDAD CATÓLICA DEL PERÚ</a:t>
            </a:r>
          </a:p>
          <a:p>
            <a:pPr algn="l">
              <a:lnSpc>
                <a:spcPct val="114000"/>
              </a:lnSpc>
              <a:spcBef>
                <a:spcPts val="0"/>
              </a:spcBef>
              <a:spcAft>
                <a:spcPts val="400"/>
              </a:spcAft>
            </a:pPr>
            <a:r>
              <a:rPr lang="es-PE"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956816"/>
            <a:ext cx="8275320" cy="1737360"/>
          </a:xfrm>
          <a:prstGeom prst="rect">
            <a:avLst/>
          </a:prstGeom>
          <a:noFill/>
        </p:spPr>
        <p:txBody>
          <a:bodyPr wrap="square" lIns="0" tIns="0" rIns="0" bIns="0" anchor="t">
            <a:spAutoFit/>
          </a:bodyPr>
          <a:lstStyle/>
          <a:p>
            <a:pPr algn="l">
              <a:lnSpc>
                <a:spcPct val="112000"/>
              </a:lnSpc>
              <a:spcBef>
                <a:spcPts val="0"/>
              </a:spcBef>
              <a:spcAft>
                <a:spcPts val="400"/>
              </a:spcAft>
            </a:pPr>
            <a:r>
              <a:rPr lang="es-PE"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AUTOR</a:t>
            </a:r>
          </a:p>
          <a:p>
            <a:pPr algn="l">
              <a:lnSpc>
                <a:spcPct val="114000"/>
              </a:lnSpc>
              <a:spcBef>
                <a:spcPts val="0"/>
              </a:spcBef>
              <a:spcAft>
                <a:spcPts val="400"/>
              </a:spcAft>
            </a:pPr>
            <a:r>
              <a:rPr lang="es-PE"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7A8494"/>
                </a:solidFill>
                <a:latin typeface="Arial"/>
              </a:rPr>
              <a:t>ASESOR</a:t>
            </a:r>
          </a:p>
          <a:p>
            <a:pPr algn="l">
              <a:lnSpc>
                <a:spcPct val="114000"/>
              </a:lnSpc>
              <a:spcBef>
                <a:spcPts val="0"/>
              </a:spcBef>
              <a:spcAft>
                <a:spcPts val="400"/>
              </a:spcAft>
            </a:pPr>
            <a:r>
              <a:rPr lang="es-PE" sz="1300" b="1" i="0" noProof="0" dirty="0">
                <a:solidFill>
                  <a:srgbClr val="042354"/>
                </a:solidFill>
                <a:latin typeface="Arial"/>
              </a:rPr>
              <a:t>Ing. Carlos Alberto Juárez </a:t>
            </a:r>
            <a:r>
              <a:rPr lang="es-PE" sz="1300" b="1" i="0" noProof="0" dirty="0" err="1">
                <a:solidFill>
                  <a:srgbClr val="042354"/>
                </a:solidFill>
                <a:latin typeface="Arial"/>
              </a:rPr>
              <a:t>Aparcana</a:t>
            </a:r>
            <a:endParaRPr lang="es-PE"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Definición del problema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Metodología</a:t>
            </a:r>
          </a:p>
        </p:txBody>
      </p:sp>
      <p:sp>
        <p:nvSpPr>
          <p:cNvPr id="15" name="Rectangle 14"/>
          <p:cNvSpPr/>
          <p:nvPr/>
        </p:nvSpPr>
        <p:spPr>
          <a:xfrm>
            <a:off x="841248" y="3364992"/>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364992"/>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04</a:t>
            </a:r>
          </a:p>
        </p:txBody>
      </p:sp>
      <p:sp>
        <p:nvSpPr>
          <p:cNvPr id="17" name="TextBox 16"/>
          <p:cNvSpPr txBox="1"/>
          <p:nvPr/>
        </p:nvSpPr>
        <p:spPr>
          <a:xfrm>
            <a:off x="1536192" y="3496649"/>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Desarrollo</a:t>
            </a:r>
          </a:p>
        </p:txBody>
      </p:sp>
      <p:sp>
        <p:nvSpPr>
          <p:cNvPr id="18" name="Rectangle 17"/>
          <p:cNvSpPr/>
          <p:nvPr/>
        </p:nvSpPr>
        <p:spPr>
          <a:xfrm>
            <a:off x="841248" y="3931920"/>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3931920"/>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05</a:t>
            </a:r>
          </a:p>
        </p:txBody>
      </p:sp>
      <p:sp>
        <p:nvSpPr>
          <p:cNvPr id="20" name="TextBox 19"/>
          <p:cNvSpPr txBox="1"/>
          <p:nvPr/>
        </p:nvSpPr>
        <p:spPr>
          <a:xfrm>
            <a:off x="1536192" y="3950207"/>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Solución de ingeniería adoptada</a:t>
            </a:r>
          </a:p>
        </p:txBody>
      </p:sp>
      <p:sp>
        <p:nvSpPr>
          <p:cNvPr id="21" name="Rectangle 20"/>
          <p:cNvSpPr/>
          <p:nvPr/>
        </p:nvSpPr>
        <p:spPr>
          <a:xfrm>
            <a:off x="841248" y="4498848"/>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841248" y="449884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06</a:t>
            </a:r>
          </a:p>
        </p:txBody>
      </p:sp>
      <p:sp>
        <p:nvSpPr>
          <p:cNvPr id="23" name="TextBox 22"/>
          <p:cNvSpPr txBox="1"/>
          <p:nvPr/>
        </p:nvSpPr>
        <p:spPr>
          <a:xfrm>
            <a:off x="1536192" y="4517136"/>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Resultados y verificación</a:t>
            </a:r>
          </a:p>
        </p:txBody>
      </p:sp>
      <p:sp>
        <p:nvSpPr>
          <p:cNvPr id="24" name="Rectangle 23"/>
          <p:cNvSpPr/>
          <p:nvPr/>
        </p:nvSpPr>
        <p:spPr>
          <a:xfrm>
            <a:off x="841248" y="5065776"/>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Rectangle 24"/>
          <p:cNvSpPr/>
          <p:nvPr/>
        </p:nvSpPr>
        <p:spPr>
          <a:xfrm>
            <a:off x="841248" y="506577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200" b="1" i="0" noProof="0" dirty="0">
                <a:solidFill>
                  <a:srgbClr val="FFFFFF"/>
                </a:solidFill>
                <a:latin typeface="Arial"/>
              </a:rPr>
              <a:t>07</a:t>
            </a:r>
          </a:p>
        </p:txBody>
      </p:sp>
      <p:sp>
        <p:nvSpPr>
          <p:cNvPr id="26" name="TextBox 25"/>
          <p:cNvSpPr txBox="1"/>
          <p:nvPr/>
        </p:nvSpPr>
        <p:spPr>
          <a:xfrm>
            <a:off x="1536192" y="508406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PE" sz="1400" b="0" i="0" noProof="0" dirty="0">
                <a:solidFill>
                  <a:srgbClr val="042354"/>
                </a:solidFill>
                <a:latin typeface="Arial"/>
              </a:rPr>
              <a:t>Conclusiones</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EL PROBLEMA</a:t>
            </a:r>
          </a:p>
        </p:txBody>
      </p:sp>
      <p:sp>
        <p:nvSpPr>
          <p:cNvPr id="7" name="TextBox 6"/>
          <p:cNvSpPr txBox="1"/>
          <p:nvPr/>
        </p:nvSpPr>
        <p:spPr>
          <a:xfrm>
            <a:off x="892017" y="3815606"/>
            <a:ext cx="1129995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Una flota de diez camiones 980E-5 bajo contrato de disponibilidad, y un modo de falla que impedía alcanzarla durante tres años consecutivos.</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01</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Metas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4</a:t>
            </a:r>
          </a:p>
        </p:txBody>
      </p:sp>
      <p:sp>
        <p:nvSpPr>
          <p:cNvPr id="6" name="TextBox 5"/>
          <p:cNvSpPr txBox="1"/>
          <p:nvPr/>
        </p:nvSpPr>
        <p:spPr>
          <a:xfrm>
            <a:off x="841247" y="1481328"/>
            <a:ext cx="6656833" cy="980397"/>
          </a:xfrm>
          <a:prstGeom prst="rect">
            <a:avLst/>
          </a:prstGeom>
          <a:noFill/>
        </p:spPr>
        <p:txBody>
          <a:bodyPr wrap="square" lIns="0" tIns="0" rIns="0" bIns="0" anchor="t">
            <a:spAutoFit/>
          </a:bodyPr>
          <a:lstStyle/>
          <a:p>
            <a:pPr algn="l">
              <a:lnSpc>
                <a:spcPct val="118000"/>
              </a:lnSpc>
              <a:spcBef>
                <a:spcPts val="0"/>
              </a:spcBef>
              <a:spcAft>
                <a:spcPts val="1000"/>
              </a:spcAft>
            </a:pPr>
            <a:r>
              <a:rPr lang="es-PE" sz="1200" b="0" i="0" noProof="0" dirty="0">
                <a:solidFill>
                  <a:srgbClr val="191919"/>
                </a:solidFill>
                <a:latin typeface="Arial"/>
              </a:rPr>
              <a:t>Flota de diez camiones 980E-5 de 400 t con propulsión eléctrica, cuyo mantenimiento integral está a cargo de una empresa contratista especializada.</a:t>
            </a:r>
          </a:p>
          <a:p>
            <a:pPr algn="l">
              <a:lnSpc>
                <a:spcPct val="118000"/>
              </a:lnSpc>
              <a:spcBef>
                <a:spcPts val="0"/>
              </a:spcBef>
              <a:spcAft>
                <a:spcPts val="0"/>
              </a:spcAft>
            </a:pPr>
            <a:r>
              <a:rPr lang="es-PE" sz="1200" b="0" i="0" noProof="0" dirty="0">
                <a:solidFill>
                  <a:srgbClr val="191919"/>
                </a:solidFill>
                <a:latin typeface="Arial"/>
              </a:rPr>
              <a:t>El desempeño del contrato se mide con tres indicadores: disponibilidad física, MTBF y MTTR. Su incumplimiento expone a penalización.</a:t>
            </a:r>
          </a:p>
        </p:txBody>
      </p:sp>
      <p:sp>
        <p:nvSpPr>
          <p:cNvPr id="7" name="Rectangle 6"/>
          <p:cNvSpPr/>
          <p:nvPr/>
        </p:nvSpPr>
        <p:spPr>
          <a:xfrm>
            <a:off x="841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91,0 %</a:t>
            </a:r>
          </a:p>
          <a:p>
            <a:pPr algn="l">
              <a:lnSpc>
                <a:spcPct val="108000"/>
              </a:lnSpc>
              <a:spcBef>
                <a:spcPts val="0"/>
              </a:spcBef>
              <a:spcAft>
                <a:spcPts val="0"/>
              </a:spcAft>
            </a:pPr>
            <a:r>
              <a:rPr lang="es-PE" sz="950" b="0" i="0" noProof="0" dirty="0">
                <a:solidFill>
                  <a:srgbClr val="4A5568"/>
                </a:solidFill>
                <a:latin typeface="Arial"/>
              </a:rPr>
              <a:t>Meta contractual
de disponibilidad</a:t>
            </a:r>
          </a:p>
        </p:txBody>
      </p:sp>
      <p:sp>
        <p:nvSpPr>
          <p:cNvPr id="10" name="Rectangle 9"/>
          <p:cNvSpPr/>
          <p:nvPr/>
        </p:nvSpPr>
        <p:spPr>
          <a:xfrm>
            <a:off x="3127248" y="2681180"/>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127248" y="2681180"/>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291840" y="2809196"/>
            <a:ext cx="1773936" cy="786383"/>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64,5 h</a:t>
            </a:r>
          </a:p>
          <a:p>
            <a:pPr algn="l">
              <a:lnSpc>
                <a:spcPct val="108000"/>
              </a:lnSpc>
              <a:spcBef>
                <a:spcPts val="0"/>
              </a:spcBef>
              <a:spcAft>
                <a:spcPts val="0"/>
              </a:spcAft>
            </a:pPr>
            <a:r>
              <a:rPr lang="es-PE" sz="950" b="0" i="0" noProof="0" dirty="0">
                <a:solidFill>
                  <a:srgbClr val="4A5568"/>
                </a:solidFill>
                <a:latin typeface="Arial"/>
              </a:rPr>
              <a:t>Objetivo contractual
de MTBF</a:t>
            </a:r>
          </a:p>
        </p:txBody>
      </p:sp>
      <p:sp>
        <p:nvSpPr>
          <p:cNvPr id="14" name="TextBox 13"/>
          <p:cNvSpPr txBox="1"/>
          <p:nvPr/>
        </p:nvSpPr>
        <p:spPr>
          <a:xfrm>
            <a:off x="886968" y="397021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Fuente: elaboración propia sobre el registro de paradas de la flota 980E-5, período 2022-2024.</a:t>
            </a:r>
          </a:p>
        </p:txBody>
      </p:sp>
      <p:sp>
        <p:nvSpPr>
          <p:cNvPr id="15" name="Rectangle 14"/>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05840" y="5192060"/>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incumplimiento de disponibilidad se debe a la frecuencia de fallas y al elevado tiempo de reparación.</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80960" y="1355968"/>
            <a:ext cx="3832057" cy="3823503"/>
          </a:xfrm>
          <a:prstGeom prst="rect">
            <a:avLst/>
          </a:prstGeom>
          <a:noFill/>
          <a:ln>
            <a:noFill/>
          </a:ln>
        </p:spPr>
      </p:pic>
      <p:sp>
        <p:nvSpPr>
          <p:cNvPr id="19" name="Rectangle 9">
            <a:extLst>
              <a:ext uri="{FF2B5EF4-FFF2-40B4-BE49-F238E27FC236}">
                <a16:creationId xmlns:a16="http://schemas.microsoft.com/office/drawing/2014/main" id="{95169B1C-3642-68CC-41FA-01CCEF17B599}"/>
              </a:ext>
            </a:extLst>
          </p:cNvPr>
          <p:cNvSpPr/>
          <p:nvPr/>
        </p:nvSpPr>
        <p:spPr>
          <a:xfrm>
            <a:off x="5394960" y="2671762"/>
            <a:ext cx="2103120" cy="1042415"/>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0">
            <a:extLst>
              <a:ext uri="{FF2B5EF4-FFF2-40B4-BE49-F238E27FC236}">
                <a16:creationId xmlns:a16="http://schemas.microsoft.com/office/drawing/2014/main" id="{83742FE3-EB0A-552D-D6E4-47147413E0E2}"/>
              </a:ext>
            </a:extLst>
          </p:cNvPr>
          <p:cNvSpPr/>
          <p:nvPr/>
        </p:nvSpPr>
        <p:spPr>
          <a:xfrm>
            <a:off x="5394960" y="2671762"/>
            <a:ext cx="2103120"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11">
            <a:extLst>
              <a:ext uri="{FF2B5EF4-FFF2-40B4-BE49-F238E27FC236}">
                <a16:creationId xmlns:a16="http://schemas.microsoft.com/office/drawing/2014/main" id="{A8F23EB6-1C25-9E89-51D2-BABFB8FFD419}"/>
              </a:ext>
            </a:extLst>
          </p:cNvPr>
          <p:cNvSpPr txBox="1"/>
          <p:nvPr/>
        </p:nvSpPr>
        <p:spPr>
          <a:xfrm>
            <a:off x="5559552" y="2860891"/>
            <a:ext cx="1773936"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4,0 h</a:t>
            </a:r>
          </a:p>
          <a:p>
            <a:pPr algn="l">
              <a:lnSpc>
                <a:spcPct val="108000"/>
              </a:lnSpc>
              <a:spcBef>
                <a:spcPts val="0"/>
              </a:spcBef>
              <a:spcAft>
                <a:spcPts val="0"/>
              </a:spcAft>
            </a:pPr>
            <a:r>
              <a:rPr lang="es-PE" sz="950" b="0" i="0" noProof="0" dirty="0">
                <a:solidFill>
                  <a:srgbClr val="4A5568"/>
                </a:solidFill>
                <a:latin typeface="Arial"/>
              </a:rPr>
              <a:t>Objetivo contractual
de MTTR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falla más crítica: fractura por fatiga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5</a:t>
            </a:r>
          </a:p>
        </p:txBody>
      </p:sp>
      <p:pic>
        <p:nvPicPr>
          <p:cNvPr id="6" name="Picture 5" descr="eje_fracturado.png"/>
          <p:cNvPicPr>
            <a:picLocks noChangeAspect="1"/>
          </p:cNvPicPr>
          <p:nvPr/>
        </p:nvPicPr>
        <p:blipFill>
          <a:blip r:embed="rId2"/>
          <a:stretch>
            <a:fillRect/>
          </a:stretch>
        </p:blipFill>
        <p:spPr>
          <a:xfrm>
            <a:off x="841248" y="1466523"/>
            <a:ext cx="5989320" cy="1474361"/>
          </a:xfrm>
          <a:prstGeom prst="rect">
            <a:avLst/>
          </a:prstGeom>
        </p:spPr>
      </p:pic>
      <p:sp>
        <p:nvSpPr>
          <p:cNvPr id="7" name="TextBox 6"/>
          <p:cNvSpPr txBox="1"/>
          <p:nvPr/>
        </p:nvSpPr>
        <p:spPr>
          <a:xfrm>
            <a:off x="841248" y="2999232"/>
            <a:ext cx="598932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fracturado. Informe DIESA-AFA2023085189_00.</a:t>
            </a:r>
          </a:p>
        </p:txBody>
      </p:sp>
      <p:pic>
        <p:nvPicPr>
          <p:cNvPr id="8" name="Picture 7" descr="fractura_tubo.png"/>
          <p:cNvPicPr>
            <a:picLocks noChangeAspect="1"/>
          </p:cNvPicPr>
          <p:nvPr/>
        </p:nvPicPr>
        <p:blipFill>
          <a:blip r:embed="rId3"/>
          <a:stretch>
            <a:fillRect/>
          </a:stretch>
        </p:blipFill>
        <p:spPr>
          <a:xfrm>
            <a:off x="7321902" y="1463040"/>
            <a:ext cx="1495355" cy="1481328"/>
          </a:xfrm>
          <a:prstGeom prst="rect">
            <a:avLst/>
          </a:prstGeom>
        </p:spPr>
      </p:pic>
      <p:pic>
        <p:nvPicPr>
          <p:cNvPr id="9" name="Picture 8" descr="dano_pinon.png"/>
          <p:cNvPicPr>
            <a:picLocks noChangeAspect="1"/>
          </p:cNvPicPr>
          <p:nvPr/>
        </p:nvPicPr>
        <p:blipFill>
          <a:blip r:embed="rId4"/>
          <a:stretch>
            <a:fillRect/>
          </a:stretch>
        </p:blipFill>
        <p:spPr>
          <a:xfrm>
            <a:off x="9272016" y="1539306"/>
            <a:ext cx="2084831" cy="1328794"/>
          </a:xfrm>
          <a:prstGeom prst="rect">
            <a:avLst/>
          </a:prstGeom>
        </p:spPr>
      </p:pic>
      <p:sp>
        <p:nvSpPr>
          <p:cNvPr id="10" name="TextBox 9"/>
          <p:cNvSpPr txBox="1"/>
          <p:nvPr/>
        </p:nvSpPr>
        <p:spPr>
          <a:xfrm>
            <a:off x="7333487" y="2999231"/>
            <a:ext cx="427024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Fractura del tubo y daño propagado al piñón solar y al tren de engranajes.</a:t>
            </a:r>
          </a:p>
        </p:txBody>
      </p:sp>
      <p:sp>
        <p:nvSpPr>
          <p:cNvPr id="11" name="Rectangle 10"/>
          <p:cNvSpPr/>
          <p:nvPr/>
        </p:nvSpPr>
        <p:spPr>
          <a:xfrm>
            <a:off x="841248"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841248"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1005840"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800" b="1" i="0" noProof="0" dirty="0">
                <a:solidFill>
                  <a:srgbClr val="C3094A"/>
                </a:solidFill>
                <a:latin typeface="Arial"/>
              </a:rPr>
              <a:t>13</a:t>
            </a:r>
          </a:p>
          <a:p>
            <a:pPr algn="l">
              <a:lnSpc>
                <a:spcPct val="108000"/>
              </a:lnSpc>
              <a:spcBef>
                <a:spcPts val="0"/>
              </a:spcBef>
              <a:spcAft>
                <a:spcPts val="0"/>
              </a:spcAft>
            </a:pPr>
            <a:r>
              <a:rPr lang="es-PE" sz="950" b="0" i="0" noProof="0" dirty="0">
                <a:solidFill>
                  <a:srgbClr val="4A5568"/>
                </a:solidFill>
                <a:latin typeface="Arial"/>
              </a:rPr>
              <a:t>eventos
en 36 meses</a:t>
            </a:r>
          </a:p>
        </p:txBody>
      </p:sp>
      <p:sp>
        <p:nvSpPr>
          <p:cNvPr id="14" name="Rectangle 13"/>
          <p:cNvSpPr/>
          <p:nvPr/>
        </p:nvSpPr>
        <p:spPr>
          <a:xfrm>
            <a:off x="3474720"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3474720"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3639312"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2400" b="1" i="0" noProof="0" dirty="0">
                <a:solidFill>
                  <a:srgbClr val="C3094A"/>
                </a:solidFill>
                <a:latin typeface="Arial"/>
              </a:rPr>
              <a:t>59,3 h</a:t>
            </a:r>
          </a:p>
          <a:p>
            <a:pPr algn="l">
              <a:lnSpc>
                <a:spcPct val="108000"/>
              </a:lnSpc>
              <a:spcBef>
                <a:spcPts val="0"/>
              </a:spcBef>
              <a:spcAft>
                <a:spcPts val="0"/>
              </a:spcAft>
            </a:pPr>
            <a:r>
              <a:rPr lang="es-PE" sz="950" b="0" i="0" noProof="0" dirty="0">
                <a:solidFill>
                  <a:srgbClr val="4A5568"/>
                </a:solidFill>
                <a:latin typeface="Arial"/>
              </a:rPr>
              <a:t>de detención
por evento</a:t>
            </a:r>
          </a:p>
        </p:txBody>
      </p:sp>
      <p:sp>
        <p:nvSpPr>
          <p:cNvPr id="17" name="Rectangle 16"/>
          <p:cNvSpPr/>
          <p:nvPr/>
        </p:nvSpPr>
        <p:spPr>
          <a:xfrm>
            <a:off x="6108192"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108192"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6272783" y="3529584"/>
            <a:ext cx="2121408" cy="822959"/>
          </a:xfrm>
          <a:prstGeom prst="rect">
            <a:avLst/>
          </a:prstGeom>
          <a:noFill/>
        </p:spPr>
        <p:txBody>
          <a:bodyPr wrap="square" lIns="0" tIns="0" rIns="0" bIns="0" anchor="ctr">
            <a:spAutoFit/>
          </a:bodyPr>
          <a:lstStyle/>
          <a:p>
            <a:pPr algn="l">
              <a:lnSpc>
                <a:spcPct val="95000"/>
              </a:lnSpc>
              <a:spcBef>
                <a:spcPts val="0"/>
              </a:spcBef>
              <a:spcAft>
                <a:spcPts val="300"/>
              </a:spcAft>
            </a:pPr>
            <a:r>
              <a:rPr lang="es-PE" sz="1700" b="1" i="0" noProof="0" dirty="0">
                <a:solidFill>
                  <a:srgbClr val="C3094A"/>
                </a:solidFill>
                <a:latin typeface="Arial"/>
              </a:rPr>
              <a:t>US$ 763 393</a:t>
            </a:r>
          </a:p>
          <a:p>
            <a:pPr algn="l">
              <a:lnSpc>
                <a:spcPct val="108000"/>
              </a:lnSpc>
              <a:spcBef>
                <a:spcPts val="0"/>
              </a:spcBef>
              <a:spcAft>
                <a:spcPts val="0"/>
              </a:spcAft>
            </a:pPr>
            <a:r>
              <a:rPr lang="es-PE" sz="950" b="0" i="0" noProof="0" dirty="0">
                <a:solidFill>
                  <a:srgbClr val="4A5568"/>
                </a:solidFill>
                <a:latin typeface="Arial"/>
              </a:rPr>
              <a:t>por evento: evaluación
y reparación mayor</a:t>
            </a:r>
          </a:p>
        </p:txBody>
      </p:sp>
      <p:sp>
        <p:nvSpPr>
          <p:cNvPr id="20" name="Rectangle 19"/>
          <p:cNvSpPr/>
          <p:nvPr/>
        </p:nvSpPr>
        <p:spPr>
          <a:xfrm>
            <a:off x="8741664" y="3401568"/>
            <a:ext cx="2450592" cy="107899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741664" y="3401568"/>
            <a:ext cx="2450592"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8906256" y="3608985"/>
            <a:ext cx="2121408" cy="664156"/>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C3094A"/>
                </a:solidFill>
                <a:latin typeface="Arial"/>
              </a:rPr>
              <a:t>0,36 </a:t>
            </a:r>
            <a:r>
              <a:rPr lang="es-PE" sz="2200" b="1" noProof="0" dirty="0">
                <a:solidFill>
                  <a:srgbClr val="C3094A"/>
                </a:solidFill>
              </a:rPr>
              <a:t>%</a:t>
            </a:r>
            <a:endParaRPr lang="es-PE" sz="2200" b="1" i="0" noProof="0" dirty="0">
              <a:solidFill>
                <a:srgbClr val="C3094A"/>
              </a:solidFill>
              <a:latin typeface="Arial"/>
            </a:endParaRPr>
          </a:p>
          <a:p>
            <a:pPr algn="l">
              <a:lnSpc>
                <a:spcPct val="108000"/>
              </a:lnSpc>
              <a:spcBef>
                <a:spcPts val="0"/>
              </a:spcBef>
              <a:spcAft>
                <a:spcPts val="0"/>
              </a:spcAft>
            </a:pPr>
            <a:r>
              <a:rPr lang="es-PE" sz="950" b="0" i="0" noProof="0" dirty="0">
                <a:solidFill>
                  <a:srgbClr val="4A5568"/>
                </a:solidFill>
                <a:latin typeface="Arial"/>
              </a:rPr>
              <a:t>de disponibilidad
de flota consumida</a:t>
            </a:r>
          </a:p>
        </p:txBody>
      </p:sp>
      <p:sp>
        <p:nvSpPr>
          <p:cNvPr id="23" name="TextBox 22"/>
          <p:cNvSpPr txBox="1"/>
          <p:nvPr/>
        </p:nvSpPr>
        <p:spPr>
          <a:xfrm>
            <a:off x="841248" y="4700016"/>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Cada evento contó con un análisis de falla (AFA) y con un informe metalográfico externo; pero la falla persistió y reapareció en posiciones ya intervenidas.</a:t>
            </a:r>
          </a:p>
        </p:txBody>
      </p:sp>
      <p:sp>
        <p:nvSpPr>
          <p:cNvPr id="24" name="Rectangle 2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fracturas ocurrían entre 7 000 y 17 000 h, frente a un TBO de referencia de 20 000 h: el eje entregaba una vida inferior a la planificada.</a:t>
            </a:r>
          </a:p>
        </p:txBody>
      </p:sp>
      <p:pic>
        <p:nvPicPr>
          <p:cNvPr id="26" name="Imagen 25">
            <a:extLst>
              <a:ext uri="{FF2B5EF4-FFF2-40B4-BE49-F238E27FC236}">
                <a16:creationId xmlns:a16="http://schemas.microsoft.com/office/drawing/2014/main" id="{3C451C0A-C695-7776-1A43-2E9578874DF5}"/>
              </a:ext>
            </a:extLst>
          </p:cNvPr>
          <p:cNvPicPr>
            <a:picLocks noChangeAspect="1"/>
          </p:cNvPicPr>
          <p:nvPr/>
        </p:nvPicPr>
        <p:blipFill>
          <a:blip r:embed="rId5"/>
          <a:stretch>
            <a:fillRect/>
          </a:stretch>
        </p:blipFill>
        <p:spPr>
          <a:xfrm>
            <a:off x="158617" y="5943600"/>
            <a:ext cx="5620013" cy="5506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6</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PE" sz="900" b="1" i="0" noProof="0" dirty="0">
                <a:solidFill>
                  <a:srgbClr val="8FE4C6"/>
                </a:solidFill>
                <a:latin typeface="Arial"/>
              </a:rPr>
              <a:t>OBJETIVO GENERAL</a:t>
            </a:r>
          </a:p>
          <a:p>
            <a:pPr algn="l">
              <a:lnSpc>
                <a:spcPct val="116000"/>
              </a:lnSpc>
              <a:spcBef>
                <a:spcPts val="0"/>
              </a:spcBef>
              <a:spcAft>
                <a:spcPts val="400"/>
              </a:spcAft>
            </a:pPr>
            <a:r>
              <a:rPr lang="es-PE" sz="1200" b="0" i="0" noProof="0" dirty="0">
                <a:solidFill>
                  <a:srgbClr val="FFFFFF"/>
                </a:solidFill>
                <a:latin typeface="Arial"/>
              </a:rPr>
              <a:t>Recuperar los indicadores de mantenimiento </a:t>
            </a:r>
            <a:r>
              <a:rPr lang="es-PE" sz="1200" noProof="0" dirty="0">
                <a:solidFill>
                  <a:srgbClr val="FFFFFF"/>
                </a:solidFill>
              </a:rPr>
              <a:t>(</a:t>
            </a:r>
            <a:r>
              <a:rPr lang="es-PE" sz="1200" b="0" i="0" noProof="0" dirty="0">
                <a:solidFill>
                  <a:srgbClr val="FFFFFF"/>
                </a:solidFill>
                <a:latin typeface="Arial"/>
              </a:rPr>
              <a:t>MTBF, MTTR y disponibilidad</a:t>
            </a:r>
            <a:r>
              <a:rPr lang="es-PE" sz="1200" noProof="0" dirty="0">
                <a:solidFill>
                  <a:srgbClr val="FFFFFF"/>
                </a:solidFill>
              </a:rPr>
              <a:t>) </a:t>
            </a:r>
            <a:r>
              <a:rPr lang="es-PE"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METODOLOGÍA</a:t>
            </a:r>
          </a:p>
        </p:txBody>
      </p:sp>
      <p:sp>
        <p:nvSpPr>
          <p:cNvPr id="7" name="TextBox 6"/>
          <p:cNvSpPr txBox="1"/>
          <p:nvPr/>
        </p:nvSpPr>
        <p:spPr>
          <a:xfrm>
            <a:off x="841248" y="4041648"/>
            <a:ext cx="1135075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Un proceso de mantenimiento centrado en confiabilidad conforme a la norma SAE JA1011.</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02</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dirty="0">
                <a:solidFill>
                  <a:srgbClr val="042354"/>
                </a:solidFill>
              </a:rPr>
              <a:t>Etapas de la metodología</a:t>
            </a:r>
            <a:endParaRPr lang="es-PE"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8</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1</a:t>
            </a:r>
          </a:p>
          <a:p>
            <a:pPr algn="l">
              <a:lnSpc>
                <a:spcPct val="106000"/>
              </a:lnSpc>
              <a:spcBef>
                <a:spcPts val="0"/>
              </a:spcBef>
              <a:spcAft>
                <a:spcPts val="400"/>
              </a:spcAft>
            </a:pPr>
            <a:r>
              <a:rPr lang="es-PE" sz="1200" b="1" i="0" noProof="0" dirty="0">
                <a:solidFill>
                  <a:srgbClr val="042354"/>
                </a:solidFill>
                <a:latin typeface="Arial"/>
              </a:rPr>
              <a:t>Desempeño previo</a:t>
            </a:r>
          </a:p>
          <a:p>
            <a:pPr algn="l">
              <a:lnSpc>
                <a:spcPct val="112000"/>
              </a:lnSpc>
              <a:spcBef>
                <a:spcPts val="0"/>
              </a:spcBef>
              <a:spcAft>
                <a:spcPts val="400"/>
              </a:spcAft>
            </a:pPr>
            <a:r>
              <a:rPr lang="es-PE"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2</a:t>
            </a:r>
          </a:p>
          <a:p>
            <a:pPr algn="l">
              <a:lnSpc>
                <a:spcPct val="106000"/>
              </a:lnSpc>
              <a:spcBef>
                <a:spcPts val="0"/>
              </a:spcBef>
              <a:spcAft>
                <a:spcPts val="400"/>
              </a:spcAft>
            </a:pPr>
            <a:r>
              <a:rPr lang="es-PE" sz="1200" b="1" i="0" noProof="0" dirty="0">
                <a:solidFill>
                  <a:srgbClr val="042354"/>
                </a:solidFill>
                <a:latin typeface="Arial"/>
              </a:rPr>
              <a:t>Focalización</a:t>
            </a:r>
          </a:p>
          <a:p>
            <a:pPr algn="l">
              <a:lnSpc>
                <a:spcPct val="112000"/>
              </a:lnSpc>
              <a:spcBef>
                <a:spcPts val="0"/>
              </a:spcBef>
              <a:spcAft>
                <a:spcPts val="400"/>
              </a:spcAft>
            </a:pPr>
            <a:r>
              <a:rPr lang="es-PE"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3</a:t>
            </a:r>
          </a:p>
          <a:p>
            <a:pPr algn="l">
              <a:lnSpc>
                <a:spcPct val="106000"/>
              </a:lnSpc>
              <a:spcBef>
                <a:spcPts val="0"/>
              </a:spcBef>
              <a:spcAft>
                <a:spcPts val="400"/>
              </a:spcAft>
            </a:pPr>
            <a:r>
              <a:rPr lang="es-PE" sz="1200" b="1" i="0" noProof="0" dirty="0">
                <a:solidFill>
                  <a:srgbClr val="042354"/>
                </a:solidFill>
                <a:latin typeface="Arial"/>
              </a:rPr>
              <a:t>Proceso RCM</a:t>
            </a:r>
          </a:p>
          <a:p>
            <a:pPr algn="l">
              <a:lnSpc>
                <a:spcPct val="112000"/>
              </a:lnSpc>
              <a:spcBef>
                <a:spcPts val="0"/>
              </a:spcBef>
              <a:spcAft>
                <a:spcPts val="400"/>
              </a:spcAft>
            </a:pPr>
            <a:r>
              <a:rPr lang="es-PE"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PE"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PE" sz="850" b="1" i="0" noProof="0" dirty="0">
                <a:solidFill>
                  <a:srgbClr val="C3094A"/>
                </a:solidFill>
                <a:latin typeface="Arial"/>
              </a:rPr>
              <a:t>ETAPA 4</a:t>
            </a:r>
          </a:p>
          <a:p>
            <a:pPr algn="l">
              <a:lnSpc>
                <a:spcPct val="106000"/>
              </a:lnSpc>
              <a:spcBef>
                <a:spcPts val="0"/>
              </a:spcBef>
              <a:spcAft>
                <a:spcPts val="400"/>
              </a:spcAft>
            </a:pPr>
            <a:r>
              <a:rPr lang="es-PE" sz="1200" b="1" i="0" noProof="0" dirty="0">
                <a:solidFill>
                  <a:srgbClr val="042354"/>
                </a:solidFill>
                <a:latin typeface="Arial"/>
              </a:rPr>
              <a:t>Implementación
y verificación</a:t>
            </a:r>
          </a:p>
          <a:p>
            <a:pPr algn="l">
              <a:lnSpc>
                <a:spcPct val="112000"/>
              </a:lnSpc>
              <a:spcBef>
                <a:spcPts val="0"/>
              </a:spcBef>
              <a:spcAft>
                <a:spcPts val="400"/>
              </a:spcAft>
            </a:pPr>
            <a:r>
              <a:rPr lang="es-PE"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1</a:t>
            </a:r>
          </a:p>
          <a:p>
            <a:pPr algn="l">
              <a:lnSpc>
                <a:spcPct val="112000"/>
              </a:lnSpc>
              <a:spcBef>
                <a:spcPts val="0"/>
              </a:spcBef>
              <a:spcAft>
                <a:spcPts val="400"/>
              </a:spcAft>
            </a:pPr>
            <a:r>
              <a:rPr lang="es-PE"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2</a:t>
            </a:r>
          </a:p>
          <a:p>
            <a:pPr algn="l">
              <a:lnSpc>
                <a:spcPct val="112000"/>
              </a:lnSpc>
              <a:spcBef>
                <a:spcPts val="0"/>
              </a:spcBef>
              <a:spcAft>
                <a:spcPts val="400"/>
              </a:spcAft>
            </a:pPr>
            <a:r>
              <a:rPr lang="es-PE"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3984171"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3</a:t>
            </a:r>
          </a:p>
          <a:p>
            <a:pPr algn="l">
              <a:lnSpc>
                <a:spcPct val="112000"/>
              </a:lnSpc>
              <a:spcBef>
                <a:spcPts val="0"/>
              </a:spcBef>
              <a:spcAft>
                <a:spcPts val="400"/>
              </a:spcAft>
            </a:pPr>
            <a:r>
              <a:rPr lang="es-PE" sz="900" b="0" i="0" noProof="0" dirty="0">
                <a:solidFill>
                  <a:srgbClr val="FFFFFF"/>
                </a:solidFill>
                <a:latin typeface="Arial"/>
              </a:rPr>
              <a:t>Modos de falla · ACR anidado</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4</a:t>
            </a:r>
          </a:p>
          <a:p>
            <a:pPr algn="l">
              <a:lnSpc>
                <a:spcPct val="112000"/>
              </a:lnSpc>
              <a:spcBef>
                <a:spcPts val="0"/>
              </a:spcBef>
              <a:spcAft>
                <a:spcPts val="400"/>
              </a:spcAft>
            </a:pPr>
            <a:r>
              <a:rPr lang="es-PE"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2841DD"/>
                </a:solidFill>
                <a:latin typeface="Arial"/>
              </a:rPr>
              <a:t>5</a:t>
            </a:r>
          </a:p>
          <a:p>
            <a:pPr algn="l">
              <a:lnSpc>
                <a:spcPct val="112000"/>
              </a:lnSpc>
              <a:spcBef>
                <a:spcPts val="0"/>
              </a:spcBef>
              <a:spcAft>
                <a:spcPts val="400"/>
              </a:spcAft>
            </a:pPr>
            <a:r>
              <a:rPr lang="es-PE"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6</a:t>
            </a:r>
          </a:p>
          <a:p>
            <a:pPr algn="l">
              <a:lnSpc>
                <a:spcPct val="112000"/>
              </a:lnSpc>
              <a:spcBef>
                <a:spcPts val="0"/>
              </a:spcBef>
              <a:spcAft>
                <a:spcPts val="400"/>
              </a:spcAft>
            </a:pPr>
            <a:r>
              <a:rPr lang="es-PE"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PE" sz="1900" b="1" i="0" noProof="0" dirty="0">
                <a:solidFill>
                  <a:srgbClr val="FFFFFF"/>
                </a:solidFill>
                <a:latin typeface="Arial"/>
              </a:rPr>
              <a:t>7</a:t>
            </a:r>
          </a:p>
          <a:p>
            <a:pPr algn="l">
              <a:lnSpc>
                <a:spcPct val="112000"/>
              </a:lnSpc>
              <a:spcBef>
                <a:spcPts val="0"/>
              </a:spcBef>
              <a:spcAft>
                <a:spcPts val="400"/>
              </a:spcAft>
            </a:pPr>
            <a:r>
              <a:rPr lang="es-PE" sz="900" b="0" i="0" noProof="0" dirty="0">
                <a:solidFill>
                  <a:srgbClr val="FFFFFF"/>
                </a:solidFill>
                <a:latin typeface="Arial"/>
              </a:rPr>
              <a:t>Acción "a falta de"</a:t>
            </a:r>
          </a:p>
        </p:txBody>
      </p:sp>
      <p:sp>
        <p:nvSpPr>
          <p:cNvPr id="37" name="TextBox 36"/>
          <p:cNvSpPr txBox="1"/>
          <p:nvPr/>
        </p:nvSpPr>
        <p:spPr>
          <a:xfrm>
            <a:off x="841248" y="4864608"/>
            <a:ext cx="1051560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highlight>
                  <a:srgbClr val="FFFF00"/>
                </a:highlight>
                <a:latin typeface="Arial"/>
              </a:rPr>
              <a:t>El ACR se utilizó para responder en profundidad la pregunta 3; el AFA se empleó como herramienta anidada para resolver el nivel físico</a:t>
            </a:r>
            <a:r>
              <a:rPr lang="es-PE" sz="900" b="0" i="0" noProof="0" dirty="0">
                <a:solidFill>
                  <a:srgbClr val="7A8494"/>
                </a:solidFill>
                <a:latin typeface="Arial"/>
              </a:rPr>
              <a:t>.</a:t>
            </a:r>
          </a:p>
        </p:txBody>
      </p:sp>
      <p:sp>
        <p:nvSpPr>
          <p:cNvPr id="38" name="Rectangle 3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9" name="TextBox 3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Las preguntas 6 y 7 constituyen la lógica de decisión: una tarea proactiva se adopta solo si es técnicamente factible y si el beneficio supera el costo de ejecutarla.</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III</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DESARROLLO</a:t>
            </a:r>
          </a:p>
        </p:txBody>
      </p:sp>
      <p:sp>
        <p:nvSpPr>
          <p:cNvPr id="7" name="TextBox 6"/>
          <p:cNvSpPr txBox="1"/>
          <p:nvPr/>
        </p:nvSpPr>
        <p:spPr>
          <a:xfrm>
            <a:off x="841248" y="4041648"/>
            <a:ext cx="11117072" cy="232628"/>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De la brecha contractual a la decisión de cambiar el diseño: focalización, verificación de quince hipótesis causales y descenso al nivel latente.</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03</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Focalización: qué modo de falla justifica un tratamiento diferenciado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10</a:t>
            </a:r>
          </a:p>
        </p:txBody>
      </p:sp>
      <p:pic>
        <p:nvPicPr>
          <p:cNvPr id="6" name="Picture 5" descr="pu_g2_criticidad.png"/>
          <p:cNvPicPr>
            <a:picLocks noChangeAspect="1"/>
          </p:cNvPicPr>
          <p:nvPr/>
        </p:nvPicPr>
        <p:blipFill>
          <a:blip r:embed="rId2"/>
          <a:stretch>
            <a:fillRect/>
          </a:stretch>
        </p:blipFill>
        <p:spPr>
          <a:xfrm>
            <a:off x="566928" y="1437992"/>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3" name="TextBox 12"/>
          <p:cNvSpPr txBox="1"/>
          <p:nvPr/>
        </p:nvSpPr>
        <p:spPr>
          <a:xfrm>
            <a:off x="7242048" y="2249424"/>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Free </a:t>
            </a:r>
            <a:r>
              <a:rPr lang="es-PE" sz="950" b="0" i="0" noProof="0" dirty="0" err="1">
                <a:solidFill>
                  <a:srgbClr val="191919"/>
                </a:solidFill>
                <a:latin typeface="Arial"/>
              </a:rPr>
              <a:t>wheeling</a:t>
            </a:r>
            <a:r>
              <a:rPr lang="es-PE" sz="950" b="0" i="0" noProof="0" dirty="0">
                <a:solidFill>
                  <a:srgbClr val="191919"/>
                </a:solidFill>
                <a:latin typeface="Arial"/>
              </a:rPr>
              <a:t>: pérdida de tracción y retardo dinámico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PE"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Consecuencia consolidada C = </a:t>
            </a:r>
            <a:r>
              <a:rPr lang="es-PE" sz="900" b="0" i="0" noProof="0" dirty="0" err="1">
                <a:solidFill>
                  <a:srgbClr val="7A8494"/>
                </a:solidFill>
                <a:latin typeface="Arial"/>
              </a:rPr>
              <a:t>máx</a:t>
            </a:r>
            <a:r>
              <a:rPr lang="es-PE"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8" name="TextBox 27"/>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acción que corresponde al cuadrante de criticidad máxima es la eliminación de la causa raíz mediante rediseño,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11</a:t>
            </a:r>
          </a:p>
        </p:txBody>
      </p:sp>
      <p:pic>
        <p:nvPicPr>
          <p:cNvPr id="6" name="Picture 5" descr="motor_corte.png"/>
          <p:cNvPicPr>
            <a:picLocks noChangeAspect="1"/>
          </p:cNvPicPr>
          <p:nvPr/>
        </p:nvPicPr>
        <p:blipFill>
          <a:blip r:embed="rId2"/>
          <a:stretch>
            <a:fillRect/>
          </a:stretch>
        </p:blipFill>
        <p:spPr>
          <a:xfrm>
            <a:off x="1078991" y="1444752"/>
            <a:ext cx="5559552" cy="3127248"/>
          </a:xfrm>
          <a:prstGeom prst="rect">
            <a:avLst/>
          </a:prstGeom>
        </p:spPr>
      </p:pic>
      <p:sp>
        <p:nvSpPr>
          <p:cNvPr id="7" name="TextBox 6"/>
          <p:cNvSpPr txBox="1"/>
          <p:nvPr/>
        </p:nvSpPr>
        <p:spPr>
          <a:xfrm>
            <a:off x="841248" y="4663440"/>
            <a:ext cx="603504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Configuración del tren de potencia del motor de tracción. Adaptado de la documentación técnica Komatsu.</a:t>
            </a:r>
          </a:p>
        </p:txBody>
      </p:sp>
      <p:sp>
        <p:nvSpPr>
          <p:cNvPr id="8" name="Rectangle 7"/>
          <p:cNvSpPr/>
          <p:nvPr/>
        </p:nvSpPr>
        <p:spPr>
          <a:xfrm>
            <a:off x="7132320" y="1444752"/>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32320" y="1444752"/>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51775" y="1572768"/>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C3094A"/>
                </a:solidFill>
                <a:latin typeface="Arial"/>
              </a:rPr>
              <a:t>P1 · FUNCIÓN Y ESTÁNDAR</a:t>
            </a:r>
          </a:p>
          <a:p>
            <a:pPr algn="l">
              <a:lnSpc>
                <a:spcPct val="116000"/>
              </a:lnSpc>
              <a:spcBef>
                <a:spcPts val="0"/>
              </a:spcBef>
              <a:spcAft>
                <a:spcPts val="400"/>
              </a:spcAft>
            </a:pPr>
            <a:r>
              <a:rPr lang="es-PE"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132320" y="2999232"/>
            <a:ext cx="4224528" cy="17922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32320" y="2999232"/>
            <a:ext cx="45720" cy="17922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51775" y="3127248"/>
            <a:ext cx="3840480" cy="1554480"/>
          </a:xfrm>
          <a:prstGeom prst="rect">
            <a:avLst/>
          </a:prstGeom>
          <a:noFill/>
        </p:spPr>
        <p:txBody>
          <a:bodyPr wrap="square" lIns="0" tIns="0" rIns="0" bIns="0" anchor="t">
            <a:spAutoFit/>
          </a:bodyPr>
          <a:lstStyle/>
          <a:p>
            <a:pPr algn="l">
              <a:lnSpc>
                <a:spcPct val="114000"/>
              </a:lnSpc>
              <a:spcBef>
                <a:spcPts val="0"/>
              </a:spcBef>
              <a:spcAft>
                <a:spcPts val="500"/>
              </a:spcAft>
            </a:pPr>
            <a:r>
              <a:rPr lang="es-PE" sz="900" b="1" i="0" noProof="0" dirty="0">
                <a:solidFill>
                  <a:srgbClr val="2841DD"/>
                </a:solidFill>
                <a:latin typeface="Arial"/>
              </a:rPr>
              <a:t>P2 · FALLA FUNCIONAL</a:t>
            </a:r>
          </a:p>
          <a:p>
            <a:pPr algn="l">
              <a:lnSpc>
                <a:spcPct val="116000"/>
              </a:lnSpc>
              <a:spcBef>
                <a:spcPts val="0"/>
              </a:spcBef>
              <a:spcAft>
                <a:spcPts val="500"/>
              </a:spcAft>
            </a:pPr>
            <a:r>
              <a:rPr lang="es-PE" sz="1050" b="0" i="0" noProof="0" dirty="0">
                <a:solidFill>
                  <a:srgbClr val="191919"/>
                </a:solidFill>
                <a:latin typeface="Arial"/>
              </a:rPr>
              <a:t>El motor de tracción deja de transmitir el par a la rueda. En operación se observa pérdida de tracción y la rueda queda libre (free </a:t>
            </a:r>
            <a:r>
              <a:rPr lang="es-PE" sz="1050" b="0" i="0" noProof="0" dirty="0" err="1">
                <a:solidFill>
                  <a:srgbClr val="191919"/>
                </a:solidFill>
                <a:latin typeface="Arial"/>
              </a:rPr>
              <a:t>wheeling</a:t>
            </a:r>
            <a:r>
              <a:rPr lang="es-PE" sz="1050" b="0" i="0" noProof="0" dirty="0">
                <a:solidFill>
                  <a:srgbClr val="191919"/>
                </a:solidFill>
                <a:latin typeface="Arial"/>
              </a:rPr>
              <a:t>).</a:t>
            </a:r>
          </a:p>
          <a:p>
            <a:pPr algn="l">
              <a:lnSpc>
                <a:spcPct val="114000"/>
              </a:lnSpc>
              <a:spcBef>
                <a:spcPts val="0"/>
              </a:spcBef>
              <a:spcAft>
                <a:spcPts val="400"/>
              </a:spcAft>
            </a:pPr>
            <a:r>
              <a:rPr lang="es-PE" sz="1000" b="0" i="0" noProof="0" dirty="0">
                <a:solidFill>
                  <a:srgbClr val="4A5568"/>
                </a:solidFill>
                <a:latin typeface="Arial"/>
              </a:rPr>
              <a:t>Evidencia registrada por el monitor del equipo: M1 a 2 544,9 rpm frente a M2 a 10,3 rpm, con par realimentado nulo en el canal afectado (código VHMS 775-1).</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También se incumple la función cuando el motor de tracción no alcanza las 20 000 horas de TBO previstas entre reparaciones mayores.</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 3: quince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12</a:t>
            </a:r>
          </a:p>
        </p:txBody>
      </p:sp>
      <p:sp>
        <p:nvSpPr>
          <p:cNvPr id="6" name="Rectangle 5"/>
          <p:cNvSpPr/>
          <p:nvPr/>
        </p:nvSpPr>
        <p:spPr>
          <a:xfrm>
            <a:off x="841248" y="1463040"/>
            <a:ext cx="1993392" cy="11338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1993392"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987552"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DISEÑO</a:t>
            </a:r>
          </a:p>
          <a:p>
            <a:pPr algn="l">
              <a:lnSpc>
                <a:spcPct val="95000"/>
              </a:lnSpc>
              <a:spcBef>
                <a:spcPts val="0"/>
              </a:spcBef>
              <a:spcAft>
                <a:spcPts val="300"/>
              </a:spcAft>
            </a:pPr>
            <a:r>
              <a:rPr lang="es-PE" sz="2300" b="1" i="0" noProof="0" dirty="0">
                <a:solidFill>
                  <a:srgbClr val="C3094A"/>
                </a:solidFill>
                <a:latin typeface="Arial"/>
              </a:rPr>
              <a:t>3</a:t>
            </a:r>
          </a:p>
          <a:p>
            <a:pPr algn="l">
              <a:lnSpc>
                <a:spcPct val="105000"/>
              </a:lnSpc>
              <a:spcBef>
                <a:spcPts val="0"/>
              </a:spcBef>
              <a:spcAft>
                <a:spcPts val="400"/>
              </a:spcAft>
            </a:pPr>
            <a:r>
              <a:rPr lang="es-PE" sz="950" b="1" i="0" noProof="0" dirty="0">
                <a:solidFill>
                  <a:srgbClr val="C3094A"/>
                </a:solidFill>
                <a:latin typeface="Arial"/>
              </a:rPr>
              <a:t>2 confirmadas</a:t>
            </a:r>
          </a:p>
        </p:txBody>
      </p:sp>
      <p:sp>
        <p:nvSpPr>
          <p:cNvPr id="9" name="Rectangle 8"/>
          <p:cNvSpPr/>
          <p:nvPr/>
        </p:nvSpPr>
        <p:spPr>
          <a:xfrm>
            <a:off x="2971800"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2971800"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3118104"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FABRICACIÓN</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12" name="Rectangle 11"/>
          <p:cNvSpPr/>
          <p:nvPr/>
        </p:nvSpPr>
        <p:spPr>
          <a:xfrm>
            <a:off x="5102352"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5102352"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5248656"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MONTAJE</a:t>
            </a:r>
          </a:p>
          <a:p>
            <a:pPr algn="l">
              <a:lnSpc>
                <a:spcPct val="95000"/>
              </a:lnSpc>
              <a:spcBef>
                <a:spcPts val="0"/>
              </a:spcBef>
              <a:spcAft>
                <a:spcPts val="300"/>
              </a:spcAft>
            </a:pPr>
            <a:r>
              <a:rPr lang="es-PE" sz="2300" b="1" i="0" noProof="0" dirty="0">
                <a:solidFill>
                  <a:srgbClr val="7A8494"/>
                </a:solidFill>
                <a:latin typeface="Arial"/>
              </a:rPr>
              <a:t>2</a:t>
            </a:r>
          </a:p>
          <a:p>
            <a:pPr algn="l">
              <a:lnSpc>
                <a:spcPct val="105000"/>
              </a:lnSpc>
              <a:spcBef>
                <a:spcPts val="0"/>
              </a:spcBef>
              <a:spcAft>
                <a:spcPts val="400"/>
              </a:spcAft>
            </a:pPr>
            <a:r>
              <a:rPr lang="es-PE" sz="950" b="0" i="0" noProof="0" dirty="0">
                <a:solidFill>
                  <a:srgbClr val="7A8494"/>
                </a:solidFill>
                <a:latin typeface="Arial"/>
              </a:rPr>
              <a:t>2 descartadas</a:t>
            </a:r>
          </a:p>
        </p:txBody>
      </p:sp>
      <p:sp>
        <p:nvSpPr>
          <p:cNvPr id="15" name="Rectangle 14"/>
          <p:cNvSpPr/>
          <p:nvPr/>
        </p:nvSpPr>
        <p:spPr>
          <a:xfrm>
            <a:off x="7232904"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7232904"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7379208"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OPERACIÓN</a:t>
            </a:r>
          </a:p>
          <a:p>
            <a:pPr algn="l">
              <a:lnSpc>
                <a:spcPct val="95000"/>
              </a:lnSpc>
              <a:spcBef>
                <a:spcPts val="0"/>
              </a:spcBef>
              <a:spcAft>
                <a:spcPts val="300"/>
              </a:spcAft>
            </a:pPr>
            <a:r>
              <a:rPr lang="es-PE" sz="2300" b="1" i="0" noProof="0" dirty="0">
                <a:solidFill>
                  <a:srgbClr val="7A8494"/>
                </a:solidFill>
                <a:latin typeface="Arial"/>
              </a:rPr>
              <a:t>4</a:t>
            </a:r>
          </a:p>
          <a:p>
            <a:pPr algn="l">
              <a:lnSpc>
                <a:spcPct val="105000"/>
              </a:lnSpc>
              <a:spcBef>
                <a:spcPts val="0"/>
              </a:spcBef>
              <a:spcAft>
                <a:spcPts val="400"/>
              </a:spcAft>
            </a:pPr>
            <a:r>
              <a:rPr lang="es-PE" sz="950" b="0" i="0" noProof="0" dirty="0">
                <a:solidFill>
                  <a:srgbClr val="7A8494"/>
                </a:solidFill>
                <a:latin typeface="Arial"/>
              </a:rPr>
              <a:t>4 descartadas</a:t>
            </a:r>
          </a:p>
        </p:txBody>
      </p:sp>
      <p:sp>
        <p:nvSpPr>
          <p:cNvPr id="18" name="Rectangle 17"/>
          <p:cNvSpPr/>
          <p:nvPr/>
        </p:nvSpPr>
        <p:spPr>
          <a:xfrm>
            <a:off x="9363456" y="1463040"/>
            <a:ext cx="1993392" cy="113385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9363456" y="1463040"/>
            <a:ext cx="199339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9509760" y="1609344"/>
            <a:ext cx="1700784" cy="932688"/>
          </a:xfrm>
          <a:prstGeom prst="rect">
            <a:avLst/>
          </a:prstGeom>
          <a:noFill/>
        </p:spPr>
        <p:txBody>
          <a:bodyPr wrap="square" lIns="0" tIns="0" rIns="0" bIns="0" anchor="t">
            <a:spAutoFit/>
          </a:bodyPr>
          <a:lstStyle/>
          <a:p>
            <a:pPr algn="l">
              <a:lnSpc>
                <a:spcPct val="114000"/>
              </a:lnSpc>
              <a:spcBef>
                <a:spcPts val="0"/>
              </a:spcBef>
              <a:spcAft>
                <a:spcPts val="400"/>
              </a:spcAft>
            </a:pPr>
            <a:r>
              <a:rPr lang="es-PE" sz="900" b="1" i="0" noProof="0" dirty="0">
                <a:solidFill>
                  <a:srgbClr val="4A5568"/>
                </a:solidFill>
                <a:latin typeface="Arial"/>
              </a:rPr>
              <a:t>MANTENIMIENTO</a:t>
            </a:r>
          </a:p>
          <a:p>
            <a:pPr algn="l">
              <a:lnSpc>
                <a:spcPct val="95000"/>
              </a:lnSpc>
              <a:spcBef>
                <a:spcPts val="0"/>
              </a:spcBef>
              <a:spcAft>
                <a:spcPts val="300"/>
              </a:spcAft>
            </a:pPr>
            <a:r>
              <a:rPr lang="es-PE" sz="2300" b="1" i="0" noProof="0" dirty="0">
                <a:solidFill>
                  <a:srgbClr val="7A8494"/>
                </a:solidFill>
                <a:latin typeface="Arial"/>
              </a:rPr>
              <a:t>3</a:t>
            </a:r>
          </a:p>
          <a:p>
            <a:pPr algn="l">
              <a:lnSpc>
                <a:spcPct val="105000"/>
              </a:lnSpc>
              <a:spcBef>
                <a:spcPts val="0"/>
              </a:spcBef>
              <a:spcAft>
                <a:spcPts val="400"/>
              </a:spcAft>
            </a:pPr>
            <a:r>
              <a:rPr lang="es-PE" sz="950" b="0" i="0" noProof="0" dirty="0">
                <a:solidFill>
                  <a:srgbClr val="7A8494"/>
                </a:solidFill>
                <a:latin typeface="Arial"/>
              </a:rPr>
              <a:t>3 descartadas</a:t>
            </a:r>
          </a:p>
        </p:txBody>
      </p:sp>
      <p:sp>
        <p:nvSpPr>
          <p:cNvPr id="21" name="TextBox 20"/>
          <p:cNvSpPr txBox="1"/>
          <p:nvPr/>
        </p:nvSpPr>
        <p:spPr>
          <a:xfrm>
            <a:off x="841248" y="2779776"/>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LAS DOS HIPÓTESIS CONFIRMADAS</a:t>
            </a:r>
          </a:p>
        </p:txBody>
      </p:sp>
      <p:cxnSp>
        <p:nvCxnSpPr>
          <p:cNvPr id="22" name="Connector 21"/>
          <p:cNvCxnSpPr/>
          <p:nvPr/>
        </p:nvCxnSpPr>
        <p:spPr>
          <a:xfrm>
            <a:off x="841248" y="3054096"/>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218688"/>
            <a:ext cx="1051560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4" name="Rectangle 23"/>
          <p:cNvSpPr/>
          <p:nvPr/>
        </p:nvSpPr>
        <p:spPr>
          <a:xfrm>
            <a:off x="841248" y="3218688"/>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5" name="TextBox 24"/>
          <p:cNvSpPr txBox="1"/>
          <p:nvPr/>
        </p:nvSpPr>
        <p:spPr>
          <a:xfrm>
            <a:off x="1097280" y="3346704"/>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C3094A"/>
                </a:solidFill>
                <a:latin typeface="Arial"/>
              </a:rPr>
              <a:t>D1</a:t>
            </a:r>
          </a:p>
          <a:p>
            <a:pPr algn="l">
              <a:lnSpc>
                <a:spcPct val="105000"/>
              </a:lnSpc>
              <a:spcBef>
                <a:spcPts val="0"/>
              </a:spcBef>
              <a:spcAft>
                <a:spcPts val="400"/>
              </a:spcAft>
            </a:pPr>
            <a:r>
              <a:rPr lang="es-PE" sz="900" b="0" i="0" noProof="0" dirty="0">
                <a:solidFill>
                  <a:srgbClr val="4A5568"/>
                </a:solidFill>
                <a:latin typeface="Arial"/>
              </a:rPr>
              <a:t>Causa determinante</a:t>
            </a:r>
          </a:p>
        </p:txBody>
      </p:sp>
      <p:sp>
        <p:nvSpPr>
          <p:cNvPr id="26" name="TextBox 25"/>
          <p:cNvSpPr txBox="1"/>
          <p:nvPr/>
        </p:nvSpPr>
        <p:spPr>
          <a:xfrm>
            <a:off x="2487168" y="3364992"/>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unión soldada de penetración parcial deja una raíz sin fusión que actúa como concentrador de esfuerzos.</a:t>
            </a:r>
          </a:p>
        </p:txBody>
      </p:sp>
      <p:sp>
        <p:nvSpPr>
          <p:cNvPr id="27" name="TextBox 26"/>
          <p:cNvSpPr txBox="1"/>
          <p:nvPr/>
        </p:nvSpPr>
        <p:spPr>
          <a:xfrm>
            <a:off x="9390888" y="3364992"/>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C3094A"/>
                </a:solidFill>
                <a:latin typeface="Arial"/>
              </a:rPr>
              <a:t>FS = 0,31</a:t>
            </a:r>
          </a:p>
        </p:txBody>
      </p:sp>
      <p:sp>
        <p:nvSpPr>
          <p:cNvPr id="28" name="Rectangle 27"/>
          <p:cNvSpPr/>
          <p:nvPr/>
        </p:nvSpPr>
        <p:spPr>
          <a:xfrm>
            <a:off x="841248" y="4187952"/>
            <a:ext cx="1051560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9" name="Rectangle 28"/>
          <p:cNvSpPr/>
          <p:nvPr/>
        </p:nvSpPr>
        <p:spPr>
          <a:xfrm>
            <a:off x="841248" y="4187952"/>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0" name="TextBox 29"/>
          <p:cNvSpPr txBox="1"/>
          <p:nvPr/>
        </p:nvSpPr>
        <p:spPr>
          <a:xfrm>
            <a:off x="1097280" y="4315968"/>
            <a:ext cx="1371600" cy="658368"/>
          </a:xfrm>
          <a:prstGeom prst="rect">
            <a:avLst/>
          </a:prstGeom>
          <a:noFill/>
        </p:spPr>
        <p:txBody>
          <a:bodyPr wrap="square" lIns="0" tIns="0" rIns="0" bIns="0" anchor="t">
            <a:spAutoFit/>
          </a:bodyPr>
          <a:lstStyle/>
          <a:p>
            <a:pPr algn="l">
              <a:lnSpc>
                <a:spcPct val="95000"/>
              </a:lnSpc>
              <a:spcBef>
                <a:spcPts val="0"/>
              </a:spcBef>
              <a:spcAft>
                <a:spcPts val="200"/>
              </a:spcAft>
            </a:pPr>
            <a:r>
              <a:rPr lang="es-PE" sz="1700" b="1" i="0" noProof="0" dirty="0">
                <a:solidFill>
                  <a:srgbClr val="2841DD"/>
                </a:solidFill>
                <a:latin typeface="Arial"/>
              </a:rPr>
              <a:t>D2</a:t>
            </a:r>
          </a:p>
          <a:p>
            <a:pPr algn="l">
              <a:lnSpc>
                <a:spcPct val="105000"/>
              </a:lnSpc>
              <a:spcBef>
                <a:spcPts val="0"/>
              </a:spcBef>
              <a:spcAft>
                <a:spcPts val="400"/>
              </a:spcAft>
            </a:pPr>
            <a:r>
              <a:rPr lang="es-PE" sz="900" b="0" i="0" noProof="0" dirty="0">
                <a:solidFill>
                  <a:srgbClr val="4A5568"/>
                </a:solidFill>
                <a:latin typeface="Arial"/>
              </a:rPr>
              <a:t>Causa contribuyente</a:t>
            </a:r>
          </a:p>
        </p:txBody>
      </p:sp>
      <p:sp>
        <p:nvSpPr>
          <p:cNvPr id="31" name="TextBox 30"/>
          <p:cNvSpPr txBox="1"/>
          <p:nvPr/>
        </p:nvSpPr>
        <p:spPr>
          <a:xfrm>
            <a:off x="2487168" y="4334256"/>
            <a:ext cx="6766560" cy="603504"/>
          </a:xfrm>
          <a:prstGeom prst="rect">
            <a:avLst/>
          </a:prstGeom>
          <a:noFill/>
        </p:spPr>
        <p:txBody>
          <a:bodyPr wrap="square" lIns="0" tIns="0" rIns="0" bIns="0" anchor="ctr">
            <a:spAutoFit/>
          </a:bodyPr>
          <a:lstStyle/>
          <a:p>
            <a:pPr algn="l">
              <a:lnSpc>
                <a:spcPct val="116000"/>
              </a:lnSpc>
              <a:spcBef>
                <a:spcPts val="0"/>
              </a:spcBef>
              <a:spcAft>
                <a:spcPts val="400"/>
              </a:spcAft>
            </a:pPr>
            <a:r>
              <a:rPr lang="es-PE" sz="1150" b="0" i="0" noProof="0" dirty="0">
                <a:solidFill>
                  <a:srgbClr val="191919"/>
                </a:solidFill>
                <a:latin typeface="Arial"/>
              </a:rPr>
              <a:t>La sección resistente del tubo es insuficiente para el par nominal transmitido; su corrección recupera el margen por vía geométrica.</a:t>
            </a:r>
          </a:p>
        </p:txBody>
      </p:sp>
      <p:sp>
        <p:nvSpPr>
          <p:cNvPr id="32" name="TextBox 31"/>
          <p:cNvSpPr txBox="1"/>
          <p:nvPr/>
        </p:nvSpPr>
        <p:spPr>
          <a:xfrm>
            <a:off x="9390888" y="4334256"/>
            <a:ext cx="1737360" cy="585216"/>
          </a:xfrm>
          <a:prstGeom prst="rect">
            <a:avLst/>
          </a:prstGeom>
          <a:noFill/>
        </p:spPr>
        <p:txBody>
          <a:bodyPr wrap="square" lIns="0" tIns="0" rIns="0" bIns="0" anchor="ctr">
            <a:spAutoFit/>
          </a:bodyPr>
          <a:lstStyle/>
          <a:p>
            <a:pPr algn="r">
              <a:lnSpc>
                <a:spcPct val="114000"/>
              </a:lnSpc>
              <a:spcBef>
                <a:spcPts val="0"/>
              </a:spcBef>
              <a:spcAft>
                <a:spcPts val="400"/>
              </a:spcAft>
            </a:pPr>
            <a:r>
              <a:rPr lang="es-PE" sz="1600" b="1" i="0" noProof="0" dirty="0">
                <a:solidFill>
                  <a:srgbClr val="2841DD"/>
                </a:solidFill>
                <a:latin typeface="Arial"/>
              </a:rPr>
              <a:t>FS = 2,23</a:t>
            </a:r>
          </a:p>
        </p:txBody>
      </p:sp>
      <p:sp>
        <p:nvSpPr>
          <p:cNvPr id="33" name="Rectangle 3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4" name="TextBox 33"/>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Una hipótesis se descartó solo cuando resultó incompatible con la evidencia, no por ser menos probable.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13</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rIns="0" tIns="0" bIns="0" anchor="t">
            <a:spAutoFit/>
          </a:bodyPr>
          <a:lstStyle/>
          <a:p>
            <a:pPr algn="l">
              <a:lnSpc>
                <a:spcPct val="110000"/>
              </a:lnSpc>
              <a:spcBef>
                <a:spcPts val="0"/>
              </a:spcBef>
              <a:spcAft>
                <a:spcPts val="300"/>
              </a:spcAft>
            </a:pPr>
            <a:r>
              <a:rPr sz="900" b="1" i="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024128" y="1773936"/>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C3094A"/>
                </a:solidFill>
                <a:latin typeface="Arial"/>
              </a:rPr>
              <a:t>AFA de campo</a:t>
            </a:r>
          </a:p>
          <a:p>
            <a:pPr algn="l">
              <a:lnSpc>
                <a:spcPct val="105000"/>
              </a:lnSpc>
              <a:spcBef>
                <a:spcPts val="0"/>
              </a:spcBef>
              <a:spcAft>
                <a:spcPts val="0"/>
              </a:spcAft>
            </a:pPr>
            <a:r>
              <a:rPr sz="850" b="0" i="0">
                <a:solidFill>
                  <a:srgbClr val="4A5568"/>
                </a:solidFill>
                <a:latin typeface="Arial"/>
              </a:rPr>
              <a:t>Inspección visual del fabricante (portadas en el Anexo E)</a:t>
            </a:r>
          </a:p>
        </p:txBody>
      </p:sp>
      <p:sp>
        <p:nvSpPr>
          <p:cNvPr id="43" name="TextBox 42"/>
          <p:cNvSpPr txBox="1"/>
          <p:nvPr/>
        </p:nvSpPr>
        <p:spPr>
          <a:xfrm>
            <a:off x="3355848" y="1664208"/>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Superficie de fractura de cada evento</a:t>
            </a:r>
          </a:p>
        </p:txBody>
      </p:sp>
      <p:sp>
        <p:nvSpPr>
          <p:cNvPr id="44" name="TextBox 43"/>
          <p:cNvSpPr txBox="1"/>
          <p:nvPr/>
        </p:nvSpPr>
        <p:spPr>
          <a:xfrm>
            <a:off x="6144768" y="1664208"/>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Misma firma en todos: 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85248" y="1819656"/>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CONFIRMA</a:t>
            </a:r>
          </a:p>
          <a:p>
            <a:pPr algn="ctr">
              <a:lnSpc>
                <a:spcPct val="100000"/>
              </a:lnSpc>
              <a:spcBef>
                <a:spcPts val="0"/>
              </a:spcBef>
              <a:spcAft>
                <a:spcPts val="0"/>
              </a:spcAft>
            </a:pPr>
            <a:r>
              <a:rPr sz="800" b="1" i="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24128" y="2633472"/>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DIESA-AFA2023085189_00</a:t>
            </a:r>
          </a:p>
          <a:p>
            <a:pPr algn="l">
              <a:lnSpc>
                <a:spcPct val="105000"/>
              </a:lnSpc>
              <a:spcBef>
                <a:spcPts val="0"/>
              </a:spcBef>
              <a:spcAft>
                <a:spcPts val="0"/>
              </a:spcAft>
            </a:pPr>
            <a:r>
              <a:rPr sz="850" b="0" i="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85248" y="2679191"/>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024128" y="3493008"/>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042354"/>
                </a:solidFill>
                <a:latin typeface="Arial"/>
              </a:rPr>
              <a:t>AFA 01-23040</a:t>
            </a:r>
          </a:p>
          <a:p>
            <a:pPr algn="l">
              <a:lnSpc>
                <a:spcPct val="105000"/>
              </a:lnSpc>
              <a:spcBef>
                <a:spcPts val="0"/>
              </a:spcBef>
              <a:spcAft>
                <a:spcPts val="0"/>
              </a:spcAft>
            </a:pPr>
            <a:r>
              <a:rPr sz="850" b="0" i="0">
                <a:solidFill>
                  <a:srgbClr val="4A5568"/>
                </a:solidFill>
                <a:latin typeface="Arial"/>
              </a:rPr>
              <a:t>CM403 · OS 100244324</a:t>
            </a:r>
          </a:p>
        </p:txBody>
      </p:sp>
      <p:sp>
        <p:nvSpPr>
          <p:cNvPr id="57" name="TextBox 56"/>
          <p:cNvSpPr txBox="1"/>
          <p:nvPr/>
        </p:nvSpPr>
        <p:spPr>
          <a:xfrm>
            <a:off x="3355848" y="3383279"/>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Data del equipo: carga útil, velocidad, peso suspendido y grado efectivo (may-2022 a abr-2023)</a:t>
            </a:r>
          </a:p>
        </p:txBody>
      </p:sp>
      <p:sp>
        <p:nvSpPr>
          <p:cNvPr id="58" name="TextBox 57"/>
          <p:cNvSpPr txBox="1"/>
          <p:nvPr/>
        </p:nvSpPr>
        <p:spPr>
          <a:xfrm>
            <a:off x="6144768" y="3383279"/>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Operación dentro de parámetros: 366,7 t de carga útil media, sin ciclos sobre el 120 %, sin sobrevelocidad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985248" y="3538727"/>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DESCARTA</a:t>
            </a:r>
          </a:p>
          <a:p>
            <a:pPr algn="ctr">
              <a:lnSpc>
                <a:spcPct val="100000"/>
              </a:lnSpc>
              <a:spcBef>
                <a:spcPts val="0"/>
              </a:spcBef>
              <a:spcAft>
                <a:spcPts val="0"/>
              </a:spcAft>
            </a:pPr>
            <a:r>
              <a:rPr sz="800" b="1" i="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4128" y="4352544"/>
            <a:ext cx="2194560" cy="603503"/>
          </a:xfrm>
          <a:prstGeom prst="rect">
            <a:avLst/>
          </a:prstGeom>
          <a:noFill/>
        </p:spPr>
        <p:txBody>
          <a:bodyPr wrap="square" lIns="0" rIns="0" tIns="0" bIns="0" anchor="t">
            <a:spAutoFit/>
          </a:bodyPr>
          <a:lstStyle/>
          <a:p>
            <a:pPr algn="l">
              <a:lnSpc>
                <a:spcPct val="100000"/>
              </a:lnSpc>
              <a:spcBef>
                <a:spcPts val="0"/>
              </a:spcBef>
              <a:spcAft>
                <a:spcPts val="200"/>
              </a:spcAft>
            </a:pPr>
            <a:r>
              <a:rPr sz="1150" b="1" i="0">
                <a:solidFill>
                  <a:srgbClr val="2841DD"/>
                </a:solidFill>
                <a:latin typeface="Arial"/>
              </a:rPr>
              <a:t>Recomendación común</a:t>
            </a:r>
          </a:p>
          <a:p>
            <a:pPr algn="l">
              <a:lnSpc>
                <a:spcPct val="105000"/>
              </a:lnSpc>
              <a:spcBef>
                <a:spcPts val="0"/>
              </a:spcBef>
              <a:spcAft>
                <a:spcPts val="0"/>
              </a:spcAft>
            </a:pPr>
            <a:r>
              <a:rPr sz="850" b="0" i="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4A5568"/>
                </a:solidFill>
                <a:latin typeface="Arial"/>
              </a:rPr>
              <a:t>Acción propuesta al cierre de los análisis</a:t>
            </a:r>
          </a:p>
        </p:txBody>
      </p:sp>
      <p:sp>
        <p:nvSpPr>
          <p:cNvPr id="65" name="TextBox 64"/>
          <p:cNvSpPr txBox="1"/>
          <p:nvPr/>
        </p:nvSpPr>
        <p:spPr>
          <a:xfrm>
            <a:off x="6144768" y="4242816"/>
            <a:ext cx="3657600" cy="786384"/>
          </a:xfrm>
          <a:prstGeom prst="rect">
            <a:avLst/>
          </a:prstGeom>
          <a:noFill/>
        </p:spPr>
        <p:txBody>
          <a:bodyPr wrap="square" lIns="0" rIns="0" tIns="0" bIns="0" anchor="ctr">
            <a:spAutoFit/>
          </a:bodyPr>
          <a:lstStyle/>
          <a:p>
            <a:pPr algn="l">
              <a:lnSpc>
                <a:spcPct val="112000"/>
              </a:lnSpc>
              <a:spcBef>
                <a:spcPts val="0"/>
              </a:spcBef>
              <a:spcAft>
                <a:spcPts val="0"/>
              </a:spcAft>
            </a:pPr>
            <a:r>
              <a:rPr sz="1000" b="0" i="0">
                <a:solidFill>
                  <a:srgbClr val="191919"/>
                </a:solidFill>
                <a:latin typeface="Arial"/>
              </a:rPr>
              <a:t>Modificar el proceso de soldadura y eliminar el concentrador; el fabricante la adoptó como P/N 58F-14-00331.</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985248" y="4398264"/>
            <a:ext cx="1225296" cy="47548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Arial"/>
              </a:rPr>
              <a:t>ORIGEN DEL</a:t>
            </a:r>
          </a:p>
          <a:p>
            <a:pPr algn="ctr">
              <a:lnSpc>
                <a:spcPct val="100000"/>
              </a:lnSpc>
              <a:spcBef>
                <a:spcPts val="0"/>
              </a:spcBef>
              <a:spcAft>
                <a:spcPts val="0"/>
              </a:spcAft>
            </a:pPr>
            <a:r>
              <a:rPr sz="800" b="1" i="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Cada AFA resolvió bien el mecanismo de su evento, pero ninguno consolidó la recurrencia: ese vacío es la causa latente que se retoma más adelante.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de la causa física: </a:t>
            </a:r>
            <a:r>
              <a:rPr lang="es-PE" sz="2200" b="1" i="0" noProof="0" dirty="0" err="1">
                <a:solidFill>
                  <a:srgbClr val="042354"/>
                </a:solidFill>
                <a:latin typeface="Arial"/>
              </a:rPr>
              <a:t>fractografía</a:t>
            </a:r>
            <a:r>
              <a:rPr lang="es-PE" sz="2200" b="1" i="0" noProof="0" dirty="0">
                <a:solidFill>
                  <a:srgbClr val="042354"/>
                </a:solidFill>
                <a:latin typeface="Arial"/>
              </a:rPr>
              <a:t>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14</a:t>
            </a:r>
          </a:p>
        </p:txBody>
      </p:sp>
      <p:pic>
        <p:nvPicPr>
          <p:cNvPr id="6" name="Picture 5" descr="fractografia.png"/>
          <p:cNvPicPr>
            <a:picLocks noChangeAspect="1"/>
          </p:cNvPicPr>
          <p:nvPr/>
        </p:nvPicPr>
        <p:blipFill>
          <a:blip r:embed="rId2"/>
          <a:stretch>
            <a:fillRect/>
          </a:stretch>
        </p:blipFill>
        <p:spPr>
          <a:xfrm>
            <a:off x="1550876" y="1444752"/>
            <a:ext cx="3518502" cy="2468880"/>
          </a:xfrm>
          <a:prstGeom prst="rect">
            <a:avLst/>
          </a:prstGeom>
        </p:spPr>
      </p:pic>
      <p:sp>
        <p:nvSpPr>
          <p:cNvPr id="7" name="TextBox 6"/>
          <p:cNvSpPr txBox="1"/>
          <p:nvPr/>
        </p:nvSpPr>
        <p:spPr>
          <a:xfrm>
            <a:off x="841248" y="3968496"/>
            <a:ext cx="493776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Superficie de fractura en F1: marcas de trinquete en el diámetro menor, zona de propagación estable y área de fractura final de ~20 %.</a:t>
            </a:r>
          </a:p>
        </p:txBody>
      </p:sp>
      <p:pic>
        <p:nvPicPr>
          <p:cNvPr id="8" name="Picture 7" descr="macrografia.png"/>
          <p:cNvPicPr>
            <a:picLocks noChangeAspect="1"/>
          </p:cNvPicPr>
          <p:nvPr/>
        </p:nvPicPr>
        <p:blipFill>
          <a:blip r:embed="rId3"/>
          <a:stretch>
            <a:fillRect/>
          </a:stretch>
        </p:blipFill>
        <p:spPr>
          <a:xfrm>
            <a:off x="6053328" y="1659818"/>
            <a:ext cx="2724912" cy="2038747"/>
          </a:xfrm>
          <a:prstGeom prst="rect">
            <a:avLst/>
          </a:prstGeom>
        </p:spPr>
      </p:pic>
      <p:pic>
        <p:nvPicPr>
          <p:cNvPr id="9" name="Picture 8" descr="micro_base.png"/>
          <p:cNvPicPr>
            <a:picLocks noChangeAspect="1"/>
          </p:cNvPicPr>
          <p:nvPr/>
        </p:nvPicPr>
        <p:blipFill>
          <a:blip r:embed="rId4"/>
          <a:stretch>
            <a:fillRect/>
          </a:stretch>
        </p:blipFill>
        <p:spPr>
          <a:xfrm>
            <a:off x="9006840" y="1621232"/>
            <a:ext cx="1115568" cy="835759"/>
          </a:xfrm>
          <a:prstGeom prst="rect">
            <a:avLst/>
          </a:prstGeom>
        </p:spPr>
      </p:pic>
      <p:pic>
        <p:nvPicPr>
          <p:cNvPr id="10" name="Picture 9" descr="micro_soldadura.png"/>
          <p:cNvPicPr>
            <a:picLocks noChangeAspect="1"/>
          </p:cNvPicPr>
          <p:nvPr/>
        </p:nvPicPr>
        <p:blipFill>
          <a:blip r:embed="rId5"/>
          <a:stretch>
            <a:fillRect/>
          </a:stretch>
        </p:blipFill>
        <p:spPr>
          <a:xfrm>
            <a:off x="10222992" y="1620774"/>
            <a:ext cx="1115568" cy="836675"/>
          </a:xfrm>
          <a:prstGeom prst="rect">
            <a:avLst/>
          </a:prstGeom>
        </p:spPr>
      </p:pic>
      <p:pic>
        <p:nvPicPr>
          <p:cNvPr id="11" name="Picture 10" descr="grieta_secundaria.png"/>
          <p:cNvPicPr>
            <a:picLocks noChangeAspect="1"/>
          </p:cNvPicPr>
          <p:nvPr/>
        </p:nvPicPr>
        <p:blipFill>
          <a:blip r:embed="rId6"/>
          <a:stretch>
            <a:fillRect/>
          </a:stretch>
        </p:blipFill>
        <p:spPr>
          <a:xfrm>
            <a:off x="9006840" y="2787666"/>
            <a:ext cx="2331720" cy="1063210"/>
          </a:xfrm>
          <a:prstGeom prst="rect">
            <a:avLst/>
          </a:prstGeom>
        </p:spPr>
      </p:pic>
      <p:sp>
        <p:nvSpPr>
          <p:cNvPr id="12" name="TextBox 11"/>
          <p:cNvSpPr txBox="1"/>
          <p:nvPr/>
        </p:nvSpPr>
        <p:spPr>
          <a:xfrm>
            <a:off x="6053328" y="3968496"/>
            <a:ext cx="530352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Macrografía de la región de falla: discontinuidad tipo grieta en la raíz de la unión, punto de iniciación y zonas MS / ZAC / MB. Microestructuras a 40×.</a:t>
            </a:r>
          </a:p>
        </p:txBody>
      </p:sp>
      <p:sp>
        <p:nvSpPr>
          <p:cNvPr id="13" name="TextBox 12"/>
          <p:cNvSpPr txBox="1"/>
          <p:nvPr/>
        </p:nvSpPr>
        <p:spPr>
          <a:xfrm>
            <a:off x="841248" y="4443984"/>
            <a:ext cx="10515600" cy="640080"/>
          </a:xfrm>
          <a:prstGeom prst="rect">
            <a:avLst/>
          </a:prstGeom>
          <a:noFill/>
        </p:spPr>
        <p:txBody>
          <a:bodyPr wrap="square" lIns="0" tIns="0" rIns="0" bIns="0" anchor="t">
            <a:spAutoFit/>
          </a:bodyPr>
          <a:lstStyle/>
          <a:p>
            <a:pPr algn="l">
              <a:lnSpc>
                <a:spcPct val="116000"/>
              </a:lnSpc>
              <a:spcBef>
                <a:spcPts val="0"/>
              </a:spcBef>
              <a:spcAft>
                <a:spcPts val="400"/>
              </a:spcAft>
            </a:pPr>
            <a:r>
              <a:rPr lang="es-PE" sz="1100" b="0" i="0" noProof="0" dirty="0">
                <a:solidFill>
                  <a:srgbClr val="191919"/>
                </a:solidFill>
                <a:latin typeface="Arial"/>
              </a:rPr>
              <a:t>La nucleación se produce en la raíz de la unión soldada y propaga radialmente hacia el exterior. La composición química, la dureza y la resistencia a la tracción cumplen la especificación ASTM A618 Gr. III: el material no condiciona el resultado.</a:t>
            </a:r>
          </a:p>
        </p:txBody>
      </p:sp>
      <p:sp>
        <p:nvSpPr>
          <p:cNvPr id="14" name="Rectangle 1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La extensión reducida de la zona de rotura final indica que el componente operó largo tiempo con la discontinuidad en propagación.   ·   Informe DIESA-AFA2023085189_00.</a:t>
            </a:r>
          </a:p>
        </p:txBody>
      </p:sp>
      <p:pic>
        <p:nvPicPr>
          <p:cNvPr id="16" name="Imagen 15">
            <a:extLst>
              <a:ext uri="{FF2B5EF4-FFF2-40B4-BE49-F238E27FC236}">
                <a16:creationId xmlns:a16="http://schemas.microsoft.com/office/drawing/2014/main" id="{1963A53C-5B57-A08E-A42C-1D8693638160}"/>
              </a:ext>
            </a:extLst>
          </p:cNvPr>
          <p:cNvPicPr>
            <a:picLocks noChangeAspect="1"/>
          </p:cNvPicPr>
          <p:nvPr/>
        </p:nvPicPr>
        <p:blipFill>
          <a:blip r:embed="rId7"/>
          <a:stretch>
            <a:fillRect/>
          </a:stretch>
        </p:blipFill>
        <p:spPr>
          <a:xfrm>
            <a:off x="158617" y="5943600"/>
            <a:ext cx="5620013" cy="5506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del material no conforme (F1)</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15</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TABLA H1 · COMPOSICIÓN QUÍMICA (%)</a:t>
            </a:r>
          </a:p>
        </p:txBody>
      </p:sp>
      <p:graphicFrame>
        <p:nvGraphicFramePr>
          <p:cNvPr id="37" name="Table 36"/>
          <p:cNvGraphicFramePr>
            <a:graphicFrameLocks noGrp="1"/>
          </p:cNvGraphicFramePr>
          <p:nvPr/>
        </p:nvGraphicFramePr>
        <p:xfrm>
          <a:off x="841248" y="1700784"/>
          <a:ext cx="5120640" cy="2916936"/>
        </p:xfrm>
        <a:graphic>
          <a:graphicData uri="http://schemas.openxmlformats.org/drawingml/2006/table">
            <a:tbl>
              <a:tblPr firstRow="1" bandRow="0">
                <a:tableStyleId>{2D5ABB26-0587-4C30-8999-92F81FD0307C}</a:tableStyleId>
              </a:tblPr>
              <a:tblGrid>
                <a:gridCol w="1280160"/>
                <a:gridCol w="1920240"/>
                <a:gridCol w="1920240"/>
              </a:tblGrid>
              <a:tr h="265176">
                <a:tc>
                  <a:txBody>
                    <a:bodyPr/>
                    <a:lstStyle/>
                    <a:p>
                      <a:pPr algn="l"/>
                      <a:r>
                        <a:rPr sz="950" b="1">
                          <a:solidFill>
                            <a:srgbClr val="FFFFFF"/>
                          </a:solidFill>
                          <a:latin typeface="Arial"/>
                        </a:rPr>
                        <a:t>Elemento</a:t>
                      </a:r>
                    </a:p>
                  </a:txBody>
                  <a:tcPr marL="91440" marR="91440" marT="18288" marB="18288" anchor="ctr">
                    <a:lnL w="0">
                      <a:noFill/>
                    </a:lnL>
                    <a:lnR w="0">
                      <a:noFill/>
                    </a:lnR>
                    <a:lnT w="0">
                      <a:noFill/>
                    </a:lnT>
                    <a:lnB w="6350">
                      <a:solidFill>
                        <a:srgbClr val="CFD6DF"/>
                      </a:solidFill>
                    </a:lnB>
                    <a:solidFill>
                      <a:srgbClr val="042354"/>
                    </a:solidFill>
                  </a:tcPr>
                </a:tc>
                <a:tc>
                  <a:txBody>
                    <a:bodyPr/>
                    <a:lstStyle/>
                    <a:p>
                      <a:pPr algn="ctr"/>
                      <a:r>
                        <a:rPr sz="950" b="1">
                          <a:solidFill>
                            <a:srgbClr val="FFFFFF"/>
                          </a:solidFill>
                          <a:latin typeface="Arial"/>
                        </a:rPr>
                        <a:t>ASTM A618 Gr. III</a:t>
                      </a:r>
                    </a:p>
                  </a:txBody>
                  <a:tcPr marL="91440" marR="91440" marT="18288" marB="18288" anchor="ctr">
                    <a:lnL w="0">
                      <a:noFill/>
                    </a:lnL>
                    <a:lnR w="0">
                      <a:noFill/>
                    </a:lnR>
                    <a:lnT w="0">
                      <a:noFill/>
                    </a:lnT>
                    <a:lnB w="6350">
                      <a:solidFill>
                        <a:srgbClr val="CFD6DF"/>
                      </a:solidFill>
                    </a:lnB>
                    <a:solidFill>
                      <a:srgbClr val="042354"/>
                    </a:solidFill>
                  </a:tcPr>
                </a:tc>
                <a:tc>
                  <a:txBody>
                    <a:bodyPr/>
                    <a:lstStyle/>
                    <a:p>
                      <a:pPr algn="ctr"/>
                      <a:r>
                        <a:rPr sz="950" b="1">
                          <a:solidFill>
                            <a:srgbClr val="FFFFFF"/>
                          </a:solidFill>
                          <a:latin typeface="Arial"/>
                        </a:rPr>
                        <a:t>Muestra del eje</a:t>
                      </a:r>
                    </a:p>
                  </a:txBody>
                  <a:tcPr marL="91440" marR="91440" marT="18288" marB="18288" anchor="ctr">
                    <a:lnL w="0">
                      <a:noFill/>
                    </a:lnL>
                    <a:lnR w="0">
                      <a:noFill/>
                    </a:lnR>
                    <a:lnT w="0">
                      <a:noFill/>
                    </a:lnT>
                    <a:lnB w="6350">
                      <a:solidFill>
                        <a:srgbClr val="CFD6DF"/>
                      </a:solidFill>
                    </a:lnB>
                    <a:solidFill>
                      <a:srgbClr val="042354"/>
                    </a:solidFill>
                  </a:tcPr>
                </a:tc>
              </a:tr>
              <a:tr h="265176">
                <a:tc>
                  <a:txBody>
                    <a:bodyPr/>
                    <a:lstStyle/>
                    <a:p>
                      <a:pPr algn="l"/>
                      <a:r>
                        <a:rPr sz="1000" b="1">
                          <a:solidFill>
                            <a:srgbClr val="191919"/>
                          </a:solidFill>
                          <a:latin typeface="Arial"/>
                        </a:rPr>
                        <a:t>C</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0,26</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0,22</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Mn</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1,30 máx.</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0,79</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P</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0,035</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0,006</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S</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0,035</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0,012</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Si</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0,33</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0,27</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Cr</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0,06</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Ni</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0,10</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Mo</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0,03</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Cu</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191919"/>
                          </a:solidFill>
                          <a:latin typeface="Arial"/>
                        </a:rPr>
                        <a:t>0,18 mín.</a:t>
                      </a:r>
                    </a:p>
                  </a:txBody>
                  <a:tcPr marL="91440" marR="91440" marT="18288" marB="18288" anchor="ctr">
                    <a:lnL w="0">
                      <a:noFill/>
                    </a:lnL>
                    <a:lnR w="0">
                      <a:noFill/>
                    </a:lnR>
                    <a:lnT w="0">
                      <a:noFill/>
                    </a:lnT>
                    <a:lnB w="6350">
                      <a:solidFill>
                        <a:srgbClr val="CFD6DF"/>
                      </a:solidFill>
                    </a:lnB>
                    <a:solidFill>
                      <a:srgbClr val="F4F6F8"/>
                    </a:solidFill>
                  </a:tcPr>
                </a:tc>
                <a:tc>
                  <a:txBody>
                    <a:bodyPr/>
                    <a:lstStyle/>
                    <a:p>
                      <a:pPr algn="ctr"/>
                      <a:r>
                        <a:rPr sz="1000" b="0">
                          <a:solidFill>
                            <a:srgbClr val="C3094A"/>
                          </a:solidFill>
                          <a:latin typeface="Arial"/>
                        </a:rPr>
                        <a:t>0,17</a:t>
                      </a:r>
                    </a:p>
                  </a:txBody>
                  <a:tcPr marL="91440" marR="91440" marT="18288" marB="18288" anchor="ctr">
                    <a:lnL w="0">
                      <a:noFill/>
                    </a:lnL>
                    <a:lnR w="0">
                      <a:noFill/>
                    </a:lnR>
                    <a:lnT w="0">
                      <a:noFill/>
                    </a:lnT>
                    <a:lnB w="6350">
                      <a:solidFill>
                        <a:srgbClr val="CFD6DF"/>
                      </a:solidFill>
                    </a:lnB>
                    <a:solidFill>
                      <a:srgbClr val="FAECF0"/>
                    </a:solidFill>
                  </a:tcPr>
                </a:tc>
              </a:tr>
              <a:tr h="265176">
                <a:tc>
                  <a:txBody>
                    <a:bodyPr/>
                    <a:lstStyle/>
                    <a:p>
                      <a:pPr algn="l"/>
                      <a:r>
                        <a:rPr sz="1000" b="1">
                          <a:solidFill>
                            <a:srgbClr val="191919"/>
                          </a:solidFill>
                          <a:latin typeface="Arial"/>
                        </a:rPr>
                        <a:t>V</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191919"/>
                          </a:solidFill>
                          <a:latin typeface="Arial"/>
                        </a:rPr>
                        <a:t>0,01 mín.</a:t>
                      </a:r>
                    </a:p>
                  </a:txBody>
                  <a:tcPr marL="91440" marR="91440" marT="18288" marB="18288" anchor="ctr">
                    <a:lnL w="0">
                      <a:noFill/>
                    </a:lnL>
                    <a:lnR w="0">
                      <a:noFill/>
                    </a:lnR>
                    <a:lnT w="0">
                      <a:noFill/>
                    </a:lnT>
                    <a:lnB w="6350">
                      <a:solidFill>
                        <a:srgbClr val="CFD6DF"/>
                      </a:solidFill>
                    </a:lnB>
                    <a:solidFill>
                      <a:srgbClr val="FFFFFF"/>
                    </a:solidFill>
                  </a:tcPr>
                </a:tc>
                <a:tc>
                  <a:txBody>
                    <a:bodyPr/>
                    <a:lstStyle/>
                    <a:p>
                      <a:pPr algn="ctr"/>
                      <a:r>
                        <a:rPr sz="1000" b="0">
                          <a:solidFill>
                            <a:srgbClr val="C3094A"/>
                          </a:solidFill>
                          <a:latin typeface="Arial"/>
                        </a:rPr>
                        <a:t>–</a:t>
                      </a:r>
                    </a:p>
                  </a:txBody>
                  <a:tcPr marL="91440" marR="91440" marT="18288" marB="18288" anchor="ctr">
                    <a:lnL w="0">
                      <a:noFill/>
                    </a:lnL>
                    <a:lnR w="0">
                      <a:noFill/>
                    </a:lnR>
                    <a:lnT w="0">
                      <a:noFill/>
                    </a:lnT>
                    <a:lnB w="6350">
                      <a:solidFill>
                        <a:srgbClr val="CFD6DF"/>
                      </a:solidFill>
                    </a:lnB>
                    <a:solidFill>
                      <a:srgbClr val="FAECF0"/>
                    </a:solidFill>
                  </a:tcPr>
                </a:tc>
              </a:tr>
            </a:tbl>
          </a:graphicData>
        </a:graphic>
      </p:graphicFrame>
      <p:sp>
        <p:nvSpPr>
          <p:cNvPr id="38" name="TextBox 37"/>
          <p:cNvSpPr txBox="1"/>
          <p:nvPr/>
        </p:nvSpPr>
        <p:spPr>
          <a:xfrm>
            <a:off x="841248" y="4690872"/>
            <a:ext cx="5120640" cy="27432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Fuente: informe DIESA-AFA2023085189_00 del laboratorio externo.</a:t>
            </a:r>
          </a:p>
        </p:txBody>
      </p:sp>
      <p:sp>
        <p:nvSpPr>
          <p:cNvPr id="39" name="TextBox 38"/>
          <p:cNvSpPr txBox="1"/>
          <p:nvPr/>
        </p:nvSpPr>
        <p:spPr>
          <a:xfrm>
            <a:off x="6327648" y="1389888"/>
            <a:ext cx="50292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PROPIEDADES MECÁNICAS DE LA MUESTRA</a:t>
            </a:r>
          </a:p>
        </p:txBody>
      </p:sp>
      <p:sp>
        <p:nvSpPr>
          <p:cNvPr id="40" name="Rectangle 39"/>
          <p:cNvSpPr/>
          <p:nvPr/>
        </p:nvSpPr>
        <p:spPr>
          <a:xfrm>
            <a:off x="6327648"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327648"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7395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212 HBW</a:t>
            </a:r>
          </a:p>
          <a:p>
            <a:pPr algn="l">
              <a:lnSpc>
                <a:spcPct val="105000"/>
              </a:lnSpc>
              <a:spcBef>
                <a:spcPts val="0"/>
              </a:spcBef>
              <a:spcAft>
                <a:spcPts val="0"/>
              </a:spcAft>
            </a:pPr>
            <a:r>
              <a:rPr sz="900" b="0" i="0">
                <a:solidFill>
                  <a:srgbClr val="4A5568"/>
                </a:solidFill>
                <a:latin typeface="Arial"/>
              </a:rPr>
              <a:t>Dureza</a:t>
            </a:r>
          </a:p>
        </p:txBody>
      </p:sp>
      <p:sp>
        <p:nvSpPr>
          <p:cNvPr id="43" name="Rectangle 42"/>
          <p:cNvSpPr/>
          <p:nvPr/>
        </p:nvSpPr>
        <p:spPr>
          <a:xfrm>
            <a:off x="8065008"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065008"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1131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619 MPa</a:t>
            </a:r>
          </a:p>
          <a:p>
            <a:pPr algn="l">
              <a:lnSpc>
                <a:spcPct val="105000"/>
              </a:lnSpc>
              <a:spcBef>
                <a:spcPts val="0"/>
              </a:spcBef>
              <a:spcAft>
                <a:spcPts val="0"/>
              </a:spcAft>
            </a:pPr>
            <a:r>
              <a:rPr sz="900" b="0" i="0">
                <a:solidFill>
                  <a:srgbClr val="4A5568"/>
                </a:solidFill>
                <a:latin typeface="Arial"/>
              </a:rPr>
              <a:t>Esfuerzo de fluencia</a:t>
            </a:r>
          </a:p>
        </p:txBody>
      </p:sp>
      <p:sp>
        <p:nvSpPr>
          <p:cNvPr id="46" name="Rectangle 45"/>
          <p:cNvSpPr/>
          <p:nvPr/>
        </p:nvSpPr>
        <p:spPr>
          <a:xfrm>
            <a:off x="9802367" y="1700784"/>
            <a:ext cx="1554480" cy="128016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9802367" y="1700784"/>
            <a:ext cx="155448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948672" y="1920240"/>
            <a:ext cx="1316736" cy="960120"/>
          </a:xfrm>
          <a:prstGeom prst="rect">
            <a:avLst/>
          </a:prstGeom>
          <a:noFill/>
        </p:spPr>
        <p:txBody>
          <a:bodyPr wrap="square" lIns="0" rIns="0" tIns="0" bIns="0" anchor="t">
            <a:spAutoFit/>
          </a:bodyPr>
          <a:lstStyle/>
          <a:p>
            <a:pPr algn="l">
              <a:lnSpc>
                <a:spcPct val="100000"/>
              </a:lnSpc>
              <a:spcBef>
                <a:spcPts val="0"/>
              </a:spcBef>
              <a:spcAft>
                <a:spcPts val="600"/>
              </a:spcAft>
            </a:pPr>
            <a:r>
              <a:rPr sz="2100" b="1" i="0">
                <a:solidFill>
                  <a:srgbClr val="C3094A"/>
                </a:solidFill>
                <a:latin typeface="Arial"/>
              </a:rPr>
              <a:t>717 MPa</a:t>
            </a:r>
          </a:p>
          <a:p>
            <a:pPr algn="l">
              <a:lnSpc>
                <a:spcPct val="105000"/>
              </a:lnSpc>
              <a:spcBef>
                <a:spcPts val="0"/>
              </a:spcBef>
              <a:spcAft>
                <a:spcPts val="0"/>
              </a:spcAft>
            </a:pPr>
            <a:r>
              <a:rPr sz="900" b="0" i="0">
                <a:solidFill>
                  <a:srgbClr val="4A5568"/>
                </a:solidFill>
                <a:latin typeface="Arial"/>
              </a:rPr>
              <a:t>Resistencia máxima a la tracción</a:t>
            </a:r>
          </a:p>
        </p:txBody>
      </p:sp>
      <p:sp>
        <p:nvSpPr>
          <p:cNvPr id="49" name="Rectangle 48"/>
          <p:cNvSpPr/>
          <p:nvPr/>
        </p:nvSpPr>
        <p:spPr>
          <a:xfrm>
            <a:off x="6327648" y="3163824"/>
            <a:ext cx="5029200" cy="1453895"/>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27648" y="3163824"/>
            <a:ext cx="5029200"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28816" y="3209544"/>
            <a:ext cx="4663440" cy="1408175"/>
          </a:xfrm>
          <a:prstGeom prst="rect">
            <a:avLst/>
          </a:prstGeom>
          <a:noFill/>
        </p:spPr>
        <p:txBody>
          <a:bodyPr wrap="square" lIns="0" rIns="0" tIns="0" bIns="0" anchor="ctr">
            <a:spAutoFit/>
          </a:bodyPr>
          <a:lstStyle/>
          <a:p>
            <a:pPr algn="l">
              <a:lnSpc>
                <a:spcPct val="110000"/>
              </a:lnSpc>
              <a:spcBef>
                <a:spcPts val="0"/>
              </a:spcBef>
              <a:spcAft>
                <a:spcPts val="500"/>
              </a:spcAft>
            </a:pPr>
            <a:r>
              <a:rPr sz="1100" b="1" i="0">
                <a:solidFill>
                  <a:srgbClr val="042354"/>
                </a:solidFill>
                <a:latin typeface="Arial"/>
              </a:rPr>
              <a:t>Veredicto del laboratorio</a:t>
            </a:r>
          </a:p>
          <a:p>
            <a:pPr algn="l">
              <a:lnSpc>
                <a:spcPct val="116000"/>
              </a:lnSpc>
              <a:spcBef>
                <a:spcPts val="0"/>
              </a:spcBef>
              <a:spcAft>
                <a:spcPts val="600"/>
              </a:spcAft>
            </a:pPr>
            <a:r>
              <a:rPr sz="1050" b="0" i="0">
                <a:solidFill>
                  <a:srgbClr val="191919"/>
                </a:solidFill>
                <a:latin typeface="Arial"/>
              </a:rPr>
              <a:t>La composición química es compatible con el acero ASTM A618 Gr. III, con una dureza de 212 HBW, un esfuerzo de fluencia de 619 MPa y una resistencia máxima a la tracción de 717 MPa.</a:t>
            </a:r>
          </a:p>
          <a:p>
            <a:pPr algn="l">
              <a:lnSpc>
                <a:spcPct val="114000"/>
              </a:lnSpc>
              <a:spcBef>
                <a:spcPts val="0"/>
              </a:spcBef>
              <a:spcAft>
                <a:spcPts val="0"/>
              </a:spcAft>
            </a:pPr>
            <a:r>
              <a:rPr sz="1050" b="1" i="0">
                <a:solidFill>
                  <a:srgbClr val="042354"/>
                </a:solidFill>
                <a:latin typeface="Arial"/>
              </a:rPr>
              <a:t>Hipótesis F1 · material no conforme: </a:t>
            </a:r>
            <a:r>
              <a:rPr sz="1050" b="1" i="0">
                <a:solidFill>
                  <a:srgbClr val="C3094A"/>
                </a:solidFill>
                <a:latin typeface="Arial"/>
              </a:rPr>
              <a:t>DESCARTADA</a:t>
            </a:r>
          </a:p>
        </p:txBody>
      </p:sp>
      <p:sp>
        <p:nvSpPr>
          <p:cNvPr id="52" name="Rectangle 5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material es compatible con la especificación: el origen de la fractura no está en el acero, sino en la raíz de la unión soldada.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16</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400800" cy="256032"/>
          </a:xfrm>
          <a:prstGeom prst="rect">
            <a:avLst/>
          </a:prstGeom>
          <a:noFill/>
        </p:spPr>
        <p:txBody>
          <a:bodyPr wrap="square" lIns="0" rIns="0" tIns="0" bIns="0" anchor="t">
            <a:spAutoFit/>
          </a:bodyPr>
          <a:lstStyle/>
          <a:p>
            <a:pPr algn="l">
              <a:lnSpc>
                <a:spcPct val="110000"/>
              </a:lnSpc>
              <a:spcBef>
                <a:spcPts val="0"/>
              </a:spcBef>
              <a:spcAft>
                <a:spcPts val="300"/>
              </a:spcAft>
            </a:pPr>
            <a:r>
              <a:rPr sz="950" b="1" i="0">
                <a:solidFill>
                  <a:srgbClr val="4A5568"/>
                </a:solidFill>
                <a:latin typeface="Arial"/>
              </a:rPr>
              <a:t>CM403 · REPORTE AFA 01-23040, SECCIÓN 6 · MAY-2022 A ABR-2023</a:t>
            </a:r>
          </a:p>
        </p:txBody>
      </p:sp>
      <p:sp>
        <p:nvSpPr>
          <p:cNvPr id="37" name="Rectangle 36"/>
          <p:cNvSpPr/>
          <p:nvPr/>
        </p:nvSpPr>
        <p:spPr>
          <a:xfrm>
            <a:off x="841248" y="1700784"/>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41248" y="1700784"/>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87552" y="1847088"/>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CARGA ÚTIL (PLM)</a:t>
            </a:r>
          </a:p>
        </p:txBody>
      </p:sp>
      <p:sp>
        <p:nvSpPr>
          <p:cNvPr id="40" name="Rectangle 39"/>
          <p:cNvSpPr/>
          <p:nvPr/>
        </p:nvSpPr>
        <p:spPr>
          <a:xfrm>
            <a:off x="3035808" y="1828800"/>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3035808" y="1828800"/>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42" name="TextBox 41"/>
          <p:cNvSpPr txBox="1"/>
          <p:nvPr/>
        </p:nvSpPr>
        <p:spPr>
          <a:xfrm>
            <a:off x="987552" y="2139696"/>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366,7 t</a:t>
            </a:r>
          </a:p>
          <a:p>
            <a:pPr algn="l">
              <a:lnSpc>
                <a:spcPct val="110000"/>
              </a:lnSpc>
              <a:spcBef>
                <a:spcPts val="0"/>
              </a:spcBef>
              <a:spcAft>
                <a:spcPts val="300"/>
              </a:spcAft>
            </a:pPr>
            <a:r>
              <a:rPr sz="950" b="0" i="0">
                <a:solidFill>
                  <a:srgbClr val="191919"/>
                </a:solidFill>
                <a:latin typeface="Arial"/>
              </a:rPr>
              <a:t>media en el CM403, sin ciclos completos sobre el 120 % de la nominal.</a:t>
            </a:r>
          </a:p>
          <a:p>
            <a:pPr algn="l">
              <a:lnSpc>
                <a:spcPct val="108000"/>
              </a:lnSpc>
              <a:spcBef>
                <a:spcPts val="0"/>
              </a:spcBef>
              <a:spcAft>
                <a:spcPts val="0"/>
              </a:spcAft>
            </a:pPr>
            <a:r>
              <a:rPr sz="850" b="0" i="0">
                <a:solidFill>
                  <a:srgbClr val="4A5568"/>
                </a:solidFill>
                <a:latin typeface="Arial"/>
              </a:rPr>
              <a:t>Unidades con falla: 352,1 a 366,7 t; ciclos sobre el 120 % ≤ 0,4 % del total.</a:t>
            </a:r>
          </a:p>
        </p:txBody>
      </p:sp>
      <p:sp>
        <p:nvSpPr>
          <p:cNvPr id="43" name="Rectangle 42"/>
          <p:cNvSpPr/>
          <p:nvPr/>
        </p:nvSpPr>
        <p:spPr>
          <a:xfrm>
            <a:off x="4279392" y="1700784"/>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279392" y="1700784"/>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25696" y="1847088"/>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SOBREVELOCIDAD</a:t>
            </a:r>
          </a:p>
        </p:txBody>
      </p:sp>
      <p:sp>
        <p:nvSpPr>
          <p:cNvPr id="46" name="Rectangle 45"/>
          <p:cNvSpPr/>
          <p:nvPr/>
        </p:nvSpPr>
        <p:spPr>
          <a:xfrm>
            <a:off x="6473952" y="1828800"/>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473952" y="1828800"/>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48" name="TextBox 47"/>
          <p:cNvSpPr txBox="1"/>
          <p:nvPr/>
        </p:nvSpPr>
        <p:spPr>
          <a:xfrm>
            <a:off x="4425696" y="2139696"/>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0</a:t>
            </a:r>
          </a:p>
          <a:p>
            <a:pPr algn="l">
              <a:lnSpc>
                <a:spcPct val="110000"/>
              </a:lnSpc>
              <a:spcBef>
                <a:spcPts val="0"/>
              </a:spcBef>
              <a:spcAft>
                <a:spcPts val="300"/>
              </a:spcAft>
            </a:pPr>
            <a:r>
              <a:rPr sz="950" b="0" i="0">
                <a:solidFill>
                  <a:srgbClr val="191919"/>
                </a:solidFill>
                <a:latin typeface="Arial"/>
              </a:rPr>
              <a:t>eventos de sobrevelocidad registrados en el CM403.</a:t>
            </a:r>
          </a:p>
        </p:txBody>
      </p:sp>
      <p:sp>
        <p:nvSpPr>
          <p:cNvPr id="49" name="Rectangle 48"/>
          <p:cNvSpPr/>
          <p:nvPr/>
        </p:nvSpPr>
        <p:spPr>
          <a:xfrm>
            <a:off x="841248" y="3419856"/>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841248" y="3419856"/>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87552" y="3566160"/>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PESO SUSPENDIDO</a:t>
            </a:r>
          </a:p>
        </p:txBody>
      </p:sp>
      <p:sp>
        <p:nvSpPr>
          <p:cNvPr id="52" name="Rectangle 51"/>
          <p:cNvSpPr/>
          <p:nvPr/>
        </p:nvSpPr>
        <p:spPr>
          <a:xfrm>
            <a:off x="3035808" y="3547872"/>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035808" y="3547872"/>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54" name="TextBox 53"/>
          <p:cNvSpPr txBox="1"/>
          <p:nvPr/>
        </p:nvSpPr>
        <p:spPr>
          <a:xfrm>
            <a:off x="987552" y="3858768"/>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&lt; 800 t</a:t>
            </a:r>
          </a:p>
          <a:p>
            <a:pPr algn="l">
              <a:lnSpc>
                <a:spcPct val="110000"/>
              </a:lnSpc>
              <a:spcBef>
                <a:spcPts val="0"/>
              </a:spcBef>
              <a:spcAft>
                <a:spcPts val="300"/>
              </a:spcAft>
            </a:pPr>
            <a:r>
              <a:rPr sz="950" b="0" i="0">
                <a:solidFill>
                  <a:srgbClr val="191919"/>
                </a:solidFill>
                <a:latin typeface="Arial"/>
              </a:rPr>
              <a:t>en el CM403, según el reporte.</a:t>
            </a:r>
          </a:p>
          <a:p>
            <a:pPr algn="l">
              <a:lnSpc>
                <a:spcPct val="108000"/>
              </a:lnSpc>
              <a:spcBef>
                <a:spcPts val="0"/>
              </a:spcBef>
              <a:spcAft>
                <a:spcPts val="0"/>
              </a:spcAft>
            </a:pPr>
            <a:r>
              <a:rPr sz="850" b="0" i="0">
                <a:solidFill>
                  <a:srgbClr val="4A5568"/>
                </a:solidFill>
                <a:latin typeface="Arial"/>
              </a:rPr>
              <a:t>Solo el CM409 supera las 800 t: no es común a las unidades con falla.</a:t>
            </a:r>
          </a:p>
        </p:txBody>
      </p:sp>
      <p:sp>
        <p:nvSpPr>
          <p:cNvPr id="55" name="Rectangle 54"/>
          <p:cNvSpPr/>
          <p:nvPr/>
        </p:nvSpPr>
        <p:spPr>
          <a:xfrm>
            <a:off x="4279392" y="3419856"/>
            <a:ext cx="3273552" cy="157276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4279392" y="3419856"/>
            <a:ext cx="3273552"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4425696" y="3566160"/>
            <a:ext cx="2011680" cy="228600"/>
          </a:xfrm>
          <a:prstGeom prst="rect">
            <a:avLst/>
          </a:prstGeom>
          <a:noFill/>
        </p:spPr>
        <p:txBody>
          <a:bodyPr wrap="square" lIns="0" rIns="0" tIns="0" bIns="0" anchor="t">
            <a:spAutoFit/>
          </a:bodyPr>
          <a:lstStyle/>
          <a:p>
            <a:pPr algn="l">
              <a:lnSpc>
                <a:spcPct val="110000"/>
              </a:lnSpc>
              <a:spcBef>
                <a:spcPts val="0"/>
              </a:spcBef>
              <a:spcAft>
                <a:spcPts val="0"/>
              </a:spcAft>
            </a:pPr>
            <a:r>
              <a:rPr sz="900" b="1" i="0">
                <a:solidFill>
                  <a:srgbClr val="4A5568"/>
                </a:solidFill>
                <a:latin typeface="Arial"/>
              </a:rPr>
              <a:t>GRADO EFECTIVO (EG)</a:t>
            </a:r>
          </a:p>
        </p:txBody>
      </p:sp>
      <p:sp>
        <p:nvSpPr>
          <p:cNvPr id="58" name="Rectangle 57"/>
          <p:cNvSpPr/>
          <p:nvPr/>
        </p:nvSpPr>
        <p:spPr>
          <a:xfrm>
            <a:off x="6473952" y="3547872"/>
            <a:ext cx="932688" cy="23774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473952" y="3547872"/>
            <a:ext cx="932688" cy="237744"/>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Arial"/>
              </a:rPr>
              <a:t>DESCARTADA</a:t>
            </a:r>
          </a:p>
        </p:txBody>
      </p:sp>
      <p:sp>
        <p:nvSpPr>
          <p:cNvPr id="60" name="TextBox 59"/>
          <p:cNvSpPr txBox="1"/>
          <p:nvPr/>
        </p:nvSpPr>
        <p:spPr>
          <a:xfrm>
            <a:off x="4425696" y="3858768"/>
            <a:ext cx="2980944" cy="1069848"/>
          </a:xfrm>
          <a:prstGeom prst="rect">
            <a:avLst/>
          </a:prstGeom>
          <a:noFill/>
        </p:spPr>
        <p:txBody>
          <a:bodyPr wrap="square" lIns="0" rIns="0" tIns="0" bIns="0" anchor="t">
            <a:spAutoFit/>
          </a:bodyPr>
          <a:lstStyle/>
          <a:p>
            <a:pPr algn="l">
              <a:lnSpc>
                <a:spcPct val="100000"/>
              </a:lnSpc>
              <a:spcBef>
                <a:spcPts val="0"/>
              </a:spcBef>
              <a:spcAft>
                <a:spcPts val="300"/>
              </a:spcAft>
            </a:pPr>
            <a:r>
              <a:rPr sz="1800" b="1" i="0">
                <a:solidFill>
                  <a:srgbClr val="042354"/>
                </a:solidFill>
                <a:latin typeface="Arial"/>
              </a:rPr>
              <a:t>EG1 · EG2 · EG3</a:t>
            </a:r>
          </a:p>
          <a:p>
            <a:pPr algn="l">
              <a:lnSpc>
                <a:spcPct val="110000"/>
              </a:lnSpc>
              <a:spcBef>
                <a:spcPts val="0"/>
              </a:spcBef>
              <a:spcAft>
                <a:spcPts val="300"/>
              </a:spcAft>
            </a:pPr>
            <a:r>
              <a:rPr sz="950" b="0" i="0">
                <a:solidFill>
                  <a:srgbClr val="191919"/>
                </a:solidFill>
                <a:latin typeface="Arial"/>
              </a:rPr>
              <a:t>conteos mensuales con promedio menor que el de comparación del reporte.</a:t>
            </a:r>
          </a:p>
          <a:p>
            <a:pPr algn="l">
              <a:lnSpc>
                <a:spcPct val="108000"/>
              </a:lnSpc>
              <a:spcBef>
                <a:spcPts val="0"/>
              </a:spcBef>
              <a:spcAft>
                <a:spcPts val="0"/>
              </a:spcAft>
            </a:pPr>
            <a:r>
              <a:rPr sz="850" b="0" i="0">
                <a:solidFill>
                  <a:srgbClr val="4A5568"/>
                </a:solidFill>
                <a:latin typeface="Arial"/>
              </a:rPr>
              <a:t>El CM410 tiene la menor exposición entre los motores con falla.</a:t>
            </a:r>
          </a:p>
        </p:txBody>
      </p:sp>
      <p:sp>
        <p:nvSpPr>
          <p:cNvPr id="61" name="Rectangle 60"/>
          <p:cNvSpPr/>
          <p:nvPr/>
        </p:nvSpPr>
        <p:spPr>
          <a:xfrm>
            <a:off x="7735824" y="1700784"/>
            <a:ext cx="3621024" cy="329184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73568" y="1883664"/>
            <a:ext cx="3145536" cy="2926080"/>
          </a:xfrm>
          <a:prstGeom prst="rect">
            <a:avLst/>
          </a:prstGeom>
          <a:noFill/>
        </p:spPr>
        <p:txBody>
          <a:bodyPr wrap="square" lIns="0" rIns="0" tIns="0" bIns="0" anchor="ctr">
            <a:spAutoFit/>
          </a:bodyPr>
          <a:lstStyle/>
          <a:p>
            <a:pPr algn="l">
              <a:lnSpc>
                <a:spcPct val="110000"/>
              </a:lnSpc>
              <a:spcBef>
                <a:spcPts val="0"/>
              </a:spcBef>
              <a:spcAft>
                <a:spcPts val="800"/>
              </a:spcAft>
            </a:pPr>
            <a:r>
              <a:rPr sz="900" b="1" i="0">
                <a:solidFill>
                  <a:srgbClr val="9FB3D9"/>
                </a:solidFill>
                <a:latin typeface="Arial"/>
              </a:rPr>
              <a:t>EL ARGUMENTO DECISIVO</a:t>
            </a:r>
          </a:p>
          <a:p>
            <a:pPr algn="l">
              <a:lnSpc>
                <a:spcPct val="112000"/>
              </a:lnSpc>
              <a:spcBef>
                <a:spcPts val="0"/>
              </a:spcBef>
              <a:spcAft>
                <a:spcPts val="1000"/>
              </a:spcAft>
            </a:pPr>
            <a:r>
              <a:rPr sz="1300" b="1" i="0">
                <a:solidFill>
                  <a:srgbClr val="FFFFFF"/>
                </a:solidFill>
                <a:latin typeface="Arial"/>
              </a:rPr>
              <a:t>No es la comparación de valores, sino la distribución de los eventos.</a:t>
            </a:r>
          </a:p>
          <a:p>
            <a:pPr algn="l">
              <a:lnSpc>
                <a:spcPct val="115000"/>
              </a:lnSpc>
              <a:spcBef>
                <a:spcPts val="0"/>
              </a:spcBef>
              <a:spcAft>
                <a:spcPts val="800"/>
              </a:spcAft>
            </a:pPr>
            <a:r>
              <a:rPr sz="1050" b="0" i="0">
                <a:solidFill>
                  <a:srgbClr val="DCE3F0"/>
                </a:solidFill>
                <a:latin typeface="Arial"/>
              </a:rPr>
              <a:t>Una causa operacional se concentraría en las unidades, rutas u operadores que presentan la desviación.</a:t>
            </a:r>
          </a:p>
          <a:p>
            <a:pPr algn="l">
              <a:lnSpc>
                <a:spcPct val="115000"/>
              </a:lnSpc>
              <a:spcBef>
                <a:spcPts val="0"/>
              </a:spcBef>
              <a:spcAft>
                <a:spcPts val="0"/>
              </a:spcAft>
            </a:pPr>
            <a:r>
              <a:rPr sz="1050" b="1" i="0">
                <a:solidFill>
                  <a:srgbClr val="FFFFFF"/>
                </a:solidFill>
                <a:latin typeface="Arial"/>
              </a:rPr>
              <a:t>La fractura se presenta de forma transversal a la flota y en un rango amplio de horas de operación.</a:t>
            </a:r>
          </a:p>
        </p:txBody>
      </p:sp>
      <p:sp>
        <p:nvSpPr>
          <p:cNvPr id="63" name="Rectangle 62"/>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Ninguna variable de operación muestra una desviación común a las unidades con falla: las cuatro hipótesis de operación quedan descartadas.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¿Fabricación o diseño? La recurrencia sobre ejes nuevos lo resuelve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17</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36" name="Picture 35" descr="crop_union_original.png"/>
          <p:cNvPicPr>
            <a:picLocks noChangeAspect="1"/>
          </p:cNvPicPr>
          <p:nvPr/>
        </p:nvPicPr>
        <p:blipFill>
          <a:blip r:embed="rId3"/>
          <a:stretch>
            <a:fillRect/>
          </a:stretch>
        </p:blipFill>
        <p:spPr>
          <a:xfrm>
            <a:off x="841248" y="1481328"/>
            <a:ext cx="5212080" cy="1948121"/>
          </a:xfrm>
          <a:prstGeom prst="rect">
            <a:avLst/>
          </a:prstGeom>
        </p:spPr>
      </p:pic>
      <p:sp>
        <p:nvSpPr>
          <p:cNvPr id="37" name="TextBox 36"/>
          <p:cNvSpPr txBox="1"/>
          <p:nvPr/>
        </p:nvSpPr>
        <p:spPr>
          <a:xfrm>
            <a:off x="841248" y="3502601"/>
            <a:ext cx="5212080" cy="365760"/>
          </a:xfrm>
          <a:prstGeom prst="rect">
            <a:avLst/>
          </a:prstGeom>
          <a:noFill/>
        </p:spPr>
        <p:txBody>
          <a:bodyPr wrap="square" lIns="0" rIns="0" tIns="0" bIns="0" anchor="t">
            <a:spAutoFit/>
          </a:bodyPr>
          <a:lstStyle/>
          <a:p>
            <a:pPr algn="l">
              <a:lnSpc>
                <a:spcPct val="106000"/>
              </a:lnSpc>
              <a:spcBef>
                <a:spcPts val="0"/>
              </a:spcBef>
              <a:spcAft>
                <a:spcPts val="300"/>
              </a:spcAft>
            </a:pPr>
            <a:r>
              <a:rPr sz="900" b="0" i="0">
                <a:solidFill>
                  <a:srgbClr val="7A8494"/>
                </a:solidFill>
                <a:latin typeface="Arial"/>
              </a:rPr>
              <a:t>Configuración original, P/N 58F-14-00330: la misma geometría de unión en todas las unidades. Elaboración propia.</a:t>
            </a:r>
          </a:p>
        </p:txBody>
      </p:sp>
      <p:sp>
        <p:nvSpPr>
          <p:cNvPr id="38" name="Rectangle 37"/>
          <p:cNvSpPr/>
          <p:nvPr/>
        </p:nvSpPr>
        <p:spPr>
          <a:xfrm>
            <a:off x="841248" y="3931920"/>
            <a:ext cx="5212080" cy="1005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41248" y="3931920"/>
            <a:ext cx="45720" cy="100584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42415" y="3931920"/>
            <a:ext cx="4846320" cy="1005840"/>
          </a:xfrm>
          <a:prstGeom prst="rect">
            <a:avLst/>
          </a:prstGeom>
          <a:noFill/>
        </p:spPr>
        <p:txBody>
          <a:bodyPr wrap="square" lIns="0" rIns="0" tIns="0" bIns="0" anchor="ctr">
            <a:spAutoFit/>
          </a:bodyPr>
          <a:lstStyle/>
          <a:p>
            <a:pPr algn="l">
              <a:lnSpc>
                <a:spcPct val="114000"/>
              </a:lnSpc>
              <a:spcBef>
                <a:spcPts val="0"/>
              </a:spcBef>
              <a:spcAft>
                <a:spcPts val="0"/>
              </a:spcAft>
            </a:pPr>
            <a:r>
              <a:rPr sz="1000" b="1" i="0">
                <a:solidFill>
                  <a:srgbClr val="2841DD"/>
                </a:solidFill>
                <a:latin typeface="Arial"/>
              </a:rPr>
              <a:t>Límite de la evidencia física. </a:t>
            </a:r>
            <a:r>
              <a:rPr sz="1000" b="0" i="0">
                <a:solidFill>
                  <a:srgbClr val="191919"/>
                </a:solidFill>
                <a:latin typeface="Arial"/>
              </a:rPr>
              <a:t>La fractografía y los ensayos sitúan el origen en la raíz de la unión, pero no distinguen entre un defecto de ejecución de una pieza y una condición inherente a la unión proyectada.</a:t>
            </a:r>
          </a:p>
        </p:txBody>
      </p:sp>
      <p:sp>
        <p:nvSpPr>
          <p:cNvPr id="41" name="Rectangle 40"/>
          <p:cNvSpPr/>
          <p:nvPr/>
        </p:nvSpPr>
        <p:spPr>
          <a:xfrm>
            <a:off x="6327648" y="1481328"/>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27648" y="1481328"/>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327648" y="1481328"/>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1</a:t>
            </a:r>
          </a:p>
        </p:txBody>
      </p:sp>
      <p:sp>
        <p:nvSpPr>
          <p:cNvPr id="44" name="TextBox 43"/>
          <p:cNvSpPr txBox="1"/>
          <p:nvPr/>
        </p:nvSpPr>
        <p:spPr>
          <a:xfrm>
            <a:off x="6894576" y="1481328"/>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REPOSICIÓN</a:t>
            </a:r>
          </a:p>
          <a:p>
            <a:pPr algn="l">
              <a:lnSpc>
                <a:spcPct val="110000"/>
              </a:lnSpc>
              <a:spcBef>
                <a:spcPts val="0"/>
              </a:spcBef>
              <a:spcAft>
                <a:spcPts val="0"/>
              </a:spcAft>
            </a:pPr>
            <a:r>
              <a:rPr sz="950" b="0" i="0">
                <a:solidFill>
                  <a:srgbClr val="191919"/>
                </a:solidFill>
                <a:latin typeface="Arial"/>
              </a:rPr>
              <a:t>En los motores reparados se instaló un eje palier nuevo, con el mismo número de parte y el mismo tipo de unión soldada.</a:t>
            </a:r>
          </a:p>
        </p:txBody>
      </p:sp>
      <p:sp>
        <p:nvSpPr>
          <p:cNvPr id="45" name="Rectangle 44"/>
          <p:cNvSpPr/>
          <p:nvPr/>
        </p:nvSpPr>
        <p:spPr>
          <a:xfrm>
            <a:off x="6327648" y="2432304"/>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327648" y="2432304"/>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327648" y="2432304"/>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2</a:t>
            </a:r>
          </a:p>
        </p:txBody>
      </p:sp>
      <p:sp>
        <p:nvSpPr>
          <p:cNvPr id="48" name="TextBox 47"/>
          <p:cNvSpPr txBox="1"/>
          <p:nvPr/>
        </p:nvSpPr>
        <p:spPr>
          <a:xfrm>
            <a:off x="6894576" y="2432304"/>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RECURRENCIA</a:t>
            </a:r>
          </a:p>
          <a:p>
            <a:pPr algn="l">
              <a:lnSpc>
                <a:spcPct val="110000"/>
              </a:lnSpc>
              <a:spcBef>
                <a:spcPts val="0"/>
              </a:spcBef>
              <a:spcAft>
                <a:spcPts val="0"/>
              </a:spcAft>
            </a:pPr>
            <a:r>
              <a:rPr sz="950" b="0" i="0">
                <a:solidFill>
                  <a:srgbClr val="191919"/>
                </a:solidFill>
                <a:latin typeface="Arial"/>
              </a:rPr>
              <a:t>Tras un número de horas comparable, la fractura reapareció en la misma ubicación y con el mismo patrón fractográfico.</a:t>
            </a:r>
          </a:p>
        </p:txBody>
      </p:sp>
      <p:sp>
        <p:nvSpPr>
          <p:cNvPr id="49" name="Rectangle 48"/>
          <p:cNvSpPr/>
          <p:nvPr/>
        </p:nvSpPr>
        <p:spPr>
          <a:xfrm>
            <a:off x="6327648" y="3383280"/>
            <a:ext cx="5029200" cy="84124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27648" y="3383280"/>
            <a:ext cx="420624" cy="841248"/>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327648" y="3383280"/>
            <a:ext cx="420624" cy="841248"/>
          </a:xfrm>
          <a:prstGeom prst="rect">
            <a:avLst/>
          </a:prstGeom>
          <a:noFill/>
        </p:spPr>
        <p:txBody>
          <a:bodyPr wrap="square" lIns="0" rIns="0" tIns="0" bIns="0" anchor="ctr">
            <a:spAutoFit/>
          </a:bodyPr>
          <a:lstStyle/>
          <a:p>
            <a:pPr algn="ctr">
              <a:lnSpc>
                <a:spcPct val="110000"/>
              </a:lnSpc>
              <a:spcBef>
                <a:spcPts val="0"/>
              </a:spcBef>
              <a:spcAft>
                <a:spcPts val="0"/>
              </a:spcAft>
            </a:pPr>
            <a:r>
              <a:rPr sz="1300" b="1" i="0">
                <a:solidFill>
                  <a:srgbClr val="042354"/>
                </a:solidFill>
                <a:latin typeface="Arial"/>
              </a:rPr>
              <a:t>3</a:t>
            </a:r>
          </a:p>
        </p:txBody>
      </p:sp>
      <p:sp>
        <p:nvSpPr>
          <p:cNvPr id="52" name="TextBox 51"/>
          <p:cNvSpPr txBox="1"/>
          <p:nvPr/>
        </p:nvSpPr>
        <p:spPr>
          <a:xfrm>
            <a:off x="6894576" y="3383280"/>
            <a:ext cx="4315968" cy="841248"/>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4A5568"/>
                </a:solidFill>
                <a:latin typeface="Arial"/>
              </a:rPr>
              <a:t>REFUTACIÓN</a:t>
            </a:r>
          </a:p>
          <a:p>
            <a:pPr algn="l">
              <a:lnSpc>
                <a:spcPct val="110000"/>
              </a:lnSpc>
              <a:spcBef>
                <a:spcPts val="0"/>
              </a:spcBef>
              <a:spcAft>
                <a:spcPts val="0"/>
              </a:spcAft>
            </a:pPr>
            <a:r>
              <a:rPr sz="950" b="0" i="0">
                <a:solidFill>
                  <a:srgbClr val="191919"/>
                </a:solidFill>
                <a:latin typeface="Arial"/>
              </a:rPr>
              <a:t>Un defecto de pieza o de lote se habría eliminado con la pieza nueva: las hipótesis F2 y F3 quedan refutadas.</a:t>
            </a:r>
          </a:p>
        </p:txBody>
      </p:sp>
      <p:sp>
        <p:nvSpPr>
          <p:cNvPr id="53" name="Rectangle 52"/>
          <p:cNvSpPr/>
          <p:nvPr/>
        </p:nvSpPr>
        <p:spPr>
          <a:xfrm>
            <a:off x="6327648" y="4334256"/>
            <a:ext cx="5029200"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6327648" y="4334256"/>
            <a:ext cx="420624" cy="60350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327648" y="4334256"/>
            <a:ext cx="420624" cy="603504"/>
          </a:xfrm>
          <a:prstGeom prst="rect">
            <a:avLst/>
          </a:prstGeom>
          <a:noFill/>
        </p:spPr>
        <p:txBody>
          <a:bodyPr wrap="square" lIns="0" rIns="0" tIns="0" bIns="0" anchor="ctr">
            <a:spAutoFit/>
          </a:bodyPr>
          <a:lstStyle/>
          <a:p>
            <a:pPr algn="ctr">
              <a:lnSpc>
                <a:spcPct val="110000"/>
              </a:lnSpc>
              <a:spcBef>
                <a:spcPts val="0"/>
              </a:spcBef>
              <a:spcAft>
                <a:spcPts val="0"/>
              </a:spcAft>
            </a:pPr>
            <a:r>
              <a:rPr sz="1600" b="1" i="0">
                <a:solidFill>
                  <a:srgbClr val="FFFFFF"/>
                </a:solidFill>
                <a:latin typeface="Arial"/>
              </a:rPr>
              <a:t>›</a:t>
            </a:r>
          </a:p>
        </p:txBody>
      </p:sp>
      <p:sp>
        <p:nvSpPr>
          <p:cNvPr id="56" name="TextBox 55"/>
          <p:cNvSpPr txBox="1"/>
          <p:nvPr/>
        </p:nvSpPr>
        <p:spPr>
          <a:xfrm>
            <a:off x="6894576" y="4334256"/>
            <a:ext cx="4315968" cy="603504"/>
          </a:xfrm>
          <a:prstGeom prst="rect">
            <a:avLst/>
          </a:prstGeom>
          <a:noFill/>
        </p:spPr>
        <p:txBody>
          <a:bodyPr wrap="square" lIns="0" rIns="0" tIns="0" bIns="0" anchor="ctr">
            <a:spAutoFit/>
          </a:bodyPr>
          <a:lstStyle/>
          <a:p>
            <a:pPr algn="l">
              <a:lnSpc>
                <a:spcPct val="110000"/>
              </a:lnSpc>
              <a:spcBef>
                <a:spcPts val="0"/>
              </a:spcBef>
              <a:spcAft>
                <a:spcPts val="200"/>
              </a:spcAft>
            </a:pPr>
            <a:r>
              <a:rPr sz="850" b="1" i="0">
                <a:solidFill>
                  <a:srgbClr val="C3094A"/>
                </a:solidFill>
                <a:latin typeface="Arial"/>
              </a:rPr>
              <a:t>CAUSA EN EL DISEÑO</a:t>
            </a:r>
          </a:p>
          <a:p>
            <a:pPr algn="l">
              <a:lnSpc>
                <a:spcPct val="110000"/>
              </a:lnSpc>
              <a:spcBef>
                <a:spcPts val="0"/>
              </a:spcBef>
              <a:spcAft>
                <a:spcPts val="0"/>
              </a:spcAft>
            </a:pPr>
            <a:r>
              <a:rPr sz="1000" b="1" i="0">
                <a:solidFill>
                  <a:srgbClr val="042354"/>
                </a:solidFill>
                <a:latin typeface="Arial"/>
              </a:rPr>
              <a:t>La única condición común a todas las unidades es la geometría de la unión soldada.</a:t>
            </a:r>
          </a:p>
        </p:txBody>
      </p:sp>
      <p:sp>
        <p:nvSpPr>
          <p:cNvPr id="57" name="Rectangle 5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024128" y="5157216"/>
            <a:ext cx="10277856" cy="493776"/>
          </a:xfrm>
          <a:prstGeom prst="rect">
            <a:avLst/>
          </a:prstGeom>
          <a:noFill/>
        </p:spPr>
        <p:txBody>
          <a:bodyPr wrap="square" lIns="0" rIns="0" tIns="0" bIns="0" anchor="t">
            <a:spAutoFit/>
          </a:bodyPr>
          <a:lstStyle/>
          <a:p>
            <a:pPr algn="l">
              <a:lnSpc>
                <a:spcPct val="114000"/>
              </a:lnSpc>
              <a:spcBef>
                <a:spcPts val="0"/>
              </a:spcBef>
              <a:spcAft>
                <a:spcPts val="300"/>
              </a:spcAft>
            </a:pPr>
            <a:r>
              <a:rPr sz="1150" b="1" i="0">
                <a:solidFill>
                  <a:srgbClr val="042354"/>
                </a:solidFill>
                <a:latin typeface="Arial"/>
              </a:rPr>
              <a:t>El diseño queda identificado por eliminación; la verificación a fatiga lo confirma de forma independiente: FS = 0,31 bajo el par nominal.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18</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Eje palier sometido a momento </a:t>
            </a:r>
            <a:r>
              <a:rPr lang="es-PE" sz="900" b="0" i="0" noProof="0" dirty="0" err="1">
                <a:solidFill>
                  <a:srgbClr val="7A8494"/>
                </a:solidFill>
                <a:latin typeface="Arial"/>
              </a:rPr>
              <a:t>torsor</a:t>
            </a:r>
            <a:r>
              <a:rPr lang="es-PE"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CADENA DE CÁLCULO · P/N 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17,81 </a:t>
            </a:r>
            <a:r>
              <a:rPr lang="es-PE" sz="1100" b="1" i="0" noProof="0" dirty="0" err="1">
                <a:solidFill>
                  <a:srgbClr val="191919"/>
                </a:solidFill>
                <a:latin typeface="Arial"/>
              </a:rPr>
              <a:t>kN·m</a:t>
            </a:r>
            <a:endParaRPr lang="es-PE"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latin typeface="Arial"/>
              </a:rPr>
              <a:t>53,6 MPa</a:t>
            </a:r>
          </a:p>
        </p:txBody>
      </p:sp>
      <p:sp>
        <p:nvSpPr>
          <p:cNvPr id="21" name="Rectangle 20"/>
          <p:cNvSpPr/>
          <p:nvPr/>
        </p:nvSpPr>
        <p:spPr>
          <a:xfrm>
            <a:off x="6355080" y="3401568"/>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2" name="Rectangle 21"/>
          <p:cNvSpPr/>
          <p:nvPr/>
        </p:nvSpPr>
        <p:spPr>
          <a:xfrm>
            <a:off x="6355080" y="3401568"/>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4A5568"/>
                </a:solidFill>
                <a:latin typeface="Arial"/>
              </a:rPr>
              <a:t>4</a:t>
            </a:r>
          </a:p>
        </p:txBody>
      </p:sp>
      <p:sp>
        <p:nvSpPr>
          <p:cNvPr id="23" name="TextBox 22"/>
          <p:cNvSpPr txBox="1"/>
          <p:nvPr/>
        </p:nvSpPr>
        <p:spPr>
          <a:xfrm>
            <a:off x="6839712" y="3419856"/>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Clasificación de la unión soldada</a:t>
            </a:r>
          </a:p>
        </p:txBody>
      </p:sp>
      <p:sp>
        <p:nvSpPr>
          <p:cNvPr id="24" name="TextBox 23"/>
          <p:cNvSpPr txBox="1"/>
          <p:nvPr/>
        </p:nvSpPr>
        <p:spPr>
          <a:xfrm>
            <a:off x="9802368" y="3541714"/>
            <a:ext cx="1444752" cy="176908"/>
          </a:xfrm>
          <a:prstGeom prst="rect">
            <a:avLst/>
          </a:prstGeom>
          <a:noFill/>
        </p:spPr>
        <p:txBody>
          <a:bodyPr wrap="square" lIns="0" tIns="0" rIns="0" bIns="0" anchor="ctr">
            <a:spAutoFit/>
          </a:bodyPr>
          <a:lstStyle/>
          <a:p>
            <a:pPr algn="r">
              <a:lnSpc>
                <a:spcPct val="114000"/>
              </a:lnSpc>
              <a:spcBef>
                <a:spcPts val="0"/>
              </a:spcBef>
              <a:spcAft>
                <a:spcPts val="400"/>
              </a:spcAft>
            </a:pPr>
            <a:r>
              <a:rPr lang="es-PE" sz="1100" b="1" i="0" noProof="0" dirty="0">
                <a:solidFill>
                  <a:srgbClr val="191919"/>
                </a:solidFill>
                <a:highlight>
                  <a:srgbClr val="FFFF00"/>
                </a:highlight>
                <a:latin typeface="Arial"/>
              </a:rPr>
              <a:t>FAT 36</a:t>
            </a:r>
          </a:p>
        </p:txBody>
      </p:sp>
      <p:sp>
        <p:nvSpPr>
          <p:cNvPr id="25" name="Rectangle 24"/>
          <p:cNvSpPr/>
          <p:nvPr/>
        </p:nvSpPr>
        <p:spPr>
          <a:xfrm>
            <a:off x="6355080" y="3931920"/>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6355080" y="3931920"/>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1000" b="1" i="0" noProof="0" dirty="0">
                <a:solidFill>
                  <a:srgbClr val="FFFFFF"/>
                </a:solidFill>
                <a:latin typeface="Arial"/>
              </a:rPr>
              <a:t>5</a:t>
            </a:r>
          </a:p>
        </p:txBody>
      </p:sp>
      <p:sp>
        <p:nvSpPr>
          <p:cNvPr id="27" name="TextBox 26"/>
          <p:cNvSpPr txBox="1"/>
          <p:nvPr/>
        </p:nvSpPr>
        <p:spPr>
          <a:xfrm>
            <a:off x="6839712" y="3950207"/>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PE" sz="1000" b="0" i="0" noProof="0" dirty="0">
                <a:solidFill>
                  <a:srgbClr val="191919"/>
                </a:solidFill>
                <a:latin typeface="Arial"/>
              </a:rPr>
              <a:t>Factor de seguridad a la vida planificada</a:t>
            </a:r>
          </a:p>
        </p:txBody>
      </p:sp>
      <p:sp>
        <p:nvSpPr>
          <p:cNvPr id="28" name="TextBox 27"/>
          <p:cNvSpPr txBox="1"/>
          <p:nvPr/>
        </p:nvSpPr>
        <p:spPr>
          <a:xfrm>
            <a:off x="9802368" y="3950207"/>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PE" sz="1250" b="1" i="0" noProof="0" dirty="0">
                <a:solidFill>
                  <a:srgbClr val="C3094A"/>
                </a:solidFill>
                <a:latin typeface="Arial"/>
              </a:rPr>
              <a:t>0,31</a:t>
            </a:r>
          </a:p>
        </p:txBody>
      </p:sp>
      <p:sp>
        <p:nvSpPr>
          <p:cNvPr id="29" name="TextBox 28"/>
          <p:cNvSpPr txBox="1"/>
          <p:nvPr/>
        </p:nvSpPr>
        <p:spPr>
          <a:xfrm>
            <a:off x="6355080" y="4590288"/>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19</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PE"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se fracturó el eje palier?</a:t>
            </a:r>
          </a:p>
          <a:p>
            <a:pPr algn="l">
              <a:lnSpc>
                <a:spcPct val="110000"/>
              </a:lnSpc>
              <a:spcBef>
                <a:spcPts val="0"/>
              </a:spcBef>
              <a:spcAft>
                <a:spcPts val="400"/>
              </a:spcAft>
            </a:pPr>
            <a:r>
              <a:rPr lang="es-PE"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7A8494"/>
                </a:solidFill>
                <a:latin typeface="Arial"/>
              </a:rPr>
              <a:t>2</a:t>
            </a:r>
          </a:p>
        </p:txBody>
      </p:sp>
      <p:sp>
        <p:nvSpPr>
          <p:cNvPr id="16" name="TextBox 15"/>
          <p:cNvSpPr txBox="1"/>
          <p:nvPr/>
        </p:nvSpPr>
        <p:spPr>
          <a:xfrm>
            <a:off x="1444752" y="2761488"/>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PE" sz="950" b="0" i="0" noProof="0" dirty="0">
                <a:solidFill>
                  <a:srgbClr val="4A5568"/>
                </a:solidFill>
                <a:latin typeface="Arial"/>
              </a:rPr>
              <a:t>El componente se recibe con el diseño predeterminado y no se verifica.</a:t>
            </a:r>
          </a:p>
        </p:txBody>
      </p:sp>
      <p:sp>
        <p:nvSpPr>
          <p:cNvPr id="17" name="TextBox 16"/>
          <p:cNvSpPr txBox="1"/>
          <p:nvPr/>
        </p:nvSpPr>
        <p:spPr>
          <a:xfrm>
            <a:off x="5733288" y="2761488"/>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Verificación de resistencia del N/P frente al par nominal antes de aceptarlo.</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PE"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602736"/>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Consolidación periódica de los análisis por modo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PE"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PE"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PE"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PE"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20</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PE"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PE" sz="1200" b="1" i="0" noProof="0" dirty="0">
                <a:solidFill>
                  <a:srgbClr val="2841DD"/>
                </a:solidFill>
                <a:latin typeface="Arial"/>
              </a:rPr>
              <a:t>El rediseño es el resultado del proceso RCM, no su punto de partida.</a:t>
            </a:r>
          </a:p>
          <a:p>
            <a:pPr algn="l">
              <a:lnSpc>
                <a:spcPct val="114000"/>
              </a:lnSpc>
              <a:spcBef>
                <a:spcPts val="0"/>
              </a:spcBef>
              <a:spcAft>
                <a:spcPts val="400"/>
              </a:spcAft>
            </a:pPr>
            <a:r>
              <a:rPr lang="es-PE"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969" cy="6858000"/>
          </a:xfrm>
          <a:prstGeom prst="rect">
            <a:avLst/>
          </a:prstGeom>
          <a:solidFill>
            <a:srgbClr val="042354">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Rectangle 3"/>
          <p:cNvSpPr/>
          <p:nvPr/>
        </p:nvSpPr>
        <p:spPr>
          <a:xfrm>
            <a:off x="841248" y="2432304"/>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5" name="TextBox 4"/>
          <p:cNvSpPr txBox="1"/>
          <p:nvPr/>
        </p:nvSpPr>
        <p:spPr>
          <a:xfrm>
            <a:off x="841248" y="1956816"/>
            <a:ext cx="905256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8FE4C6"/>
                </a:solidFill>
                <a:latin typeface="Arial"/>
              </a:rPr>
              <a:t>CAPÍTULO III Y IV</a:t>
            </a:r>
          </a:p>
        </p:txBody>
      </p:sp>
      <p:sp>
        <p:nvSpPr>
          <p:cNvPr id="6" name="TextBox 5"/>
          <p:cNvSpPr txBox="1"/>
          <p:nvPr/>
        </p:nvSpPr>
        <p:spPr>
          <a:xfrm>
            <a:off x="841248" y="2651760"/>
            <a:ext cx="9235440" cy="1280160"/>
          </a:xfrm>
          <a:prstGeom prst="rect">
            <a:avLst/>
          </a:prstGeom>
          <a:noFill/>
        </p:spPr>
        <p:txBody>
          <a:bodyPr wrap="square" lIns="0" tIns="0" rIns="0" bIns="0" anchor="t">
            <a:spAutoFit/>
          </a:bodyPr>
          <a:lstStyle/>
          <a:p>
            <a:pPr algn="l">
              <a:lnSpc>
                <a:spcPct val="102000"/>
              </a:lnSpc>
              <a:spcBef>
                <a:spcPts val="0"/>
              </a:spcBef>
              <a:spcAft>
                <a:spcPts val="400"/>
              </a:spcAft>
            </a:pPr>
            <a:r>
              <a:rPr lang="es-PE" sz="3600" b="1" i="0" noProof="0" dirty="0">
                <a:solidFill>
                  <a:srgbClr val="FFFFFF"/>
                </a:solidFill>
                <a:latin typeface="Arial"/>
              </a:rPr>
              <a:t>SOLUCIÓN Y RESULTADOS</a:t>
            </a:r>
          </a:p>
        </p:txBody>
      </p:sp>
      <p:sp>
        <p:nvSpPr>
          <p:cNvPr id="7" name="TextBox 6"/>
          <p:cNvSpPr txBox="1"/>
          <p:nvPr/>
        </p:nvSpPr>
        <p:spPr>
          <a:xfrm>
            <a:off x="841248" y="4041648"/>
            <a:ext cx="7589520" cy="914400"/>
          </a:xfrm>
          <a:prstGeom prst="rect">
            <a:avLst/>
          </a:prstGeom>
          <a:noFill/>
        </p:spPr>
        <p:txBody>
          <a:bodyPr wrap="square" lIns="0" tIns="0" rIns="0" bIns="0" anchor="t">
            <a:spAutoFit/>
          </a:bodyPr>
          <a:lstStyle/>
          <a:p>
            <a:pPr algn="l">
              <a:lnSpc>
                <a:spcPct val="124000"/>
              </a:lnSpc>
              <a:spcBef>
                <a:spcPts val="0"/>
              </a:spcBef>
              <a:spcAft>
                <a:spcPts val="400"/>
              </a:spcAft>
            </a:pPr>
            <a:r>
              <a:rPr lang="es-PE" sz="1350" b="0" i="0" noProof="0" dirty="0">
                <a:solidFill>
                  <a:srgbClr val="C6D2E4"/>
                </a:solidFill>
                <a:latin typeface="Arial"/>
              </a:rPr>
              <a:t>El rediseño de la unión soldada, su implementación como cambio controlado y la verificación en dos niveles.</a:t>
            </a:r>
          </a:p>
        </p:txBody>
      </p:sp>
      <p:sp>
        <p:nvSpPr>
          <p:cNvPr id="8" name="TextBox 7"/>
          <p:cNvSpPr txBox="1"/>
          <p:nvPr/>
        </p:nvSpPr>
        <p:spPr>
          <a:xfrm>
            <a:off x="9997409" y="1901952"/>
            <a:ext cx="1280160" cy="1005840"/>
          </a:xfrm>
          <a:prstGeom prst="rect">
            <a:avLst/>
          </a:prstGeom>
          <a:noFill/>
        </p:spPr>
        <p:txBody>
          <a:bodyPr wrap="square" lIns="0" tIns="0" rIns="0" bIns="0" anchor="t">
            <a:spAutoFit/>
          </a:bodyPr>
          <a:lstStyle/>
          <a:p>
            <a:pPr algn="r">
              <a:lnSpc>
                <a:spcPct val="114000"/>
              </a:lnSpc>
              <a:spcBef>
                <a:spcPts val="0"/>
              </a:spcBef>
              <a:spcAft>
                <a:spcPts val="400"/>
              </a:spcAft>
            </a:pPr>
            <a:r>
              <a:rPr lang="es-PE" sz="5000" b="1" i="0" noProof="0" dirty="0">
                <a:solidFill>
                  <a:srgbClr val="2A4576"/>
                </a:solidFill>
                <a:latin typeface="Arial"/>
              </a:rPr>
              <a:t>04</a:t>
            </a:r>
          </a:p>
        </p:txBody>
      </p:sp>
      <p:pic>
        <p:nvPicPr>
          <p:cNvPr id="9" name="Picture 8"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La solución: rediseño de la unión soldada del eje palier</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22</a:t>
            </a:r>
          </a:p>
        </p:txBody>
      </p:sp>
      <p:sp>
        <p:nvSpPr>
          <p:cNvPr id="7" name="TextBox 6"/>
          <p:cNvSpPr txBox="1"/>
          <p:nvPr/>
        </p:nvSpPr>
        <p:spPr>
          <a:xfrm>
            <a:off x="1063932" y="6686840"/>
            <a:ext cx="429768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Comparación de la unión soldada. Elaboración propia.</a:t>
            </a:r>
          </a:p>
        </p:txBody>
      </p:sp>
      <p:sp>
        <p:nvSpPr>
          <p:cNvPr id="8" name="TextBox 7"/>
          <p:cNvSpPr txBox="1"/>
          <p:nvPr/>
        </p:nvSpPr>
        <p:spPr>
          <a:xfrm>
            <a:off x="6607705" y="1453896"/>
            <a:ext cx="6620256"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CONTROL DE CONFIGURACIÓN DEL NÚMERO DE PARTE</a:t>
            </a:r>
          </a:p>
        </p:txBody>
      </p:sp>
      <p:sp>
        <p:nvSpPr>
          <p:cNvPr id="9" name="Rectangle 8"/>
          <p:cNvSpPr/>
          <p:nvPr/>
        </p:nvSpPr>
        <p:spPr>
          <a:xfrm>
            <a:off x="6548897" y="1792224"/>
            <a:ext cx="4801855" cy="1343983"/>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6561985" y="1783259"/>
            <a:ext cx="45720" cy="1353312"/>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6786641" y="1920240"/>
            <a:ext cx="4069080" cy="671530"/>
          </a:xfrm>
          <a:prstGeom prst="rect">
            <a:avLst/>
          </a:prstGeom>
          <a:noFill/>
        </p:spPr>
        <p:txBody>
          <a:bodyPr wrap="square" lIns="0" tIns="0" rIns="0" bIns="0" anchor="t">
            <a:spAutoFit/>
          </a:bodyPr>
          <a:lstStyle/>
          <a:p>
            <a:pPr algn="l">
              <a:lnSpc>
                <a:spcPct val="114000"/>
              </a:lnSpc>
              <a:spcBef>
                <a:spcPts val="0"/>
              </a:spcBef>
              <a:spcAft>
                <a:spcPts val="300"/>
              </a:spcAft>
            </a:pPr>
            <a:r>
              <a:rPr lang="es-PE" sz="1400" b="1" i="0" noProof="0" dirty="0">
                <a:solidFill>
                  <a:srgbClr val="C3094A"/>
                </a:solidFill>
                <a:latin typeface="Arial"/>
              </a:rPr>
              <a:t>Componente obsoleto</a:t>
            </a:r>
          </a:p>
          <a:p>
            <a:pPr algn="l">
              <a:lnSpc>
                <a:spcPct val="114000"/>
              </a:lnSpc>
              <a:spcBef>
                <a:spcPts val="0"/>
              </a:spcBef>
              <a:spcAft>
                <a:spcPts val="400"/>
              </a:spcAft>
            </a:pPr>
            <a:r>
              <a:rPr lang="es-PE" sz="1000" b="0" i="0" noProof="0" dirty="0">
                <a:solidFill>
                  <a:srgbClr val="191919"/>
                </a:solidFill>
                <a:latin typeface="Arial"/>
              </a:rPr>
              <a:t>Unión soldada de penetración parcial;
raíz sin fusión en el diámetro interior del tubo</a:t>
            </a:r>
          </a:p>
        </p:txBody>
      </p:sp>
      <p:sp>
        <p:nvSpPr>
          <p:cNvPr id="12" name="TextBox 11"/>
          <p:cNvSpPr txBox="1"/>
          <p:nvPr/>
        </p:nvSpPr>
        <p:spPr>
          <a:xfrm>
            <a:off x="9144000" y="2048256"/>
            <a:ext cx="1975104" cy="305468"/>
          </a:xfrm>
          <a:prstGeom prst="rect">
            <a:avLst/>
          </a:prstGeom>
          <a:noFill/>
        </p:spPr>
        <p:txBody>
          <a:bodyPr wrap="square" lIns="0" tIns="0" rIns="0" bIns="0" anchor="t">
            <a:spAutoFit/>
          </a:bodyPr>
          <a:lstStyle/>
          <a:p>
            <a:pPr algn="r">
              <a:lnSpc>
                <a:spcPct val="114000"/>
              </a:lnSpc>
              <a:spcBef>
                <a:spcPts val="0"/>
              </a:spcBef>
              <a:spcAft>
                <a:spcPts val="400"/>
              </a:spcAft>
            </a:pPr>
            <a:r>
              <a:rPr lang="es-PE" sz="1900" b="1" i="0" noProof="0" dirty="0">
                <a:solidFill>
                  <a:srgbClr val="C3094A"/>
                </a:solidFill>
                <a:latin typeface="Arial"/>
              </a:rPr>
              <a:t>FS = 0,31</a:t>
            </a:r>
          </a:p>
        </p:txBody>
      </p:sp>
      <p:sp>
        <p:nvSpPr>
          <p:cNvPr id="13" name="Rectangle 12"/>
          <p:cNvSpPr/>
          <p:nvPr/>
        </p:nvSpPr>
        <p:spPr>
          <a:xfrm>
            <a:off x="6548896" y="3255264"/>
            <a:ext cx="4807951"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6566109" y="3255264"/>
            <a:ext cx="45720" cy="135331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6786641" y="3328265"/>
            <a:ext cx="4069080" cy="671530"/>
          </a:xfrm>
          <a:prstGeom prst="rect">
            <a:avLst/>
          </a:prstGeom>
          <a:noFill/>
        </p:spPr>
        <p:txBody>
          <a:bodyPr wrap="square" lIns="0" tIns="0" rIns="0" bIns="0" anchor="t">
            <a:spAutoFit/>
          </a:bodyPr>
          <a:lstStyle/>
          <a:p>
            <a:pPr algn="l">
              <a:lnSpc>
                <a:spcPct val="114000"/>
              </a:lnSpc>
              <a:spcBef>
                <a:spcPts val="0"/>
              </a:spcBef>
              <a:spcAft>
                <a:spcPts val="300"/>
              </a:spcAft>
            </a:pPr>
            <a:r>
              <a:rPr lang="es-PE" sz="1400" b="1" i="0" noProof="0" dirty="0">
                <a:solidFill>
                  <a:srgbClr val="2841DD"/>
                </a:solidFill>
                <a:latin typeface="Arial"/>
              </a:rPr>
              <a:t>Componente mejorado</a:t>
            </a:r>
          </a:p>
          <a:p>
            <a:pPr algn="l">
              <a:lnSpc>
                <a:spcPct val="114000"/>
              </a:lnSpc>
              <a:spcBef>
                <a:spcPts val="0"/>
              </a:spcBef>
              <a:spcAft>
                <a:spcPts val="400"/>
              </a:spcAft>
            </a:pPr>
            <a:r>
              <a:rPr lang="es-PE" sz="1000" b="0" i="0" noProof="0" dirty="0">
                <a:solidFill>
                  <a:srgbClr val="191919"/>
                </a:solidFill>
                <a:latin typeface="Arial"/>
              </a:rPr>
              <a:t>Penetración completa sobre sección resistente
mayor; sin cambio de material</a:t>
            </a:r>
          </a:p>
        </p:txBody>
      </p:sp>
      <p:sp>
        <p:nvSpPr>
          <p:cNvPr id="16" name="TextBox 15"/>
          <p:cNvSpPr txBox="1"/>
          <p:nvPr/>
        </p:nvSpPr>
        <p:spPr>
          <a:xfrm>
            <a:off x="9144000" y="3511296"/>
            <a:ext cx="1975104" cy="305468"/>
          </a:xfrm>
          <a:prstGeom prst="rect">
            <a:avLst/>
          </a:prstGeom>
          <a:noFill/>
        </p:spPr>
        <p:txBody>
          <a:bodyPr wrap="square" lIns="0" tIns="0" rIns="0" bIns="0" anchor="t">
            <a:spAutoFit/>
          </a:bodyPr>
          <a:lstStyle/>
          <a:p>
            <a:pPr algn="r">
              <a:lnSpc>
                <a:spcPct val="114000"/>
              </a:lnSpc>
              <a:spcBef>
                <a:spcPts val="0"/>
              </a:spcBef>
              <a:spcAft>
                <a:spcPts val="400"/>
              </a:spcAft>
            </a:pPr>
            <a:r>
              <a:rPr lang="es-PE" sz="1900" b="1" i="0" noProof="0" dirty="0">
                <a:solidFill>
                  <a:srgbClr val="2841DD"/>
                </a:solidFill>
                <a:latin typeface="Arial"/>
              </a:rPr>
              <a:t>FS = 2,23</a:t>
            </a:r>
          </a:p>
        </p:txBody>
      </p:sp>
      <p:sp>
        <p:nvSpPr>
          <p:cNvPr id="17" name="Rectangle 16"/>
          <p:cNvSpPr/>
          <p:nvPr/>
        </p:nvSpPr>
        <p:spPr>
          <a:xfrm>
            <a:off x="6561984" y="4718304"/>
            <a:ext cx="4794863" cy="9144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8" name="TextBox 17"/>
          <p:cNvSpPr txBox="1"/>
          <p:nvPr/>
        </p:nvSpPr>
        <p:spPr>
          <a:xfrm>
            <a:off x="6641231" y="4864608"/>
            <a:ext cx="4709521" cy="755913"/>
          </a:xfrm>
          <a:prstGeom prst="rect">
            <a:avLst/>
          </a:prstGeom>
          <a:noFill/>
        </p:spPr>
        <p:txBody>
          <a:bodyPr wrap="square" lIns="0" tIns="0" rIns="0" bIns="0" anchor="t">
            <a:spAutoFit/>
          </a:bodyPr>
          <a:lstStyle/>
          <a:p>
            <a:pPr algn="l">
              <a:lnSpc>
                <a:spcPct val="114000"/>
              </a:lnSpc>
              <a:spcBef>
                <a:spcPts val="0"/>
              </a:spcBef>
              <a:spcAft>
                <a:spcPts val="400"/>
              </a:spcAft>
            </a:pPr>
            <a:r>
              <a:rPr lang="es-PE" sz="1100" b="1" i="0" noProof="0" dirty="0">
                <a:solidFill>
                  <a:srgbClr val="C3094A"/>
                </a:solidFill>
                <a:latin typeface="Arial"/>
              </a:rPr>
              <a:t>Una mejora OEM adoptada, no un desarrollo propio</a:t>
            </a:r>
          </a:p>
          <a:p>
            <a:pPr algn="l">
              <a:lnSpc>
                <a:spcPct val="114000"/>
              </a:lnSpc>
              <a:spcBef>
                <a:spcPts val="0"/>
              </a:spcBef>
              <a:spcAft>
                <a:spcPts val="400"/>
              </a:spcAft>
            </a:pPr>
            <a:r>
              <a:rPr lang="es-PE" sz="1000" b="0" i="0" noProof="0" dirty="0">
                <a:solidFill>
                  <a:srgbClr val="191919"/>
                </a:solidFill>
                <a:latin typeface="Arial"/>
              </a:rPr>
              <a:t>La recomendación de modificar el proceso de soldadura y eliminar el concentrador surgió de los propios AFA. La casa matriz adoptó la mejora y esta operación fue la primera en implementarla, en 2025.</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2"/>
          <a:stretch>
            <a:fillRect/>
          </a:stretch>
        </p:blipFill>
        <p:spPr>
          <a:xfrm>
            <a:off x="158617" y="5943600"/>
            <a:ext cx="5620013" cy="550672"/>
          </a:xfrm>
          <a:prstGeom prst="rect">
            <a:avLst/>
          </a:prstGeom>
        </p:spPr>
      </p:pic>
      <p:pic>
        <p:nvPicPr>
          <p:cNvPr id="6" name="Picture 5" descr="union_soldada.png"/>
          <p:cNvPicPr>
            <a:picLocks noChangeAspect="1"/>
          </p:cNvPicPr>
          <p:nvPr/>
        </p:nvPicPr>
        <p:blipFill>
          <a:blip r:embed="rId3"/>
          <a:stretch>
            <a:fillRect/>
          </a:stretch>
        </p:blipFill>
        <p:spPr>
          <a:xfrm>
            <a:off x="398083" y="1351293"/>
            <a:ext cx="6074433" cy="533554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23</a:t>
            </a:r>
          </a:p>
        </p:txBody>
      </p:sp>
      <p:sp>
        <p:nvSpPr>
          <p:cNvPr id="6" name="Rectangle 5"/>
          <p:cNvSpPr/>
          <p:nvPr/>
        </p:nvSpPr>
        <p:spPr>
          <a:xfrm>
            <a:off x="841248"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60704"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01</a:t>
            </a:r>
          </a:p>
          <a:p>
            <a:pPr algn="l">
              <a:lnSpc>
                <a:spcPct val="110000"/>
              </a:lnSpc>
              <a:spcBef>
                <a:spcPts val="0"/>
              </a:spcBef>
              <a:spcAft>
                <a:spcPts val="700"/>
              </a:spcAft>
            </a:pPr>
            <a:r>
              <a:rPr lang="es-PE" sz="1250" b="1" i="0" noProof="0" dirty="0">
                <a:solidFill>
                  <a:srgbClr val="042354"/>
                </a:solidFill>
                <a:latin typeface="Arial"/>
              </a:rPr>
              <a:t>Priorización por horómetro y riesgo</a:t>
            </a:r>
          </a:p>
          <a:p>
            <a:pPr algn="l">
              <a:lnSpc>
                <a:spcPct val="116000"/>
              </a:lnSpc>
              <a:spcBef>
                <a:spcPts val="0"/>
              </a:spcBef>
              <a:spcAft>
                <a:spcPts val="400"/>
              </a:spcAft>
            </a:pPr>
            <a:r>
              <a:rPr lang="es-PE" sz="1000" b="0" i="0" noProof="0" dirty="0">
                <a:solidFill>
                  <a:srgbClr val="4A5568"/>
                </a:solidFill>
                <a:latin typeface="Arial"/>
              </a:rPr>
              <a:t>Las posiciones con mayor vida acumulada del componente se atendieron primero, por ser las más próximas al rango de vidas en el que se concentraban las fracturas.</a:t>
            </a:r>
          </a:p>
        </p:txBody>
      </p:sp>
      <p:sp>
        <p:nvSpPr>
          <p:cNvPr id="9" name="Rectangle 8"/>
          <p:cNvSpPr/>
          <p:nvPr/>
        </p:nvSpPr>
        <p:spPr>
          <a:xfrm>
            <a:off x="4431792"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Rectangle 9"/>
          <p:cNvSpPr/>
          <p:nvPr/>
        </p:nvSpPr>
        <p:spPr>
          <a:xfrm>
            <a:off x="4431792"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TextBox 10"/>
          <p:cNvSpPr txBox="1"/>
          <p:nvPr/>
        </p:nvSpPr>
        <p:spPr>
          <a:xfrm>
            <a:off x="4651248"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02</a:t>
            </a:r>
          </a:p>
          <a:p>
            <a:pPr algn="l">
              <a:lnSpc>
                <a:spcPct val="110000"/>
              </a:lnSpc>
              <a:spcBef>
                <a:spcPts val="0"/>
              </a:spcBef>
              <a:spcAft>
                <a:spcPts val="700"/>
              </a:spcAft>
            </a:pPr>
            <a:r>
              <a:rPr lang="es-PE" sz="1250" b="1" i="0" noProof="0" dirty="0">
                <a:solidFill>
                  <a:srgbClr val="042354"/>
                </a:solidFill>
                <a:latin typeface="Arial"/>
              </a:rPr>
              <a:t>Ejecución por sustitución del conjunto</a:t>
            </a:r>
          </a:p>
          <a:p>
            <a:pPr algn="l">
              <a:lnSpc>
                <a:spcPct val="116000"/>
              </a:lnSpc>
              <a:spcBef>
                <a:spcPts val="0"/>
              </a:spcBef>
              <a:spcAft>
                <a:spcPts val="400"/>
              </a:spcAft>
            </a:pPr>
            <a:r>
              <a:rPr lang="es-PE" sz="1000" b="0" i="0" noProof="0" dirty="0">
                <a:solidFill>
                  <a:srgbClr val="4A5568"/>
                </a:solidFill>
                <a:latin typeface="Arial"/>
              </a:rPr>
              <a:t>El cambio no se realiza sobre el eje instalado, sino mediante el reemplazo del motor de tracción por uno de intercambio que incorpora el número de parte mejorado.</a:t>
            </a:r>
          </a:p>
        </p:txBody>
      </p:sp>
      <p:sp>
        <p:nvSpPr>
          <p:cNvPr id="12" name="Rectangle 11"/>
          <p:cNvSpPr/>
          <p:nvPr/>
        </p:nvSpPr>
        <p:spPr>
          <a:xfrm>
            <a:off x="8022336" y="1463040"/>
            <a:ext cx="3334512" cy="22128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Rectangle 12"/>
          <p:cNvSpPr/>
          <p:nvPr/>
        </p:nvSpPr>
        <p:spPr>
          <a:xfrm>
            <a:off x="8022336" y="1463040"/>
            <a:ext cx="3334512"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TextBox 13"/>
          <p:cNvSpPr txBox="1"/>
          <p:nvPr/>
        </p:nvSpPr>
        <p:spPr>
          <a:xfrm>
            <a:off x="8241792" y="1664208"/>
            <a:ext cx="2895600" cy="1883664"/>
          </a:xfrm>
          <a:prstGeom prst="rect">
            <a:avLst/>
          </a:prstGeom>
          <a:noFill/>
        </p:spPr>
        <p:txBody>
          <a:bodyPr wrap="square" lIns="0" tIns="0" rIns="0" bIns="0" anchor="t">
            <a:spAutoFit/>
          </a:bodyPr>
          <a:lstStyle/>
          <a:p>
            <a:pPr algn="l">
              <a:lnSpc>
                <a:spcPct val="95000"/>
              </a:lnSpc>
              <a:spcBef>
                <a:spcPts val="0"/>
              </a:spcBef>
              <a:spcAft>
                <a:spcPts val="700"/>
              </a:spcAft>
            </a:pPr>
            <a:r>
              <a:rPr lang="es-PE" sz="2500" b="1" i="0" noProof="0" dirty="0">
                <a:solidFill>
                  <a:srgbClr val="C3094A"/>
                </a:solidFill>
                <a:latin typeface="Arial"/>
              </a:rPr>
              <a:t>03</a:t>
            </a:r>
          </a:p>
          <a:p>
            <a:pPr algn="l">
              <a:lnSpc>
                <a:spcPct val="110000"/>
              </a:lnSpc>
              <a:spcBef>
                <a:spcPts val="0"/>
              </a:spcBef>
              <a:spcAft>
                <a:spcPts val="700"/>
              </a:spcAft>
            </a:pPr>
            <a:r>
              <a:rPr lang="es-PE" sz="1250" b="1" i="0" noProof="0" dirty="0">
                <a:solidFill>
                  <a:srgbClr val="042354"/>
                </a:solidFill>
                <a:latin typeface="Arial"/>
              </a:rPr>
              <a:t>Control de la mejora instalada</a:t>
            </a:r>
          </a:p>
          <a:p>
            <a:pPr algn="l">
              <a:lnSpc>
                <a:spcPct val="116000"/>
              </a:lnSpc>
              <a:spcBef>
                <a:spcPts val="0"/>
              </a:spcBef>
              <a:spcAft>
                <a:spcPts val="400"/>
              </a:spcAft>
            </a:pPr>
            <a:r>
              <a:rPr lang="es-PE" sz="1000" b="0" i="0" noProof="0" dirty="0">
                <a:solidFill>
                  <a:srgbClr val="4A5568"/>
                </a:solidFill>
                <a:latin typeface="Arial"/>
              </a:rPr>
              <a:t>Se registra para cada posición el número de parte montado y la fecha de instalación, lo que impide la reposición del número de parte obsoleto.</a:t>
            </a:r>
          </a:p>
        </p:txBody>
      </p:sp>
      <p:sp>
        <p:nvSpPr>
          <p:cNvPr id="15" name="Rectangle 14"/>
          <p:cNvSpPr/>
          <p:nvPr/>
        </p:nvSpPr>
        <p:spPr>
          <a:xfrm>
            <a:off x="841248" y="3877056"/>
            <a:ext cx="10515600" cy="9692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Rectangle 15"/>
          <p:cNvSpPr/>
          <p:nvPr/>
        </p:nvSpPr>
        <p:spPr>
          <a:xfrm>
            <a:off x="841248" y="3877056"/>
            <a:ext cx="45720" cy="96926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7" name="TextBox 16"/>
          <p:cNvSpPr txBox="1"/>
          <p:nvPr/>
        </p:nvSpPr>
        <p:spPr>
          <a:xfrm>
            <a:off x="1078992" y="4005072"/>
            <a:ext cx="10040112" cy="749808"/>
          </a:xfrm>
          <a:prstGeom prst="rect">
            <a:avLst/>
          </a:prstGeom>
          <a:noFill/>
        </p:spPr>
        <p:txBody>
          <a:bodyPr wrap="square" lIns="0" tIns="0" rIns="0" bIns="0" anchor="t">
            <a:spAutoFit/>
          </a:bodyPr>
          <a:lstStyle/>
          <a:p>
            <a:pPr algn="l">
              <a:lnSpc>
                <a:spcPct val="114000"/>
              </a:lnSpc>
              <a:spcBef>
                <a:spcPts val="0"/>
              </a:spcBef>
              <a:spcAft>
                <a:spcPts val="500"/>
              </a:spcAft>
            </a:pPr>
            <a:r>
              <a:rPr lang="es-PE" sz="1200" b="1" i="0" noProof="0" dirty="0">
                <a:solidFill>
                  <a:srgbClr val="2841DD"/>
                </a:solidFill>
                <a:latin typeface="Arial"/>
              </a:rPr>
              <a:t>Validación previa con el equipo técnico</a:t>
            </a:r>
          </a:p>
          <a:p>
            <a:pPr algn="l">
              <a:lnSpc>
                <a:spcPct val="116000"/>
              </a:lnSpc>
              <a:spcBef>
                <a:spcPts val="0"/>
              </a:spcBef>
              <a:spcAft>
                <a:spcPts val="400"/>
              </a:spcAft>
            </a:pPr>
            <a:r>
              <a:rPr lang="es-PE" sz="1000" b="0" i="0" noProof="0" dirty="0">
                <a:solidFill>
                  <a:srgbClr val="191919"/>
                </a:solidFill>
                <a:latin typeface="Arial"/>
              </a:rPr>
              <a:t>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p:txBody>
      </p:sp>
      <p:sp>
        <p:nvSpPr>
          <p:cNvPr id="18" name="Rectangle 1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El tercer mecanismo responde de forma directa a la causa latente identificada: impide que el hallazgo técnico vuelva a perderse en la reposición del componente.</a:t>
            </a:r>
          </a:p>
        </p:txBody>
      </p:sp>
      <p:pic>
        <p:nvPicPr>
          <p:cNvPr id="20" name="Imagen 19">
            <a:extLst>
              <a:ext uri="{FF2B5EF4-FFF2-40B4-BE49-F238E27FC236}">
                <a16:creationId xmlns:a16="http://schemas.microsoft.com/office/drawing/2014/main" id="{6FA52F15-73FA-258F-A140-33DAACE60688}"/>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en el nivel del componente: no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24</a:t>
            </a:r>
          </a:p>
        </p:txBody>
      </p:sp>
      <p:pic>
        <p:nvPicPr>
          <p:cNvPr id="6" name="Picture 5" descr="pu_g4_norecurrencia.png"/>
          <p:cNvPicPr>
            <a:picLocks noChangeAspect="1"/>
          </p:cNvPicPr>
          <p:nvPr/>
        </p:nvPicPr>
        <p:blipFill>
          <a:blip r:embed="rId2"/>
          <a:stretch>
            <a:fillRect/>
          </a:stretch>
        </p:blipFill>
        <p:spPr>
          <a:xfrm>
            <a:off x="1225700" y="1426464"/>
            <a:ext cx="6015943" cy="3401568"/>
          </a:xfrm>
          <a:prstGeom prst="rect">
            <a:avLst/>
          </a:prstGeom>
        </p:spPr>
      </p:pic>
      <p:sp>
        <p:nvSpPr>
          <p:cNvPr id="7" name="TextBox 6"/>
          <p:cNvSpPr txBox="1"/>
          <p:nvPr/>
        </p:nvSpPr>
        <p:spPr>
          <a:xfrm>
            <a:off x="7178040" y="1517904"/>
            <a:ext cx="41788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CRITERIO DE VERIFICACIÓN</a:t>
            </a:r>
          </a:p>
        </p:txBody>
      </p:sp>
      <p:sp>
        <p:nvSpPr>
          <p:cNvPr id="8" name="Rectangle 7"/>
          <p:cNvSpPr/>
          <p:nvPr/>
        </p:nvSpPr>
        <p:spPr>
          <a:xfrm>
            <a:off x="7178040" y="1810512"/>
            <a:ext cx="4178808" cy="8961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Rectangle 8"/>
          <p:cNvSpPr/>
          <p:nvPr/>
        </p:nvSpPr>
        <p:spPr>
          <a:xfrm>
            <a:off x="7178040" y="1810512"/>
            <a:ext cx="4178808" cy="411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0" name="TextBox 9"/>
          <p:cNvSpPr txBox="1"/>
          <p:nvPr/>
        </p:nvSpPr>
        <p:spPr>
          <a:xfrm>
            <a:off x="7342631" y="1938528"/>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200" b="1" i="0" noProof="0" dirty="0">
                <a:solidFill>
                  <a:srgbClr val="2841DD"/>
                </a:solidFill>
                <a:latin typeface="Arial"/>
              </a:rPr>
              <a:t>96 000 h</a:t>
            </a:r>
          </a:p>
          <a:p>
            <a:pPr algn="l">
              <a:lnSpc>
                <a:spcPct val="108000"/>
              </a:lnSpc>
              <a:spcBef>
                <a:spcPts val="0"/>
              </a:spcBef>
              <a:spcAft>
                <a:spcPts val="0"/>
              </a:spcAft>
            </a:pPr>
            <a:r>
              <a:rPr lang="es-PE" sz="950" b="0" i="0" noProof="0" dirty="0">
                <a:solidFill>
                  <a:srgbClr val="4A5568"/>
                </a:solidFill>
                <a:latin typeface="Arial"/>
              </a:rPr>
              <a:t>de operación de flota acumuladas con el P/N mejorado</a:t>
            </a:r>
          </a:p>
        </p:txBody>
      </p:sp>
      <p:sp>
        <p:nvSpPr>
          <p:cNvPr id="11" name="Rectangle 10"/>
          <p:cNvSpPr/>
          <p:nvPr/>
        </p:nvSpPr>
        <p:spPr>
          <a:xfrm>
            <a:off x="7178040" y="2798064"/>
            <a:ext cx="4178808" cy="8961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Rectangle 11"/>
          <p:cNvSpPr/>
          <p:nvPr/>
        </p:nvSpPr>
        <p:spPr>
          <a:xfrm>
            <a:off x="7178040" y="2798064"/>
            <a:ext cx="4178808" cy="411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3" name="TextBox 12"/>
          <p:cNvSpPr txBox="1"/>
          <p:nvPr/>
        </p:nvSpPr>
        <p:spPr>
          <a:xfrm>
            <a:off x="7342631" y="2926080"/>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600" b="1" i="0" noProof="0" dirty="0">
                <a:solidFill>
                  <a:srgbClr val="2841DD"/>
                </a:solidFill>
                <a:latin typeface="Arial"/>
              </a:rPr>
              <a:t>0</a:t>
            </a:r>
          </a:p>
          <a:p>
            <a:pPr algn="l">
              <a:lnSpc>
                <a:spcPct val="108000"/>
              </a:lnSpc>
              <a:spcBef>
                <a:spcPts val="0"/>
              </a:spcBef>
              <a:spcAft>
                <a:spcPts val="0"/>
              </a:spcAft>
            </a:pPr>
            <a:r>
              <a:rPr lang="es-PE" sz="950" b="0" i="0" noProof="0" dirty="0">
                <a:solidFill>
                  <a:srgbClr val="4A5568"/>
                </a:solidFill>
                <a:latin typeface="Arial"/>
              </a:rPr>
              <a:t>fracturas del eje palier desde el 14 de diciembre de 2024</a:t>
            </a:r>
          </a:p>
        </p:txBody>
      </p:sp>
      <p:sp>
        <p:nvSpPr>
          <p:cNvPr id="14" name="Rectangle 13"/>
          <p:cNvSpPr/>
          <p:nvPr/>
        </p:nvSpPr>
        <p:spPr>
          <a:xfrm>
            <a:off x="7178040" y="3785615"/>
            <a:ext cx="4178808" cy="89611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7178040" y="3785615"/>
            <a:ext cx="417880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7342631" y="3913631"/>
            <a:ext cx="3849624" cy="640080"/>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p = 0,0018</a:t>
            </a:r>
          </a:p>
          <a:p>
            <a:pPr algn="l">
              <a:lnSpc>
                <a:spcPct val="108000"/>
              </a:lnSpc>
              <a:spcBef>
                <a:spcPts val="0"/>
              </a:spcBef>
              <a:spcAft>
                <a:spcPts val="0"/>
              </a:spcAft>
            </a:pPr>
            <a:r>
              <a:rPr lang="es-PE" sz="950" b="0" i="0" noProof="0" dirty="0">
                <a:solidFill>
                  <a:srgbClr val="4A5568"/>
                </a:solidFill>
                <a:latin typeface="Arial"/>
              </a:rPr>
              <a:t>probabilidad de observar cero si la tasa previa persistiera</a:t>
            </a:r>
          </a:p>
        </p:txBody>
      </p:sp>
      <p:sp>
        <p:nvSpPr>
          <p:cNvPr id="17" name="TextBox 16"/>
          <p:cNvSpPr txBox="1"/>
          <p:nvPr/>
        </p:nvSpPr>
        <p:spPr>
          <a:xfrm>
            <a:off x="841248" y="4882896"/>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La verificación permanece abierta hasta que las unidades intervenidas superen las 24 540 horas, el límite superior del rango de vidas observado.</a:t>
            </a:r>
          </a:p>
        </p:txBody>
      </p:sp>
      <p:sp>
        <p:nvSpPr>
          <p:cNvPr id="18" name="Rectangle 1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TextBox 1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Se rechaza con 95 % de confianza la hipótesis de que el modo persiste con su frecuencia anterior. El MTBF del modo supera 32 046 h, por encima del TBO de referencia de 20 000 h.</a:t>
            </a:r>
          </a:p>
        </p:txBody>
      </p:sp>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Recuperación de los indicadores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25</a:t>
            </a:r>
          </a:p>
        </p:txBody>
      </p:sp>
      <p:pic>
        <p:nvPicPr>
          <p:cNvPr id="6" name="Picture 5" descr="pu_g5_componente.png"/>
          <p:cNvPicPr>
            <a:picLocks noChangeAspect="1"/>
          </p:cNvPicPr>
          <p:nvPr/>
        </p:nvPicPr>
        <p:blipFill>
          <a:blip r:embed="rId2"/>
          <a:stretch>
            <a:fillRect/>
          </a:stretch>
        </p:blipFill>
        <p:spPr>
          <a:xfrm>
            <a:off x="2055509" y="1481328"/>
            <a:ext cx="8087077" cy="3017520"/>
          </a:xfrm>
          <a:prstGeom prst="rect">
            <a:avLst/>
          </a:prstGeom>
        </p:spPr>
      </p:pic>
      <p:sp>
        <p:nvSpPr>
          <p:cNvPr id="7" name="Rectangle 6"/>
          <p:cNvSpPr/>
          <p:nvPr/>
        </p:nvSpPr>
        <p:spPr>
          <a:xfrm>
            <a:off x="841248" y="4626864"/>
            <a:ext cx="5102352" cy="84124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4626864"/>
            <a:ext cx="45720" cy="84124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60704" y="4736592"/>
            <a:ext cx="4681728" cy="640080"/>
          </a:xfrm>
          <a:prstGeom prst="rect">
            <a:avLst/>
          </a:prstGeom>
          <a:noFill/>
        </p:spPr>
        <p:txBody>
          <a:bodyPr wrap="square" lIns="0" tIns="0" rIns="0" bIns="0" anchor="t">
            <a:spAutoFit/>
          </a:bodyPr>
          <a:lstStyle/>
          <a:p>
            <a:pPr algn="l">
              <a:lnSpc>
                <a:spcPct val="114000"/>
              </a:lnSpc>
              <a:spcBef>
                <a:spcPts val="0"/>
              </a:spcBef>
              <a:spcAft>
                <a:spcPts val="400"/>
              </a:spcAft>
            </a:pPr>
            <a:r>
              <a:rPr lang="es-PE" sz="1000" b="1" i="0" noProof="0" dirty="0">
                <a:solidFill>
                  <a:srgbClr val="2841DD"/>
                </a:solidFill>
                <a:latin typeface="Arial"/>
              </a:rPr>
              <a:t>MTBF del modo de falla</a:t>
            </a:r>
          </a:p>
          <a:p>
            <a:pPr algn="l">
              <a:lnSpc>
                <a:spcPct val="114000"/>
              </a:lnSpc>
              <a:spcBef>
                <a:spcPts val="0"/>
              </a:spcBef>
              <a:spcAft>
                <a:spcPts val="400"/>
              </a:spcAft>
            </a:pPr>
            <a:r>
              <a:rPr lang="es-PE" sz="1050" b="0" i="0" noProof="0" dirty="0">
                <a:solidFill>
                  <a:srgbClr val="191919"/>
                </a:solidFill>
                <a:latin typeface="Arial"/>
              </a:rPr>
              <a:t>De 15 231 h a más de 32 046 h (límite inferior al 95 % de confianza), por encima del TBO de referencia.</a:t>
            </a:r>
          </a:p>
        </p:txBody>
      </p:sp>
      <p:sp>
        <p:nvSpPr>
          <p:cNvPr id="10" name="Rectangle 9"/>
          <p:cNvSpPr/>
          <p:nvPr/>
        </p:nvSpPr>
        <p:spPr>
          <a:xfrm>
            <a:off x="6254496" y="4626864"/>
            <a:ext cx="5102352" cy="84124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6254496" y="4626864"/>
            <a:ext cx="45720" cy="8412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6473952" y="4736592"/>
            <a:ext cx="4681728" cy="640080"/>
          </a:xfrm>
          <a:prstGeom prst="rect">
            <a:avLst/>
          </a:prstGeom>
          <a:noFill/>
        </p:spPr>
        <p:txBody>
          <a:bodyPr wrap="square" lIns="0" tIns="0" rIns="0" bIns="0" anchor="t">
            <a:spAutoFit/>
          </a:bodyPr>
          <a:lstStyle/>
          <a:p>
            <a:pPr algn="l">
              <a:lnSpc>
                <a:spcPct val="114000"/>
              </a:lnSpc>
              <a:spcBef>
                <a:spcPts val="0"/>
              </a:spcBef>
              <a:spcAft>
                <a:spcPts val="400"/>
              </a:spcAft>
            </a:pPr>
            <a:r>
              <a:rPr lang="es-PE" sz="1000" b="1" i="0" noProof="0" dirty="0">
                <a:solidFill>
                  <a:srgbClr val="C3094A"/>
                </a:solidFill>
                <a:latin typeface="Arial"/>
              </a:rPr>
              <a:t>MTTR del sistema de propulsión</a:t>
            </a:r>
          </a:p>
          <a:p>
            <a:pPr algn="l">
              <a:lnSpc>
                <a:spcPct val="114000"/>
              </a:lnSpc>
              <a:spcBef>
                <a:spcPts val="0"/>
              </a:spcBef>
              <a:spcAft>
                <a:spcPts val="400"/>
              </a:spcAft>
            </a:pPr>
            <a:r>
              <a:rPr lang="es-PE" sz="1050" b="0" i="0" noProof="0" dirty="0">
                <a:solidFill>
                  <a:srgbClr val="191919"/>
                </a:solidFill>
                <a:latin typeface="Arial"/>
              </a:rPr>
              <a:t>Desciende 46 % porque desapareció un modo cuya intervención duraba 59,3 h, cerca de ocho veces el promedio del sistema.</a:t>
            </a:r>
          </a:p>
        </p:txBody>
      </p:sp>
      <p:pic>
        <p:nvPicPr>
          <p:cNvPr id="13" name="Imagen 12">
            <a:extLst>
              <a:ext uri="{FF2B5EF4-FFF2-40B4-BE49-F238E27FC236}">
                <a16:creationId xmlns:a16="http://schemas.microsoft.com/office/drawing/2014/main" id="{3A4EC09B-FF8A-C59B-CADF-863245512403}"/>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Verificación en el nivel de la flota: indicadores contractuales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26</a:t>
            </a:r>
          </a:p>
        </p:txBody>
      </p:sp>
      <p:pic>
        <p:nvPicPr>
          <p:cNvPr id="6" name="Picture 5" descr="pu_g6_contractuales.png"/>
          <p:cNvPicPr>
            <a:picLocks noChangeAspect="1"/>
          </p:cNvPicPr>
          <p:nvPr/>
        </p:nvPicPr>
        <p:blipFill>
          <a:blip r:embed="rId2"/>
          <a:stretch>
            <a:fillRect/>
          </a:stretch>
        </p:blipFill>
        <p:spPr>
          <a:xfrm>
            <a:off x="841247" y="1856805"/>
            <a:ext cx="6263640" cy="2559173"/>
          </a:xfrm>
          <a:prstGeom prst="rect">
            <a:avLst/>
          </a:prstGeom>
        </p:spPr>
      </p:pic>
      <p:sp>
        <p:nvSpPr>
          <p:cNvPr id="7" name="TextBox 6"/>
          <p:cNvSpPr txBox="1"/>
          <p:nvPr/>
        </p:nvSpPr>
        <p:spPr>
          <a:xfrm>
            <a:off x="7296912" y="1517904"/>
            <a:ext cx="4059936" cy="274320"/>
          </a:xfrm>
          <a:prstGeom prst="rect">
            <a:avLst/>
          </a:prstGeom>
          <a:noFill/>
        </p:spPr>
        <p:txBody>
          <a:bodyPr wrap="square" lIns="0" tIns="0" rIns="0" bIns="0" anchor="t">
            <a:spAutoFit/>
          </a:bodyPr>
          <a:lstStyle/>
          <a:p>
            <a:pPr algn="l">
              <a:lnSpc>
                <a:spcPct val="114000"/>
              </a:lnSpc>
              <a:spcBef>
                <a:spcPts val="0"/>
              </a:spcBef>
              <a:spcAft>
                <a:spcPts val="400"/>
              </a:spcAft>
            </a:pPr>
            <a:r>
              <a:rPr lang="es-PE" sz="950" b="1" i="0" noProof="0" dirty="0">
                <a:solidFill>
                  <a:srgbClr val="4A5568"/>
                </a:solidFill>
                <a:latin typeface="Arial"/>
              </a:rPr>
              <a:t>ATRIBUCIÓN DEL EFECTO</a:t>
            </a:r>
          </a:p>
        </p:txBody>
      </p:sp>
      <p:sp>
        <p:nvSpPr>
          <p:cNvPr id="8" name="Rectangle 7"/>
          <p:cNvSpPr/>
          <p:nvPr/>
        </p:nvSpPr>
        <p:spPr>
          <a:xfrm>
            <a:off x="7296912" y="1810512"/>
            <a:ext cx="4059936" cy="2761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7498079" y="1975104"/>
            <a:ext cx="3657600" cy="2450592"/>
          </a:xfrm>
          <a:prstGeom prst="rect">
            <a:avLst/>
          </a:prstGeom>
          <a:noFill/>
        </p:spPr>
        <p:txBody>
          <a:bodyPr wrap="square" lIns="0" tIns="0" rIns="0" bIns="0" anchor="t">
            <a:spAutoFit/>
          </a:bodyPr>
          <a:lstStyle/>
          <a:p>
            <a:pPr algn="l">
              <a:lnSpc>
                <a:spcPct val="116000"/>
              </a:lnSpc>
              <a:spcBef>
                <a:spcPts val="0"/>
              </a:spcBef>
              <a:spcAft>
                <a:spcPts val="800"/>
              </a:spcAft>
            </a:pPr>
            <a:r>
              <a:rPr lang="es-PE" sz="1050" b="0" i="0" noProof="0" dirty="0">
                <a:solidFill>
                  <a:srgbClr val="191919"/>
                </a:solidFill>
                <a:latin typeface="Arial"/>
              </a:rPr>
              <a:t>Durante el mismo período se ejecutó una intervención independiente sobre el motor diésel, dirigida a eliminar la fisura de culatas.</a:t>
            </a:r>
          </a:p>
          <a:p>
            <a:pPr algn="l">
              <a:lnSpc>
                <a:spcPct val="116000"/>
              </a:lnSpc>
              <a:spcBef>
                <a:spcPts val="0"/>
              </a:spcBef>
              <a:spcAft>
                <a:spcPts val="800"/>
              </a:spcAft>
            </a:pPr>
            <a:r>
              <a:rPr lang="es-PE" sz="1050" b="0" i="0" noProof="0" dirty="0">
                <a:solidFill>
                  <a:srgbClr val="191919"/>
                </a:solidFill>
                <a:latin typeface="Arial"/>
              </a:rPr>
              <a:t>La eliminación de la fractura del eje palier explica 0,36 puntos porcentuales de disponibilidad; la recuperación restante proviene de esa acción concurrente.</a:t>
            </a:r>
          </a:p>
          <a:p>
            <a:pPr algn="l">
              <a:lnSpc>
                <a:spcPct val="116000"/>
              </a:lnSpc>
              <a:spcBef>
                <a:spcPts val="0"/>
              </a:spcBef>
              <a:spcAft>
                <a:spcPts val="400"/>
              </a:spcAft>
            </a:pPr>
            <a:r>
              <a:rPr lang="es-PE" sz="1050" b="1" i="0" noProof="0" dirty="0">
                <a:solidFill>
                  <a:srgbClr val="C3094A"/>
                </a:solidFill>
                <a:latin typeface="Arial"/>
              </a:rPr>
              <a:t>La concurrencia no debilita la verificación: lo que acredita el rediseño es el criterio del nivel del componente, donde el efecto sí es directamente atribuible.</a:t>
            </a:r>
          </a:p>
        </p:txBody>
      </p:sp>
      <p:sp>
        <p:nvSpPr>
          <p:cNvPr id="10" name="TextBox 9"/>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PE" sz="900" b="0" i="0" noProof="0" dirty="0">
                <a:solidFill>
                  <a:srgbClr val="7A8494"/>
                </a:solidFill>
                <a:latin typeface="Arial"/>
              </a:rPr>
              <a:t>El MTTR no mejora, y no debía hacerlo: la acción implementada elimina eventos, no reduce la duración de las intervenciones que subsisten.</a:t>
            </a:r>
          </a:p>
        </p:txBody>
      </p:sp>
      <p:sp>
        <p:nvSpPr>
          <p:cNvPr id="11" name="Rectangle 1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PE" sz="1150" b="1" i="0" noProof="0" dirty="0">
                <a:solidFill>
                  <a:srgbClr val="042354"/>
                </a:solidFill>
                <a:latin typeface="Arial"/>
              </a:rPr>
              <a:t>2025 supera por primera vez en el período analizado ambos compromisos contractuales: 93,6 % de disponibilidad y 108,4 h de MTBF.</a:t>
            </a:r>
          </a:p>
        </p:txBody>
      </p:sp>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Evaluación económica del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27</a:t>
            </a:r>
          </a:p>
        </p:txBody>
      </p:sp>
      <p:pic>
        <p:nvPicPr>
          <p:cNvPr id="6" name="Picture 5" descr="pu_g7_economico.png"/>
          <p:cNvPicPr>
            <a:picLocks noChangeAspect="1"/>
          </p:cNvPicPr>
          <p:nvPr/>
        </p:nvPicPr>
        <p:blipFill>
          <a:blip r:embed="rId2"/>
          <a:stretch>
            <a:fillRect/>
          </a:stretch>
        </p:blipFill>
        <p:spPr>
          <a:xfrm>
            <a:off x="2102487" y="1444752"/>
            <a:ext cx="7993120" cy="3127248"/>
          </a:xfrm>
          <a:prstGeom prst="rect">
            <a:avLst/>
          </a:prstGeom>
        </p:spPr>
      </p:pic>
      <p:sp>
        <p:nvSpPr>
          <p:cNvPr id="7" name="Rectangle 6"/>
          <p:cNvSpPr/>
          <p:nvPr/>
        </p:nvSpPr>
        <p:spPr>
          <a:xfrm>
            <a:off x="841248"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Rectangle 7"/>
          <p:cNvSpPr/>
          <p:nvPr/>
        </p:nvSpPr>
        <p:spPr>
          <a:xfrm>
            <a:off x="841248"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9" name="TextBox 8"/>
          <p:cNvSpPr txBox="1"/>
          <p:nvPr/>
        </p:nvSpPr>
        <p:spPr>
          <a:xfrm>
            <a:off x="1005840"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US$ 3,05 M</a:t>
            </a:r>
          </a:p>
          <a:p>
            <a:pPr algn="l">
              <a:lnSpc>
                <a:spcPct val="108000"/>
              </a:lnSpc>
              <a:spcBef>
                <a:spcPts val="0"/>
              </a:spcBef>
              <a:spcAft>
                <a:spcPts val="0"/>
              </a:spcAft>
            </a:pPr>
            <a:r>
              <a:rPr lang="es-PE" sz="950" b="0" i="0" noProof="0" dirty="0">
                <a:solidFill>
                  <a:srgbClr val="4A5568"/>
                </a:solidFill>
                <a:latin typeface="Arial"/>
              </a:rPr>
              <a:t>Costo recurrente anual
del modo de falla eliminado</a:t>
            </a:r>
          </a:p>
        </p:txBody>
      </p:sp>
      <p:sp>
        <p:nvSpPr>
          <p:cNvPr id="10" name="Rectangle 9"/>
          <p:cNvSpPr/>
          <p:nvPr/>
        </p:nvSpPr>
        <p:spPr>
          <a:xfrm>
            <a:off x="4443984"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4443984"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4608576"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12 eventos</a:t>
            </a:r>
          </a:p>
          <a:p>
            <a:pPr algn="l">
              <a:lnSpc>
                <a:spcPct val="108000"/>
              </a:lnSpc>
              <a:spcBef>
                <a:spcPts val="0"/>
              </a:spcBef>
              <a:spcAft>
                <a:spcPts val="0"/>
              </a:spcAft>
            </a:pPr>
            <a:r>
              <a:rPr lang="es-PE" sz="950" b="0" i="0" noProof="0" dirty="0">
                <a:solidFill>
                  <a:srgbClr val="4A5568"/>
                </a:solidFill>
                <a:latin typeface="Arial"/>
              </a:rPr>
              <a:t>detectados en operación
en 36 meses</a:t>
            </a:r>
          </a:p>
        </p:txBody>
      </p:sp>
      <p:sp>
        <p:nvSpPr>
          <p:cNvPr id="13" name="Rectangle 12"/>
          <p:cNvSpPr/>
          <p:nvPr/>
        </p:nvSpPr>
        <p:spPr>
          <a:xfrm>
            <a:off x="8046720" y="4626864"/>
            <a:ext cx="3310128"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4" name="Rectangle 13"/>
          <p:cNvSpPr/>
          <p:nvPr/>
        </p:nvSpPr>
        <p:spPr>
          <a:xfrm>
            <a:off x="8046720" y="4626864"/>
            <a:ext cx="3310128" cy="4114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TextBox 14"/>
          <p:cNvSpPr txBox="1"/>
          <p:nvPr/>
        </p:nvSpPr>
        <p:spPr>
          <a:xfrm>
            <a:off x="8211312" y="4754879"/>
            <a:ext cx="2980944" cy="713232"/>
          </a:xfrm>
          <a:prstGeom prst="rect">
            <a:avLst/>
          </a:prstGeom>
          <a:noFill/>
        </p:spPr>
        <p:txBody>
          <a:bodyPr wrap="square" lIns="0" tIns="0" rIns="0" bIns="0" anchor="ctr">
            <a:spAutoFit/>
          </a:bodyPr>
          <a:lstStyle/>
          <a:p>
            <a:pPr algn="l">
              <a:lnSpc>
                <a:spcPct val="95000"/>
              </a:lnSpc>
              <a:spcBef>
                <a:spcPts val="0"/>
              </a:spcBef>
              <a:spcAft>
                <a:spcPts val="300"/>
              </a:spcAft>
            </a:pPr>
            <a:r>
              <a:rPr lang="es-PE" sz="2000" b="1" i="0" noProof="0" dirty="0">
                <a:solidFill>
                  <a:srgbClr val="C3094A"/>
                </a:solidFill>
                <a:latin typeface="Arial"/>
              </a:rPr>
              <a:t>1,41 : 1</a:t>
            </a:r>
          </a:p>
          <a:p>
            <a:pPr algn="l">
              <a:lnSpc>
                <a:spcPct val="108000"/>
              </a:lnSpc>
              <a:spcBef>
                <a:spcPts val="0"/>
              </a:spcBef>
              <a:spcAft>
                <a:spcPts val="0"/>
              </a:spcAft>
            </a:pPr>
            <a:r>
              <a:rPr lang="es-PE" sz="950" b="0" i="0" noProof="0" dirty="0">
                <a:solidFill>
                  <a:srgbClr val="4A5568"/>
                </a:solidFill>
                <a:latin typeface="Arial"/>
              </a:rPr>
              <a:t>relación de costo de la
alternativa descartada</a:t>
            </a:r>
          </a:p>
        </p:txBody>
      </p:sp>
      <p:pic>
        <p:nvPicPr>
          <p:cNvPr id="16" name="Imagen 15">
            <a:extLst>
              <a:ext uri="{FF2B5EF4-FFF2-40B4-BE49-F238E27FC236}">
                <a16:creationId xmlns:a16="http://schemas.microsoft.com/office/drawing/2014/main" id="{A55417AF-ED0A-C308-720E-1C4B94B15580}"/>
              </a:ext>
            </a:extLst>
          </p:cNvPr>
          <p:cNvPicPr>
            <a:picLocks noChangeAspect="1"/>
          </p:cNvPicPr>
          <p:nvPr/>
        </p:nvPicPr>
        <p:blipFill>
          <a:blip r:embed="rId3"/>
          <a:stretch>
            <a:fillRect/>
          </a:stretch>
        </p:blipFill>
        <p:spPr>
          <a:xfrm>
            <a:off x="158617" y="5943600"/>
            <a:ext cx="5620013" cy="55067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PE"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PE" sz="1100" b="1" i="0" noProof="0" dirty="0">
                <a:solidFill>
                  <a:srgbClr val="FFFFFF"/>
                </a:solidFill>
                <a:latin typeface="Arial"/>
              </a:rPr>
              <a:t>28</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01</a:t>
            </a:r>
          </a:p>
        </p:txBody>
      </p:sp>
      <p:sp>
        <p:nvSpPr>
          <p:cNvPr id="9" name="TextBox 8"/>
          <p:cNvSpPr txBox="1"/>
          <p:nvPr/>
        </p:nvSpPr>
        <p:spPr>
          <a:xfrm>
            <a:off x="1773936" y="1545336"/>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modo de falla y su impacto</a:t>
            </a:r>
          </a:p>
          <a:p>
            <a:pPr algn="l">
              <a:lnSpc>
                <a:spcPct val="114000"/>
              </a:lnSpc>
              <a:spcBef>
                <a:spcPts val="0"/>
              </a:spcBef>
              <a:spcAft>
                <a:spcPts val="400"/>
              </a:spcAft>
            </a:pPr>
            <a:r>
              <a:rPr lang="es-PE" sz="1000" b="0" i="0" noProof="0" dirty="0">
                <a:solidFill>
                  <a:srgbClr val="4A5568"/>
                </a:solidFill>
                <a:latin typeface="Arial"/>
              </a:rPr>
              <a:t>Trece ocurrencias entre 2022 y 2024 (4,33 por año), con un MTBF del modo de 15 231 h, un MTTR de 59,3 h y 315 h anuales de indisponibilidad, equivalentes a 0,36 puntos de disponibilidad física.</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02</a:t>
            </a:r>
          </a:p>
        </p:txBody>
      </p:sp>
      <p:sp>
        <p:nvSpPr>
          <p:cNvPr id="13" name="TextBox 12"/>
          <p:cNvSpPr txBox="1"/>
          <p:nvPr/>
        </p:nvSpPr>
        <p:spPr>
          <a:xfrm>
            <a:off x="1773936" y="2478024"/>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Las causas latentes de la recurrencia</a:t>
            </a:r>
          </a:p>
          <a:p>
            <a:pPr algn="l">
              <a:lnSpc>
                <a:spcPct val="114000"/>
              </a:lnSpc>
              <a:spcBef>
                <a:spcPts val="0"/>
              </a:spcBef>
              <a:spcAft>
                <a:spcPts val="400"/>
              </a:spcAft>
            </a:pPr>
            <a:r>
              <a:rPr lang="es-PE" sz="1000" b="0" i="0" noProof="0" dirty="0">
                <a:solidFill>
                  <a:srgbClr val="4A5568"/>
                </a:solidFill>
                <a:latin typeface="Arial"/>
              </a:rPr>
              <a:t>La causa física es la nucleación en la raíz sin fusión, con FS = 0,31 bajo el par nominal de 17,81 </a:t>
            </a:r>
            <a:r>
              <a:rPr lang="es-PE" sz="1000" b="0" i="0" noProof="0" dirty="0" err="1">
                <a:solidFill>
                  <a:srgbClr val="4A5568"/>
                </a:solidFill>
                <a:latin typeface="Arial"/>
              </a:rPr>
              <a:t>kN·m</a:t>
            </a:r>
            <a:r>
              <a:rPr lang="es-PE" sz="1000" b="0" i="0" noProof="0" dirty="0">
                <a:solidFill>
                  <a:srgbClr val="4A5568"/>
                </a:solidFill>
                <a:latin typeface="Arial"/>
              </a:rPr>
              <a:t>. Por debajo de ella, tres causas de sistema: análisis por evento,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03</a:t>
            </a:r>
          </a:p>
        </p:txBody>
      </p:sp>
      <p:sp>
        <p:nvSpPr>
          <p:cNvPr id="17" name="TextBox 16"/>
          <p:cNvSpPr txBox="1"/>
          <p:nvPr/>
        </p:nvSpPr>
        <p:spPr>
          <a:xfrm>
            <a:off x="1773936" y="3410712"/>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El rediseño como desenlace de la lógica RCM</a:t>
            </a:r>
          </a:p>
          <a:p>
            <a:pPr algn="l">
              <a:lnSpc>
                <a:spcPct val="114000"/>
              </a:lnSpc>
              <a:spcBef>
                <a:spcPts val="0"/>
              </a:spcBef>
              <a:spcAft>
                <a:spcPts val="400"/>
              </a:spcAft>
            </a:pPr>
            <a:r>
              <a:rPr lang="es-PE"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PE"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PE" sz="1150" b="1" i="0" noProof="0" dirty="0">
                <a:solidFill>
                  <a:srgbClr val="042354"/>
                </a:solidFill>
                <a:latin typeface="Arial"/>
              </a:rPr>
              <a:t>La recuperación verificada</a:t>
            </a:r>
          </a:p>
          <a:p>
            <a:pPr algn="l">
              <a:lnSpc>
                <a:spcPct val="114000"/>
              </a:lnSpc>
              <a:spcBef>
                <a:spcPts val="0"/>
              </a:spcBef>
              <a:spcAft>
                <a:spcPts val="400"/>
              </a:spcAft>
            </a:pPr>
            <a:r>
              <a:rPr lang="es-PE"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PE"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PREGUNTAS</a:t>
            </a:r>
          </a:p>
        </p:txBody>
      </p:sp>
      <p:pic>
        <p:nvPicPr>
          <p:cNvPr id="5" name="Picture 4"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PE"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PE" sz="4200" b="1" i="0" noProof="0" dirty="0">
                <a:solidFill>
                  <a:srgbClr val="FFFFFF"/>
                </a:solidFill>
                <a:latin typeface="Arial"/>
              </a:rPr>
              <a:t>MUCHAS GRACIAS</a:t>
            </a:r>
          </a:p>
        </p:txBody>
      </p:sp>
      <p:sp>
        <p:nvSpPr>
          <p:cNvPr id="5" name="TextBox 4"/>
          <p:cNvSpPr txBox="1"/>
          <p:nvPr/>
        </p:nvSpPr>
        <p:spPr>
          <a:xfrm>
            <a:off x="841248" y="4187952"/>
            <a:ext cx="1051560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PE" sz="1250" b="0" i="0" noProof="0" dirty="0">
                <a:solidFill>
                  <a:srgbClr val="B9C6DC"/>
                </a:solidFill>
                <a:latin typeface="Arial"/>
              </a:rPr>
              <a:t>Samir Aldair Cedillo Preciado  ·  Facultad de Ciencias e Ingeniería</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1749</TotalTime>
  <Words>2678</Words>
  <Application>Microsoft Office PowerPoint</Application>
  <PresentationFormat>Panorámica</PresentationFormat>
  <Paragraphs>306</Paragraphs>
  <Slides>26</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Calibri</vt:lpstr>
      <vt:lpstr>Tema de Office</vt:lpstr>
      <vt:lpstr>Presentación de PowerPoint</vt:lpstr>
      <vt:lpstr>Contenido</vt:lpstr>
      <vt:lpstr>Presentación de PowerPoint</vt:lpstr>
      <vt:lpstr>Metas contractuales</vt:lpstr>
      <vt:lpstr>La falla más crítica: fractura por fatiga del eje palier</vt:lpstr>
      <vt:lpstr>Objetivos</vt:lpstr>
      <vt:lpstr>Presentación de PowerPoint</vt:lpstr>
      <vt:lpstr>Etapas de la metodología</vt:lpstr>
      <vt:lpstr>Presentación de PowerPoint</vt:lpstr>
      <vt:lpstr>Focalización: qué modo de falla justifica un tratamiento diferenciado</vt:lpstr>
      <vt:lpstr>Preguntas 1 y 2: función, estándar y falla funcional</vt:lpstr>
      <vt:lpstr>Pregunta 3: quince hipótesis sometidas a verificación</vt:lpstr>
      <vt:lpstr>Verificación de la causa física: fractografía y metalografía</vt:lpstr>
      <vt:lpstr>Verificación por resistencia de materiales</vt:lpstr>
      <vt:lpstr>Del mecanismo físico a la causa latente</vt:lpstr>
      <vt:lpstr>Preguntas 6 y 7: ninguna tarea proactiva cumple ambos criterios</vt:lpstr>
      <vt:lpstr>Presentación de PowerPoint</vt:lpstr>
      <vt:lpstr>La solución: rediseño de la unión soldada del eje palier</vt:lpstr>
      <vt:lpstr>Implementación</vt:lpstr>
      <vt:lpstr>Verificación en el nivel del componente: no recurrencia</vt:lpstr>
      <vt:lpstr>Recuperación de los indicadores del modo de falla</vt:lpstr>
      <vt:lpstr>Verificación en el nivel de la flota: indicadores contractuales</vt:lpstr>
      <vt:lpstr>Evaluación económica del costo evitado</vt:lpstr>
      <vt:lpstr>Conclusiones</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Samir Cedillo Preciado</cp:lastModifiedBy>
  <cp:revision>10</cp:revision>
  <dcterms:modified xsi:type="dcterms:W3CDTF">2026-09-27T14:30:34Z</dcterms:modified>
</cp:coreProperties>
</file>