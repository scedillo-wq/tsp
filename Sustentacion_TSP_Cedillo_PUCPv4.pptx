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60" r:id="rId2"/>
    <p:sldId id="261" r:id="rId3"/>
    <p:sldId id="263" r:id="rId4"/>
    <p:sldId id="265" r:id="rId6"/>
    <p:sldId id="267" r:id="rId7"/>
    <p:sldId id="269" r:id="rId8"/>
    <p:sldId id="270" r:id="rId9"/>
    <p:sldId id="287" r:id="rId10"/>
    <p:sldId id="291" r:id="rId11"/>
    <p:sldId id="289" r:id="rId12"/>
    <p:sldId id="288" r:id="rId13"/>
    <p:sldId id="273" r:id="rId14"/>
    <p:sldId id="271" r:id="rId15"/>
    <p:sldId id="275" r:id="rId16"/>
    <p:sldId id="292" r:id="rId28"/>
    <p:sldId id="276" r:id="rId17"/>
    <p:sldId id="278" r:id="rId18"/>
    <p:sldId id="280" r:id="rId19"/>
    <p:sldId id="282" r:id="rId20"/>
    <p:sldId id="284" r:id="rId21"/>
    <p:sldId id="28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Figura H1, lectura de la superficie de fractura del eje F1 (inspección visual, reportes AFA):</a:t>
            </a:r>
          </a:p>
          <a:p>
            <a:r>
              <a:t>1. Sector oscuro y liso, propagación estable: bandas concéntricas al diámetro interior por el avance progresivo de la grieta bajo los ciclos de par; el oscurecimiento es oxidación durante su larga exposición en servicio.</a:t>
            </a:r>
          </a:p>
          <a:p>
            <a:r>
              <a:t>2. Sector claro y granular, rotura final: metal recién expuesto; la sección remanente rompió de forma instantánea cuando la grieta redujo el área resistente.</a:t>
            </a:r>
          </a:p>
          <a:p>
            <a:r>
              <a:t>3. Diámetro interior, localización del origen: perímetro interno de la unión soldada; el AFA sitúa aquí el inicio, con marcas de trinquete de nucleación múltiple sobre la raíz sin fusión.</a:t>
            </a:r>
          </a:p>
          <a:p>
            <a:r>
              <a:t>4. Borde interno deformado, contacto posterior: rebaba y desgarro por el rozamiento entre las caras tras la separación; el motor siguió operando en free wheeling.</a:t>
            </a:r>
          </a:p>
          <a:p>
            <a:endParaRPr/>
          </a:p>
          <a:p>
            <a:r>
              <a:t>Metalografía (informe DIESA-AFA2023085189_00): microestructuras a 40× con grieta secundaria junto al punto de iniciación. La nucleación se produce en la raíz de la unión y propaga radialmente hacia el exterior.</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Tabla H1 completa: C 0,26 / 0,22; Mn 1,30 máx. / 0,79; P 0,035 / 0,006; S 0,035 / 0,012; Si 0,33 / 0,27; Cr – / 0,06; Ni – / 0,10; Mo – / 0,03; Cu 0,18 mín. / 0,17; V 0,01 mín. / – (norma / muestra).</a:t>
            </a:r>
          </a:p>
          <a:p>
            <a:r>
              <a:t>Ojo: el Cu de la muestra (0,17) queda por debajo del mínimo (0,18) y el V no se reporta; por eso el laboratorio habla de composición 'compatible'.</a:t>
            </a:r>
          </a:p>
          <a:p>
            <a:endParaRPr/>
          </a:p>
          <a:p>
            <a:r>
              <a:t>Límite de la evidencia física: la fractografía y los ensayos sitúan el origen en la raíz de la unión, pero no distinguen entre un defecto de ejecución de una pieza y una condición inherente a la unión proyectada. Esa distinción la resuelve el comportamiento del componente tras su reposición.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La casa matriz adoptó la mejora propuesta en los AFA (modificar el proceso de soldadura y eliminar el concentrador); esta operación fue la primera en implementarla, en 2025.</a:t>
            </a:r>
          </a:p>
          <a:p>
            <a:endParaRPr/>
          </a:p>
          <a:p>
            <a:r>
              <a:t>Validación previa con el equipo técnico: con las áreas de confiabilidad, planeamiento y ejecución de mantenimiento, y con el personal de operación: consistencia del diagrama de posibles causas con la experiencia de campo, verificación de que ninguna posible causa relevante quedara sin contrastar y revisión de la evidencia cuantitativa.</a:t>
            </a:r>
          </a:p>
          <a:p>
            <a:endParaRPr/>
          </a:p>
          <a:p>
            <a:r>
              <a:t>El tercer mecanismo (control de la mejora instalada) responde de forma directa a la causa latente: impide que el hallazgo técnico vuelva a perderse en la reposición del componente.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Recuperación de los indicadores del modo de falla (antes 2022-2024, después con el P/N mejorado): frecuencia del modo de 4,33 a 0 eventos por año; MTTR del sistema de propulsión de 6,2 a 3,3 h; horas de parada del modo de 315 a 0 h por año; impacto en la disponibilidad de 0,36 a 0 puntos.</a:t>
            </a:r>
          </a:p>
          <a:p>
            <a:r>
              <a:t>MTBF del modo de falla: de 15 231 h a más de 32 046 h (límite inferior al 95 % de confianza).</a:t>
            </a:r>
          </a:p>
          <a:p>
            <a:r>
              <a:t>MTTR del sistema de propulsión: desciende 46 % porque desapareció un modo cuya intervención duraba 59,3 h, cerca de ocho veces el promedio del sistema.</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El MTTR de flota no mejora, y no debía hacerlo: la acción implementada elimina eventos, no reduce la duración de las intervenciones que subsisten.</a:t>
            </a:r>
          </a:p>
          <a:p>
            <a:endParaRPr/>
          </a:p>
          <a:p>
            <a:r>
              <a:t>La concurrencia con la intervención del motor diésel no debilita la verificación: lo que acredita el rediseño es el criterio del nivel del componente.</a:t>
            </a:r>
          </a:p>
          <a:p>
            <a:endParaRPr/>
          </a:p>
          <a:p>
            <a:r>
              <a:t>Costo por evento: US$ 763 393 por evaluación y reparación mayor del motor; costo anual del modo US$ 3,05 M frente a US$ 4,30 M de la sustitución cíclica (relación 1,41 : 1). Umbral de indiferencia declarado: US$ 424 mil por reparación mayor programada.</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DISCURSO (~45 s)</a:t>
            </a:r>
          </a:p>
          <a:p>
            <a:r>
              <a:t>Las preguntas 4 y 5 describen qué pasa cuando la falla ocurre y por qué importa. La fractura llega sin aviso: el operador reporta pérdida de propulsión y la rueda queda en giro libre. La posición afectada pierde a la vez tracción y retardo dinámico, justo lo que controla la velocidad de un equipo de 628 toneladas en el descenso cargado. La unidad sale del ciclo de acarreo durante 59,3 horas, porque hay que sustituir el motor completo, y el eje roto sigue girando y daña el tren de engranajes. Por eso la consecuencia es operacional, con implicación de seguridad y efecto contractual, y esa clasificación es la que decide la acción a falta de.</a:t>
            </a:r>
          </a:p>
          <a:p/>
          <a:p>
            <a:r>
              <a:t>APOYO (no leer; para preguntas del jurado)</a:t>
            </a:r>
          </a:p>
          <a:p>
            <a:r>
              <a:t>Informe, 3.4.4 Pregunta 4: efectos de falla.</a:t>
            </a:r>
          </a:p>
          <a:p>
            <a:r>
              <a:t>Evidencia de la ocurrencia: ninguna tarea del programa vigente anticipaba ni detectaba esta falla. Diez de los trece eventos se identificaron en operación; los otros tres (casos 5, 8 y 11 de la Tabla 5) corresponden a retiros en una parada programada. La evaluación en campo verifica que el eje del motor se revoluciona sin transmitir par (desacople entre el rotor y la reducción planetaria).</a:t>
            </a:r>
          </a:p>
          <a:p>
            <a:r>
              <a:t>Seguridad: se pierden a la vez la tracción y el retardo dinámico; el frenado eléctrico se reduce a una sola posición motriz. La exposición se concentra en el descenso cargado por rampa (628 t de peso bruto); el freno de servicio interviene como respaldo.</a:t>
            </a:r>
          </a:p>
          <a:p>
            <a:r>
              <a:t>Operación: tolva descargada en el lugar, traslado fuera del área y 59,3 h fuera de servicio en promedio. No hay reparación en campo: se sustituye el motor de tracción completo por uno de intercambio. La espera por motor de intercambio, equipo de izaje y personal de neumáticos queda registrada como demora de la misma detención.</a:t>
            </a:r>
          </a:p>
          <a:p>
            <a:r>
              <a:t>Daño físico: dentado fracturado y daño en los portadores planetarios; reducción de espesor, fisura y fractura en la placa de acople; desprendimiento de material y pérdida de dureza en el piñón solar; desprendimiento de material en la corona; hierro en las pistas de los rodamientos. Esa contaminación aparece después de la fractura y no la precede.</a:t>
            </a:r>
          </a:p>
          <a:p/>
          <a:p>
            <a:r>
              <a:t>Informe, 3.4.5 Pregunta 5: consecuencias de falla.</a:t>
            </a:r>
          </a:p>
          <a:p>
            <a:r>
              <a:t>Operacional, con implicación de seguridad y con efecto contractual. Ninguna de las trece ocurrencias derivó en daño a personas, pero la norma evalúa la consecuencia potencial, no el resultado observado. No alcanzar las 20 000 h entre reparaciones mayores también es consecuencia directa: cada ocurrencia retira el motor con una fracción de la vida de referencia e interrumpe el ciclo de reparaciones planificado.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Metas contractuales: flota de diez camiones 980E-5 de 400 t con propulsión eléctrica, cuyo mantenimiento integral está a cargo de una empresa contratista especializada. El desempeño del contrato se mide con tres indicadores: disponibilidad física (meta 91,0 %), MTBF (64,5 h) y MTTR (límite 4,0 h); su incumplimiento expone a penalización. Entre 2022 y 2024 la disponibilidad fue de 90,5 %, 90,2 % y 90,6 %, y el MTBF de 57,6 h, 57,6 h y 60,5 h, por debajo de sus objetivos; el MTTR (3,1 h, 3,7 h y 3,1 h) se mantuvo dentro del límite.</a:t>
            </a:r>
          </a:p>
          <a:p/>
          <a:p>
            <a:r>
              <a:t>La falla más crítica: cada evento contó con un análisis de falla (AFA) y con un informe metalográfico externo, pero la falla persistió y reapareció en posiciones ya intervenidas.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trada" type="blank">
  <p:cSld name="BLANK">
    <p:spTree>
      <p:nvGrpSpPr>
        <p:cNvPr id="1" name="Shape 14"/>
        <p:cNvGrpSpPr/>
        <p:nvPr/>
      </p:nvGrpSpPr>
      <p:grpSpPr>
        <a:xfrm>
          <a:off x="0" y="0"/>
          <a:ext cx="0" cy="0"/>
          <a:chOff x="0" y="0"/>
          <a:chExt cx="0" cy="0"/>
        </a:xfrm>
      </p:grpSpPr>
      <p:sp>
        <p:nvSpPr>
          <p:cNvPr id="15" name="Google Shape;15;p2"/>
          <p:cNvSpPr/>
          <p:nvPr/>
        </p:nvSpPr>
        <p:spPr>
          <a:xfrm>
            <a:off x="0" y="0"/>
            <a:ext cx="12192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6" name="Google Shape;16;p2"/>
          <p:cNvPicPr preferRelativeResize="0"/>
          <p:nvPr/>
        </p:nvPicPr>
        <p:blipFill rotWithShape="1">
          <a:blip r:embed="rId2">
            <a:alphaModFix/>
          </a:blip>
          <a:srcRect/>
          <a:stretch/>
        </p:blipFill>
        <p:spPr>
          <a:xfrm>
            <a:off x="4195484" y="2571381"/>
            <a:ext cx="4143972" cy="13733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a:stretch/>
        </p:blipFill>
        <p:spPr>
          <a:xfrm>
            <a:off x="4844521" y="5547936"/>
            <a:ext cx="2504546" cy="826405"/>
          </a:xfrm>
          <a:prstGeom prst="rect">
            <a:avLst/>
          </a:prstGeom>
          <a:noFill/>
          <a:ln>
            <a:noFill/>
          </a:ln>
        </p:spPr>
      </p:pic>
      <p:sp>
        <p:nvSpPr>
          <p:cNvPr id="19" name="Google Shape;19;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21"/>
        <p:cNvGrpSpPr/>
        <p:nvPr/>
      </p:nvGrpSpPr>
      <p:grpSpPr>
        <a:xfrm>
          <a:off x="0" y="0"/>
          <a:ext cx="0" cy="0"/>
          <a:chOff x="0" y="0"/>
          <a:chExt cx="0" cy="0"/>
        </a:xfrm>
      </p:grpSpPr>
      <p:grpSp>
        <p:nvGrpSpPr>
          <p:cNvPr id="22" name="Google Shape;22;p4"/>
          <p:cNvGrpSpPr/>
          <p:nvPr/>
        </p:nvGrpSpPr>
        <p:grpSpPr>
          <a:xfrm>
            <a:off x="0" y="5716598"/>
            <a:ext cx="11959674" cy="939388"/>
            <a:chOff x="0" y="5716598"/>
            <a:chExt cx="11959674" cy="939388"/>
          </a:xfrm>
        </p:grpSpPr>
        <p:pic>
          <p:nvPicPr>
            <p:cNvPr id="23" name="Google Shape;23;p4"/>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24" name="Google Shape;24;p4"/>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25" name="Google Shape;2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4"/>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28" name="Google Shape;28;p4"/>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TSP · Fractura del eje palier del motor de tracción — flota 980E-5</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9"/>
        <p:cNvGrpSpPr/>
        <p:nvPr/>
      </p:nvGrpSpPr>
      <p:grpSpPr>
        <a:xfrm>
          <a:off x="0" y="0"/>
          <a:ext cx="0" cy="0"/>
          <a:chOff x="0" y="0"/>
          <a:chExt cx="0" cy="0"/>
        </a:xfrm>
      </p:grpSpPr>
      <p:grpSp>
        <p:nvGrpSpPr>
          <p:cNvPr id="30" name="Google Shape;30;p5"/>
          <p:cNvGrpSpPr/>
          <p:nvPr/>
        </p:nvGrpSpPr>
        <p:grpSpPr>
          <a:xfrm>
            <a:off x="0" y="5716598"/>
            <a:ext cx="11959674" cy="939388"/>
            <a:chOff x="0" y="5716598"/>
            <a:chExt cx="11959674" cy="939388"/>
          </a:xfrm>
        </p:grpSpPr>
        <p:pic>
          <p:nvPicPr>
            <p:cNvPr id="31" name="Google Shape;31;p5"/>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32" name="Google Shape;32;p5"/>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33" name="Google Shape;33;p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5" name="Google Shape;35;p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 name="Google Shape;36;p5"/>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37" name="Google Shape;37;p5"/>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8"/>
        <p:cNvGrpSpPr/>
        <p:nvPr/>
      </p:nvGrpSpPr>
      <p:grpSpPr>
        <a:xfrm>
          <a:off x="0" y="0"/>
          <a:ext cx="0" cy="0"/>
          <a:chOff x="0" y="0"/>
          <a:chExt cx="0" cy="0"/>
        </a:xfrm>
      </p:grpSpPr>
      <p:grpSp>
        <p:nvGrpSpPr>
          <p:cNvPr id="39" name="Google Shape;39;p6"/>
          <p:cNvGrpSpPr/>
          <p:nvPr/>
        </p:nvGrpSpPr>
        <p:grpSpPr>
          <a:xfrm>
            <a:off x="0" y="5716598"/>
            <a:ext cx="11959674" cy="939388"/>
            <a:chOff x="0" y="5716598"/>
            <a:chExt cx="11959674" cy="939388"/>
          </a:xfrm>
        </p:grpSpPr>
        <p:pic>
          <p:nvPicPr>
            <p:cNvPr id="40" name="Google Shape;40;p6"/>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41" name="Google Shape;41;p6"/>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46" name="Google Shape;46;p6"/>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grpSp>
        <p:nvGrpSpPr>
          <p:cNvPr id="48" name="Google Shape;48;p7"/>
          <p:cNvGrpSpPr/>
          <p:nvPr/>
        </p:nvGrpSpPr>
        <p:grpSpPr>
          <a:xfrm>
            <a:off x="0" y="5716598"/>
            <a:ext cx="11959674" cy="939388"/>
            <a:chOff x="0" y="5716598"/>
            <a:chExt cx="11959674" cy="939388"/>
          </a:xfrm>
        </p:grpSpPr>
        <p:pic>
          <p:nvPicPr>
            <p:cNvPr id="49" name="Google Shape;49;p7"/>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50" name="Google Shape;50;p7"/>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51" name="Google Shape;5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7"/>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57" name="Google Shape;57;p7"/>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8"/>
        <p:cNvGrpSpPr/>
        <p:nvPr/>
      </p:nvGrpSpPr>
      <p:grpSpPr>
        <a:xfrm>
          <a:off x="0" y="0"/>
          <a:ext cx="0" cy="0"/>
          <a:chOff x="0" y="0"/>
          <a:chExt cx="0" cy="0"/>
        </a:xfrm>
      </p:grpSpPr>
      <p:grpSp>
        <p:nvGrpSpPr>
          <p:cNvPr id="59" name="Google Shape;59;p8"/>
          <p:cNvGrpSpPr/>
          <p:nvPr/>
        </p:nvGrpSpPr>
        <p:grpSpPr>
          <a:xfrm>
            <a:off x="0" y="5716598"/>
            <a:ext cx="11959674" cy="939388"/>
            <a:chOff x="0" y="5716598"/>
            <a:chExt cx="11959674" cy="939388"/>
          </a:xfrm>
        </p:grpSpPr>
        <p:pic>
          <p:nvPicPr>
            <p:cNvPr id="60" name="Google Shape;60;p8"/>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61" name="Google Shape;61;p8"/>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64" name="Google Shape;64;p8"/>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TSP · Fractura del eje palier del motor de tracción — flota 980E-5</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6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6"/>
        <p:cNvGrpSpPr/>
        <p:nvPr/>
      </p:nvGrpSpPr>
      <p:grpSpPr>
        <a:xfrm>
          <a:off x="0" y="0"/>
          <a:ext cx="0" cy="0"/>
          <a:chOff x="0" y="0"/>
          <a:chExt cx="0" cy="0"/>
        </a:xfrm>
      </p:grpSpPr>
      <p:grpSp>
        <p:nvGrpSpPr>
          <p:cNvPr id="67" name="Google Shape;67;p10"/>
          <p:cNvGrpSpPr/>
          <p:nvPr/>
        </p:nvGrpSpPr>
        <p:grpSpPr>
          <a:xfrm>
            <a:off x="0" y="5716598"/>
            <a:ext cx="11959674" cy="939388"/>
            <a:chOff x="0" y="5716598"/>
            <a:chExt cx="11959674" cy="939388"/>
          </a:xfrm>
        </p:grpSpPr>
        <p:pic>
          <p:nvPicPr>
            <p:cNvPr id="68" name="Google Shape;68;p10"/>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69" name="Google Shape;69;p10"/>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70" name="Google Shape;7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a:spLocks noGrp="1"/>
          </p:cNvSpPr>
          <p:nvPr>
            <p:ph type="pic" idx="2"/>
          </p:nvPr>
        </p:nvSpPr>
        <p:spPr>
          <a:xfrm>
            <a:off x="5183188" y="987426"/>
            <a:ext cx="6172200" cy="4541308"/>
          </a:xfrm>
          <a:prstGeom prst="rect">
            <a:avLst/>
          </a:prstGeom>
          <a:noFill/>
          <a:ln>
            <a:noFill/>
          </a:ln>
        </p:spPr>
      </p:sp>
      <p:sp>
        <p:nvSpPr>
          <p:cNvPr id="72" name="Google Shape;72;p10"/>
          <p:cNvSpPr txBox="1">
            <a:spLocks noGrp="1"/>
          </p:cNvSpPr>
          <p:nvPr>
            <p:ph type="body" idx="1"/>
          </p:nvPr>
        </p:nvSpPr>
        <p:spPr>
          <a:xfrm>
            <a:off x="839788" y="2057400"/>
            <a:ext cx="3932237" cy="3551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0"/>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74" name="Google Shape;74;p10"/>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5"/>
        <p:cNvGrpSpPr/>
        <p:nvPr/>
      </p:nvGrpSpPr>
      <p:grpSpPr>
        <a:xfrm>
          <a:off x="0" y="0"/>
          <a:ext cx="0" cy="0"/>
          <a:chOff x="0" y="0"/>
          <a:chExt cx="0" cy="0"/>
        </a:xfrm>
      </p:grpSpPr>
      <p:grpSp>
        <p:nvGrpSpPr>
          <p:cNvPr id="76" name="Google Shape;76;p11"/>
          <p:cNvGrpSpPr/>
          <p:nvPr/>
        </p:nvGrpSpPr>
        <p:grpSpPr>
          <a:xfrm>
            <a:off x="0" y="5716598"/>
            <a:ext cx="11959674" cy="939388"/>
            <a:chOff x="0" y="5716598"/>
            <a:chExt cx="11959674" cy="939388"/>
          </a:xfrm>
        </p:grpSpPr>
        <p:pic>
          <p:nvPicPr>
            <p:cNvPr id="77" name="Google Shape;77;p11"/>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78" name="Google Shape;78;p11"/>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79" name="Google Shape;7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1"/>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82" name="Google Shape;82;p11"/>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3"/>
        <p:cNvGrpSpPr/>
        <p:nvPr/>
      </p:nvGrpSpPr>
      <p:grpSpPr>
        <a:xfrm>
          <a:off x="0" y="0"/>
          <a:ext cx="0" cy="0"/>
          <a:chOff x="0" y="0"/>
          <a:chExt cx="0" cy="0"/>
        </a:xfrm>
      </p:grpSpPr>
      <p:grpSp>
        <p:nvGrpSpPr>
          <p:cNvPr id="84" name="Google Shape;84;p12"/>
          <p:cNvGrpSpPr/>
          <p:nvPr/>
        </p:nvGrpSpPr>
        <p:grpSpPr>
          <a:xfrm>
            <a:off x="0" y="5716598"/>
            <a:ext cx="11959674" cy="939388"/>
            <a:chOff x="0" y="5716598"/>
            <a:chExt cx="11959674" cy="939388"/>
          </a:xfrm>
        </p:grpSpPr>
        <p:pic>
          <p:nvPicPr>
            <p:cNvPr id="85" name="Google Shape;85;p12"/>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86" name="Google Shape;86;p12"/>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87" name="Google Shape;87;p12"/>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2"/>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90" name="Google Shape;90;p12"/>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2743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 name="TextBox 2"/>
          <p:cNvSpPr txBox="1"/>
          <p:nvPr/>
        </p:nvSpPr>
        <p:spPr>
          <a:xfrm>
            <a:off x="841248" y="786384"/>
            <a:ext cx="10515600" cy="548640"/>
          </a:xfrm>
          <a:prstGeom prst="rect">
            <a:avLst/>
          </a:prstGeom>
          <a:noFill/>
        </p:spPr>
        <p:txBody>
          <a:bodyPr wrap="square" lIns="0" tIns="0" rIns="0" bIns="0" anchor="t">
            <a:spAutoFit/>
          </a:bodyPr>
          <a:lstStyle/>
          <a:p>
            <a:pPr algn="l">
              <a:lnSpc>
                <a:spcPct val="114000"/>
              </a:lnSpc>
              <a:spcBef>
                <a:spcPts val="0"/>
              </a:spcBef>
              <a:spcAft>
                <a:spcPts val="300"/>
              </a:spcAft>
            </a:pPr>
            <a:r>
              <a:rPr lang="es-PE" sz="1300" b="1" i="0" noProof="0" dirty="0">
                <a:solidFill>
                  <a:srgbClr val="042354"/>
                </a:solidFill>
                <a:latin typeface="Arial"/>
              </a:rPr>
              <a:t>PONTIFICIA UNIVERSIDAD CATÓLICA DEL PERÚ</a:t>
            </a:r>
          </a:p>
          <a:p>
            <a:pPr algn="l">
              <a:lnSpc>
                <a:spcPct val="114000"/>
              </a:lnSpc>
              <a:spcBef>
                <a:spcPts val="0"/>
              </a:spcBef>
              <a:spcAft>
                <a:spcPts val="400"/>
              </a:spcAft>
            </a:pPr>
            <a:r>
              <a:rPr lang="es-PE" sz="1300" b="1" i="0" noProof="0" dirty="0">
                <a:solidFill>
                  <a:srgbClr val="4A5568"/>
                </a:solidFill>
                <a:latin typeface="Arial"/>
              </a:rPr>
              <a:t>FACULTAD DE CIENCIAS E INGENIERÍA</a:t>
            </a:r>
          </a:p>
        </p:txBody>
      </p:sp>
      <p:cxnSp>
        <p:nvCxnSpPr>
          <p:cNvPr id="4" name="Connector 3"/>
          <p:cNvCxnSpPr/>
          <p:nvPr/>
        </p:nvCxnSpPr>
        <p:spPr>
          <a:xfrm>
            <a:off x="841248" y="1700784"/>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41248" y="1700784"/>
            <a:ext cx="1463040" cy="0"/>
          </a:xfrm>
          <a:prstGeom prst="line">
            <a:avLst/>
          </a:prstGeom>
          <a:ln w="38100">
            <a:solidFill>
              <a:srgbClr val="C3094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956816"/>
            <a:ext cx="8275320" cy="1737360"/>
          </a:xfrm>
          <a:prstGeom prst="rect">
            <a:avLst/>
          </a:prstGeom>
          <a:noFill/>
        </p:spPr>
        <p:txBody>
          <a:bodyPr wrap="square" lIns="0" tIns="0" rIns="0" bIns="0" anchor="t">
            <a:spAutoFit/>
          </a:bodyPr>
          <a:lstStyle/>
          <a:p>
            <a:pPr algn="l">
              <a:lnSpc>
                <a:spcPct val="112000"/>
              </a:lnSpc>
              <a:spcBef>
                <a:spcPts val="0"/>
              </a:spcBef>
              <a:spcAft>
                <a:spcPts val="400"/>
              </a:spcAft>
            </a:pPr>
            <a:r>
              <a:rPr lang="es-PE" sz="2500" b="1" i="0" noProof="0" dirty="0">
                <a:solidFill>
                  <a:srgbClr val="042354"/>
                </a:solidFill>
                <a:latin typeface="Arial"/>
              </a:rPr>
              <a:t>Recuperación de los indicadores de mantenimiento de la flota 980E-5 de acarreo minero debido a la falla del eje palier del sistema de propulsión</a:t>
            </a:r>
          </a:p>
        </p:txBody>
      </p:sp>
      <p:sp>
        <p:nvSpPr>
          <p:cNvPr id="7" name="TextBox 6"/>
          <p:cNvSpPr txBox="1"/>
          <p:nvPr/>
        </p:nvSpPr>
        <p:spPr>
          <a:xfrm>
            <a:off x="841248" y="3803904"/>
            <a:ext cx="8275320" cy="365760"/>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0" i="0" noProof="0" dirty="0">
                <a:solidFill>
                  <a:srgbClr val="4A5568"/>
                </a:solidFill>
                <a:latin typeface="Arial"/>
              </a:rPr>
              <a:t>Trabajo de suficiencia profesional para obtener el título profesional de Ingeniero Mecánico</a:t>
            </a:r>
          </a:p>
        </p:txBody>
      </p:sp>
      <p:sp>
        <p:nvSpPr>
          <p:cNvPr id="8" name="Rectangle 7"/>
          <p:cNvSpPr/>
          <p:nvPr/>
        </p:nvSpPr>
        <p:spPr>
          <a:xfrm>
            <a:off x="841248" y="4315968"/>
            <a:ext cx="4892040" cy="9326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60704" y="4443984"/>
            <a:ext cx="4480560" cy="694944"/>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7A8494"/>
                </a:solidFill>
                <a:latin typeface="Arial"/>
              </a:rPr>
              <a:t>AUTOR</a:t>
            </a:r>
          </a:p>
          <a:p>
            <a:pPr algn="l">
              <a:lnSpc>
                <a:spcPct val="114000"/>
              </a:lnSpc>
              <a:spcBef>
                <a:spcPts val="0"/>
              </a:spcBef>
              <a:spcAft>
                <a:spcPts val="400"/>
              </a:spcAft>
            </a:pPr>
            <a:r>
              <a:rPr lang="es-PE" sz="1300" b="1" i="0" noProof="0" dirty="0">
                <a:solidFill>
                  <a:srgbClr val="042354"/>
                </a:solidFill>
                <a:latin typeface="Arial"/>
              </a:rPr>
              <a:t>Samir Aldair Cedillo Preciado</a:t>
            </a:r>
          </a:p>
        </p:txBody>
      </p:sp>
      <p:sp>
        <p:nvSpPr>
          <p:cNvPr id="10" name="Rectangle 9"/>
          <p:cNvSpPr/>
          <p:nvPr/>
        </p:nvSpPr>
        <p:spPr>
          <a:xfrm>
            <a:off x="5980176" y="4315968"/>
            <a:ext cx="4892040" cy="9326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TextBox 10"/>
          <p:cNvSpPr txBox="1"/>
          <p:nvPr/>
        </p:nvSpPr>
        <p:spPr>
          <a:xfrm>
            <a:off x="6199632" y="4443984"/>
            <a:ext cx="4480560" cy="694944"/>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7A8494"/>
                </a:solidFill>
                <a:latin typeface="Arial"/>
              </a:rPr>
              <a:t>ASESOR</a:t>
            </a:r>
          </a:p>
          <a:p>
            <a:pPr algn="l">
              <a:lnSpc>
                <a:spcPct val="114000"/>
              </a:lnSpc>
              <a:spcBef>
                <a:spcPts val="0"/>
              </a:spcBef>
              <a:spcAft>
                <a:spcPts val="400"/>
              </a:spcAft>
            </a:pPr>
            <a:r>
              <a:rPr lang="es-PE" sz="1300" b="1" i="0" noProof="0" dirty="0">
                <a:solidFill>
                  <a:srgbClr val="042354"/>
                </a:solidFill>
                <a:latin typeface="Arial"/>
              </a:rPr>
              <a:t>Ing. Carlos Alberto Juárez </a:t>
            </a:r>
            <a:r>
              <a:rPr lang="es-PE" sz="1300" b="1" i="0" noProof="0" dirty="0" err="1">
                <a:solidFill>
                  <a:srgbClr val="042354"/>
                </a:solidFill>
                <a:latin typeface="Arial"/>
              </a:rPr>
              <a:t>Aparcana</a:t>
            </a:r>
            <a:endParaRPr lang="es-PE" sz="1300" b="1" i="0" noProof="0" dirty="0">
              <a:solidFill>
                <a:srgbClr val="042354"/>
              </a:solidFill>
              <a:latin typeface="Arial"/>
            </a:endParaRPr>
          </a:p>
        </p:txBody>
      </p:sp>
      <p:sp>
        <p:nvSpPr>
          <p:cNvPr id="12" name="TextBox 11"/>
          <p:cNvSpPr txBox="1"/>
          <p:nvPr/>
        </p:nvSpPr>
        <p:spPr>
          <a:xfrm>
            <a:off x="841248" y="5449824"/>
            <a:ext cx="4572000" cy="292608"/>
          </a:xfrm>
          <a:prstGeom prst="rect">
            <a:avLst/>
          </a:prstGeom>
          <a:noFill/>
        </p:spPr>
        <p:txBody>
          <a:bodyPr wrap="square" lIns="0" tIns="0" rIns="0" bIns="0" anchor="t">
            <a:spAutoFit/>
          </a:bodyPr>
          <a:lstStyle/>
          <a:p>
            <a:pPr algn="l">
              <a:lnSpc>
                <a:spcPct val="114000"/>
              </a:lnSpc>
              <a:spcBef>
                <a:spcPts val="0"/>
              </a:spcBef>
              <a:spcAft>
                <a:spcPts val="400"/>
              </a:spcAft>
            </a:pPr>
            <a:r>
              <a:rPr lang="es-PE" sz="1100" b="0" i="0" noProof="0" dirty="0">
                <a:solidFill>
                  <a:srgbClr val="4A5568"/>
                </a:solidFill>
                <a:latin typeface="Arial"/>
              </a:rPr>
              <a:t>Lima, setiembre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Contenido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a:t>
            </a:r>
          </a:p>
        </p:txBody>
      </p:sp>
      <p:sp>
        <p:nvSpPr>
          <p:cNvPr id="6" name="Rectangle 5"/>
          <p:cNvSpPr/>
          <p:nvPr/>
        </p:nvSpPr>
        <p:spPr>
          <a:xfrm>
            <a:off x="841248" y="1664208"/>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664208"/>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01</a:t>
            </a:r>
          </a:p>
        </p:txBody>
      </p:sp>
      <p:sp>
        <p:nvSpPr>
          <p:cNvPr id="8" name="TextBox 7"/>
          <p:cNvSpPr txBox="1"/>
          <p:nvPr/>
        </p:nvSpPr>
        <p:spPr>
          <a:xfrm>
            <a:off x="1536192" y="1795865"/>
            <a:ext cx="9601200" cy="212174"/>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Definición del problema</a:t>
            </a:r>
          </a:p>
        </p:txBody>
      </p:sp>
      <p:sp>
        <p:nvSpPr>
          <p:cNvPr id="9" name="Rectangle 8"/>
          <p:cNvSpPr/>
          <p:nvPr/>
        </p:nvSpPr>
        <p:spPr>
          <a:xfrm>
            <a:off x="841248" y="2231136"/>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841248" y="2231136"/>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02</a:t>
            </a:r>
          </a:p>
        </p:txBody>
      </p:sp>
      <p:sp>
        <p:nvSpPr>
          <p:cNvPr id="11" name="TextBox 10"/>
          <p:cNvSpPr txBox="1"/>
          <p:nvPr/>
        </p:nvSpPr>
        <p:spPr>
          <a:xfrm>
            <a:off x="1536192" y="2249424"/>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Objetivos</a:t>
            </a:r>
          </a:p>
        </p:txBody>
      </p:sp>
      <p:sp>
        <p:nvSpPr>
          <p:cNvPr id="12" name="Rectangle 11"/>
          <p:cNvSpPr/>
          <p:nvPr/>
        </p:nvSpPr>
        <p:spPr>
          <a:xfrm>
            <a:off x="841248" y="2798064"/>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Rectangle 12"/>
          <p:cNvSpPr/>
          <p:nvPr/>
        </p:nvSpPr>
        <p:spPr>
          <a:xfrm>
            <a:off x="841248" y="2798064"/>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03</a:t>
            </a:r>
          </a:p>
        </p:txBody>
      </p:sp>
      <p:sp>
        <p:nvSpPr>
          <p:cNvPr id="14" name="TextBox 13"/>
          <p:cNvSpPr txBox="1"/>
          <p:nvPr/>
        </p:nvSpPr>
        <p:spPr>
          <a:xfrm>
            <a:off x="1536192" y="2816352"/>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Metodología</a:t>
            </a:r>
          </a:p>
        </p:txBody>
      </p:sp>
      <p:sp>
        <p:nvSpPr>
          <p:cNvPr id="15" name="Rectangle 14"/>
          <p:cNvSpPr/>
          <p:nvPr/>
        </p:nvSpPr>
        <p:spPr>
          <a:xfrm>
            <a:off x="841248" y="3364992"/>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Rectangle 15"/>
          <p:cNvSpPr/>
          <p:nvPr/>
        </p:nvSpPr>
        <p:spPr>
          <a:xfrm>
            <a:off x="841248" y="3364992"/>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04</a:t>
            </a:r>
          </a:p>
        </p:txBody>
      </p:sp>
      <p:sp>
        <p:nvSpPr>
          <p:cNvPr id="17" name="TextBox 16"/>
          <p:cNvSpPr txBox="1"/>
          <p:nvPr/>
        </p:nvSpPr>
        <p:spPr>
          <a:xfrm>
            <a:off x="1536192" y="3496649"/>
            <a:ext cx="9601200" cy="212174"/>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Desarrollo</a:t>
            </a:r>
          </a:p>
        </p:txBody>
      </p:sp>
      <p:sp>
        <p:nvSpPr>
          <p:cNvPr id="18" name="Rectangle 17"/>
          <p:cNvSpPr/>
          <p:nvPr/>
        </p:nvSpPr>
        <p:spPr>
          <a:xfrm>
            <a:off x="841248" y="3931920"/>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841248" y="3931920"/>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05</a:t>
            </a:r>
          </a:p>
        </p:txBody>
      </p:sp>
      <p:sp>
        <p:nvSpPr>
          <p:cNvPr id="20" name="TextBox 19"/>
          <p:cNvSpPr txBox="1"/>
          <p:nvPr/>
        </p:nvSpPr>
        <p:spPr>
          <a:xfrm>
            <a:off x="1536192" y="3950207"/>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Solución de ingeniería adoptada</a:t>
            </a:r>
          </a:p>
        </p:txBody>
      </p:sp>
      <p:sp>
        <p:nvSpPr>
          <p:cNvPr id="21" name="Rectangle 20"/>
          <p:cNvSpPr/>
          <p:nvPr/>
        </p:nvSpPr>
        <p:spPr>
          <a:xfrm>
            <a:off x="841248" y="4498848"/>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2" name="Rectangle 21"/>
          <p:cNvSpPr/>
          <p:nvPr/>
        </p:nvSpPr>
        <p:spPr>
          <a:xfrm>
            <a:off x="841248" y="4498848"/>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06</a:t>
            </a:r>
          </a:p>
        </p:txBody>
      </p:sp>
      <p:sp>
        <p:nvSpPr>
          <p:cNvPr id="23" name="TextBox 22"/>
          <p:cNvSpPr txBox="1"/>
          <p:nvPr/>
        </p:nvSpPr>
        <p:spPr>
          <a:xfrm>
            <a:off x="1536192" y="4517136"/>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Resultados y verificación</a:t>
            </a:r>
          </a:p>
        </p:txBody>
      </p:sp>
      <p:sp>
        <p:nvSpPr>
          <p:cNvPr id="24" name="Rectangle 23"/>
          <p:cNvSpPr/>
          <p:nvPr/>
        </p:nvSpPr>
        <p:spPr>
          <a:xfrm>
            <a:off x="841248" y="5065776"/>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5" name="Rectangle 24"/>
          <p:cNvSpPr/>
          <p:nvPr/>
        </p:nvSpPr>
        <p:spPr>
          <a:xfrm>
            <a:off x="841248" y="5065776"/>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07</a:t>
            </a:r>
          </a:p>
        </p:txBody>
      </p:sp>
      <p:sp>
        <p:nvSpPr>
          <p:cNvPr id="26" name="TextBox 25"/>
          <p:cNvSpPr txBox="1"/>
          <p:nvPr/>
        </p:nvSpPr>
        <p:spPr>
          <a:xfrm>
            <a:off x="1536192" y="5084064"/>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Conclusiones</a:t>
            </a:r>
          </a:p>
        </p:txBody>
      </p:sp>
      <p:pic>
        <p:nvPicPr>
          <p:cNvPr id="28" name="Imagen 27">
            <a:extLst>
              <a:ext uri="{FF2B5EF4-FFF2-40B4-BE49-F238E27FC236}">
                <a16:creationId xmlns:a16="http://schemas.microsoft.com/office/drawing/2014/main" id="{BEFBA072-71F7-0468-7F36-34B26D25D672}"/>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El problema: metas contractuales y la falla más crítica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3</a:t>
            </a:r>
          </a:p>
        </p:txBody>
      </p:sp>
      <p:pic>
        <p:nvPicPr>
          <p:cNvPr id="18" name="Imagen 17">
            <a:extLst>
              <a:ext uri="{FF2B5EF4-FFF2-40B4-BE49-F238E27FC236}">
                <a16:creationId xmlns:a16="http://schemas.microsoft.com/office/drawing/2014/main" id="{A643B908-DB89-5F79-1550-B4FA95CAADB4}"/>
              </a:ext>
            </a:extLst>
          </p:cNvPr>
          <p:cNvPicPr>
            <a:picLocks noChangeAspect="1"/>
          </p:cNvPicPr>
          <p:nvPr/>
        </p:nvPicPr>
        <p:blipFill>
          <a:blip r:embed="rId2"/>
          <a:stretch>
            <a:fillRect/>
          </a:stretch>
        </p:blipFill>
        <p:spPr>
          <a:xfrm>
            <a:off x="158617" y="5943600"/>
            <a:ext cx="5620013" cy="550672"/>
          </a:xfrm>
          <a:prstGeom prst="rect">
            <a:avLst/>
          </a:prstGeom>
        </p:spPr>
      </p:pic>
      <p:pic>
        <p:nvPicPr>
          <p:cNvPr id="17" name="Imagen 16">
            <a:extLst>
              <a:ext uri="{FF2B5EF4-FFF2-40B4-BE49-F238E27FC236}">
                <a16:creationId xmlns:a16="http://schemas.microsoft.com/office/drawing/2014/main" id="{6816C735-E46E-5BC5-3A1A-FBD4530910F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1248" y="1426464"/>
            <a:ext cx="3353799" cy="3346704"/>
          </a:xfrm>
          <a:prstGeom prst="rect">
            <a:avLst/>
          </a:prstGeom>
          <a:noFill/>
          <a:ln>
            <a:noFill/>
          </a:ln>
        </p:spPr>
      </p:pic>
      <p:sp>
        <p:nvSpPr>
          <p:cNvPr id="19" name="TextBox 18"/>
          <p:cNvSpPr txBox="1"/>
          <p:nvPr/>
        </p:nvSpPr>
        <p:spPr>
          <a:xfrm>
            <a:off x="841248" y="128016"/>
            <a:ext cx="7315200" cy="201168"/>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C3094A"/>
                </a:solidFill>
                <a:latin typeface="Arial"/>
              </a:rPr>
              <a:t>01 · DEFINICIÓN DEL PROBLEMA</a:t>
            </a:r>
          </a:p>
        </p:txBody>
      </p:sp>
      <p:sp>
        <p:nvSpPr>
          <p:cNvPr id="20" name="TextBox 19"/>
          <p:cNvSpPr txBox="1"/>
          <p:nvPr/>
        </p:nvSpPr>
        <p:spPr>
          <a:xfrm>
            <a:off x="841248" y="4809744"/>
            <a:ext cx="3536679" cy="182880"/>
          </a:xfrm>
          <a:prstGeom prst="rect">
            <a:avLst/>
          </a:prstGeom>
          <a:noFill/>
        </p:spPr>
        <p:txBody>
          <a:bodyPr wrap="square" lIns="0" rIns="0" tIns="0" bIns="0" anchor="t">
            <a:spAutoFit/>
          </a:bodyPr>
          <a:lstStyle/>
          <a:p>
            <a:pPr algn="l">
              <a:lnSpc>
                <a:spcPct val="106000"/>
              </a:lnSpc>
              <a:spcBef>
                <a:spcPts val="0"/>
              </a:spcBef>
              <a:spcAft>
                <a:spcPts val="300"/>
              </a:spcAft>
            </a:pPr>
            <a:r>
              <a:rPr sz="900" b="0" i="0">
                <a:solidFill>
                  <a:srgbClr val="7A8494"/>
                </a:solidFill>
                <a:latin typeface="Arial"/>
              </a:rPr>
              <a:t>Indicadores de la flota 2022-2024. Fuente: registro de paradas.</a:t>
            </a:r>
          </a:p>
        </p:txBody>
      </p:sp>
      <p:sp>
        <p:nvSpPr>
          <p:cNvPr id="21" name="TextBox 20"/>
          <p:cNvSpPr txBox="1"/>
          <p:nvPr/>
        </p:nvSpPr>
        <p:spPr>
          <a:xfrm>
            <a:off x="4487655" y="1389888"/>
            <a:ext cx="6869192" cy="256032"/>
          </a:xfrm>
          <a:prstGeom prst="rect">
            <a:avLst/>
          </a:prstGeom>
          <a:noFill/>
        </p:spPr>
        <p:txBody>
          <a:bodyPr wrap="square" lIns="0" rIns="0" tIns="0" bIns="0" anchor="t">
            <a:spAutoFit/>
          </a:bodyPr>
          <a:lstStyle/>
          <a:p>
            <a:pPr algn="l">
              <a:lnSpc>
                <a:spcPct val="110000"/>
              </a:lnSpc>
              <a:spcBef>
                <a:spcPts val="0"/>
              </a:spcBef>
              <a:spcAft>
                <a:spcPts val="300"/>
              </a:spcAft>
            </a:pPr>
            <a:r>
              <a:rPr sz="950" b="1" i="0">
                <a:solidFill>
                  <a:srgbClr val="4A5568"/>
                </a:solidFill>
                <a:latin typeface="Arial"/>
              </a:rPr>
              <a:t>METAS CONTRACTUALES · DIEZ CAMIONES 980E-5 DE 400 t</a:t>
            </a:r>
          </a:p>
        </p:txBody>
      </p:sp>
      <p:sp>
        <p:nvSpPr>
          <p:cNvPr id="22" name="Rectangle 21"/>
          <p:cNvSpPr/>
          <p:nvPr/>
        </p:nvSpPr>
        <p:spPr>
          <a:xfrm>
            <a:off x="4487655" y="1664208"/>
            <a:ext cx="2216578" cy="60350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487655" y="1664208"/>
            <a:ext cx="2216578"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615671" y="1700784"/>
            <a:ext cx="2033698" cy="566928"/>
          </a:xfrm>
          <a:prstGeom prst="rect">
            <a:avLst/>
          </a:prstGeom>
          <a:noFill/>
        </p:spPr>
        <p:txBody>
          <a:bodyPr wrap="square" lIns="0" rIns="0" tIns="0" bIns="0" anchor="ctr">
            <a:spAutoFit/>
          </a:bodyPr>
          <a:lstStyle/>
          <a:p>
            <a:pPr algn="l">
              <a:lnSpc>
                <a:spcPct val="100000"/>
              </a:lnSpc>
              <a:spcBef>
                <a:spcPts val="0"/>
              </a:spcBef>
              <a:spcAft>
                <a:spcPts val="100"/>
              </a:spcAft>
            </a:pPr>
            <a:r>
              <a:rPr sz="1500" b="1" i="0">
                <a:solidFill>
                  <a:srgbClr val="C3094A"/>
                </a:solidFill>
                <a:latin typeface="Arial"/>
              </a:rPr>
              <a:t>91,0 %</a:t>
            </a:r>
          </a:p>
          <a:p>
            <a:pPr algn="l">
              <a:lnSpc>
                <a:spcPct val="100000"/>
              </a:lnSpc>
              <a:spcBef>
                <a:spcPts val="0"/>
              </a:spcBef>
              <a:spcAft>
                <a:spcPts val="0"/>
              </a:spcAft>
            </a:pPr>
            <a:r>
              <a:rPr sz="800" b="0" i="0">
                <a:solidFill>
                  <a:srgbClr val="4A5568"/>
                </a:solidFill>
                <a:latin typeface="Arial"/>
              </a:rPr>
              <a:t>meta de disponibilidad</a:t>
            </a:r>
          </a:p>
        </p:txBody>
      </p:sp>
      <p:sp>
        <p:nvSpPr>
          <p:cNvPr id="25" name="Rectangle 24"/>
          <p:cNvSpPr/>
          <p:nvPr/>
        </p:nvSpPr>
        <p:spPr>
          <a:xfrm>
            <a:off x="6813962" y="1664208"/>
            <a:ext cx="2216578" cy="60350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13962" y="1664208"/>
            <a:ext cx="2216578"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41978" y="1700784"/>
            <a:ext cx="2033698" cy="566928"/>
          </a:xfrm>
          <a:prstGeom prst="rect">
            <a:avLst/>
          </a:prstGeom>
          <a:noFill/>
        </p:spPr>
        <p:txBody>
          <a:bodyPr wrap="square" lIns="0" rIns="0" tIns="0" bIns="0" anchor="ctr">
            <a:spAutoFit/>
          </a:bodyPr>
          <a:lstStyle/>
          <a:p>
            <a:pPr algn="l">
              <a:lnSpc>
                <a:spcPct val="100000"/>
              </a:lnSpc>
              <a:spcBef>
                <a:spcPts val="0"/>
              </a:spcBef>
              <a:spcAft>
                <a:spcPts val="100"/>
              </a:spcAft>
            </a:pPr>
            <a:r>
              <a:rPr sz="1500" b="1" i="0">
                <a:solidFill>
                  <a:srgbClr val="C3094A"/>
                </a:solidFill>
                <a:latin typeface="Arial"/>
              </a:rPr>
              <a:t>64,5 h</a:t>
            </a:r>
          </a:p>
          <a:p>
            <a:pPr algn="l">
              <a:lnSpc>
                <a:spcPct val="100000"/>
              </a:lnSpc>
              <a:spcBef>
                <a:spcPts val="0"/>
              </a:spcBef>
              <a:spcAft>
                <a:spcPts val="0"/>
              </a:spcAft>
            </a:pPr>
            <a:r>
              <a:rPr sz="800" b="0" i="0">
                <a:solidFill>
                  <a:srgbClr val="4A5568"/>
                </a:solidFill>
                <a:latin typeface="Arial"/>
              </a:rPr>
              <a:t>objetivo de MTBF</a:t>
            </a:r>
          </a:p>
        </p:txBody>
      </p:sp>
      <p:sp>
        <p:nvSpPr>
          <p:cNvPr id="28" name="Rectangle 27"/>
          <p:cNvSpPr/>
          <p:nvPr/>
        </p:nvSpPr>
        <p:spPr>
          <a:xfrm>
            <a:off x="9140269" y="1664208"/>
            <a:ext cx="2216578" cy="60350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40269" y="1664208"/>
            <a:ext cx="2216578"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68285" y="1700784"/>
            <a:ext cx="2033698" cy="566928"/>
          </a:xfrm>
          <a:prstGeom prst="rect">
            <a:avLst/>
          </a:prstGeom>
          <a:noFill/>
        </p:spPr>
        <p:txBody>
          <a:bodyPr wrap="square" lIns="0" rIns="0" tIns="0" bIns="0" anchor="ctr">
            <a:spAutoFit/>
          </a:bodyPr>
          <a:lstStyle/>
          <a:p>
            <a:pPr algn="l">
              <a:lnSpc>
                <a:spcPct val="100000"/>
              </a:lnSpc>
              <a:spcBef>
                <a:spcPts val="0"/>
              </a:spcBef>
              <a:spcAft>
                <a:spcPts val="100"/>
              </a:spcAft>
            </a:pPr>
            <a:r>
              <a:rPr sz="1500" b="1" i="0">
                <a:solidFill>
                  <a:srgbClr val="C3094A"/>
                </a:solidFill>
                <a:latin typeface="Arial"/>
              </a:rPr>
              <a:t>4,0 h</a:t>
            </a:r>
          </a:p>
          <a:p>
            <a:pPr algn="l">
              <a:lnSpc>
                <a:spcPct val="100000"/>
              </a:lnSpc>
              <a:spcBef>
                <a:spcPts val="0"/>
              </a:spcBef>
              <a:spcAft>
                <a:spcPts val="0"/>
              </a:spcAft>
            </a:pPr>
            <a:r>
              <a:rPr sz="800" b="0" i="0">
                <a:solidFill>
                  <a:srgbClr val="4A5568"/>
                </a:solidFill>
                <a:latin typeface="Arial"/>
              </a:rPr>
              <a:t>límite de MTTR</a:t>
            </a:r>
          </a:p>
        </p:txBody>
      </p:sp>
      <p:sp>
        <p:nvSpPr>
          <p:cNvPr id="31" name="TextBox 30"/>
          <p:cNvSpPr txBox="1"/>
          <p:nvPr/>
        </p:nvSpPr>
        <p:spPr>
          <a:xfrm>
            <a:off x="4487655" y="2414016"/>
            <a:ext cx="6869192" cy="256032"/>
          </a:xfrm>
          <a:prstGeom prst="rect">
            <a:avLst/>
          </a:prstGeom>
          <a:noFill/>
        </p:spPr>
        <p:txBody>
          <a:bodyPr wrap="square" lIns="0" rIns="0" tIns="0" bIns="0" anchor="t">
            <a:spAutoFit/>
          </a:bodyPr>
          <a:lstStyle/>
          <a:p>
            <a:pPr algn="l">
              <a:lnSpc>
                <a:spcPct val="110000"/>
              </a:lnSpc>
              <a:spcBef>
                <a:spcPts val="0"/>
              </a:spcBef>
              <a:spcAft>
                <a:spcPts val="300"/>
              </a:spcAft>
            </a:pPr>
            <a:r>
              <a:rPr sz="950" b="1" i="0">
                <a:solidFill>
                  <a:srgbClr val="4A5568"/>
                </a:solidFill>
                <a:latin typeface="Arial"/>
              </a:rPr>
              <a:t>LA FALLA MÁS CRÍTICA · FRACTURA POR FATIGA DEL EJE PALIER</a:t>
            </a:r>
          </a:p>
        </p:txBody>
      </p:sp>
      <p:pic>
        <p:nvPicPr>
          <p:cNvPr id="32" name="Picture 31" descr="image.png"/>
          <p:cNvPicPr>
            <a:picLocks noChangeAspect="1"/>
          </p:cNvPicPr>
          <p:nvPr/>
        </p:nvPicPr>
        <p:blipFill>
          <a:blip r:embed="rId4"/>
          <a:stretch>
            <a:fillRect/>
          </a:stretch>
        </p:blipFill>
        <p:spPr>
          <a:xfrm>
            <a:off x="5041891" y="2688336"/>
            <a:ext cx="5760720" cy="1418088"/>
          </a:xfrm>
          <a:prstGeom prst="rect">
            <a:avLst/>
          </a:prstGeom>
        </p:spPr>
      </p:pic>
      <p:sp>
        <p:nvSpPr>
          <p:cNvPr id="33" name="TextBox 32"/>
          <p:cNvSpPr txBox="1"/>
          <p:nvPr/>
        </p:nvSpPr>
        <p:spPr>
          <a:xfrm>
            <a:off x="5041891" y="4133856"/>
            <a:ext cx="5760720" cy="182880"/>
          </a:xfrm>
          <a:prstGeom prst="rect">
            <a:avLst/>
          </a:prstGeom>
          <a:noFill/>
        </p:spPr>
        <p:txBody>
          <a:bodyPr wrap="square" lIns="0" rIns="0" tIns="0" bIns="0" anchor="t">
            <a:spAutoFit/>
          </a:bodyPr>
          <a:lstStyle/>
          <a:p>
            <a:pPr algn="l">
              <a:lnSpc>
                <a:spcPct val="106000"/>
              </a:lnSpc>
              <a:spcBef>
                <a:spcPts val="0"/>
              </a:spcBef>
              <a:spcAft>
                <a:spcPts val="300"/>
              </a:spcAft>
            </a:pPr>
            <a:r>
              <a:rPr sz="900" b="0" i="0">
                <a:solidFill>
                  <a:srgbClr val="7A8494"/>
                </a:solidFill>
                <a:latin typeface="Arial"/>
              </a:rPr>
              <a:t>Eje palier fracturado. Informe DIESA-AFA2023085189_00.</a:t>
            </a:r>
          </a:p>
        </p:txBody>
      </p:sp>
      <p:sp>
        <p:nvSpPr>
          <p:cNvPr id="34" name="Rectangle 33"/>
          <p:cNvSpPr/>
          <p:nvPr/>
        </p:nvSpPr>
        <p:spPr>
          <a:xfrm>
            <a:off x="4487655"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487655"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7383" y="4408176"/>
            <a:ext cx="1484126" cy="575303"/>
          </a:xfrm>
          <a:prstGeom prst="rect">
            <a:avLst/>
          </a:prstGeom>
          <a:noFill/>
        </p:spPr>
        <p:txBody>
          <a:bodyPr wrap="square" lIns="0" rIns="0" tIns="0" bIns="0" anchor="ctr">
            <a:spAutoFit/>
          </a:bodyPr>
          <a:lstStyle/>
          <a:p>
            <a:pPr algn="l">
              <a:lnSpc>
                <a:spcPct val="100000"/>
              </a:lnSpc>
              <a:spcBef>
                <a:spcPts val="0"/>
              </a:spcBef>
              <a:spcAft>
                <a:spcPts val="100"/>
              </a:spcAft>
            </a:pPr>
            <a:r>
              <a:rPr sz="1500" b="1" i="0">
                <a:solidFill>
                  <a:srgbClr val="042354"/>
                </a:solidFill>
                <a:latin typeface="Arial"/>
              </a:rPr>
              <a:t>13</a:t>
            </a:r>
          </a:p>
          <a:p>
            <a:pPr algn="l">
              <a:lnSpc>
                <a:spcPct val="100000"/>
              </a:lnSpc>
              <a:spcBef>
                <a:spcPts val="0"/>
              </a:spcBef>
              <a:spcAft>
                <a:spcPts val="0"/>
              </a:spcAft>
            </a:pPr>
            <a:r>
              <a:rPr sz="800" b="0" i="0">
                <a:solidFill>
                  <a:srgbClr val="4A5568"/>
                </a:solidFill>
                <a:latin typeface="Arial"/>
              </a:rPr>
              <a:t>eventos en 36 meses</a:t>
            </a:r>
          </a:p>
        </p:txBody>
      </p:sp>
      <p:sp>
        <p:nvSpPr>
          <p:cNvPr id="37" name="Rectangle 36"/>
          <p:cNvSpPr/>
          <p:nvPr/>
        </p:nvSpPr>
        <p:spPr>
          <a:xfrm>
            <a:off x="6227813"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227813"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37541" y="4408176"/>
            <a:ext cx="1484126" cy="575303"/>
          </a:xfrm>
          <a:prstGeom prst="rect">
            <a:avLst/>
          </a:prstGeom>
          <a:noFill/>
        </p:spPr>
        <p:txBody>
          <a:bodyPr wrap="square" lIns="0" rIns="0" tIns="0" bIns="0" anchor="ctr">
            <a:spAutoFit/>
          </a:bodyPr>
          <a:lstStyle/>
          <a:p>
            <a:pPr algn="l">
              <a:lnSpc>
                <a:spcPct val="100000"/>
              </a:lnSpc>
              <a:spcBef>
                <a:spcPts val="0"/>
              </a:spcBef>
              <a:spcAft>
                <a:spcPts val="100"/>
              </a:spcAft>
            </a:pPr>
            <a:r>
              <a:rPr sz="1500" b="1" i="0">
                <a:solidFill>
                  <a:srgbClr val="042354"/>
                </a:solidFill>
                <a:latin typeface="Arial"/>
              </a:rPr>
              <a:t>59,3 h</a:t>
            </a:r>
          </a:p>
          <a:p>
            <a:pPr algn="l">
              <a:lnSpc>
                <a:spcPct val="100000"/>
              </a:lnSpc>
              <a:spcBef>
                <a:spcPts val="0"/>
              </a:spcBef>
              <a:spcAft>
                <a:spcPts val="0"/>
              </a:spcAft>
            </a:pPr>
            <a:r>
              <a:rPr sz="800" b="0" i="0">
                <a:solidFill>
                  <a:srgbClr val="4A5568"/>
                </a:solidFill>
                <a:latin typeface="Arial"/>
              </a:rPr>
              <a:t>de detención por evento</a:t>
            </a:r>
          </a:p>
        </p:txBody>
      </p:sp>
      <p:sp>
        <p:nvSpPr>
          <p:cNvPr id="40" name="Rectangle 39"/>
          <p:cNvSpPr/>
          <p:nvPr/>
        </p:nvSpPr>
        <p:spPr>
          <a:xfrm>
            <a:off x="7967971"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967971"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077699" y="4408176"/>
            <a:ext cx="1484126" cy="575303"/>
          </a:xfrm>
          <a:prstGeom prst="rect">
            <a:avLst/>
          </a:prstGeom>
          <a:noFill/>
        </p:spPr>
        <p:txBody>
          <a:bodyPr wrap="square" lIns="0" rIns="0" tIns="0" bIns="0" anchor="ctr">
            <a:spAutoFit/>
          </a:bodyPr>
          <a:lstStyle/>
          <a:p>
            <a:pPr algn="l">
              <a:lnSpc>
                <a:spcPct val="100000"/>
              </a:lnSpc>
              <a:spcBef>
                <a:spcPts val="0"/>
              </a:spcBef>
              <a:spcAft>
                <a:spcPts val="100"/>
              </a:spcAft>
            </a:pPr>
            <a:r>
              <a:rPr sz="1300" b="1" i="0">
                <a:solidFill>
                  <a:srgbClr val="042354"/>
                </a:solidFill>
                <a:latin typeface="Arial"/>
              </a:rPr>
              <a:t>US$ 763 393</a:t>
            </a:r>
          </a:p>
          <a:p>
            <a:pPr algn="l">
              <a:lnSpc>
                <a:spcPct val="100000"/>
              </a:lnSpc>
              <a:spcBef>
                <a:spcPts val="0"/>
              </a:spcBef>
              <a:spcAft>
                <a:spcPts val="0"/>
              </a:spcAft>
            </a:pPr>
            <a:r>
              <a:rPr sz="800" b="0" i="0">
                <a:solidFill>
                  <a:srgbClr val="4A5568"/>
                </a:solidFill>
                <a:latin typeface="Arial"/>
              </a:rPr>
              <a:t>por evento: evaluación y reparación mayor</a:t>
            </a:r>
          </a:p>
        </p:txBody>
      </p:sp>
      <p:sp>
        <p:nvSpPr>
          <p:cNvPr id="43" name="Rectangle 42"/>
          <p:cNvSpPr/>
          <p:nvPr/>
        </p:nvSpPr>
        <p:spPr>
          <a:xfrm>
            <a:off x="9708129"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708129"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817857" y="4408176"/>
            <a:ext cx="1484126" cy="575303"/>
          </a:xfrm>
          <a:prstGeom prst="rect">
            <a:avLst/>
          </a:prstGeom>
          <a:noFill/>
        </p:spPr>
        <p:txBody>
          <a:bodyPr wrap="square" lIns="0" rIns="0" tIns="0" bIns="0" anchor="ctr">
            <a:spAutoFit/>
          </a:bodyPr>
          <a:lstStyle/>
          <a:p>
            <a:pPr algn="l">
              <a:lnSpc>
                <a:spcPct val="100000"/>
              </a:lnSpc>
              <a:spcBef>
                <a:spcPts val="0"/>
              </a:spcBef>
              <a:spcAft>
                <a:spcPts val="100"/>
              </a:spcAft>
            </a:pPr>
            <a:r>
              <a:rPr sz="1500" b="1" i="0">
                <a:solidFill>
                  <a:srgbClr val="042354"/>
                </a:solidFill>
                <a:latin typeface="Arial"/>
              </a:rPr>
              <a:t>0,36 %</a:t>
            </a:r>
          </a:p>
          <a:p>
            <a:pPr algn="l">
              <a:lnSpc>
                <a:spcPct val="100000"/>
              </a:lnSpc>
              <a:spcBef>
                <a:spcPts val="0"/>
              </a:spcBef>
              <a:spcAft>
                <a:spcPts val="0"/>
              </a:spcAft>
            </a:pPr>
            <a:r>
              <a:rPr sz="800" b="0" i="0">
                <a:solidFill>
                  <a:srgbClr val="4A5568"/>
                </a:solidFill>
                <a:latin typeface="Arial"/>
              </a:rPr>
              <a:t>de disponibilidad de flota</a:t>
            </a:r>
          </a:p>
        </p:txBody>
      </p:sp>
      <p:sp>
        <p:nvSpPr>
          <p:cNvPr id="46" name="Rectangle 45"/>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24128" y="5157216"/>
            <a:ext cx="10277856" cy="493776"/>
          </a:xfrm>
          <a:prstGeom prst="rect">
            <a:avLst/>
          </a:prstGeom>
          <a:noFill/>
        </p:spPr>
        <p:txBody>
          <a:bodyPr wrap="square" lIns="0" rIns="0" tIns="0" bIns="0" anchor="t">
            <a:spAutoFit/>
          </a:bodyPr>
          <a:lstStyle/>
          <a:p>
            <a:pPr algn="l">
              <a:lnSpc>
                <a:spcPct val="114000"/>
              </a:lnSpc>
              <a:spcBef>
                <a:spcPts val="0"/>
              </a:spcBef>
              <a:spcAft>
                <a:spcPts val="300"/>
              </a:spcAft>
            </a:pPr>
            <a:r>
              <a:rPr sz="1150" b="1" i="0">
                <a:solidFill>
                  <a:srgbClr val="042354"/>
                </a:solidFill>
                <a:latin typeface="Arial"/>
              </a:rPr>
              <a:t>La brecha contractual se debe a la frecuencia de fallas y a reparaciones largas; la más crítica, la fractura del eje palier, ocurría entre 7 000 y 17 000 h, frente a un TBO de 20 000 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Objetivos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4</a:t>
            </a:r>
          </a:p>
        </p:txBody>
      </p:sp>
      <p:sp>
        <p:nvSpPr>
          <p:cNvPr id="6" name="Rectangle 5"/>
          <p:cNvSpPr/>
          <p:nvPr/>
        </p:nvSpPr>
        <p:spPr>
          <a:xfrm>
            <a:off x="841248" y="1463040"/>
            <a:ext cx="10515600" cy="98755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TextBox 6"/>
          <p:cNvSpPr txBox="1"/>
          <p:nvPr/>
        </p:nvSpPr>
        <p:spPr>
          <a:xfrm>
            <a:off x="1078992" y="1647244"/>
            <a:ext cx="10040112" cy="619144"/>
          </a:xfrm>
          <a:prstGeom prst="rect">
            <a:avLst/>
          </a:prstGeom>
          <a:noFill/>
        </p:spPr>
        <p:txBody>
          <a:bodyPr wrap="square" lIns="0" tIns="0" rIns="0" bIns="0" anchor="ctr">
            <a:spAutoFit/>
          </a:bodyPr>
          <a:lstStyle/>
          <a:p>
            <a:pPr algn="l">
              <a:lnSpc>
                <a:spcPct val="114000"/>
              </a:lnSpc>
              <a:spcBef>
                <a:spcPts val="0"/>
              </a:spcBef>
              <a:spcAft>
                <a:spcPts val="400"/>
              </a:spcAft>
            </a:pPr>
            <a:r>
              <a:rPr lang="es-PE" sz="900" b="1" i="0" noProof="0" dirty="0">
                <a:solidFill>
                  <a:srgbClr val="8FE4C6"/>
                </a:solidFill>
                <a:latin typeface="Arial"/>
              </a:rPr>
              <a:t>OBJETIVO GENERAL</a:t>
            </a:r>
          </a:p>
          <a:p>
            <a:pPr algn="l">
              <a:lnSpc>
                <a:spcPct val="116000"/>
              </a:lnSpc>
              <a:spcBef>
                <a:spcPts val="0"/>
              </a:spcBef>
              <a:spcAft>
                <a:spcPts val="400"/>
              </a:spcAft>
            </a:pPr>
            <a:r>
              <a:rPr lang="es-PE" sz="1200" b="0" i="0" noProof="0" dirty="0">
                <a:solidFill>
                  <a:srgbClr val="FFFFFF"/>
                </a:solidFill>
                <a:latin typeface="Arial"/>
              </a:rPr>
              <a:t>Recuperar los indicadores de mantenimiento </a:t>
            </a:r>
            <a:r>
              <a:rPr lang="es-PE" sz="1200" noProof="0" dirty="0">
                <a:solidFill>
                  <a:srgbClr val="FFFFFF"/>
                </a:solidFill>
              </a:rPr>
              <a:t>(</a:t>
            </a:r>
            <a:r>
              <a:rPr lang="es-PE" sz="1200" b="0" i="0" noProof="0" dirty="0">
                <a:solidFill>
                  <a:srgbClr val="FFFFFF"/>
                </a:solidFill>
                <a:latin typeface="Arial"/>
              </a:rPr>
              <a:t>MTBF, MTTR y disponibilidad</a:t>
            </a:r>
            <a:r>
              <a:rPr lang="es-PE" sz="1200" noProof="0" dirty="0">
                <a:solidFill>
                  <a:srgbClr val="FFFFFF"/>
                </a:solidFill>
              </a:rPr>
              <a:t>) </a:t>
            </a:r>
            <a:r>
              <a:rPr lang="es-PE" sz="1200" b="0" i="0" noProof="0" dirty="0">
                <a:solidFill>
                  <a:srgbClr val="FFFFFF"/>
                </a:solidFill>
                <a:latin typeface="Arial"/>
              </a:rPr>
              <a:t>del motor de tracción de los camiones mineros 980E-5 mediante la eliminación de la fractura del eje palier del sistema de propulsión.</a:t>
            </a:r>
          </a:p>
        </p:txBody>
      </p:sp>
      <p:sp>
        <p:nvSpPr>
          <p:cNvPr id="8" name="Rectangle 7"/>
          <p:cNvSpPr/>
          <p:nvPr/>
        </p:nvSpPr>
        <p:spPr>
          <a:xfrm>
            <a:off x="841248" y="2670048"/>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841248" y="2670048"/>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1078992" y="2752344"/>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OE1</a:t>
            </a:r>
          </a:p>
        </p:txBody>
      </p:sp>
      <p:sp>
        <p:nvSpPr>
          <p:cNvPr id="11" name="TextBox 10"/>
          <p:cNvSpPr txBox="1"/>
          <p:nvPr/>
        </p:nvSpPr>
        <p:spPr>
          <a:xfrm>
            <a:off x="1810512" y="2752344"/>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Identificar la falla recurrente y cuantificar su impacto sobre los indicadores del motor de tracción y sobre los costos de mantenimiento de la flota.</a:t>
            </a:r>
          </a:p>
        </p:txBody>
      </p:sp>
      <p:sp>
        <p:nvSpPr>
          <p:cNvPr id="12" name="Rectangle 11"/>
          <p:cNvSpPr/>
          <p:nvPr/>
        </p:nvSpPr>
        <p:spPr>
          <a:xfrm>
            <a:off x="841248" y="3438144"/>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Rectangle 12"/>
          <p:cNvSpPr/>
          <p:nvPr/>
        </p:nvSpPr>
        <p:spPr>
          <a:xfrm>
            <a:off x="841248" y="3438144"/>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TextBox 13"/>
          <p:cNvSpPr txBox="1"/>
          <p:nvPr/>
        </p:nvSpPr>
        <p:spPr>
          <a:xfrm>
            <a:off x="1078992" y="3520439"/>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OE2</a:t>
            </a:r>
          </a:p>
        </p:txBody>
      </p:sp>
      <p:sp>
        <p:nvSpPr>
          <p:cNvPr id="15" name="TextBox 14"/>
          <p:cNvSpPr txBox="1"/>
          <p:nvPr/>
        </p:nvSpPr>
        <p:spPr>
          <a:xfrm>
            <a:off x="1810512" y="3520439"/>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Determinar las causas latentes de la recurrencia mediante un análisis de causa raíz que evalúe los procesos y procedimientos involucrados.</a:t>
            </a:r>
          </a:p>
        </p:txBody>
      </p:sp>
      <p:sp>
        <p:nvSpPr>
          <p:cNvPr id="16" name="Rectangle 15"/>
          <p:cNvSpPr/>
          <p:nvPr/>
        </p:nvSpPr>
        <p:spPr>
          <a:xfrm>
            <a:off x="841248" y="4206240"/>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7" name="Rectangle 16"/>
          <p:cNvSpPr/>
          <p:nvPr/>
        </p:nvSpPr>
        <p:spPr>
          <a:xfrm>
            <a:off x="841248" y="4206240"/>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8" name="TextBox 17"/>
          <p:cNvSpPr txBox="1"/>
          <p:nvPr/>
        </p:nvSpPr>
        <p:spPr>
          <a:xfrm>
            <a:off x="1078992" y="4288536"/>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OE3</a:t>
            </a:r>
          </a:p>
        </p:txBody>
      </p:sp>
      <p:sp>
        <p:nvSpPr>
          <p:cNvPr id="19" name="TextBox 18"/>
          <p:cNvSpPr txBox="1"/>
          <p:nvPr/>
        </p:nvSpPr>
        <p:spPr>
          <a:xfrm>
            <a:off x="1810512" y="4288536"/>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Implementar el rediseño de la unión soldada, sustentando el plan de acción con la lógica de decisión del RCM, que ante la ausencia de tarea factible deriva en un cambio de diseño.</a:t>
            </a:r>
          </a:p>
        </p:txBody>
      </p:sp>
      <p:sp>
        <p:nvSpPr>
          <p:cNvPr id="20" name="Rectangle 19"/>
          <p:cNvSpPr/>
          <p:nvPr/>
        </p:nvSpPr>
        <p:spPr>
          <a:xfrm>
            <a:off x="841248" y="4974336"/>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1" name="Rectangle 20"/>
          <p:cNvSpPr/>
          <p:nvPr/>
        </p:nvSpPr>
        <p:spPr>
          <a:xfrm>
            <a:off x="841248" y="4974336"/>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2" name="TextBox 21"/>
          <p:cNvSpPr txBox="1"/>
          <p:nvPr/>
        </p:nvSpPr>
        <p:spPr>
          <a:xfrm>
            <a:off x="1078992" y="5056631"/>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OE4</a:t>
            </a:r>
          </a:p>
        </p:txBody>
      </p:sp>
      <p:sp>
        <p:nvSpPr>
          <p:cNvPr id="23" name="TextBox 22"/>
          <p:cNvSpPr txBox="1"/>
          <p:nvPr/>
        </p:nvSpPr>
        <p:spPr>
          <a:xfrm>
            <a:off x="1810512" y="5056631"/>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Evaluar la recuperación de los indicadores y el costo evitado, comparando el desempeño de la flota antes y después de la implementación.</a:t>
            </a:r>
          </a:p>
        </p:txBody>
      </p:sp>
      <p:pic>
        <p:nvPicPr>
          <p:cNvPr id="24" name="Imagen 23">
            <a:extLst>
              <a:ext uri="{FF2B5EF4-FFF2-40B4-BE49-F238E27FC236}">
                <a16:creationId xmlns:a16="http://schemas.microsoft.com/office/drawing/2014/main" id="{8EF53863-1501-1C64-0C61-476944C7B044}"/>
              </a:ext>
            </a:extLst>
          </p:cNvPr>
          <p:cNvPicPr>
            <a:picLocks noChangeAspect="1"/>
          </p:cNvPicPr>
          <p:nvPr/>
        </p:nvPicPr>
        <p:blipFill>
          <a:blip r:embed="rId2"/>
          <a:stretch>
            <a:fillRect/>
          </a:stretch>
        </p:blipFill>
        <p:spPr>
          <a:xfrm>
            <a:off x="158617" y="5943600"/>
            <a:ext cx="5620013" cy="550672"/>
          </a:xfrm>
          <a:prstGeom prst="rect">
            <a:avLst/>
          </a:prstGeom>
        </p:spPr>
      </p:pic>
      <p:sp>
        <p:nvSpPr>
          <p:cNvPr id="25" name="TextBox 24"/>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02 · OBJETIVOS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dirty="0">
                <a:solidFill>
                  <a:srgbClr val="042354"/>
                </a:solidFill>
              </a:rPr>
              <a:t>Etapas de la metodología</a:t>
            </a:r>
            <a:endParaRPr lang="es-PE" sz="2200" b="1" i="0" noProof="0" dirty="0">
              <a:solidFill>
                <a:srgbClr val="042354"/>
              </a:solidFill>
              <a:latin typeface="Arial"/>
            </a:endParaRP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5</a:t>
            </a:r>
          </a:p>
        </p:txBody>
      </p:sp>
      <p:sp>
        <p:nvSpPr>
          <p:cNvPr id="6" name="Rectangle 5"/>
          <p:cNvSpPr/>
          <p:nvPr/>
        </p:nvSpPr>
        <p:spPr>
          <a:xfrm>
            <a:off x="84124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TextBox 7"/>
          <p:cNvSpPr txBox="1"/>
          <p:nvPr/>
        </p:nvSpPr>
        <p:spPr>
          <a:xfrm>
            <a:off x="102412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1</a:t>
            </a:r>
          </a:p>
          <a:p>
            <a:pPr algn="l">
              <a:lnSpc>
                <a:spcPct val="106000"/>
              </a:lnSpc>
              <a:spcBef>
                <a:spcPts val="0"/>
              </a:spcBef>
              <a:spcAft>
                <a:spcPts val="400"/>
              </a:spcAft>
            </a:pPr>
            <a:r>
              <a:rPr lang="es-PE" sz="1200" b="1" i="0" noProof="0" dirty="0">
                <a:solidFill>
                  <a:srgbClr val="042354"/>
                </a:solidFill>
                <a:latin typeface="Arial"/>
              </a:rPr>
              <a:t>Desempeño previo</a:t>
            </a:r>
          </a:p>
          <a:p>
            <a:pPr algn="l">
              <a:lnSpc>
                <a:spcPct val="112000"/>
              </a:lnSpc>
              <a:spcBef>
                <a:spcPts val="0"/>
              </a:spcBef>
              <a:spcAft>
                <a:spcPts val="400"/>
              </a:spcAft>
            </a:pPr>
            <a:r>
              <a:rPr lang="es-PE" sz="950" b="0" i="0" noProof="0" dirty="0">
                <a:solidFill>
                  <a:srgbClr val="4A5568"/>
                </a:solidFill>
                <a:latin typeface="Arial"/>
              </a:rPr>
              <a:t>Cálculo de indicadores
y desviación contractual</a:t>
            </a:r>
          </a:p>
        </p:txBody>
      </p:sp>
      <p:sp>
        <p:nvSpPr>
          <p:cNvPr id="9" name="TextBox 8"/>
          <p:cNvSpPr txBox="1"/>
          <p:nvPr/>
        </p:nvSpPr>
        <p:spPr>
          <a:xfrm>
            <a:off x="325526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PE" sz="1600" b="1" i="0" noProof="0" dirty="0">
                <a:solidFill>
                  <a:srgbClr val="7A8494"/>
                </a:solidFill>
                <a:latin typeface="Arial"/>
              </a:rPr>
              <a:t>›</a:t>
            </a:r>
          </a:p>
        </p:txBody>
      </p:sp>
      <p:sp>
        <p:nvSpPr>
          <p:cNvPr id="10" name="Rectangle 9"/>
          <p:cNvSpPr/>
          <p:nvPr/>
        </p:nvSpPr>
        <p:spPr>
          <a:xfrm>
            <a:off x="353872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353872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372160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2</a:t>
            </a:r>
          </a:p>
          <a:p>
            <a:pPr algn="l">
              <a:lnSpc>
                <a:spcPct val="106000"/>
              </a:lnSpc>
              <a:spcBef>
                <a:spcPts val="0"/>
              </a:spcBef>
              <a:spcAft>
                <a:spcPts val="400"/>
              </a:spcAft>
            </a:pPr>
            <a:r>
              <a:rPr lang="es-PE" sz="1200" b="1" i="0" noProof="0" dirty="0">
                <a:solidFill>
                  <a:srgbClr val="042354"/>
                </a:solidFill>
                <a:latin typeface="Arial"/>
              </a:rPr>
              <a:t>Focalización</a:t>
            </a:r>
          </a:p>
          <a:p>
            <a:pPr algn="l">
              <a:lnSpc>
                <a:spcPct val="112000"/>
              </a:lnSpc>
              <a:spcBef>
                <a:spcPts val="0"/>
              </a:spcBef>
              <a:spcAft>
                <a:spcPts val="400"/>
              </a:spcAft>
            </a:pPr>
            <a:r>
              <a:rPr lang="es-PE" sz="950" b="0" i="0" noProof="0" dirty="0">
                <a:solidFill>
                  <a:srgbClr val="4A5568"/>
                </a:solidFill>
                <a:latin typeface="Arial"/>
              </a:rPr>
              <a:t>Matriz de criticidad y
delimitación del activo</a:t>
            </a:r>
          </a:p>
        </p:txBody>
      </p:sp>
      <p:sp>
        <p:nvSpPr>
          <p:cNvPr id="13" name="TextBox 12"/>
          <p:cNvSpPr txBox="1"/>
          <p:nvPr/>
        </p:nvSpPr>
        <p:spPr>
          <a:xfrm>
            <a:off x="595274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PE" sz="1600" b="1" i="0" noProof="0" dirty="0">
                <a:solidFill>
                  <a:srgbClr val="7A8494"/>
                </a:solidFill>
                <a:latin typeface="Arial"/>
              </a:rPr>
              <a:t>›</a:t>
            </a:r>
          </a:p>
        </p:txBody>
      </p:sp>
      <p:sp>
        <p:nvSpPr>
          <p:cNvPr id="14" name="Rectangle 13"/>
          <p:cNvSpPr/>
          <p:nvPr/>
        </p:nvSpPr>
        <p:spPr>
          <a:xfrm>
            <a:off x="623620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Rectangle 14"/>
          <p:cNvSpPr/>
          <p:nvPr/>
        </p:nvSpPr>
        <p:spPr>
          <a:xfrm>
            <a:off x="623620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641908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3</a:t>
            </a:r>
          </a:p>
          <a:p>
            <a:pPr algn="l">
              <a:lnSpc>
                <a:spcPct val="106000"/>
              </a:lnSpc>
              <a:spcBef>
                <a:spcPts val="0"/>
              </a:spcBef>
              <a:spcAft>
                <a:spcPts val="400"/>
              </a:spcAft>
            </a:pPr>
            <a:r>
              <a:rPr lang="es-PE" sz="1200" b="1" i="0" noProof="0" dirty="0">
                <a:solidFill>
                  <a:srgbClr val="042354"/>
                </a:solidFill>
                <a:latin typeface="Arial"/>
              </a:rPr>
              <a:t>Proceso RCM</a:t>
            </a:r>
          </a:p>
          <a:p>
            <a:pPr algn="l">
              <a:lnSpc>
                <a:spcPct val="112000"/>
              </a:lnSpc>
              <a:spcBef>
                <a:spcPts val="0"/>
              </a:spcBef>
              <a:spcAft>
                <a:spcPts val="400"/>
              </a:spcAft>
            </a:pPr>
            <a:r>
              <a:rPr lang="es-PE" sz="950" b="0" i="0" noProof="0" dirty="0">
                <a:solidFill>
                  <a:srgbClr val="4A5568"/>
                </a:solidFill>
                <a:latin typeface="Arial"/>
              </a:rPr>
              <a:t>Las siete preguntas de
la SAE JA1011 en secuencia</a:t>
            </a:r>
          </a:p>
        </p:txBody>
      </p:sp>
      <p:sp>
        <p:nvSpPr>
          <p:cNvPr id="17" name="TextBox 16"/>
          <p:cNvSpPr txBox="1"/>
          <p:nvPr/>
        </p:nvSpPr>
        <p:spPr>
          <a:xfrm>
            <a:off x="865022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PE" sz="1600" b="1" i="0" noProof="0" dirty="0">
                <a:solidFill>
                  <a:srgbClr val="7A8494"/>
                </a:solidFill>
                <a:latin typeface="Arial"/>
              </a:rPr>
              <a:t>›</a:t>
            </a:r>
          </a:p>
        </p:txBody>
      </p:sp>
      <p:sp>
        <p:nvSpPr>
          <p:cNvPr id="18" name="Rectangle 17"/>
          <p:cNvSpPr/>
          <p:nvPr/>
        </p:nvSpPr>
        <p:spPr>
          <a:xfrm>
            <a:off x="893368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893368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TextBox 19"/>
          <p:cNvSpPr txBox="1"/>
          <p:nvPr/>
        </p:nvSpPr>
        <p:spPr>
          <a:xfrm>
            <a:off x="9116567"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4</a:t>
            </a:r>
          </a:p>
          <a:p>
            <a:pPr algn="l">
              <a:lnSpc>
                <a:spcPct val="106000"/>
              </a:lnSpc>
              <a:spcBef>
                <a:spcPts val="0"/>
              </a:spcBef>
              <a:spcAft>
                <a:spcPts val="400"/>
              </a:spcAft>
            </a:pPr>
            <a:r>
              <a:rPr lang="es-PE" sz="1200" b="1" i="0" noProof="0" dirty="0">
                <a:solidFill>
                  <a:srgbClr val="042354"/>
                </a:solidFill>
                <a:latin typeface="Arial"/>
              </a:rPr>
              <a:t>Implementación
y verificación</a:t>
            </a:r>
          </a:p>
          <a:p>
            <a:pPr algn="l">
              <a:lnSpc>
                <a:spcPct val="112000"/>
              </a:lnSpc>
              <a:spcBef>
                <a:spcPts val="0"/>
              </a:spcBef>
              <a:spcAft>
                <a:spcPts val="400"/>
              </a:spcAft>
            </a:pPr>
            <a:r>
              <a:rPr lang="es-PE" sz="950" b="0" i="0" noProof="0" dirty="0">
                <a:solidFill>
                  <a:srgbClr val="4A5568"/>
                </a:solidFill>
                <a:latin typeface="Arial"/>
              </a:rPr>
              <a:t>Validación, control de
cambio y verificación</a:t>
            </a:r>
          </a:p>
        </p:txBody>
      </p:sp>
      <p:sp>
        <p:nvSpPr>
          <p:cNvPr id="21" name="TextBox 20"/>
          <p:cNvSpPr txBox="1"/>
          <p:nvPr/>
        </p:nvSpPr>
        <p:spPr>
          <a:xfrm>
            <a:off x="841248" y="2999232"/>
            <a:ext cx="10515600" cy="152799"/>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LAS SIETE PREGUNTAS DE LA NORMA SAE JA1011 (Criterios mínimos a cumplir en un proceso RCM)</a:t>
            </a:r>
          </a:p>
        </p:txBody>
      </p:sp>
      <p:cxnSp>
        <p:nvCxnSpPr>
          <p:cNvPr id="22" name="Connector 21"/>
          <p:cNvCxnSpPr/>
          <p:nvPr/>
        </p:nvCxnSpPr>
        <p:spPr>
          <a:xfrm>
            <a:off x="841248" y="327355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41248"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4" name="TextBox 23"/>
          <p:cNvSpPr txBox="1"/>
          <p:nvPr/>
        </p:nvSpPr>
        <p:spPr>
          <a:xfrm>
            <a:off x="950976"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1</a:t>
            </a:r>
          </a:p>
          <a:p>
            <a:pPr algn="l">
              <a:lnSpc>
                <a:spcPct val="112000"/>
              </a:lnSpc>
              <a:spcBef>
                <a:spcPts val="0"/>
              </a:spcBef>
              <a:spcAft>
                <a:spcPts val="400"/>
              </a:spcAft>
            </a:pPr>
            <a:r>
              <a:rPr lang="es-PE" sz="900" b="0" i="0" noProof="0" dirty="0">
                <a:solidFill>
                  <a:srgbClr val="191919"/>
                </a:solidFill>
                <a:latin typeface="Arial"/>
              </a:rPr>
              <a:t>Funciones y estándares de desempeño</a:t>
            </a:r>
          </a:p>
        </p:txBody>
      </p:sp>
      <p:sp>
        <p:nvSpPr>
          <p:cNvPr id="25" name="Rectangle 24"/>
          <p:cNvSpPr/>
          <p:nvPr/>
        </p:nvSpPr>
        <p:spPr>
          <a:xfrm>
            <a:off x="2357845"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6" name="TextBox 25"/>
          <p:cNvSpPr txBox="1"/>
          <p:nvPr/>
        </p:nvSpPr>
        <p:spPr>
          <a:xfrm>
            <a:off x="2467573"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2</a:t>
            </a:r>
          </a:p>
          <a:p>
            <a:pPr algn="l">
              <a:lnSpc>
                <a:spcPct val="112000"/>
              </a:lnSpc>
              <a:spcBef>
                <a:spcPts val="0"/>
              </a:spcBef>
              <a:spcAft>
                <a:spcPts val="400"/>
              </a:spcAft>
            </a:pPr>
            <a:r>
              <a:rPr lang="es-PE" sz="900" b="0" i="0" noProof="0" dirty="0">
                <a:solidFill>
                  <a:srgbClr val="191919"/>
                </a:solidFill>
                <a:latin typeface="Arial"/>
              </a:rPr>
              <a:t>Fallas funcionales</a:t>
            </a:r>
          </a:p>
        </p:txBody>
      </p:sp>
      <p:sp>
        <p:nvSpPr>
          <p:cNvPr id="27" name="Rectangle 26"/>
          <p:cNvSpPr/>
          <p:nvPr/>
        </p:nvSpPr>
        <p:spPr>
          <a:xfrm>
            <a:off x="3874443"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8" name="TextBox 27"/>
          <p:cNvSpPr txBox="1"/>
          <p:nvPr/>
        </p:nvSpPr>
        <p:spPr>
          <a:xfrm>
            <a:off x="3984171"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FFFFFF"/>
                </a:solidFill>
                <a:latin typeface="Arial"/>
              </a:rPr>
              <a:t>3</a:t>
            </a:r>
          </a:p>
          <a:p>
            <a:pPr algn="l">
              <a:lnSpc>
                <a:spcPct val="112000"/>
              </a:lnSpc>
              <a:spcBef>
                <a:spcPts val="0"/>
              </a:spcBef>
              <a:spcAft>
                <a:spcPts val="400"/>
              </a:spcAft>
            </a:pPr>
            <a:r>
              <a:rPr lang="es-PE" sz="900" b="0" i="0" noProof="0" dirty="0">
                <a:solidFill>
                  <a:srgbClr val="FFFFFF"/>
                </a:solidFill>
                <a:latin typeface="Arial"/>
              </a:rPr>
              <a:t>Modos de falla · ACR anidado</a:t>
            </a:r>
          </a:p>
        </p:txBody>
      </p:sp>
      <p:sp>
        <p:nvSpPr>
          <p:cNvPr id="29" name="Rectangle 28"/>
          <p:cNvSpPr/>
          <p:nvPr/>
        </p:nvSpPr>
        <p:spPr>
          <a:xfrm>
            <a:off x="5391041"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0" name="TextBox 29"/>
          <p:cNvSpPr txBox="1"/>
          <p:nvPr/>
        </p:nvSpPr>
        <p:spPr>
          <a:xfrm>
            <a:off x="5500769"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4</a:t>
            </a:r>
          </a:p>
          <a:p>
            <a:pPr algn="l">
              <a:lnSpc>
                <a:spcPct val="112000"/>
              </a:lnSpc>
              <a:spcBef>
                <a:spcPts val="0"/>
              </a:spcBef>
              <a:spcAft>
                <a:spcPts val="400"/>
              </a:spcAft>
            </a:pPr>
            <a:r>
              <a:rPr lang="es-PE" sz="900" b="0" i="0" noProof="0" dirty="0">
                <a:solidFill>
                  <a:srgbClr val="191919"/>
                </a:solidFill>
                <a:latin typeface="Arial"/>
              </a:rPr>
              <a:t>Efectos de falla</a:t>
            </a:r>
          </a:p>
        </p:txBody>
      </p:sp>
      <p:sp>
        <p:nvSpPr>
          <p:cNvPr id="31" name="Rectangle 30"/>
          <p:cNvSpPr/>
          <p:nvPr/>
        </p:nvSpPr>
        <p:spPr>
          <a:xfrm>
            <a:off x="6907638"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2" name="TextBox 31"/>
          <p:cNvSpPr txBox="1"/>
          <p:nvPr/>
        </p:nvSpPr>
        <p:spPr>
          <a:xfrm>
            <a:off x="7017366"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5</a:t>
            </a:r>
          </a:p>
          <a:p>
            <a:pPr algn="l">
              <a:lnSpc>
                <a:spcPct val="112000"/>
              </a:lnSpc>
              <a:spcBef>
                <a:spcPts val="0"/>
              </a:spcBef>
              <a:spcAft>
                <a:spcPts val="400"/>
              </a:spcAft>
            </a:pPr>
            <a:r>
              <a:rPr lang="es-PE" sz="900" b="0" i="0" noProof="0" dirty="0">
                <a:solidFill>
                  <a:srgbClr val="191919"/>
                </a:solidFill>
                <a:latin typeface="Arial"/>
              </a:rPr>
              <a:t>Consecuencias de falla</a:t>
            </a:r>
          </a:p>
        </p:txBody>
      </p:sp>
      <p:sp>
        <p:nvSpPr>
          <p:cNvPr id="33" name="Rectangle 32"/>
          <p:cNvSpPr/>
          <p:nvPr/>
        </p:nvSpPr>
        <p:spPr>
          <a:xfrm>
            <a:off x="8424236"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4" name="TextBox 33"/>
          <p:cNvSpPr txBox="1"/>
          <p:nvPr/>
        </p:nvSpPr>
        <p:spPr>
          <a:xfrm>
            <a:off x="8533964"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FFFFFF"/>
                </a:solidFill>
                <a:latin typeface="Arial"/>
              </a:rPr>
              <a:t>6</a:t>
            </a:r>
          </a:p>
          <a:p>
            <a:pPr algn="l">
              <a:lnSpc>
                <a:spcPct val="112000"/>
              </a:lnSpc>
              <a:spcBef>
                <a:spcPts val="0"/>
              </a:spcBef>
              <a:spcAft>
                <a:spcPts val="400"/>
              </a:spcAft>
            </a:pPr>
            <a:r>
              <a:rPr lang="es-PE" sz="900" b="0" i="0" noProof="0" dirty="0">
                <a:solidFill>
                  <a:srgbClr val="FFFFFF"/>
                </a:solidFill>
                <a:latin typeface="Arial"/>
              </a:rPr>
              <a:t>Evaluación de tareas proactivas</a:t>
            </a:r>
          </a:p>
        </p:txBody>
      </p:sp>
      <p:sp>
        <p:nvSpPr>
          <p:cNvPr id="35" name="Rectangle 34"/>
          <p:cNvSpPr/>
          <p:nvPr/>
        </p:nvSpPr>
        <p:spPr>
          <a:xfrm>
            <a:off x="9940834"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6" name="TextBox 35"/>
          <p:cNvSpPr txBox="1"/>
          <p:nvPr/>
        </p:nvSpPr>
        <p:spPr>
          <a:xfrm>
            <a:off x="10050562"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FFFFFF"/>
                </a:solidFill>
                <a:latin typeface="Arial"/>
              </a:rPr>
              <a:t>7</a:t>
            </a:r>
          </a:p>
          <a:p>
            <a:pPr algn="l">
              <a:lnSpc>
                <a:spcPct val="112000"/>
              </a:lnSpc>
              <a:spcBef>
                <a:spcPts val="0"/>
              </a:spcBef>
              <a:spcAft>
                <a:spcPts val="400"/>
              </a:spcAft>
            </a:pPr>
            <a:r>
              <a:rPr lang="es-PE" sz="900" b="0" i="0" noProof="0" dirty="0">
                <a:solidFill>
                  <a:srgbClr val="FFFFFF"/>
                </a:solidFill>
                <a:latin typeface="Arial"/>
              </a:rPr>
              <a:t>Acción "a falta de"</a:t>
            </a:r>
          </a:p>
        </p:txBody>
      </p:sp>
      <p:sp>
        <p:nvSpPr>
          <p:cNvPr id="37" name="TextBox 36"/>
          <p:cNvSpPr txBox="1"/>
          <p:nvPr/>
        </p:nvSpPr>
        <p:spPr>
          <a:xfrm>
            <a:off x="832104" y="4864608"/>
            <a:ext cx="10515600" cy="136384"/>
          </a:xfrm>
          <a:prstGeom prst="rect">
            <a:avLst/>
          </a:prstGeom>
          <a:solidFill>
            <a:schemeClr val="bg1"/>
          </a:solid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El ACR se utilizó para responder en profundidad la pregunta 3; el AFA se empleó como herramienta para resolver el nivel físico.</a:t>
            </a:r>
          </a:p>
        </p:txBody>
      </p:sp>
      <p:sp>
        <p:nvSpPr>
          <p:cNvPr id="38" name="Rectangle 3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9" name="TextBox 3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Las preguntas 6 y 7 constituyen la lógica de decisión: una tarea proactiva se adopta solo si es técnicamente factible y si el beneficio supera el costo de ejecutarla.</a:t>
            </a:r>
          </a:p>
        </p:txBody>
      </p:sp>
      <p:pic>
        <p:nvPicPr>
          <p:cNvPr id="40" name="Imagen 39">
            <a:extLst>
              <a:ext uri="{FF2B5EF4-FFF2-40B4-BE49-F238E27FC236}">
                <a16:creationId xmlns:a16="http://schemas.microsoft.com/office/drawing/2014/main" id="{2AE72ACE-7D04-ABDF-37DD-CAAA251FF1F1}"/>
              </a:ext>
            </a:extLst>
          </p:cNvPr>
          <p:cNvPicPr>
            <a:picLocks noChangeAspect="1"/>
          </p:cNvPicPr>
          <p:nvPr/>
        </p:nvPicPr>
        <p:blipFill>
          <a:blip r:embed="rId2"/>
          <a:stretch>
            <a:fillRect/>
          </a:stretch>
        </p:blipFill>
        <p:spPr>
          <a:xfrm>
            <a:off x="158617" y="5943600"/>
            <a:ext cx="5620013" cy="550672"/>
          </a:xfrm>
          <a:prstGeom prst="rect">
            <a:avLst/>
          </a:prstGeom>
        </p:spPr>
      </p:pic>
      <p:sp>
        <p:nvSpPr>
          <p:cNvPr id="41" name="TextBox 40"/>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03 · METODOLOGÍA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Focalización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6</a:t>
            </a:r>
          </a:p>
        </p:txBody>
      </p:sp>
      <p:pic>
        <p:nvPicPr>
          <p:cNvPr id="6" name="Picture 5" descr="pu_g2_criticidad.png"/>
          <p:cNvPicPr>
            <a:picLocks noChangeAspect="1"/>
          </p:cNvPicPr>
          <p:nvPr/>
        </p:nvPicPr>
        <p:blipFill>
          <a:blip r:embed="rId2"/>
          <a:stretch>
            <a:fillRect/>
          </a:stretch>
        </p:blipFill>
        <p:spPr>
          <a:xfrm>
            <a:off x="521208" y="1225296"/>
            <a:ext cx="6492240" cy="3460806"/>
          </a:xfrm>
          <a:prstGeom prst="rect">
            <a:avLst/>
          </a:prstGeom>
        </p:spPr>
      </p:pic>
      <p:sp>
        <p:nvSpPr>
          <p:cNvPr id="7" name="TextBox 6"/>
          <p:cNvSpPr txBox="1"/>
          <p:nvPr/>
        </p:nvSpPr>
        <p:spPr>
          <a:xfrm>
            <a:off x="6492240" y="1481328"/>
            <a:ext cx="4864608"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CALIFICACIÓN DE CRITICIDAD</a:t>
            </a:r>
          </a:p>
        </p:txBody>
      </p:sp>
      <p:sp>
        <p:nvSpPr>
          <p:cNvPr id="8" name="Rectangle 7"/>
          <p:cNvSpPr/>
          <p:nvPr/>
        </p:nvSpPr>
        <p:spPr>
          <a:xfrm>
            <a:off x="6492240" y="1810512"/>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F</a:t>
            </a:r>
          </a:p>
        </p:txBody>
      </p:sp>
      <p:sp>
        <p:nvSpPr>
          <p:cNvPr id="9" name="Rectangle 8"/>
          <p:cNvSpPr/>
          <p:nvPr/>
        </p:nvSpPr>
        <p:spPr>
          <a:xfrm>
            <a:off x="6830568" y="1810512"/>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5</a:t>
            </a:r>
          </a:p>
        </p:txBody>
      </p:sp>
      <p:sp>
        <p:nvSpPr>
          <p:cNvPr id="10" name="TextBox 9"/>
          <p:cNvSpPr txBox="1"/>
          <p:nvPr/>
        </p:nvSpPr>
        <p:spPr>
          <a:xfrm>
            <a:off x="7242048" y="1819656"/>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13 eventos en 36 meses en la flota (4,33 por año)</a:t>
            </a:r>
          </a:p>
        </p:txBody>
      </p:sp>
      <p:sp>
        <p:nvSpPr>
          <p:cNvPr id="11" name="Rectangle 10"/>
          <p:cNvSpPr/>
          <p:nvPr/>
        </p:nvSpPr>
        <p:spPr>
          <a:xfrm>
            <a:off x="6492240" y="2240280"/>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S</a:t>
            </a:r>
          </a:p>
        </p:txBody>
      </p:sp>
      <p:sp>
        <p:nvSpPr>
          <p:cNvPr id="12" name="Rectangle 11"/>
          <p:cNvSpPr/>
          <p:nvPr/>
        </p:nvSpPr>
        <p:spPr>
          <a:xfrm>
            <a:off x="6830568" y="2240280"/>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13" name="TextBox 12"/>
          <p:cNvSpPr txBox="1"/>
          <p:nvPr/>
        </p:nvSpPr>
        <p:spPr>
          <a:xfrm>
            <a:off x="7242048" y="2249424"/>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Free </a:t>
            </a:r>
            <a:r>
              <a:rPr lang="es-PE" sz="950" b="0" i="0" noProof="0" dirty="0" err="1">
                <a:solidFill>
                  <a:srgbClr val="191919"/>
                </a:solidFill>
                <a:latin typeface="Arial"/>
              </a:rPr>
              <a:t>wheeling</a:t>
            </a:r>
            <a:r>
              <a:rPr lang="es-PE" sz="950" b="0" i="0" noProof="0" dirty="0">
                <a:solidFill>
                  <a:srgbClr val="191919"/>
                </a:solidFill>
                <a:latin typeface="Arial"/>
              </a:rPr>
              <a:t>: pérdida de tracción y retardo dinámico en rampa</a:t>
            </a:r>
          </a:p>
        </p:txBody>
      </p:sp>
      <p:sp>
        <p:nvSpPr>
          <p:cNvPr id="14" name="Rectangle 13"/>
          <p:cNvSpPr/>
          <p:nvPr/>
        </p:nvSpPr>
        <p:spPr>
          <a:xfrm>
            <a:off x="6492240" y="2670048"/>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O</a:t>
            </a:r>
          </a:p>
        </p:txBody>
      </p:sp>
      <p:sp>
        <p:nvSpPr>
          <p:cNvPr id="15" name="Rectangle 14"/>
          <p:cNvSpPr/>
          <p:nvPr/>
        </p:nvSpPr>
        <p:spPr>
          <a:xfrm>
            <a:off x="6830568" y="2670048"/>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16" name="TextBox 15"/>
          <p:cNvSpPr txBox="1"/>
          <p:nvPr/>
        </p:nvSpPr>
        <p:spPr>
          <a:xfrm>
            <a:off x="7242048" y="2679191"/>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MTTR de 59,3 h, rango de 25,7 h a 94,2 h</a:t>
            </a:r>
          </a:p>
        </p:txBody>
      </p:sp>
      <p:sp>
        <p:nvSpPr>
          <p:cNvPr id="17" name="Rectangle 16"/>
          <p:cNvSpPr/>
          <p:nvPr/>
        </p:nvSpPr>
        <p:spPr>
          <a:xfrm>
            <a:off x="6492240" y="3099815"/>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C</a:t>
            </a:r>
          </a:p>
        </p:txBody>
      </p:sp>
      <p:sp>
        <p:nvSpPr>
          <p:cNvPr id="18" name="Rectangle 17"/>
          <p:cNvSpPr/>
          <p:nvPr/>
        </p:nvSpPr>
        <p:spPr>
          <a:xfrm>
            <a:off x="6830568" y="3099815"/>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19" name="TextBox 18"/>
          <p:cNvSpPr txBox="1"/>
          <p:nvPr/>
        </p:nvSpPr>
        <p:spPr>
          <a:xfrm>
            <a:off x="7242048" y="3108959"/>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US$ 763 393 por evento; 35 días de reparación</a:t>
            </a:r>
          </a:p>
        </p:txBody>
      </p:sp>
      <p:sp>
        <p:nvSpPr>
          <p:cNvPr id="20" name="Rectangle 19"/>
          <p:cNvSpPr/>
          <p:nvPr/>
        </p:nvSpPr>
        <p:spPr>
          <a:xfrm>
            <a:off x="6492240" y="3529583"/>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K</a:t>
            </a:r>
          </a:p>
        </p:txBody>
      </p:sp>
      <p:sp>
        <p:nvSpPr>
          <p:cNvPr id="21" name="Rectangle 20"/>
          <p:cNvSpPr/>
          <p:nvPr/>
        </p:nvSpPr>
        <p:spPr>
          <a:xfrm>
            <a:off x="6830568" y="3529583"/>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22" name="TextBox 21"/>
          <p:cNvSpPr txBox="1"/>
          <p:nvPr/>
        </p:nvSpPr>
        <p:spPr>
          <a:xfrm>
            <a:off x="7242048" y="3538727"/>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315 h anuales = 0,36 % de disponibilidad de flota</a:t>
            </a:r>
          </a:p>
        </p:txBody>
      </p:sp>
      <p:sp>
        <p:nvSpPr>
          <p:cNvPr id="23" name="Rectangle 22"/>
          <p:cNvSpPr/>
          <p:nvPr/>
        </p:nvSpPr>
        <p:spPr>
          <a:xfrm>
            <a:off x="6492240" y="3959351"/>
            <a:ext cx="292608" cy="29260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D</a:t>
            </a:r>
          </a:p>
        </p:txBody>
      </p:sp>
      <p:sp>
        <p:nvSpPr>
          <p:cNvPr id="24" name="Rectangle 23"/>
          <p:cNvSpPr/>
          <p:nvPr/>
        </p:nvSpPr>
        <p:spPr>
          <a:xfrm>
            <a:off x="6830568" y="3959351"/>
            <a:ext cx="292608" cy="29260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2841DD"/>
                </a:solidFill>
                <a:latin typeface="Arial"/>
              </a:rPr>
              <a:t>5</a:t>
            </a:r>
          </a:p>
        </p:txBody>
      </p:sp>
      <p:sp>
        <p:nvSpPr>
          <p:cNvPr id="25" name="TextBox 24"/>
          <p:cNvSpPr txBox="1"/>
          <p:nvPr/>
        </p:nvSpPr>
        <p:spPr>
          <a:xfrm>
            <a:off x="7242048" y="3968495"/>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La grieta nuclea dentro del motor cerrado: sin acceso de inspección</a:t>
            </a:r>
          </a:p>
        </p:txBody>
      </p:sp>
      <p:sp>
        <p:nvSpPr>
          <p:cNvPr id="26" name="TextBox 25"/>
          <p:cNvSpPr txBox="1"/>
          <p:nvPr/>
        </p:nvSpPr>
        <p:spPr>
          <a:xfrm>
            <a:off x="841248" y="4864608"/>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Consecuencia consolidada C = </a:t>
            </a:r>
            <a:r>
              <a:rPr lang="es-PE" sz="900" b="0" i="0" noProof="0" dirty="0" err="1">
                <a:solidFill>
                  <a:srgbClr val="7A8494"/>
                </a:solidFill>
                <a:latin typeface="Arial"/>
              </a:rPr>
              <a:t>máx</a:t>
            </a:r>
            <a:r>
              <a:rPr lang="es-PE" sz="900" b="0" i="0" noProof="0" dirty="0">
                <a:solidFill>
                  <a:srgbClr val="7A8494"/>
                </a:solidFill>
                <a:latin typeface="Arial"/>
              </a:rPr>
              <a:t> (S, O, Co, K) = 4 con F = 5; la detectabilidad D = 5 promueve la celda. Rúbrica de puntuación: Anexo C.</a:t>
            </a:r>
          </a:p>
        </p:txBody>
      </p:sp>
      <p:sp>
        <p:nvSpPr>
          <p:cNvPr id="27" name="Rectangle 26"/>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8" name="TextBox 27"/>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La acción que corresponde al cuadrante de criticidad máxima es la eliminación de la causa raíz mediante rediseño, no un incremento de inspecciones.</a:t>
            </a:r>
          </a:p>
        </p:txBody>
      </p:sp>
      <p:pic>
        <p:nvPicPr>
          <p:cNvPr id="29" name="Imagen 28">
            <a:extLst>
              <a:ext uri="{FF2B5EF4-FFF2-40B4-BE49-F238E27FC236}">
                <a16:creationId xmlns:a16="http://schemas.microsoft.com/office/drawing/2014/main" id="{7F28D03E-FF13-C06C-BD6E-328D1E5C69BD}"/>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0" name="TextBox 29"/>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Preguntas 1 y 2: función, estándar y falla funcional</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7</a:t>
            </a:r>
          </a:p>
        </p:txBody>
      </p:sp>
      <p:pic>
        <p:nvPicPr>
          <p:cNvPr id="6" name="Picture 5" descr="motor_corte.png"/>
          <p:cNvPicPr>
            <a:picLocks noChangeAspect="1"/>
          </p:cNvPicPr>
          <p:nvPr/>
        </p:nvPicPr>
        <p:blipFill>
          <a:blip r:embed="rId2"/>
          <a:stretch>
            <a:fillRect/>
          </a:stretch>
        </p:blipFill>
        <p:spPr>
          <a:xfrm>
            <a:off x="1078991" y="1444752"/>
            <a:ext cx="5559552" cy="3127248"/>
          </a:xfrm>
          <a:prstGeom prst="rect">
            <a:avLst/>
          </a:prstGeom>
        </p:spPr>
      </p:pic>
      <p:sp>
        <p:nvSpPr>
          <p:cNvPr id="7" name="TextBox 6"/>
          <p:cNvSpPr txBox="1"/>
          <p:nvPr/>
        </p:nvSpPr>
        <p:spPr>
          <a:xfrm>
            <a:off x="841248" y="4663440"/>
            <a:ext cx="603504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Configuración del tren de potencia del motor de tracción. Adaptado de la documentación técnica Komatsu.</a:t>
            </a:r>
          </a:p>
        </p:txBody>
      </p:sp>
      <p:sp>
        <p:nvSpPr>
          <p:cNvPr id="8" name="Rectangle 7"/>
          <p:cNvSpPr/>
          <p:nvPr/>
        </p:nvSpPr>
        <p:spPr>
          <a:xfrm>
            <a:off x="7132320" y="1444752"/>
            <a:ext cx="4224528" cy="14264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7132320" y="1444752"/>
            <a:ext cx="45720" cy="142646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7351775" y="1572768"/>
            <a:ext cx="3840480" cy="1188720"/>
          </a:xfrm>
          <a:prstGeom prst="rect">
            <a:avLst/>
          </a:prstGeom>
          <a:noFill/>
        </p:spPr>
        <p:txBody>
          <a:bodyPr wrap="square" lIns="0" tIns="0" rIns="0" bIns="0" anchor="t">
            <a:spAutoFit/>
          </a:bodyPr>
          <a:lstStyle/>
          <a:p>
            <a:pPr algn="l">
              <a:lnSpc>
                <a:spcPct val="114000"/>
              </a:lnSpc>
              <a:spcBef>
                <a:spcPts val="0"/>
              </a:spcBef>
              <a:spcAft>
                <a:spcPts val="500"/>
              </a:spcAft>
            </a:pPr>
            <a:r>
              <a:rPr lang="es-PE" sz="900" b="1" i="0" noProof="0" dirty="0">
                <a:solidFill>
                  <a:srgbClr val="C3094A"/>
                </a:solidFill>
                <a:latin typeface="Arial"/>
              </a:rPr>
              <a:t>P1 · FUNCIÓN Y ESTÁNDAR</a:t>
            </a:r>
          </a:p>
          <a:p>
            <a:pPr algn="l">
              <a:lnSpc>
                <a:spcPct val="116000"/>
              </a:lnSpc>
              <a:spcBef>
                <a:spcPts val="0"/>
              </a:spcBef>
              <a:spcAft>
                <a:spcPts val="400"/>
              </a:spcAft>
            </a:pPr>
            <a:r>
              <a:rPr lang="es-PE" sz="1050" b="0" i="0" noProof="0" dirty="0">
                <a:solidFill>
                  <a:srgbClr val="191919"/>
                </a:solidFill>
                <a:latin typeface="Arial"/>
              </a:rPr>
              <a:t>Transmitir a la rueda motriz el par del motor eléctrico de inducción, con reducción de 35 a 1, y sostener la tracción y el retardo dinámico durante 20 000 horas entre reparaciones mayores.</a:t>
            </a:r>
          </a:p>
        </p:txBody>
      </p:sp>
      <p:sp>
        <p:nvSpPr>
          <p:cNvPr id="11" name="Rectangle 10"/>
          <p:cNvSpPr/>
          <p:nvPr/>
        </p:nvSpPr>
        <p:spPr>
          <a:xfrm>
            <a:off x="7132320" y="2999232"/>
            <a:ext cx="4224528" cy="179222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Rectangle 11"/>
          <p:cNvSpPr/>
          <p:nvPr/>
        </p:nvSpPr>
        <p:spPr>
          <a:xfrm>
            <a:off x="7132320" y="2999232"/>
            <a:ext cx="45720" cy="179222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TextBox 12"/>
          <p:cNvSpPr txBox="1"/>
          <p:nvPr/>
        </p:nvSpPr>
        <p:spPr>
          <a:xfrm>
            <a:off x="7351775" y="3127248"/>
            <a:ext cx="3840480" cy="1554480"/>
          </a:xfrm>
          <a:prstGeom prst="rect">
            <a:avLst/>
          </a:prstGeom>
          <a:noFill/>
        </p:spPr>
        <p:txBody>
          <a:bodyPr wrap="square" lIns="0" tIns="0" rIns="0" bIns="0" anchor="t">
            <a:spAutoFit/>
          </a:bodyPr>
          <a:lstStyle/>
          <a:p>
            <a:pPr algn="l">
              <a:lnSpc>
                <a:spcPct val="114000"/>
              </a:lnSpc>
              <a:spcBef>
                <a:spcPts val="0"/>
              </a:spcBef>
              <a:spcAft>
                <a:spcPts val="500"/>
              </a:spcAft>
            </a:pPr>
            <a:r>
              <a:rPr lang="es-PE" sz="900" b="1" i="0" noProof="0" dirty="0">
                <a:solidFill>
                  <a:srgbClr val="2841DD"/>
                </a:solidFill>
                <a:latin typeface="Arial"/>
              </a:rPr>
              <a:t>P2 · FALLA FUNCIONAL</a:t>
            </a:r>
          </a:p>
          <a:p>
            <a:pPr algn="l">
              <a:lnSpc>
                <a:spcPct val="116000"/>
              </a:lnSpc>
              <a:spcBef>
                <a:spcPts val="0"/>
              </a:spcBef>
              <a:spcAft>
                <a:spcPts val="500"/>
              </a:spcAft>
            </a:pPr>
            <a:r>
              <a:rPr lang="es-PE" sz="1050" b="0" i="0" noProof="0" dirty="0">
                <a:solidFill>
                  <a:srgbClr val="191919"/>
                </a:solidFill>
                <a:latin typeface="Arial"/>
              </a:rPr>
              <a:t>El motor de tracción deja de transmitir el par a la rueda. En operación se observa pérdida de tracción y la rueda queda libre (free </a:t>
            </a:r>
            <a:r>
              <a:rPr lang="es-PE" sz="1050" b="0" i="0" noProof="0" dirty="0" err="1">
                <a:solidFill>
                  <a:srgbClr val="191919"/>
                </a:solidFill>
                <a:latin typeface="Arial"/>
              </a:rPr>
              <a:t>wheeling</a:t>
            </a:r>
            <a:r>
              <a:rPr lang="es-PE" sz="1050" b="0" i="0" noProof="0" dirty="0">
                <a:solidFill>
                  <a:srgbClr val="191919"/>
                </a:solidFill>
                <a:latin typeface="Arial"/>
              </a:rPr>
              <a:t>).</a:t>
            </a:r>
          </a:p>
          <a:p>
            <a:pPr algn="l">
              <a:lnSpc>
                <a:spcPct val="114000"/>
              </a:lnSpc>
              <a:spcBef>
                <a:spcPts val="0"/>
              </a:spcBef>
              <a:spcAft>
                <a:spcPts val="400"/>
              </a:spcAft>
            </a:pPr>
            <a:r>
              <a:rPr lang="es-PE" sz="1000" b="0" i="0" noProof="0" dirty="0">
                <a:solidFill>
                  <a:srgbClr val="4A5568"/>
                </a:solidFill>
                <a:latin typeface="Arial"/>
              </a:rPr>
              <a:t>Evidencia registrada por el monitor del equipo: M1 a 2 544,9 rpm frente a M2 a 10,3 rpm, con par realimentado nulo en el canal afectado (código VHMS 775-1).</a:t>
            </a:r>
          </a:p>
        </p:txBody>
      </p:sp>
      <p:sp>
        <p:nvSpPr>
          <p:cNvPr id="14" name="Rectangle 1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También se incumple la función cuando el motor de tracción no alcanza las 20 000 horas de TBO previstas entre reparaciones mayores.</a:t>
            </a:r>
          </a:p>
        </p:txBody>
      </p:sp>
      <p:pic>
        <p:nvPicPr>
          <p:cNvPr id="16" name="Imagen 15">
            <a:extLst>
              <a:ext uri="{FF2B5EF4-FFF2-40B4-BE49-F238E27FC236}">
                <a16:creationId xmlns:a16="http://schemas.microsoft.com/office/drawing/2014/main" id="{A3C54E0C-0788-60C3-25DF-AA398C6E594F}"/>
              </a:ext>
            </a:extLst>
          </p:cNvPr>
          <p:cNvPicPr>
            <a:picLocks noChangeAspect="1"/>
          </p:cNvPicPr>
          <p:nvPr/>
        </p:nvPicPr>
        <p:blipFill>
          <a:blip r:embed="rId3"/>
          <a:stretch>
            <a:fillRect/>
          </a:stretch>
        </p:blipFill>
        <p:spPr>
          <a:xfrm>
            <a:off x="158617" y="5943600"/>
            <a:ext cx="5620013" cy="550672"/>
          </a:xfrm>
          <a:prstGeom prst="rect">
            <a:avLst/>
          </a:prstGeom>
        </p:spPr>
      </p:pic>
      <p:sp>
        <p:nvSpPr>
          <p:cNvPr id="17" name="TextBox 16"/>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Evidencia de base: el aporte de cada análisis de falla (AFA)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8</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6" name="TextBox 35"/>
          <p:cNvSpPr txBox="1"/>
          <p:nvPr/>
        </p:nvSpPr>
        <p:spPr>
          <a:xfrm>
            <a:off x="1024128" y="1389888"/>
            <a:ext cx="2331720" cy="228600"/>
          </a:xfrm>
          <a:prstGeom prst="rect">
            <a:avLst/>
          </a:prstGeom>
          <a:noFill/>
        </p:spPr>
        <p:txBody>
          <a:bodyPr wrap="square" lIns="0" tIns="0" rIns="0" bIns="0" anchor="t">
            <a:spAutoFit/>
          </a:bodyPr>
          <a:lstStyle/>
          <a:p>
            <a:pPr algn="l">
              <a:lnSpc>
                <a:spcPct val="110000"/>
              </a:lnSpc>
              <a:spcBef>
                <a:spcPts val="0"/>
              </a:spcBef>
              <a:spcAft>
                <a:spcPts val="300"/>
              </a:spcAft>
            </a:pPr>
            <a:r>
              <a:rPr sz="900" b="1" i="0">
                <a:solidFill>
                  <a:srgbClr val="4A5568"/>
                </a:solidFill>
                <a:latin typeface="Arial"/>
              </a:rPr>
              <a:t>REPORTE</a:t>
            </a:r>
          </a:p>
        </p:txBody>
      </p:sp>
      <p:sp>
        <p:nvSpPr>
          <p:cNvPr id="37" name="TextBox 36"/>
          <p:cNvSpPr txBox="1"/>
          <p:nvPr/>
        </p:nvSpPr>
        <p:spPr>
          <a:xfrm>
            <a:off x="3355848" y="1389888"/>
            <a:ext cx="2606040" cy="228600"/>
          </a:xfrm>
          <a:prstGeom prst="rect">
            <a:avLst/>
          </a:prstGeom>
          <a:noFill/>
        </p:spPr>
        <p:txBody>
          <a:bodyPr wrap="square" lIns="0" tIns="0" rIns="0" bIns="0" anchor="t">
            <a:spAutoFit/>
          </a:bodyPr>
          <a:lstStyle/>
          <a:p>
            <a:pPr algn="l">
              <a:lnSpc>
                <a:spcPct val="110000"/>
              </a:lnSpc>
              <a:spcBef>
                <a:spcPts val="0"/>
              </a:spcBef>
              <a:spcAft>
                <a:spcPts val="300"/>
              </a:spcAft>
            </a:pPr>
            <a:r>
              <a:rPr sz="900" b="1" i="0">
                <a:solidFill>
                  <a:srgbClr val="4A5568"/>
                </a:solidFill>
                <a:latin typeface="Arial"/>
              </a:rPr>
              <a:t>QUÉ ANALIZÓ</a:t>
            </a:r>
          </a:p>
        </p:txBody>
      </p:sp>
      <p:sp>
        <p:nvSpPr>
          <p:cNvPr id="38" name="TextBox 37"/>
          <p:cNvSpPr txBox="1"/>
          <p:nvPr/>
        </p:nvSpPr>
        <p:spPr>
          <a:xfrm>
            <a:off x="6144768" y="1389888"/>
            <a:ext cx="3657600" cy="228600"/>
          </a:xfrm>
          <a:prstGeom prst="rect">
            <a:avLst/>
          </a:prstGeom>
          <a:noFill/>
        </p:spPr>
        <p:txBody>
          <a:bodyPr wrap="square" lIns="0" tIns="0" rIns="0" bIns="0" anchor="t">
            <a:spAutoFit/>
          </a:bodyPr>
          <a:lstStyle/>
          <a:p>
            <a:pPr algn="l">
              <a:lnSpc>
                <a:spcPct val="110000"/>
              </a:lnSpc>
              <a:spcBef>
                <a:spcPts val="0"/>
              </a:spcBef>
              <a:spcAft>
                <a:spcPts val="300"/>
              </a:spcAft>
            </a:pPr>
            <a:r>
              <a:rPr sz="900" b="1" i="0">
                <a:solidFill>
                  <a:srgbClr val="4A5568"/>
                </a:solidFill>
                <a:latin typeface="Arial"/>
              </a:rPr>
              <a:t>APORTE PRINCIPAL</a:t>
            </a:r>
          </a:p>
        </p:txBody>
      </p:sp>
      <p:sp>
        <p:nvSpPr>
          <p:cNvPr id="39" name="TextBox 38"/>
          <p:cNvSpPr txBox="1"/>
          <p:nvPr/>
        </p:nvSpPr>
        <p:spPr>
          <a:xfrm>
            <a:off x="9985248" y="1389888"/>
            <a:ext cx="1371600" cy="228600"/>
          </a:xfrm>
          <a:prstGeom prst="rect">
            <a:avLst/>
          </a:prstGeom>
          <a:noFill/>
        </p:spPr>
        <p:txBody>
          <a:bodyPr wrap="square" lIns="0" tIns="0" rIns="0" bIns="0" anchor="t">
            <a:spAutoFit/>
          </a:bodyPr>
          <a:lstStyle/>
          <a:p>
            <a:pPr algn="l">
              <a:lnSpc>
                <a:spcPct val="110000"/>
              </a:lnSpc>
              <a:spcBef>
                <a:spcPts val="0"/>
              </a:spcBef>
              <a:spcAft>
                <a:spcPts val="300"/>
              </a:spcAft>
            </a:pPr>
            <a:r>
              <a:rPr sz="900" b="1" i="0">
                <a:solidFill>
                  <a:srgbClr val="4A5568"/>
                </a:solidFill>
                <a:latin typeface="Arial"/>
              </a:rPr>
              <a:t>RESULTADO</a:t>
            </a:r>
          </a:p>
        </p:txBody>
      </p:sp>
      <p:sp>
        <p:nvSpPr>
          <p:cNvPr id="40" name="Rectangle 39"/>
          <p:cNvSpPr/>
          <p:nvPr/>
        </p:nvSpPr>
        <p:spPr>
          <a:xfrm>
            <a:off x="841248" y="1664208"/>
            <a:ext cx="10515600" cy="78638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841248" y="1664208"/>
            <a:ext cx="45720" cy="7863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024128" y="1773936"/>
            <a:ext cx="2194560" cy="603503"/>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C3094A"/>
                </a:solidFill>
                <a:latin typeface="Arial"/>
              </a:rPr>
              <a:t>AFA de campo</a:t>
            </a:r>
          </a:p>
          <a:p>
            <a:pPr algn="l">
              <a:lnSpc>
                <a:spcPct val="105000"/>
              </a:lnSpc>
              <a:spcBef>
                <a:spcPts val="0"/>
              </a:spcBef>
              <a:spcAft>
                <a:spcPts val="0"/>
              </a:spcAft>
            </a:pPr>
            <a:r>
              <a:rPr sz="850" b="0" i="0">
                <a:solidFill>
                  <a:srgbClr val="4A5568"/>
                </a:solidFill>
                <a:latin typeface="Arial"/>
              </a:rPr>
              <a:t>Inspección visual del fabricante (portadas en el Anexo E)</a:t>
            </a:r>
          </a:p>
        </p:txBody>
      </p:sp>
      <p:sp>
        <p:nvSpPr>
          <p:cNvPr id="43" name="TextBox 42"/>
          <p:cNvSpPr txBox="1"/>
          <p:nvPr/>
        </p:nvSpPr>
        <p:spPr>
          <a:xfrm>
            <a:off x="3355848" y="1664208"/>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sz="950" b="0" i="0">
                <a:solidFill>
                  <a:srgbClr val="4A5568"/>
                </a:solidFill>
                <a:latin typeface="Arial"/>
              </a:rPr>
              <a:t>Superficie de fractura de cada evento</a:t>
            </a:r>
          </a:p>
        </p:txBody>
      </p:sp>
      <p:sp>
        <p:nvSpPr>
          <p:cNvPr id="44" name="TextBox 43"/>
          <p:cNvSpPr txBox="1"/>
          <p:nvPr/>
        </p:nvSpPr>
        <p:spPr>
          <a:xfrm>
            <a:off x="6144768" y="1664208"/>
            <a:ext cx="3657600" cy="786384"/>
          </a:xfrm>
          <a:prstGeom prst="rect">
            <a:avLst/>
          </a:prstGeom>
          <a:noFill/>
        </p:spPr>
        <p:txBody>
          <a:bodyPr wrap="square" lIns="0" tIns="0" rIns="0" bIns="0" anchor="ctr">
            <a:spAutoFit/>
          </a:bodyPr>
          <a:lstStyle/>
          <a:p>
            <a:pPr algn="l">
              <a:lnSpc>
                <a:spcPct val="112000"/>
              </a:lnSpc>
              <a:spcBef>
                <a:spcPts val="0"/>
              </a:spcBef>
              <a:spcAft>
                <a:spcPts val="0"/>
              </a:spcAft>
            </a:pPr>
            <a:r>
              <a:rPr sz="1000" b="0" i="0">
                <a:solidFill>
                  <a:srgbClr val="191919"/>
                </a:solidFill>
                <a:latin typeface="Arial"/>
              </a:rPr>
              <a:t>Misma firma en todos: origen en el diámetro interior, en la raíz de la unión soldada; trinquete, marcas de playa y rotura final reducida.</a:t>
            </a:r>
          </a:p>
        </p:txBody>
      </p:sp>
      <p:sp>
        <p:nvSpPr>
          <p:cNvPr id="45" name="Rectangle 44"/>
          <p:cNvSpPr/>
          <p:nvPr/>
        </p:nvSpPr>
        <p:spPr>
          <a:xfrm>
            <a:off x="9985248" y="1819656"/>
            <a:ext cx="1225296" cy="47548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9985248" y="1819656"/>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sz="800" b="1" i="0">
                <a:solidFill>
                  <a:srgbClr val="FFFFFF"/>
                </a:solidFill>
                <a:latin typeface="Arial"/>
              </a:rPr>
              <a:t>CONFIRMA</a:t>
            </a:r>
          </a:p>
          <a:p>
            <a:pPr algn="ctr">
              <a:lnSpc>
                <a:spcPct val="100000"/>
              </a:lnSpc>
              <a:spcBef>
                <a:spcPts val="0"/>
              </a:spcBef>
              <a:spcAft>
                <a:spcPts val="0"/>
              </a:spcAft>
            </a:pPr>
            <a:r>
              <a:rPr sz="800" b="1" i="0">
                <a:solidFill>
                  <a:srgbClr val="FFFFFF"/>
                </a:solidFill>
                <a:latin typeface="Arial"/>
              </a:rPr>
              <a:t>FATIGA</a:t>
            </a:r>
          </a:p>
        </p:txBody>
      </p:sp>
      <p:sp>
        <p:nvSpPr>
          <p:cNvPr id="47" name="Rectangle 46"/>
          <p:cNvSpPr/>
          <p:nvPr/>
        </p:nvSpPr>
        <p:spPr>
          <a:xfrm>
            <a:off x="841248" y="2523744"/>
            <a:ext cx="10515600" cy="78638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841248" y="2523744"/>
            <a:ext cx="45720" cy="7863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024128" y="2633472"/>
            <a:ext cx="2194560" cy="333425"/>
          </a:xfrm>
          <a:prstGeom prst="rect">
            <a:avLst/>
          </a:prstGeom>
          <a:noFill/>
        </p:spPr>
        <p:txBody>
          <a:bodyPr wrap="square" lIns="0" tIns="0" rIns="0" bIns="0" anchor="t">
            <a:spAutoFit/>
          </a:bodyPr>
          <a:lstStyle/>
          <a:p>
            <a:pPr algn="l">
              <a:lnSpc>
                <a:spcPct val="100000"/>
              </a:lnSpc>
              <a:spcBef>
                <a:spcPts val="0"/>
              </a:spcBef>
              <a:spcAft>
                <a:spcPts val="200"/>
              </a:spcAft>
            </a:pPr>
            <a:r>
              <a:rPr sz="1150" b="1" i="0" dirty="0">
                <a:solidFill>
                  <a:srgbClr val="042354"/>
                </a:solidFill>
                <a:latin typeface="Arial"/>
              </a:rPr>
              <a:t>DIESA</a:t>
            </a:r>
            <a:endParaRPr lang="es-PE" sz="1150" b="1" i="0" dirty="0">
              <a:solidFill>
                <a:srgbClr val="042354"/>
              </a:solidFill>
              <a:latin typeface="Arial"/>
            </a:endParaRPr>
          </a:p>
          <a:p>
            <a:pPr algn="l">
              <a:lnSpc>
                <a:spcPct val="100000"/>
              </a:lnSpc>
              <a:spcBef>
                <a:spcPts val="0"/>
              </a:spcBef>
              <a:spcAft>
                <a:spcPts val="200"/>
              </a:spcAft>
            </a:pPr>
            <a:r>
              <a:rPr sz="850" b="0" i="0" dirty="0">
                <a:solidFill>
                  <a:srgbClr val="4A5568"/>
                </a:solidFill>
                <a:latin typeface="Arial"/>
              </a:rPr>
              <a:t>Laboratorio </a:t>
            </a:r>
            <a:r>
              <a:rPr sz="850" b="0" i="0" dirty="0" err="1">
                <a:solidFill>
                  <a:srgbClr val="4A5568"/>
                </a:solidFill>
                <a:latin typeface="Arial"/>
              </a:rPr>
              <a:t>externo</a:t>
            </a:r>
            <a:endParaRPr sz="850" b="0" i="0" dirty="0">
              <a:solidFill>
                <a:srgbClr val="4A5568"/>
              </a:solidFill>
              <a:latin typeface="Arial"/>
            </a:endParaRPr>
          </a:p>
        </p:txBody>
      </p:sp>
      <p:sp>
        <p:nvSpPr>
          <p:cNvPr id="50" name="TextBox 49"/>
          <p:cNvSpPr txBox="1"/>
          <p:nvPr/>
        </p:nvSpPr>
        <p:spPr>
          <a:xfrm>
            <a:off x="3355848" y="2523744"/>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sz="950" b="0" i="0">
                <a:solidFill>
                  <a:srgbClr val="4A5568"/>
                </a:solidFill>
                <a:latin typeface="Arial"/>
              </a:rPr>
              <a:t>Metalografía, composición química, dureza y tracción del eje</a:t>
            </a:r>
          </a:p>
        </p:txBody>
      </p:sp>
      <p:sp>
        <p:nvSpPr>
          <p:cNvPr id="51" name="TextBox 50"/>
          <p:cNvSpPr txBox="1"/>
          <p:nvPr/>
        </p:nvSpPr>
        <p:spPr>
          <a:xfrm>
            <a:off x="6144768" y="2523744"/>
            <a:ext cx="3657600" cy="786384"/>
          </a:xfrm>
          <a:prstGeom prst="rect">
            <a:avLst/>
          </a:prstGeom>
          <a:noFill/>
        </p:spPr>
        <p:txBody>
          <a:bodyPr wrap="square" lIns="0" tIns="0" rIns="0" bIns="0" anchor="ctr">
            <a:spAutoFit/>
          </a:bodyPr>
          <a:lstStyle/>
          <a:p>
            <a:pPr algn="l">
              <a:lnSpc>
                <a:spcPct val="112000"/>
              </a:lnSpc>
              <a:spcBef>
                <a:spcPts val="0"/>
              </a:spcBef>
              <a:spcAft>
                <a:spcPts val="0"/>
              </a:spcAft>
            </a:pPr>
            <a:r>
              <a:rPr sz="1000" b="0" i="0">
                <a:solidFill>
                  <a:srgbClr val="191919"/>
                </a:solidFill>
                <a:latin typeface="Arial"/>
              </a:rPr>
              <a:t>La grieta nuclea en una discontinuidad de la raíz. Material conforme a ASTM A618 Gr. III: 212 HBW, 619 MPa y 717 MPa.</a:t>
            </a:r>
          </a:p>
        </p:txBody>
      </p:sp>
      <p:sp>
        <p:nvSpPr>
          <p:cNvPr id="52" name="Rectangle 51"/>
          <p:cNvSpPr/>
          <p:nvPr/>
        </p:nvSpPr>
        <p:spPr>
          <a:xfrm>
            <a:off x="9985248" y="2679191"/>
            <a:ext cx="1225296"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985248" y="2679191"/>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sz="800" b="1" i="0">
                <a:solidFill>
                  <a:srgbClr val="FFFFFF"/>
                </a:solidFill>
                <a:latin typeface="Arial"/>
              </a:rPr>
              <a:t>DESCARTA</a:t>
            </a:r>
          </a:p>
          <a:p>
            <a:pPr algn="ctr">
              <a:lnSpc>
                <a:spcPct val="100000"/>
              </a:lnSpc>
              <a:spcBef>
                <a:spcPts val="0"/>
              </a:spcBef>
              <a:spcAft>
                <a:spcPts val="0"/>
              </a:spcAft>
            </a:pPr>
            <a:r>
              <a:rPr sz="800" b="1" i="0">
                <a:solidFill>
                  <a:srgbClr val="FFFFFF"/>
                </a:solidFill>
                <a:latin typeface="Arial"/>
              </a:rPr>
              <a:t>MATERIAL (F1)</a:t>
            </a:r>
          </a:p>
        </p:txBody>
      </p:sp>
      <p:sp>
        <p:nvSpPr>
          <p:cNvPr id="54" name="Rectangle 53"/>
          <p:cNvSpPr/>
          <p:nvPr/>
        </p:nvSpPr>
        <p:spPr>
          <a:xfrm>
            <a:off x="841248" y="3383279"/>
            <a:ext cx="10515600" cy="78638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841248" y="3383279"/>
            <a:ext cx="45720" cy="7863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024128" y="3493008"/>
            <a:ext cx="2194560" cy="603503"/>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042354"/>
                </a:solidFill>
                <a:latin typeface="Arial"/>
              </a:rPr>
              <a:t>AFA 01-23040</a:t>
            </a:r>
          </a:p>
          <a:p>
            <a:pPr algn="l">
              <a:lnSpc>
                <a:spcPct val="105000"/>
              </a:lnSpc>
              <a:spcBef>
                <a:spcPts val="0"/>
              </a:spcBef>
              <a:spcAft>
                <a:spcPts val="0"/>
              </a:spcAft>
            </a:pPr>
            <a:r>
              <a:rPr sz="850" b="0" i="0">
                <a:solidFill>
                  <a:srgbClr val="4A5568"/>
                </a:solidFill>
                <a:latin typeface="Arial"/>
              </a:rPr>
              <a:t>CM403 · OS 100244324</a:t>
            </a:r>
          </a:p>
        </p:txBody>
      </p:sp>
      <p:sp>
        <p:nvSpPr>
          <p:cNvPr id="57" name="TextBox 56"/>
          <p:cNvSpPr txBox="1"/>
          <p:nvPr/>
        </p:nvSpPr>
        <p:spPr>
          <a:xfrm>
            <a:off x="3355848" y="3383279"/>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sz="950" b="0" i="0">
                <a:solidFill>
                  <a:srgbClr val="4A5568"/>
                </a:solidFill>
                <a:latin typeface="Arial"/>
              </a:rPr>
              <a:t>Data del equipo: carga útil, velocidad, peso suspendido y grado efectivo (may-2022 a abr-2023)</a:t>
            </a:r>
          </a:p>
        </p:txBody>
      </p:sp>
      <p:sp>
        <p:nvSpPr>
          <p:cNvPr id="58" name="TextBox 57"/>
          <p:cNvSpPr txBox="1"/>
          <p:nvPr/>
        </p:nvSpPr>
        <p:spPr>
          <a:xfrm>
            <a:off x="6144768" y="3383279"/>
            <a:ext cx="3657600" cy="786384"/>
          </a:xfrm>
          <a:prstGeom prst="rect">
            <a:avLst/>
          </a:prstGeom>
          <a:noFill/>
        </p:spPr>
        <p:txBody>
          <a:bodyPr wrap="square" lIns="0" tIns="0" rIns="0" bIns="0" anchor="ctr">
            <a:spAutoFit/>
          </a:bodyPr>
          <a:lstStyle/>
          <a:p>
            <a:pPr algn="l">
              <a:lnSpc>
                <a:spcPct val="112000"/>
              </a:lnSpc>
              <a:spcBef>
                <a:spcPts val="0"/>
              </a:spcBef>
              <a:spcAft>
                <a:spcPts val="0"/>
              </a:spcAft>
            </a:pPr>
            <a:r>
              <a:rPr sz="1000" b="0" i="0">
                <a:solidFill>
                  <a:srgbClr val="191919"/>
                </a:solidFill>
                <a:latin typeface="Arial"/>
              </a:rPr>
              <a:t>Operación dentro de parámetros: 366,7 t de carga útil media, sin ciclos sobre el 120 %, sin sobrevelocidad y menos de 800 t de peso suspendido.</a:t>
            </a:r>
          </a:p>
        </p:txBody>
      </p:sp>
      <p:sp>
        <p:nvSpPr>
          <p:cNvPr id="59" name="Rectangle 58"/>
          <p:cNvSpPr/>
          <p:nvPr/>
        </p:nvSpPr>
        <p:spPr>
          <a:xfrm>
            <a:off x="9985248" y="3538727"/>
            <a:ext cx="1225296"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9985248" y="3538727"/>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sz="800" b="1" i="0">
                <a:solidFill>
                  <a:srgbClr val="FFFFFF"/>
                </a:solidFill>
                <a:latin typeface="Arial"/>
              </a:rPr>
              <a:t>DESCARTA</a:t>
            </a:r>
          </a:p>
          <a:p>
            <a:pPr algn="ctr">
              <a:lnSpc>
                <a:spcPct val="100000"/>
              </a:lnSpc>
              <a:spcBef>
                <a:spcPts val="0"/>
              </a:spcBef>
              <a:spcAft>
                <a:spcPts val="0"/>
              </a:spcAft>
            </a:pPr>
            <a:r>
              <a:rPr sz="800" b="1" i="0">
                <a:solidFill>
                  <a:srgbClr val="FFFFFF"/>
                </a:solidFill>
                <a:latin typeface="Arial"/>
              </a:rPr>
              <a:t>OPERACIÓN</a:t>
            </a:r>
          </a:p>
        </p:txBody>
      </p:sp>
      <p:sp>
        <p:nvSpPr>
          <p:cNvPr id="61" name="Rectangle 60"/>
          <p:cNvSpPr/>
          <p:nvPr/>
        </p:nvSpPr>
        <p:spPr>
          <a:xfrm>
            <a:off x="841248" y="4242816"/>
            <a:ext cx="10515600" cy="7863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Rectangle 61"/>
          <p:cNvSpPr/>
          <p:nvPr/>
        </p:nvSpPr>
        <p:spPr>
          <a:xfrm>
            <a:off x="841248" y="4242816"/>
            <a:ext cx="45720" cy="78638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1024128" y="4352544"/>
            <a:ext cx="2194560" cy="603503"/>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2841DD"/>
                </a:solidFill>
                <a:latin typeface="Arial"/>
              </a:rPr>
              <a:t>Recomendación común</a:t>
            </a:r>
          </a:p>
          <a:p>
            <a:pPr algn="l">
              <a:lnSpc>
                <a:spcPct val="105000"/>
              </a:lnSpc>
              <a:spcBef>
                <a:spcPts val="0"/>
              </a:spcBef>
              <a:spcAft>
                <a:spcPts val="0"/>
              </a:spcAft>
            </a:pPr>
            <a:r>
              <a:rPr sz="850" b="0" i="0">
                <a:solidFill>
                  <a:srgbClr val="4A5568"/>
                </a:solidFill>
                <a:latin typeface="Arial"/>
              </a:rPr>
              <a:t>De los propios AFA</a:t>
            </a:r>
          </a:p>
        </p:txBody>
      </p:sp>
      <p:sp>
        <p:nvSpPr>
          <p:cNvPr id="64" name="TextBox 63"/>
          <p:cNvSpPr txBox="1"/>
          <p:nvPr/>
        </p:nvSpPr>
        <p:spPr>
          <a:xfrm>
            <a:off x="3355848" y="4242816"/>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sz="950" b="0" i="0">
                <a:solidFill>
                  <a:srgbClr val="4A5568"/>
                </a:solidFill>
                <a:latin typeface="Arial"/>
              </a:rPr>
              <a:t>Acción propuesta al cierre de los análisis</a:t>
            </a:r>
          </a:p>
        </p:txBody>
      </p:sp>
      <p:sp>
        <p:nvSpPr>
          <p:cNvPr id="65" name="TextBox 64"/>
          <p:cNvSpPr txBox="1"/>
          <p:nvPr/>
        </p:nvSpPr>
        <p:spPr>
          <a:xfrm>
            <a:off x="6144768" y="4242816"/>
            <a:ext cx="3657600" cy="786384"/>
          </a:xfrm>
          <a:prstGeom prst="rect">
            <a:avLst/>
          </a:prstGeom>
          <a:noFill/>
        </p:spPr>
        <p:txBody>
          <a:bodyPr wrap="square" lIns="0" tIns="0" rIns="0" bIns="0" anchor="ctr">
            <a:spAutoFit/>
          </a:bodyPr>
          <a:lstStyle/>
          <a:p>
            <a:pPr algn="l">
              <a:lnSpc>
                <a:spcPct val="112000"/>
              </a:lnSpc>
              <a:spcBef>
                <a:spcPts val="0"/>
              </a:spcBef>
              <a:spcAft>
                <a:spcPts val="0"/>
              </a:spcAft>
            </a:pPr>
            <a:r>
              <a:rPr sz="1000" b="0" i="0">
                <a:solidFill>
                  <a:srgbClr val="191919"/>
                </a:solidFill>
                <a:latin typeface="Arial"/>
              </a:rPr>
              <a:t>Modificar el proceso de soldadura y eliminar el concentrador; el fabricante la adoptó como P/N 58F-14-00331.</a:t>
            </a:r>
          </a:p>
        </p:txBody>
      </p:sp>
      <p:sp>
        <p:nvSpPr>
          <p:cNvPr id="66" name="Rectangle 65"/>
          <p:cNvSpPr/>
          <p:nvPr/>
        </p:nvSpPr>
        <p:spPr>
          <a:xfrm>
            <a:off x="9985248" y="4398264"/>
            <a:ext cx="1225296" cy="47548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9985248" y="4398264"/>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sz="800" b="1" i="0">
                <a:solidFill>
                  <a:srgbClr val="FFFFFF"/>
                </a:solidFill>
                <a:latin typeface="Arial"/>
              </a:rPr>
              <a:t>ORIGEN DEL</a:t>
            </a:r>
          </a:p>
          <a:p>
            <a:pPr algn="ctr">
              <a:lnSpc>
                <a:spcPct val="100000"/>
              </a:lnSpc>
              <a:spcBef>
                <a:spcPts val="0"/>
              </a:spcBef>
              <a:spcAft>
                <a:spcPts val="0"/>
              </a:spcAft>
            </a:pPr>
            <a:r>
              <a:rPr sz="800" b="1" i="0">
                <a:solidFill>
                  <a:srgbClr val="FFFFFF"/>
                </a:solidFill>
                <a:latin typeface="Arial"/>
              </a:rPr>
              <a:t>REDISEÑO</a:t>
            </a:r>
          </a:p>
        </p:txBody>
      </p:sp>
      <p:sp>
        <p:nvSpPr>
          <p:cNvPr id="68" name="Rectangle 6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Cada AFA resolvió bien el mecanismo de su evento, pero ninguno consolidó la recurrencia: ese vacío es la causa latente que se retoma más adelante.</a:t>
            </a:r>
          </a:p>
        </p:txBody>
      </p:sp>
      <p:sp>
        <p:nvSpPr>
          <p:cNvPr id="70" name="TextBox 69"/>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de la causa física: fractura y metalografía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9</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3"/>
          <a:stretch>
            <a:fillRect/>
          </a:stretch>
        </p:blipFill>
        <p:spPr>
          <a:xfrm>
            <a:off x="158617" y="5943600"/>
            <a:ext cx="5620013" cy="550672"/>
          </a:xfrm>
          <a:prstGeom prst="rect">
            <a:avLst/>
          </a:prstGeom>
        </p:spPr>
      </p:pic>
      <p:pic>
        <p:nvPicPr>
          <p:cNvPr id="36" name="Picture 35" descr="image.png"/>
          <p:cNvPicPr>
            <a:picLocks noChangeAspect="1"/>
          </p:cNvPicPr>
          <p:nvPr/>
        </p:nvPicPr>
        <p:blipFill>
          <a:blip r:embed="rId4"/>
          <a:stretch>
            <a:fillRect/>
          </a:stretch>
        </p:blipFill>
        <p:spPr>
          <a:xfrm>
            <a:off x="841248" y="1481328"/>
            <a:ext cx="2634438" cy="2743200"/>
          </a:xfrm>
          <a:prstGeom prst="rect">
            <a:avLst/>
          </a:prstGeom>
        </p:spPr>
      </p:pic>
      <p:sp>
        <p:nvSpPr>
          <p:cNvPr id="37" name="TextBox 36"/>
          <p:cNvSpPr txBox="1"/>
          <p:nvPr/>
        </p:nvSpPr>
        <p:spPr>
          <a:xfrm>
            <a:off x="841248" y="4297680"/>
            <a:ext cx="2634438" cy="54864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Figura H1 · Eje F1 en campo: (1) propagación estable, (2) rotura final, (3) origen en el diámetro interior, (4) borde deformado por free wheeling.</a:t>
            </a:r>
          </a:p>
        </p:txBody>
      </p:sp>
      <p:pic>
        <p:nvPicPr>
          <p:cNvPr id="38" name="Picture 37" descr="image.png"/>
          <p:cNvPicPr>
            <a:picLocks noChangeAspect="1"/>
          </p:cNvPicPr>
          <p:nvPr/>
        </p:nvPicPr>
        <p:blipFill>
          <a:blip r:embed="rId5"/>
          <a:stretch>
            <a:fillRect/>
          </a:stretch>
        </p:blipFill>
        <p:spPr>
          <a:xfrm>
            <a:off x="3628315" y="1481328"/>
            <a:ext cx="3909447" cy="2743200"/>
          </a:xfrm>
          <a:prstGeom prst="rect">
            <a:avLst/>
          </a:prstGeom>
        </p:spPr>
      </p:pic>
      <p:sp>
        <p:nvSpPr>
          <p:cNvPr id="39" name="TextBox 38"/>
          <p:cNvSpPr txBox="1"/>
          <p:nvPr/>
        </p:nvSpPr>
        <p:spPr>
          <a:xfrm>
            <a:off x="3628315" y="4297680"/>
            <a:ext cx="3909447" cy="54864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Fractografía: marcas de trinquete en el diámetro menor, zona de propagación estable y área de fractura final de ~20 %.</a:t>
            </a:r>
          </a:p>
        </p:txBody>
      </p:sp>
      <p:pic>
        <p:nvPicPr>
          <p:cNvPr id="40" name="Picture 39" descr="image.png"/>
          <p:cNvPicPr>
            <a:picLocks noChangeAspect="1"/>
          </p:cNvPicPr>
          <p:nvPr/>
        </p:nvPicPr>
        <p:blipFill>
          <a:blip r:embed="rId6"/>
          <a:stretch>
            <a:fillRect/>
          </a:stretch>
        </p:blipFill>
        <p:spPr>
          <a:xfrm>
            <a:off x="7690391" y="1481328"/>
            <a:ext cx="3666456" cy="2743200"/>
          </a:xfrm>
          <a:prstGeom prst="rect">
            <a:avLst/>
          </a:prstGeom>
        </p:spPr>
      </p:pic>
      <p:sp>
        <p:nvSpPr>
          <p:cNvPr id="41" name="TextBox 40"/>
          <p:cNvSpPr txBox="1"/>
          <p:nvPr/>
        </p:nvSpPr>
        <p:spPr>
          <a:xfrm>
            <a:off x="7690391" y="4297680"/>
            <a:ext cx="3666456" cy="54864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Macrografía: discontinuidad tipo grieta en la raíz de la unión, punto de iniciación y zonas MS / ZAC / MB. Informe DIESA-AFA2023085189_00.</a:t>
            </a:r>
          </a:p>
        </p:txBody>
      </p:sp>
      <p:sp>
        <p:nvSpPr>
          <p:cNvPr id="42" name="Rectangle 41"/>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La grieta nuclea en la raíz de la unión soldada, y la rotura final reducida indica que el componente operó largo tiempo con la discontinuidad en propagación.</a:t>
            </a:r>
          </a:p>
        </p:txBody>
      </p:sp>
      <p:sp>
        <p:nvSpPr>
          <p:cNvPr id="44" name="TextBox 43"/>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Descarte de la operación: la data del propio equipo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10</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6" name="TextBox 35"/>
          <p:cNvSpPr txBox="1"/>
          <p:nvPr/>
        </p:nvSpPr>
        <p:spPr>
          <a:xfrm>
            <a:off x="841248" y="1389888"/>
            <a:ext cx="667512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FIGURA H2 · CM403 · REPORTE AFA 01-23040 · OS 100244324, SECCIÓN 6</a:t>
            </a:r>
          </a:p>
        </p:txBody>
      </p:sp>
      <p:pic>
        <p:nvPicPr>
          <p:cNvPr id="37" name="Picture 36" descr="fig_h2_cm403.png"/>
          <p:cNvPicPr>
            <a:picLocks noChangeAspect="1"/>
          </p:cNvPicPr>
          <p:nvPr/>
        </p:nvPicPr>
        <p:blipFill>
          <a:blip r:embed="rId3"/>
          <a:stretch>
            <a:fillRect/>
          </a:stretch>
        </p:blipFill>
        <p:spPr>
          <a:xfrm>
            <a:off x="841248" y="1700784"/>
            <a:ext cx="6675120" cy="3134960"/>
          </a:xfrm>
          <a:prstGeom prst="rect">
            <a:avLst/>
          </a:prstGeom>
        </p:spPr>
      </p:pic>
      <p:sp>
        <p:nvSpPr>
          <p:cNvPr id="38" name="TextBox 37"/>
          <p:cNvSpPr txBox="1"/>
          <p:nvPr/>
        </p:nvSpPr>
        <p:spPr>
          <a:xfrm>
            <a:off x="841248" y="4890608"/>
            <a:ext cx="6675120" cy="27432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Izq.: carga útil, velocidad y peso suspendido. Der.: grado efectivo mensual, may-2022 a abr-2023.</a:t>
            </a:r>
          </a:p>
        </p:txBody>
      </p:sp>
      <p:sp>
        <p:nvSpPr>
          <p:cNvPr id="39" name="TextBox 38"/>
          <p:cNvSpPr txBox="1"/>
          <p:nvPr/>
        </p:nvSpPr>
        <p:spPr>
          <a:xfrm>
            <a:off x="7699248" y="1389888"/>
            <a:ext cx="365760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LAS CUATRO HIPÓTESIS DE OPERACIÓN</a:t>
            </a:r>
          </a:p>
        </p:txBody>
      </p:sp>
      <p:sp>
        <p:nvSpPr>
          <p:cNvPr id="40" name="Rectangle 39"/>
          <p:cNvSpPr/>
          <p:nvPr/>
        </p:nvSpPr>
        <p:spPr>
          <a:xfrm>
            <a:off x="7699248" y="1700784"/>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7699248" y="1700784"/>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845552" y="1828800"/>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sz="850" b="1" i="0">
                <a:solidFill>
                  <a:srgbClr val="4A5568"/>
                </a:solidFill>
                <a:latin typeface="Arial"/>
              </a:rPr>
              <a:t>CARGA ÚTIL (PLM)</a:t>
            </a:r>
          </a:p>
        </p:txBody>
      </p:sp>
      <p:sp>
        <p:nvSpPr>
          <p:cNvPr id="43" name="Rectangle 42"/>
          <p:cNvSpPr/>
          <p:nvPr/>
        </p:nvSpPr>
        <p:spPr>
          <a:xfrm>
            <a:off x="10332720" y="1810512"/>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0332720" y="1810512"/>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sz="700" b="1" i="0">
                <a:solidFill>
                  <a:srgbClr val="FFFFFF"/>
                </a:solidFill>
                <a:latin typeface="Arial"/>
              </a:rPr>
              <a:t>DESCARTADA</a:t>
            </a:r>
          </a:p>
        </p:txBody>
      </p:sp>
      <p:sp>
        <p:nvSpPr>
          <p:cNvPr id="45" name="TextBox 44"/>
          <p:cNvSpPr txBox="1"/>
          <p:nvPr/>
        </p:nvSpPr>
        <p:spPr>
          <a:xfrm>
            <a:off x="7845552" y="2066544"/>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sz="950" b="0" i="0">
                <a:solidFill>
                  <a:srgbClr val="191919"/>
                </a:solidFill>
                <a:latin typeface="Arial"/>
              </a:rPr>
              <a:t>366,7 t de media y 0 % de ciclos sobre el 120 %. Unidades con falla: 352,1 a 366,7 t.</a:t>
            </a:r>
          </a:p>
        </p:txBody>
      </p:sp>
      <p:sp>
        <p:nvSpPr>
          <p:cNvPr id="46" name="Rectangle 45"/>
          <p:cNvSpPr/>
          <p:nvPr/>
        </p:nvSpPr>
        <p:spPr>
          <a:xfrm>
            <a:off x="7699248" y="2510028"/>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7699248" y="2510028"/>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845552" y="2638044"/>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sz="850" b="1" i="0">
                <a:solidFill>
                  <a:srgbClr val="4A5568"/>
                </a:solidFill>
                <a:latin typeface="Arial"/>
              </a:rPr>
              <a:t>VELOCIDAD</a:t>
            </a:r>
          </a:p>
        </p:txBody>
      </p:sp>
      <p:sp>
        <p:nvSpPr>
          <p:cNvPr id="49" name="Rectangle 48"/>
          <p:cNvSpPr/>
          <p:nvPr/>
        </p:nvSpPr>
        <p:spPr>
          <a:xfrm>
            <a:off x="10332720" y="2619756"/>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0332720" y="2619756"/>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sz="700" b="1" i="0">
                <a:solidFill>
                  <a:srgbClr val="FFFFFF"/>
                </a:solidFill>
                <a:latin typeface="Arial"/>
              </a:rPr>
              <a:t>DESCARTADA</a:t>
            </a:r>
          </a:p>
        </p:txBody>
      </p:sp>
      <p:sp>
        <p:nvSpPr>
          <p:cNvPr id="51" name="TextBox 50"/>
          <p:cNvSpPr txBox="1"/>
          <p:nvPr/>
        </p:nvSpPr>
        <p:spPr>
          <a:xfrm>
            <a:off x="7845552" y="2875788"/>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sz="950" b="0" i="0">
                <a:solidFill>
                  <a:srgbClr val="191919"/>
                </a:solidFill>
                <a:latin typeface="Arial"/>
              </a:rPr>
              <a:t>Los registros de operación no muestran exceso de velocidad.</a:t>
            </a:r>
          </a:p>
        </p:txBody>
      </p:sp>
      <p:sp>
        <p:nvSpPr>
          <p:cNvPr id="52" name="Rectangle 51"/>
          <p:cNvSpPr/>
          <p:nvPr/>
        </p:nvSpPr>
        <p:spPr>
          <a:xfrm>
            <a:off x="7699248" y="3319272"/>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7699248" y="3319272"/>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7845552" y="3447288"/>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sz="850" b="1" i="0">
                <a:solidFill>
                  <a:srgbClr val="4A5568"/>
                </a:solidFill>
                <a:latin typeface="Arial"/>
              </a:rPr>
              <a:t>PESO SUSPENDIDO</a:t>
            </a:r>
          </a:p>
        </p:txBody>
      </p:sp>
      <p:sp>
        <p:nvSpPr>
          <p:cNvPr id="55" name="Rectangle 54"/>
          <p:cNvSpPr/>
          <p:nvPr/>
        </p:nvSpPr>
        <p:spPr>
          <a:xfrm>
            <a:off x="10332720" y="3429000"/>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0332720" y="3429000"/>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sz="700" b="1" i="0">
                <a:solidFill>
                  <a:srgbClr val="FFFFFF"/>
                </a:solidFill>
                <a:latin typeface="Arial"/>
              </a:rPr>
              <a:t>DESCARTADA</a:t>
            </a:r>
          </a:p>
        </p:txBody>
      </p:sp>
      <p:sp>
        <p:nvSpPr>
          <p:cNvPr id="57" name="TextBox 56"/>
          <p:cNvSpPr txBox="1"/>
          <p:nvPr/>
        </p:nvSpPr>
        <p:spPr>
          <a:xfrm>
            <a:off x="7845552" y="3685032"/>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sz="950" b="0" i="0">
                <a:solidFill>
                  <a:srgbClr val="191919"/>
                </a:solidFill>
                <a:latin typeface="Arial"/>
              </a:rPr>
              <a:t>Menos de 800 t en el CM403; solo el CM409 supera ese valor.</a:t>
            </a:r>
          </a:p>
        </p:txBody>
      </p:sp>
      <p:sp>
        <p:nvSpPr>
          <p:cNvPr id="58" name="Rectangle 57"/>
          <p:cNvSpPr/>
          <p:nvPr/>
        </p:nvSpPr>
        <p:spPr>
          <a:xfrm>
            <a:off x="7699248" y="4128515"/>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7699248" y="4128515"/>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7845552" y="4256531"/>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sz="850" b="1" i="0">
                <a:solidFill>
                  <a:srgbClr val="4A5568"/>
                </a:solidFill>
                <a:latin typeface="Arial"/>
              </a:rPr>
              <a:t>GRADO EFECTIVO (EG)</a:t>
            </a:r>
          </a:p>
        </p:txBody>
      </p:sp>
      <p:sp>
        <p:nvSpPr>
          <p:cNvPr id="61" name="Rectangle 60"/>
          <p:cNvSpPr/>
          <p:nvPr/>
        </p:nvSpPr>
        <p:spPr>
          <a:xfrm>
            <a:off x="10332720" y="4238244"/>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10332720" y="4238244"/>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sz="700" b="1" i="0">
                <a:solidFill>
                  <a:srgbClr val="FFFFFF"/>
                </a:solidFill>
                <a:latin typeface="Arial"/>
              </a:rPr>
              <a:t>DESCARTADA</a:t>
            </a:r>
          </a:p>
        </p:txBody>
      </p:sp>
      <p:sp>
        <p:nvSpPr>
          <p:cNvPr id="63" name="TextBox 62"/>
          <p:cNvSpPr txBox="1"/>
          <p:nvPr/>
        </p:nvSpPr>
        <p:spPr>
          <a:xfrm>
            <a:off x="7845552" y="4494276"/>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sz="950" b="0" i="0">
                <a:solidFill>
                  <a:srgbClr val="191919"/>
                </a:solidFill>
                <a:latin typeface="Arial"/>
              </a:rPr>
              <a:t>Promedio del CM403 menor que el de comparación; el CM410 tiene la menor exposición.</a:t>
            </a:r>
          </a:p>
        </p:txBody>
      </p:sp>
      <p:sp>
        <p:nvSpPr>
          <p:cNvPr id="64" name="Rectangle 6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El argumento decisivo es la distribución: una causa operacional se concentraría en las unidades con la desviación, y la fractura es transversal a la flota y a un rango amplio de horas.</a:t>
            </a:r>
          </a:p>
        </p:txBody>
      </p:sp>
      <p:sp>
        <p:nvSpPr>
          <p:cNvPr id="66" name="TextBox 65"/>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Descarte de la fabricación: material conforme y recurrencia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11</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6" name="TextBox 35"/>
          <p:cNvSpPr txBox="1"/>
          <p:nvPr/>
        </p:nvSpPr>
        <p:spPr>
          <a:xfrm>
            <a:off x="841248" y="1389888"/>
            <a:ext cx="512064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F1 · MATERIAL NO CONFORME · TABLA H1 (% EN MASA)</a:t>
            </a:r>
          </a:p>
        </p:txBody>
      </p:sp>
      <p:graphicFrame>
        <p:nvGraphicFramePr>
          <p:cNvPr id="37" name="Table 36"/>
          <p:cNvGraphicFramePr>
            <a:graphicFrameLocks noGrp="1"/>
          </p:cNvGraphicFramePr>
          <p:nvPr/>
        </p:nvGraphicFramePr>
        <p:xfrm>
          <a:off x="841248" y="1700784"/>
          <a:ext cx="5120640" cy="932688"/>
        </p:xfrm>
        <a:graphic>
          <a:graphicData uri="http://schemas.openxmlformats.org/drawingml/2006/table">
            <a:tbl>
              <a:tblPr firstRow="1">
                <a:tableStyleId>{2D5ABB26-0587-4C30-8999-92F81FD0307C}</a:tableStyleId>
              </a:tblPr>
              <a:tblGrid>
                <a:gridCol w="1188720">
                  <a:extLst>
                    <a:ext uri="{9D8B030D-6E8A-4147-A177-3AD203B41FA5}">
                      <a16:colId xmlns:a16="http://schemas.microsoft.com/office/drawing/2014/main" val="20000"/>
                    </a:ext>
                  </a:extLst>
                </a:gridCol>
                <a:gridCol w="393192">
                  <a:extLst>
                    <a:ext uri="{9D8B030D-6E8A-4147-A177-3AD203B41FA5}">
                      <a16:colId xmlns:a16="http://schemas.microsoft.com/office/drawing/2014/main" val="20001"/>
                    </a:ext>
                  </a:extLst>
                </a:gridCol>
                <a:gridCol w="393192">
                  <a:extLst>
                    <a:ext uri="{9D8B030D-6E8A-4147-A177-3AD203B41FA5}">
                      <a16:colId xmlns:a16="http://schemas.microsoft.com/office/drawing/2014/main" val="20002"/>
                    </a:ext>
                  </a:extLst>
                </a:gridCol>
                <a:gridCol w="393192">
                  <a:extLst>
                    <a:ext uri="{9D8B030D-6E8A-4147-A177-3AD203B41FA5}">
                      <a16:colId xmlns:a16="http://schemas.microsoft.com/office/drawing/2014/main" val="20003"/>
                    </a:ext>
                  </a:extLst>
                </a:gridCol>
                <a:gridCol w="393192">
                  <a:extLst>
                    <a:ext uri="{9D8B030D-6E8A-4147-A177-3AD203B41FA5}">
                      <a16:colId xmlns:a16="http://schemas.microsoft.com/office/drawing/2014/main" val="20004"/>
                    </a:ext>
                  </a:extLst>
                </a:gridCol>
                <a:gridCol w="393192">
                  <a:extLst>
                    <a:ext uri="{9D8B030D-6E8A-4147-A177-3AD203B41FA5}">
                      <a16:colId xmlns:a16="http://schemas.microsoft.com/office/drawing/2014/main" val="20005"/>
                    </a:ext>
                  </a:extLst>
                </a:gridCol>
                <a:gridCol w="393192">
                  <a:extLst>
                    <a:ext uri="{9D8B030D-6E8A-4147-A177-3AD203B41FA5}">
                      <a16:colId xmlns:a16="http://schemas.microsoft.com/office/drawing/2014/main" val="20006"/>
                    </a:ext>
                  </a:extLst>
                </a:gridCol>
                <a:gridCol w="393192">
                  <a:extLst>
                    <a:ext uri="{9D8B030D-6E8A-4147-A177-3AD203B41FA5}">
                      <a16:colId xmlns:a16="http://schemas.microsoft.com/office/drawing/2014/main" val="20007"/>
                    </a:ext>
                  </a:extLst>
                </a:gridCol>
                <a:gridCol w="393192">
                  <a:extLst>
                    <a:ext uri="{9D8B030D-6E8A-4147-A177-3AD203B41FA5}">
                      <a16:colId xmlns:a16="http://schemas.microsoft.com/office/drawing/2014/main" val="20008"/>
                    </a:ext>
                  </a:extLst>
                </a:gridCol>
                <a:gridCol w="393192">
                  <a:extLst>
                    <a:ext uri="{9D8B030D-6E8A-4147-A177-3AD203B41FA5}">
                      <a16:colId xmlns:a16="http://schemas.microsoft.com/office/drawing/2014/main" val="20009"/>
                    </a:ext>
                  </a:extLst>
                </a:gridCol>
                <a:gridCol w="393192">
                  <a:extLst>
                    <a:ext uri="{9D8B030D-6E8A-4147-A177-3AD203B41FA5}">
                      <a16:colId xmlns:a16="http://schemas.microsoft.com/office/drawing/2014/main" val="20010"/>
                    </a:ext>
                  </a:extLst>
                </a:gridCol>
              </a:tblGrid>
              <a:tr h="310896">
                <a:tc>
                  <a:txBody>
                    <a:bodyPr/>
                    <a:lstStyle/>
                    <a:p>
                      <a:pPr algn="l"/>
                      <a:endParaRPr/>
                    </a:p>
                  </a:txBody>
                  <a:tcPr marL="73152" marR="7315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C</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Mn</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P</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S</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Si</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Cr</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Ni</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Mo</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Cu</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sz="850" b="1">
                          <a:solidFill>
                            <a:srgbClr val="FFFFFF"/>
                          </a:solidFill>
                          <a:latin typeface="Arial"/>
                        </a:rPr>
                        <a:t>V</a:t>
                      </a:r>
                    </a:p>
                  </a:txBody>
                  <a:tcPr marL="27432" marR="27432" marT="18288" marB="18288" anchor="ctr">
                    <a:lnL w="0">
                      <a:noFill/>
                    </a:lnL>
                    <a:lnR w="0">
                      <a:noFill/>
                    </a:lnR>
                    <a:lnT w="0">
                      <a:noFill/>
                    </a:lnT>
                    <a:lnB w="6350">
                      <a:solidFill>
                        <a:srgbClr val="CFD6DF"/>
                      </a:solidFill>
                    </a:lnB>
                    <a:solidFill>
                      <a:srgbClr val="042354"/>
                    </a:solidFill>
                  </a:tcPr>
                </a:tc>
                <a:extLst>
                  <a:ext uri="{0D108BD9-81ED-4DB2-BD59-A6C34878D82A}">
                    <a16:rowId xmlns:a16="http://schemas.microsoft.com/office/drawing/2014/main" val="10000"/>
                  </a:ext>
                </a:extLst>
              </a:tr>
              <a:tr h="310896">
                <a:tc>
                  <a:txBody>
                    <a:bodyPr/>
                    <a:lstStyle/>
                    <a:p>
                      <a:pPr algn="l"/>
                      <a:r>
                        <a:rPr sz="850" b="1">
                          <a:solidFill>
                            <a:srgbClr val="042354"/>
                          </a:solidFill>
                          <a:latin typeface="Arial"/>
                        </a:rPr>
                        <a:t>ASTM A618 Gr. III</a:t>
                      </a:r>
                    </a:p>
                  </a:txBody>
                  <a:tcPr marL="73152" marR="7315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0,26</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 1,30</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0,035</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0,035</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0,33</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 0,18</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sz="850" b="0">
                          <a:solidFill>
                            <a:srgbClr val="191919"/>
                          </a:solidFill>
                          <a:latin typeface="Arial"/>
                        </a:rPr>
                        <a:t>≥ 0,01</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extLst>
                  <a:ext uri="{0D108BD9-81ED-4DB2-BD59-A6C34878D82A}">
                    <a16:rowId xmlns:a16="http://schemas.microsoft.com/office/drawing/2014/main" val="10001"/>
                  </a:ext>
                </a:extLst>
              </a:tr>
              <a:tr h="310896">
                <a:tc>
                  <a:txBody>
                    <a:bodyPr/>
                    <a:lstStyle/>
                    <a:p>
                      <a:pPr algn="l"/>
                      <a:r>
                        <a:rPr sz="850" b="1">
                          <a:solidFill>
                            <a:srgbClr val="042354"/>
                          </a:solidFill>
                          <a:latin typeface="Arial"/>
                        </a:rPr>
                        <a:t>Muestra del eje</a:t>
                      </a:r>
                    </a:p>
                  </a:txBody>
                  <a:tcPr marL="73152" marR="7315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0,22</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0,79</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0,006</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0,012</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0,27</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0,06</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0,10</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0,03</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0,17</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sz="850" b="0">
                          <a:solidFill>
                            <a:srgbClr val="C3094A"/>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extLst>
                  <a:ext uri="{0D108BD9-81ED-4DB2-BD59-A6C34878D82A}">
                    <a16:rowId xmlns:a16="http://schemas.microsoft.com/office/drawing/2014/main" val="10002"/>
                  </a:ext>
                </a:extLst>
              </a:tr>
            </a:tbl>
          </a:graphicData>
        </a:graphic>
      </p:graphicFrame>
      <p:sp>
        <p:nvSpPr>
          <p:cNvPr id="38" name="TextBox 37"/>
          <p:cNvSpPr txBox="1"/>
          <p:nvPr/>
        </p:nvSpPr>
        <p:spPr>
          <a:xfrm>
            <a:off x="841248" y="2688336"/>
            <a:ext cx="5120640" cy="27432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Fuente: informe DIESA-AFA2023085189_00 del laboratorio externo.</a:t>
            </a:r>
          </a:p>
        </p:txBody>
      </p:sp>
      <p:sp>
        <p:nvSpPr>
          <p:cNvPr id="39" name="Rectangle 38"/>
          <p:cNvSpPr/>
          <p:nvPr/>
        </p:nvSpPr>
        <p:spPr>
          <a:xfrm>
            <a:off x="841248" y="2999232"/>
            <a:ext cx="1615440" cy="93268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841248" y="2999232"/>
            <a:ext cx="161544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969264" y="3182112"/>
            <a:ext cx="1432560" cy="704088"/>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C3094A"/>
                </a:solidFill>
                <a:latin typeface="Arial"/>
              </a:rPr>
              <a:t>212 HBW</a:t>
            </a:r>
          </a:p>
          <a:p>
            <a:pPr algn="l">
              <a:lnSpc>
                <a:spcPct val="105000"/>
              </a:lnSpc>
              <a:spcBef>
                <a:spcPts val="0"/>
              </a:spcBef>
              <a:spcAft>
                <a:spcPts val="0"/>
              </a:spcAft>
            </a:pPr>
            <a:r>
              <a:rPr sz="900" b="0" i="0">
                <a:solidFill>
                  <a:srgbClr val="4A5568"/>
                </a:solidFill>
                <a:latin typeface="Arial"/>
              </a:rPr>
              <a:t>Dureza</a:t>
            </a:r>
          </a:p>
        </p:txBody>
      </p:sp>
      <p:sp>
        <p:nvSpPr>
          <p:cNvPr id="42" name="Rectangle 41"/>
          <p:cNvSpPr/>
          <p:nvPr/>
        </p:nvSpPr>
        <p:spPr>
          <a:xfrm>
            <a:off x="2593848" y="2999232"/>
            <a:ext cx="1615440" cy="93268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2593848" y="2999232"/>
            <a:ext cx="161544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2721864" y="3182112"/>
            <a:ext cx="1432560" cy="704088"/>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C3094A"/>
                </a:solidFill>
                <a:latin typeface="Arial"/>
              </a:rPr>
              <a:t>619 MPa</a:t>
            </a:r>
          </a:p>
          <a:p>
            <a:pPr algn="l">
              <a:lnSpc>
                <a:spcPct val="105000"/>
              </a:lnSpc>
              <a:spcBef>
                <a:spcPts val="0"/>
              </a:spcBef>
              <a:spcAft>
                <a:spcPts val="0"/>
              </a:spcAft>
            </a:pPr>
            <a:r>
              <a:rPr sz="900" b="0" i="0">
                <a:solidFill>
                  <a:srgbClr val="4A5568"/>
                </a:solidFill>
                <a:latin typeface="Arial"/>
              </a:rPr>
              <a:t>Esfuerzo de fluencia</a:t>
            </a:r>
          </a:p>
        </p:txBody>
      </p:sp>
      <p:sp>
        <p:nvSpPr>
          <p:cNvPr id="45" name="Rectangle 44"/>
          <p:cNvSpPr/>
          <p:nvPr/>
        </p:nvSpPr>
        <p:spPr>
          <a:xfrm>
            <a:off x="4346448" y="2999232"/>
            <a:ext cx="1615440" cy="93268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4346448" y="2999232"/>
            <a:ext cx="161544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4474463" y="3182112"/>
            <a:ext cx="1432560" cy="704088"/>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C3094A"/>
                </a:solidFill>
                <a:latin typeface="Arial"/>
              </a:rPr>
              <a:t>717 MPa</a:t>
            </a:r>
          </a:p>
          <a:p>
            <a:pPr algn="l">
              <a:lnSpc>
                <a:spcPct val="105000"/>
              </a:lnSpc>
              <a:spcBef>
                <a:spcPts val="0"/>
              </a:spcBef>
              <a:spcAft>
                <a:spcPts val="0"/>
              </a:spcAft>
            </a:pPr>
            <a:r>
              <a:rPr sz="900" b="0" i="0">
                <a:solidFill>
                  <a:srgbClr val="4A5568"/>
                </a:solidFill>
                <a:latin typeface="Arial"/>
              </a:rPr>
              <a:t>Resistencia a la tracción</a:t>
            </a:r>
          </a:p>
        </p:txBody>
      </p:sp>
      <p:sp>
        <p:nvSpPr>
          <p:cNvPr id="48" name="Rectangle 47"/>
          <p:cNvSpPr/>
          <p:nvPr/>
        </p:nvSpPr>
        <p:spPr>
          <a:xfrm>
            <a:off x="841248" y="4059936"/>
            <a:ext cx="5120640" cy="87782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841248" y="4059936"/>
            <a:ext cx="45720" cy="877824"/>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042416" y="4059936"/>
            <a:ext cx="4791455" cy="877824"/>
          </a:xfrm>
          <a:prstGeom prst="rect">
            <a:avLst/>
          </a:prstGeom>
          <a:noFill/>
        </p:spPr>
        <p:txBody>
          <a:bodyPr wrap="square" lIns="0" tIns="0" rIns="0" bIns="0" anchor="ctr">
            <a:spAutoFit/>
          </a:bodyPr>
          <a:lstStyle/>
          <a:p>
            <a:pPr algn="l">
              <a:lnSpc>
                <a:spcPct val="110000"/>
              </a:lnSpc>
              <a:spcBef>
                <a:spcPts val="0"/>
              </a:spcBef>
              <a:spcAft>
                <a:spcPts val="0"/>
              </a:spcAft>
            </a:pPr>
            <a:r>
              <a:rPr sz="1000" b="0" i="0">
                <a:solidFill>
                  <a:srgbClr val="191919"/>
                </a:solidFill>
                <a:latin typeface="Arial"/>
              </a:rPr>
              <a:t>Composición compatible con ASTM A618 Gr. III.  </a:t>
            </a:r>
            <a:r>
              <a:rPr sz="1000" b="1" i="0">
                <a:solidFill>
                  <a:srgbClr val="C3094A"/>
                </a:solidFill>
                <a:latin typeface="Arial"/>
              </a:rPr>
              <a:t>F1 DESCARTADA</a:t>
            </a:r>
          </a:p>
        </p:txBody>
      </p:sp>
      <p:sp>
        <p:nvSpPr>
          <p:cNvPr id="51" name="TextBox 50"/>
          <p:cNvSpPr txBox="1"/>
          <p:nvPr/>
        </p:nvSpPr>
        <p:spPr>
          <a:xfrm>
            <a:off x="6236208" y="1389888"/>
            <a:ext cx="512064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F2 · F3 · DEFECTO DE PIEZA O DE LOTE</a:t>
            </a:r>
          </a:p>
        </p:txBody>
      </p:sp>
      <p:sp>
        <p:nvSpPr>
          <p:cNvPr id="52" name="Rectangle 51"/>
          <p:cNvSpPr/>
          <p:nvPr/>
        </p:nvSpPr>
        <p:spPr>
          <a:xfrm>
            <a:off x="6236208" y="1700784"/>
            <a:ext cx="51206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6236208" y="1700784"/>
            <a:ext cx="384048" cy="71323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236208" y="1700784"/>
            <a:ext cx="384048" cy="713232"/>
          </a:xfrm>
          <a:prstGeom prst="rect">
            <a:avLst/>
          </a:prstGeom>
          <a:noFill/>
        </p:spPr>
        <p:txBody>
          <a:bodyPr wrap="square" lIns="0" tIns="0" rIns="0" bIns="0" anchor="ctr">
            <a:spAutoFit/>
          </a:bodyPr>
          <a:lstStyle/>
          <a:p>
            <a:pPr algn="ctr">
              <a:lnSpc>
                <a:spcPct val="110000"/>
              </a:lnSpc>
              <a:spcBef>
                <a:spcPts val="0"/>
              </a:spcBef>
              <a:spcAft>
                <a:spcPts val="0"/>
              </a:spcAft>
            </a:pPr>
            <a:r>
              <a:rPr sz="1200" b="1" i="0">
                <a:solidFill>
                  <a:srgbClr val="042354"/>
                </a:solidFill>
                <a:latin typeface="Arial"/>
              </a:rPr>
              <a:t>1</a:t>
            </a:r>
          </a:p>
        </p:txBody>
      </p:sp>
      <p:sp>
        <p:nvSpPr>
          <p:cNvPr id="55" name="TextBox 54"/>
          <p:cNvSpPr txBox="1"/>
          <p:nvPr/>
        </p:nvSpPr>
        <p:spPr>
          <a:xfrm>
            <a:off x="6748272" y="1700784"/>
            <a:ext cx="4480559" cy="713232"/>
          </a:xfrm>
          <a:prstGeom prst="rect">
            <a:avLst/>
          </a:prstGeom>
          <a:noFill/>
        </p:spPr>
        <p:txBody>
          <a:bodyPr wrap="square" lIns="0" tIns="0" rIns="0" bIns="0" anchor="ctr">
            <a:spAutoFit/>
          </a:bodyPr>
          <a:lstStyle/>
          <a:p>
            <a:pPr algn="l">
              <a:lnSpc>
                <a:spcPct val="110000"/>
              </a:lnSpc>
              <a:spcBef>
                <a:spcPts val="0"/>
              </a:spcBef>
              <a:spcAft>
                <a:spcPts val="200"/>
              </a:spcAft>
            </a:pPr>
            <a:r>
              <a:rPr sz="850" b="1" i="0">
                <a:solidFill>
                  <a:srgbClr val="4A5568"/>
                </a:solidFill>
                <a:latin typeface="Arial"/>
              </a:rPr>
              <a:t>REPOSICIÓN</a:t>
            </a:r>
          </a:p>
          <a:p>
            <a:pPr algn="l">
              <a:lnSpc>
                <a:spcPct val="108000"/>
              </a:lnSpc>
              <a:spcBef>
                <a:spcPts val="0"/>
              </a:spcBef>
              <a:spcAft>
                <a:spcPts val="0"/>
              </a:spcAft>
            </a:pPr>
            <a:r>
              <a:rPr sz="950" b="0" i="0">
                <a:solidFill>
                  <a:srgbClr val="191919"/>
                </a:solidFill>
                <a:latin typeface="Arial"/>
              </a:rPr>
              <a:t>En los motores reparados se instaló un eje nuevo, mismo P/N 58F-14-00330 y misma unión soldada.</a:t>
            </a:r>
          </a:p>
        </p:txBody>
      </p:sp>
      <p:sp>
        <p:nvSpPr>
          <p:cNvPr id="56" name="Rectangle 55"/>
          <p:cNvSpPr/>
          <p:nvPr/>
        </p:nvSpPr>
        <p:spPr>
          <a:xfrm>
            <a:off x="6236208" y="2487168"/>
            <a:ext cx="51206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Rectangle 56"/>
          <p:cNvSpPr/>
          <p:nvPr/>
        </p:nvSpPr>
        <p:spPr>
          <a:xfrm>
            <a:off x="6236208" y="2487168"/>
            <a:ext cx="384048" cy="71323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6236208" y="2487168"/>
            <a:ext cx="384048" cy="713232"/>
          </a:xfrm>
          <a:prstGeom prst="rect">
            <a:avLst/>
          </a:prstGeom>
          <a:noFill/>
        </p:spPr>
        <p:txBody>
          <a:bodyPr wrap="square" lIns="0" tIns="0" rIns="0" bIns="0" anchor="ctr">
            <a:spAutoFit/>
          </a:bodyPr>
          <a:lstStyle/>
          <a:p>
            <a:pPr algn="ctr">
              <a:lnSpc>
                <a:spcPct val="110000"/>
              </a:lnSpc>
              <a:spcBef>
                <a:spcPts val="0"/>
              </a:spcBef>
              <a:spcAft>
                <a:spcPts val="0"/>
              </a:spcAft>
            </a:pPr>
            <a:r>
              <a:rPr sz="1200" b="1" i="0">
                <a:solidFill>
                  <a:srgbClr val="042354"/>
                </a:solidFill>
                <a:latin typeface="Arial"/>
              </a:rPr>
              <a:t>2</a:t>
            </a:r>
          </a:p>
        </p:txBody>
      </p:sp>
      <p:sp>
        <p:nvSpPr>
          <p:cNvPr id="59" name="TextBox 58"/>
          <p:cNvSpPr txBox="1"/>
          <p:nvPr/>
        </p:nvSpPr>
        <p:spPr>
          <a:xfrm>
            <a:off x="6748272" y="2487168"/>
            <a:ext cx="4480559" cy="713232"/>
          </a:xfrm>
          <a:prstGeom prst="rect">
            <a:avLst/>
          </a:prstGeom>
          <a:noFill/>
        </p:spPr>
        <p:txBody>
          <a:bodyPr wrap="square" lIns="0" tIns="0" rIns="0" bIns="0" anchor="ctr">
            <a:spAutoFit/>
          </a:bodyPr>
          <a:lstStyle/>
          <a:p>
            <a:pPr algn="l">
              <a:lnSpc>
                <a:spcPct val="110000"/>
              </a:lnSpc>
              <a:spcBef>
                <a:spcPts val="0"/>
              </a:spcBef>
              <a:spcAft>
                <a:spcPts val="200"/>
              </a:spcAft>
            </a:pPr>
            <a:r>
              <a:rPr sz="850" b="1" i="0">
                <a:solidFill>
                  <a:srgbClr val="4A5568"/>
                </a:solidFill>
                <a:latin typeface="Arial"/>
              </a:rPr>
              <a:t>RECURRENCIA</a:t>
            </a:r>
          </a:p>
          <a:p>
            <a:pPr algn="l">
              <a:lnSpc>
                <a:spcPct val="108000"/>
              </a:lnSpc>
              <a:spcBef>
                <a:spcPts val="0"/>
              </a:spcBef>
              <a:spcAft>
                <a:spcPts val="0"/>
              </a:spcAft>
            </a:pPr>
            <a:r>
              <a:rPr sz="950" b="0" i="0">
                <a:solidFill>
                  <a:srgbClr val="191919"/>
                </a:solidFill>
                <a:latin typeface="Arial"/>
              </a:rPr>
              <a:t>Tras un número de horas comparable, la fractura reapareció en la misma ubicación y con el mismo patrón.</a:t>
            </a:r>
          </a:p>
        </p:txBody>
      </p:sp>
      <p:sp>
        <p:nvSpPr>
          <p:cNvPr id="60" name="Rectangle 59"/>
          <p:cNvSpPr/>
          <p:nvPr/>
        </p:nvSpPr>
        <p:spPr>
          <a:xfrm>
            <a:off x="6236208" y="3273552"/>
            <a:ext cx="51206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Rectangle 60"/>
          <p:cNvSpPr/>
          <p:nvPr/>
        </p:nvSpPr>
        <p:spPr>
          <a:xfrm>
            <a:off x="6236208" y="3273552"/>
            <a:ext cx="384048" cy="71323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6236208" y="3273552"/>
            <a:ext cx="384048" cy="713232"/>
          </a:xfrm>
          <a:prstGeom prst="rect">
            <a:avLst/>
          </a:prstGeom>
          <a:noFill/>
        </p:spPr>
        <p:txBody>
          <a:bodyPr wrap="square" lIns="0" tIns="0" rIns="0" bIns="0" anchor="ctr">
            <a:spAutoFit/>
          </a:bodyPr>
          <a:lstStyle/>
          <a:p>
            <a:pPr algn="ctr">
              <a:lnSpc>
                <a:spcPct val="110000"/>
              </a:lnSpc>
              <a:spcBef>
                <a:spcPts val="0"/>
              </a:spcBef>
              <a:spcAft>
                <a:spcPts val="0"/>
              </a:spcAft>
            </a:pPr>
            <a:r>
              <a:rPr sz="1200" b="1" i="0">
                <a:solidFill>
                  <a:srgbClr val="042354"/>
                </a:solidFill>
                <a:latin typeface="Arial"/>
              </a:rPr>
              <a:t>3</a:t>
            </a:r>
          </a:p>
        </p:txBody>
      </p:sp>
      <p:sp>
        <p:nvSpPr>
          <p:cNvPr id="63" name="TextBox 62"/>
          <p:cNvSpPr txBox="1"/>
          <p:nvPr/>
        </p:nvSpPr>
        <p:spPr>
          <a:xfrm>
            <a:off x="6748272" y="3273552"/>
            <a:ext cx="4480559" cy="713232"/>
          </a:xfrm>
          <a:prstGeom prst="rect">
            <a:avLst/>
          </a:prstGeom>
          <a:noFill/>
        </p:spPr>
        <p:txBody>
          <a:bodyPr wrap="square" lIns="0" tIns="0" rIns="0" bIns="0" anchor="ctr">
            <a:spAutoFit/>
          </a:bodyPr>
          <a:lstStyle/>
          <a:p>
            <a:pPr algn="l">
              <a:lnSpc>
                <a:spcPct val="110000"/>
              </a:lnSpc>
              <a:spcBef>
                <a:spcPts val="0"/>
              </a:spcBef>
              <a:spcAft>
                <a:spcPts val="200"/>
              </a:spcAft>
            </a:pPr>
            <a:r>
              <a:rPr sz="850" b="1" i="0">
                <a:solidFill>
                  <a:srgbClr val="4A5568"/>
                </a:solidFill>
                <a:latin typeface="Arial"/>
              </a:rPr>
              <a:t>REFUTACIÓN</a:t>
            </a:r>
          </a:p>
          <a:p>
            <a:pPr algn="l">
              <a:lnSpc>
                <a:spcPct val="108000"/>
              </a:lnSpc>
              <a:spcBef>
                <a:spcPts val="0"/>
              </a:spcBef>
              <a:spcAft>
                <a:spcPts val="0"/>
              </a:spcAft>
            </a:pPr>
            <a:r>
              <a:rPr sz="950" b="0" i="0">
                <a:solidFill>
                  <a:srgbClr val="191919"/>
                </a:solidFill>
                <a:latin typeface="Arial"/>
              </a:rPr>
              <a:t>Un defecto de pieza o de lote se habría eliminado con la pieza nueva: F2 y F3 quedan refutadas.</a:t>
            </a:r>
          </a:p>
        </p:txBody>
      </p:sp>
      <p:sp>
        <p:nvSpPr>
          <p:cNvPr id="64" name="Rectangle 63"/>
          <p:cNvSpPr/>
          <p:nvPr/>
        </p:nvSpPr>
        <p:spPr>
          <a:xfrm>
            <a:off x="6236208" y="4059936"/>
            <a:ext cx="5120640" cy="87782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ectangle 64"/>
          <p:cNvSpPr/>
          <p:nvPr/>
        </p:nvSpPr>
        <p:spPr>
          <a:xfrm>
            <a:off x="6236208" y="4059936"/>
            <a:ext cx="384048" cy="87782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6236208" y="4059936"/>
            <a:ext cx="384048" cy="877824"/>
          </a:xfrm>
          <a:prstGeom prst="rect">
            <a:avLst/>
          </a:prstGeom>
          <a:noFill/>
        </p:spPr>
        <p:txBody>
          <a:bodyPr wrap="square" lIns="0" tIns="0" rIns="0" bIns="0" anchor="ctr">
            <a:spAutoFit/>
          </a:bodyPr>
          <a:lstStyle/>
          <a:p>
            <a:pPr algn="ctr">
              <a:lnSpc>
                <a:spcPct val="110000"/>
              </a:lnSpc>
              <a:spcBef>
                <a:spcPts val="0"/>
              </a:spcBef>
              <a:spcAft>
                <a:spcPts val="0"/>
              </a:spcAft>
            </a:pPr>
            <a:r>
              <a:rPr sz="1500" b="1" i="0">
                <a:solidFill>
                  <a:srgbClr val="FFFFFF"/>
                </a:solidFill>
                <a:latin typeface="Arial"/>
              </a:rPr>
              <a:t>›</a:t>
            </a:r>
          </a:p>
        </p:txBody>
      </p:sp>
      <p:sp>
        <p:nvSpPr>
          <p:cNvPr id="67" name="TextBox 66"/>
          <p:cNvSpPr txBox="1"/>
          <p:nvPr/>
        </p:nvSpPr>
        <p:spPr>
          <a:xfrm>
            <a:off x="6748272" y="4059936"/>
            <a:ext cx="4480559" cy="877824"/>
          </a:xfrm>
          <a:prstGeom prst="rect">
            <a:avLst/>
          </a:prstGeom>
          <a:noFill/>
        </p:spPr>
        <p:txBody>
          <a:bodyPr wrap="square" lIns="0" tIns="0" rIns="0" bIns="0" anchor="ctr">
            <a:spAutoFit/>
          </a:bodyPr>
          <a:lstStyle/>
          <a:p>
            <a:pPr algn="l">
              <a:lnSpc>
                <a:spcPct val="110000"/>
              </a:lnSpc>
              <a:spcBef>
                <a:spcPts val="0"/>
              </a:spcBef>
              <a:spcAft>
                <a:spcPts val="200"/>
              </a:spcAft>
            </a:pPr>
            <a:r>
              <a:rPr sz="850" b="1" i="0">
                <a:solidFill>
                  <a:srgbClr val="C3094A"/>
                </a:solidFill>
                <a:latin typeface="Arial"/>
              </a:rPr>
              <a:t>CAUSA EN EL DISEÑO</a:t>
            </a:r>
          </a:p>
          <a:p>
            <a:pPr algn="l">
              <a:lnSpc>
                <a:spcPct val="108000"/>
              </a:lnSpc>
              <a:spcBef>
                <a:spcPts val="0"/>
              </a:spcBef>
              <a:spcAft>
                <a:spcPts val="0"/>
              </a:spcAft>
            </a:pPr>
            <a:r>
              <a:rPr sz="1000" b="1" i="0">
                <a:solidFill>
                  <a:srgbClr val="042354"/>
                </a:solidFill>
                <a:latin typeface="Arial"/>
              </a:rPr>
              <a:t>La única condición común a todas las unidades es la geometría de la unión soldada.</a:t>
            </a:r>
          </a:p>
        </p:txBody>
      </p:sp>
      <p:sp>
        <p:nvSpPr>
          <p:cNvPr id="68" name="Rectangle 6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Descartados el material, la operación y la fabricación, la causa queda en el diseño por eliminación; la verificación a fatiga lo confirma de forma independiente.</a:t>
            </a:r>
          </a:p>
        </p:txBody>
      </p:sp>
      <p:sp>
        <p:nvSpPr>
          <p:cNvPr id="70" name="TextBox 69"/>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por resistencia de materiales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12</a:t>
            </a:r>
          </a:p>
        </p:txBody>
      </p:sp>
      <p:pic>
        <p:nvPicPr>
          <p:cNvPr id="6" name="Picture 5" descr="concentracion.png"/>
          <p:cNvPicPr>
            <a:picLocks noChangeAspect="1"/>
          </p:cNvPicPr>
          <p:nvPr/>
        </p:nvPicPr>
        <p:blipFill>
          <a:blip r:embed="rId2"/>
          <a:stretch>
            <a:fillRect/>
          </a:stretch>
        </p:blipFill>
        <p:spPr>
          <a:xfrm>
            <a:off x="1092160" y="1463039"/>
            <a:ext cx="4573095" cy="2651760"/>
          </a:xfrm>
          <a:prstGeom prst="rect">
            <a:avLst/>
          </a:prstGeom>
        </p:spPr>
      </p:pic>
      <p:sp>
        <p:nvSpPr>
          <p:cNvPr id="7" name="TextBox 6"/>
          <p:cNvSpPr txBox="1"/>
          <p:nvPr/>
        </p:nvSpPr>
        <p:spPr>
          <a:xfrm>
            <a:off x="1102379" y="4247510"/>
            <a:ext cx="5074920" cy="283219"/>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Eje palier sometido a momento </a:t>
            </a:r>
            <a:r>
              <a:rPr lang="es-PE" sz="900" b="0" i="0" noProof="0" dirty="0" err="1">
                <a:solidFill>
                  <a:srgbClr val="7A8494"/>
                </a:solidFill>
                <a:latin typeface="Arial"/>
              </a:rPr>
              <a:t>torsor</a:t>
            </a:r>
            <a:r>
              <a:rPr lang="es-PE" sz="900" b="0" i="0" noProof="0" dirty="0">
                <a:solidFill>
                  <a:srgbClr val="7A8494"/>
                </a:solidFill>
                <a:latin typeface="Arial"/>
              </a:rPr>
              <a:t>: el vértice V del cambio de sección interno actúa como concentrador de esfuerzos. Informe AFA - DIESA</a:t>
            </a:r>
          </a:p>
        </p:txBody>
      </p:sp>
      <p:sp>
        <p:nvSpPr>
          <p:cNvPr id="8" name="TextBox 7"/>
          <p:cNvSpPr txBox="1"/>
          <p:nvPr/>
        </p:nvSpPr>
        <p:spPr>
          <a:xfrm>
            <a:off x="6355080" y="1481328"/>
            <a:ext cx="5001768"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CADENA DE CÁLCULO · P/N OBSOLETO</a:t>
            </a:r>
          </a:p>
        </p:txBody>
      </p:sp>
      <p:sp>
        <p:nvSpPr>
          <p:cNvPr id="9" name="Rectangle 8"/>
          <p:cNvSpPr/>
          <p:nvPr/>
        </p:nvSpPr>
        <p:spPr>
          <a:xfrm>
            <a:off x="6355080" y="1810512"/>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6355080" y="1810512"/>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1</a:t>
            </a:r>
          </a:p>
        </p:txBody>
      </p:sp>
      <p:sp>
        <p:nvSpPr>
          <p:cNvPr id="11" name="TextBox 10"/>
          <p:cNvSpPr txBox="1"/>
          <p:nvPr/>
        </p:nvSpPr>
        <p:spPr>
          <a:xfrm>
            <a:off x="6839712" y="1828800"/>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Par transmitido en la posición</a:t>
            </a:r>
          </a:p>
        </p:txBody>
      </p:sp>
      <p:sp>
        <p:nvSpPr>
          <p:cNvPr id="12" name="TextBox 11"/>
          <p:cNvSpPr txBox="1"/>
          <p:nvPr/>
        </p:nvSpPr>
        <p:spPr>
          <a:xfrm>
            <a:off x="9802368" y="1828800"/>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latin typeface="Arial"/>
              </a:rPr>
              <a:t>17,81 </a:t>
            </a:r>
            <a:r>
              <a:rPr lang="es-PE" sz="1100" b="1" i="0" noProof="0" dirty="0" err="1">
                <a:solidFill>
                  <a:srgbClr val="191919"/>
                </a:solidFill>
                <a:latin typeface="Arial"/>
              </a:rPr>
              <a:t>kN·m</a:t>
            </a:r>
            <a:endParaRPr lang="es-PE" sz="1100" b="1" i="0" noProof="0" dirty="0">
              <a:solidFill>
                <a:srgbClr val="191919"/>
              </a:solidFill>
              <a:latin typeface="Arial"/>
            </a:endParaRPr>
          </a:p>
        </p:txBody>
      </p:sp>
      <p:sp>
        <p:nvSpPr>
          <p:cNvPr id="13" name="Rectangle 12"/>
          <p:cNvSpPr/>
          <p:nvPr/>
        </p:nvSpPr>
        <p:spPr>
          <a:xfrm>
            <a:off x="6355080" y="2340864"/>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Rectangle 13"/>
          <p:cNvSpPr/>
          <p:nvPr/>
        </p:nvSpPr>
        <p:spPr>
          <a:xfrm>
            <a:off x="6355080" y="2340864"/>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2</a:t>
            </a:r>
          </a:p>
        </p:txBody>
      </p:sp>
      <p:sp>
        <p:nvSpPr>
          <p:cNvPr id="15" name="TextBox 14"/>
          <p:cNvSpPr txBox="1"/>
          <p:nvPr/>
        </p:nvSpPr>
        <p:spPr>
          <a:xfrm>
            <a:off x="6839712" y="2359152"/>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Esfuerzo cortante nominal en la sección crítica</a:t>
            </a:r>
          </a:p>
        </p:txBody>
      </p:sp>
      <p:sp>
        <p:nvSpPr>
          <p:cNvPr id="16" name="TextBox 15"/>
          <p:cNvSpPr txBox="1"/>
          <p:nvPr/>
        </p:nvSpPr>
        <p:spPr>
          <a:xfrm>
            <a:off x="9802368" y="2359152"/>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latin typeface="Arial"/>
              </a:rPr>
              <a:t>35,7 MPa</a:t>
            </a:r>
          </a:p>
        </p:txBody>
      </p:sp>
      <p:sp>
        <p:nvSpPr>
          <p:cNvPr id="17" name="Rectangle 16"/>
          <p:cNvSpPr/>
          <p:nvPr/>
        </p:nvSpPr>
        <p:spPr>
          <a:xfrm>
            <a:off x="6355080" y="2871216"/>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8" name="Rectangle 17"/>
          <p:cNvSpPr/>
          <p:nvPr/>
        </p:nvSpPr>
        <p:spPr>
          <a:xfrm>
            <a:off x="6355080" y="2871216"/>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3</a:t>
            </a:r>
          </a:p>
        </p:txBody>
      </p:sp>
      <p:sp>
        <p:nvSpPr>
          <p:cNvPr id="19" name="TextBox 18"/>
          <p:cNvSpPr txBox="1"/>
          <p:nvPr/>
        </p:nvSpPr>
        <p:spPr>
          <a:xfrm>
            <a:off x="6839712" y="2889504"/>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Rango de esfuerzo aplicado</a:t>
            </a:r>
          </a:p>
        </p:txBody>
      </p:sp>
      <p:sp>
        <p:nvSpPr>
          <p:cNvPr id="20" name="TextBox 19"/>
          <p:cNvSpPr txBox="1"/>
          <p:nvPr/>
        </p:nvSpPr>
        <p:spPr>
          <a:xfrm>
            <a:off x="9802368" y="2889504"/>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latin typeface="Arial"/>
              </a:rPr>
              <a:t>53,6 MPa</a:t>
            </a:r>
          </a:p>
        </p:txBody>
      </p:sp>
      <p:sp>
        <p:nvSpPr>
          <p:cNvPr id="25" name="Rectangle 24"/>
          <p:cNvSpPr/>
          <p:nvPr/>
        </p:nvSpPr>
        <p:spPr>
          <a:xfrm>
            <a:off x="6355080" y="3529584"/>
            <a:ext cx="5001768" cy="457200"/>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6" name="Rectangle 25"/>
          <p:cNvSpPr/>
          <p:nvPr/>
        </p:nvSpPr>
        <p:spPr>
          <a:xfrm>
            <a:off x="6355080" y="3529584"/>
            <a:ext cx="36576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dirty="0">
                <a:solidFill>
                  <a:srgbClr val="FFFFFF"/>
                </a:solidFill>
                <a:latin typeface="Arial"/>
              </a:rPr>
              <a:t>4</a:t>
            </a:r>
            <a:endParaRPr lang="es-PE" sz="1000" b="1" i="0" noProof="0" dirty="0">
              <a:solidFill>
                <a:srgbClr val="FFFFFF"/>
              </a:solidFill>
              <a:latin typeface="Arial"/>
            </a:endParaRPr>
          </a:p>
        </p:txBody>
      </p:sp>
      <p:sp>
        <p:nvSpPr>
          <p:cNvPr id="27" name="TextBox 26"/>
          <p:cNvSpPr txBox="1"/>
          <p:nvPr/>
        </p:nvSpPr>
        <p:spPr>
          <a:xfrm>
            <a:off x="6839712" y="3547871"/>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Factor de seguridad a la vida planificada</a:t>
            </a:r>
          </a:p>
        </p:txBody>
      </p:sp>
      <p:sp>
        <p:nvSpPr>
          <p:cNvPr id="28" name="TextBox 27"/>
          <p:cNvSpPr txBox="1"/>
          <p:nvPr/>
        </p:nvSpPr>
        <p:spPr>
          <a:xfrm>
            <a:off x="9802368" y="3547871"/>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250" b="1" i="0" noProof="0" dirty="0">
                <a:solidFill>
                  <a:srgbClr val="C3094A"/>
                </a:solidFill>
                <a:latin typeface="Arial"/>
              </a:rPr>
              <a:t>0,31</a:t>
            </a:r>
          </a:p>
        </p:txBody>
      </p:sp>
      <p:sp>
        <p:nvSpPr>
          <p:cNvPr id="29" name="TextBox 28"/>
          <p:cNvSpPr txBox="1"/>
          <p:nvPr/>
        </p:nvSpPr>
        <p:spPr>
          <a:xfrm>
            <a:off x="6355080" y="4095880"/>
            <a:ext cx="5001768"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Cadena analítica completa: Anexo D.</a:t>
            </a:r>
          </a:p>
        </p:txBody>
      </p:sp>
      <p:sp>
        <p:nvSpPr>
          <p:cNvPr id="30" name="Rectangle 29"/>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1" name="TextBox 30"/>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Un factor de seguridad inferior a la unidad significa que la unión, tal como estaba diseñada, no podía alcanzar la vida planificada bajo el par nominal.</a:t>
            </a:r>
          </a:p>
        </p:txBody>
      </p:sp>
      <p:pic>
        <p:nvPicPr>
          <p:cNvPr id="32" name="Imagen 31">
            <a:extLst>
              <a:ext uri="{FF2B5EF4-FFF2-40B4-BE49-F238E27FC236}">
                <a16:creationId xmlns:a16="http://schemas.microsoft.com/office/drawing/2014/main" id="{6A5E642A-A9B0-605B-6CD0-A636BC332064}"/>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3" name="TextBox 32"/>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 3: hipótesis sometidas a verificación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13</a:t>
            </a:r>
          </a:p>
        </p:txBody>
      </p:sp>
      <p:sp>
        <p:nvSpPr>
          <p:cNvPr id="21" name="TextBox 20"/>
          <p:cNvSpPr txBox="1"/>
          <p:nvPr/>
        </p:nvSpPr>
        <p:spPr>
          <a:xfrm>
            <a:off x="8568158" y="1379325"/>
            <a:ext cx="10515600"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LAS DOS HIPÓTESIS CONFIRMADAS</a:t>
            </a:r>
          </a:p>
        </p:txBody>
      </p:sp>
      <p:sp>
        <p:nvSpPr>
          <p:cNvPr id="23" name="Rectangle 22"/>
          <p:cNvSpPr/>
          <p:nvPr/>
        </p:nvSpPr>
        <p:spPr>
          <a:xfrm>
            <a:off x="8516343" y="1866177"/>
            <a:ext cx="3474489" cy="87782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4" name="Rectangle 23"/>
          <p:cNvSpPr/>
          <p:nvPr/>
        </p:nvSpPr>
        <p:spPr>
          <a:xfrm>
            <a:off x="8530592" y="1872654"/>
            <a:ext cx="45720" cy="87782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5" name="TextBox 24"/>
          <p:cNvSpPr txBox="1"/>
          <p:nvPr/>
        </p:nvSpPr>
        <p:spPr>
          <a:xfrm>
            <a:off x="8625727" y="2009791"/>
            <a:ext cx="685800" cy="554895"/>
          </a:xfrm>
          <a:prstGeom prst="rect">
            <a:avLst/>
          </a:prstGeom>
          <a:noFill/>
        </p:spPr>
        <p:txBody>
          <a:bodyPr wrap="square" lIns="0" tIns="0" rIns="0" bIns="0" anchor="t">
            <a:spAutoFit/>
          </a:bodyPr>
          <a:lstStyle/>
          <a:p>
            <a:pPr algn="l">
              <a:lnSpc>
                <a:spcPct val="95000"/>
              </a:lnSpc>
              <a:spcBef>
                <a:spcPts val="0"/>
              </a:spcBef>
              <a:spcAft>
                <a:spcPts val="200"/>
              </a:spcAft>
            </a:pPr>
            <a:r>
              <a:rPr lang="es-PE" sz="1700" b="1" i="0" noProof="0" dirty="0">
                <a:solidFill>
                  <a:srgbClr val="C3094A"/>
                </a:solidFill>
                <a:latin typeface="Arial"/>
              </a:rPr>
              <a:t>D1</a:t>
            </a:r>
          </a:p>
          <a:p>
            <a:pPr algn="l">
              <a:lnSpc>
                <a:spcPct val="105000"/>
              </a:lnSpc>
              <a:spcBef>
                <a:spcPts val="0"/>
              </a:spcBef>
              <a:spcAft>
                <a:spcPts val="400"/>
              </a:spcAft>
            </a:pPr>
            <a:r>
              <a:rPr lang="es-PE" sz="900" b="0" i="0" noProof="0" dirty="0">
                <a:solidFill>
                  <a:srgbClr val="4A5568"/>
                </a:solidFill>
                <a:latin typeface="Arial"/>
              </a:rPr>
              <a:t>Causa determinante</a:t>
            </a:r>
          </a:p>
        </p:txBody>
      </p:sp>
      <p:sp>
        <p:nvSpPr>
          <p:cNvPr id="26" name="TextBox 25"/>
          <p:cNvSpPr txBox="1"/>
          <p:nvPr/>
        </p:nvSpPr>
        <p:spPr>
          <a:xfrm>
            <a:off x="9595335" y="1894163"/>
            <a:ext cx="2285769" cy="803490"/>
          </a:xfrm>
          <a:prstGeom prst="rect">
            <a:avLst/>
          </a:prstGeom>
          <a:noFill/>
        </p:spPr>
        <p:txBody>
          <a:bodyPr wrap="square" lIns="0" tIns="0" rIns="0" bIns="0" anchor="ctr">
            <a:spAutoFit/>
          </a:bodyPr>
          <a:lstStyle/>
          <a:p>
            <a:pPr algn="just">
              <a:lnSpc>
                <a:spcPct val="116000"/>
              </a:lnSpc>
              <a:spcBef>
                <a:spcPts val="0"/>
              </a:spcBef>
              <a:spcAft>
                <a:spcPts val="400"/>
              </a:spcAft>
            </a:pPr>
            <a:r>
              <a:rPr lang="es-PE" sz="1150" b="0" i="0" noProof="0" dirty="0">
                <a:solidFill>
                  <a:srgbClr val="191919"/>
                </a:solidFill>
                <a:latin typeface="Arial"/>
              </a:rPr>
              <a:t>La unión soldada de penetración parcial deja una raíz sin fusión que actúa como concentrador de esfuerzos.</a:t>
            </a:r>
          </a:p>
        </p:txBody>
      </p:sp>
      <p:sp>
        <p:nvSpPr>
          <p:cNvPr id="28" name="Rectangle 27"/>
          <p:cNvSpPr/>
          <p:nvPr/>
        </p:nvSpPr>
        <p:spPr>
          <a:xfrm>
            <a:off x="8522438" y="3030132"/>
            <a:ext cx="3474490" cy="87782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9" name="Rectangle 28"/>
          <p:cNvSpPr/>
          <p:nvPr/>
        </p:nvSpPr>
        <p:spPr>
          <a:xfrm>
            <a:off x="8524470" y="3036609"/>
            <a:ext cx="45720" cy="87782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0" name="TextBox 29"/>
          <p:cNvSpPr txBox="1"/>
          <p:nvPr/>
        </p:nvSpPr>
        <p:spPr>
          <a:xfrm>
            <a:off x="8698599" y="3209719"/>
            <a:ext cx="959728" cy="554895"/>
          </a:xfrm>
          <a:prstGeom prst="rect">
            <a:avLst/>
          </a:prstGeom>
          <a:noFill/>
        </p:spPr>
        <p:txBody>
          <a:bodyPr wrap="square" lIns="0" tIns="0" rIns="0" bIns="0" anchor="t">
            <a:spAutoFit/>
          </a:bodyPr>
          <a:lstStyle/>
          <a:p>
            <a:pPr algn="l">
              <a:lnSpc>
                <a:spcPct val="95000"/>
              </a:lnSpc>
              <a:spcBef>
                <a:spcPts val="0"/>
              </a:spcBef>
              <a:spcAft>
                <a:spcPts val="200"/>
              </a:spcAft>
            </a:pPr>
            <a:r>
              <a:rPr lang="es-PE" sz="1700" b="1" i="0" noProof="0" dirty="0">
                <a:solidFill>
                  <a:srgbClr val="2841DD"/>
                </a:solidFill>
                <a:latin typeface="Arial"/>
              </a:rPr>
              <a:t>D2</a:t>
            </a:r>
          </a:p>
          <a:p>
            <a:pPr algn="l">
              <a:lnSpc>
                <a:spcPct val="105000"/>
              </a:lnSpc>
              <a:spcBef>
                <a:spcPts val="0"/>
              </a:spcBef>
              <a:spcAft>
                <a:spcPts val="400"/>
              </a:spcAft>
            </a:pPr>
            <a:r>
              <a:rPr lang="es-PE" sz="900" b="0" i="0" noProof="0" dirty="0">
                <a:solidFill>
                  <a:srgbClr val="4A5568"/>
                </a:solidFill>
                <a:latin typeface="Arial"/>
              </a:rPr>
              <a:t>Causa contribuyente</a:t>
            </a:r>
          </a:p>
        </p:txBody>
      </p:sp>
      <p:sp>
        <p:nvSpPr>
          <p:cNvPr id="31" name="TextBox 30"/>
          <p:cNvSpPr txBox="1"/>
          <p:nvPr/>
        </p:nvSpPr>
        <p:spPr>
          <a:xfrm>
            <a:off x="9656295" y="3028569"/>
            <a:ext cx="2334537" cy="803490"/>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La sección resistente del tubo es insuficiente para el par nominal transmitido; su corrección recupera el margen por vía geométrica.</a:t>
            </a:r>
          </a:p>
        </p:txBody>
      </p:sp>
      <p:sp>
        <p:nvSpPr>
          <p:cNvPr id="33" name="Rectangle 32"/>
          <p:cNvSpPr/>
          <p:nvPr/>
        </p:nvSpPr>
        <p:spPr>
          <a:xfrm>
            <a:off x="8516343" y="4194085"/>
            <a:ext cx="53847" cy="99174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4" name="TextBox 33"/>
          <p:cNvSpPr txBox="1"/>
          <p:nvPr/>
        </p:nvSpPr>
        <p:spPr>
          <a:xfrm>
            <a:off x="8625727" y="4216800"/>
            <a:ext cx="3436848" cy="790024"/>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Una hipótesis se descartó solo cuando resultó incompatible con la evidencia, no por ser menos probable. Las dos confirmadas están en la rama de diseño.</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6" name="TextBox 35"/>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pic>
        <p:nvPicPr>
          <p:cNvPr id="37" name="Imagen 36">
            <a:extLst>
              <a:ext uri="{FF2B5EF4-FFF2-40B4-BE49-F238E27FC236}">
                <a16:creationId xmlns:a16="http://schemas.microsoft.com/office/drawing/2014/main" id="{13F4D859-4A0C-730F-88FA-FEE53810373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472" y="1451206"/>
            <a:ext cx="7490460" cy="41449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Del mecanismo físico a la causa latente</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14</a:t>
            </a:r>
          </a:p>
        </p:txBody>
      </p:sp>
      <p:sp>
        <p:nvSpPr>
          <p:cNvPr id="6" name="TextBox 5"/>
          <p:cNvSpPr txBox="1"/>
          <p:nvPr/>
        </p:nvSpPr>
        <p:spPr>
          <a:xfrm>
            <a:off x="841248" y="1426464"/>
            <a:ext cx="10515600" cy="292608"/>
          </a:xfrm>
          <a:prstGeom prst="rect">
            <a:avLst/>
          </a:prstGeom>
          <a:noFill/>
        </p:spPr>
        <p:txBody>
          <a:bodyPr wrap="square" lIns="0" tIns="0" rIns="0" bIns="0" anchor="t">
            <a:spAutoFit/>
          </a:bodyPr>
          <a:lstStyle/>
          <a:p>
            <a:pPr algn="l">
              <a:lnSpc>
                <a:spcPct val="110000"/>
              </a:lnSpc>
              <a:spcBef>
                <a:spcPts val="0"/>
              </a:spcBef>
              <a:spcAft>
                <a:spcPts val="400"/>
              </a:spcAft>
            </a:pPr>
            <a:r>
              <a:rPr lang="es-PE" sz="1200" b="0" i="1" noProof="0" dirty="0">
                <a:solidFill>
                  <a:srgbClr val="4A5568"/>
                </a:solidFill>
                <a:latin typeface="Arial"/>
              </a:rPr>
              <a:t>¿Por qué la organización convivió tres años con un modo de falla de criticidad máxima?</a:t>
            </a:r>
          </a:p>
        </p:txBody>
      </p:sp>
      <p:sp>
        <p:nvSpPr>
          <p:cNvPr id="7" name="Rectangle 6"/>
          <p:cNvSpPr/>
          <p:nvPr/>
        </p:nvSpPr>
        <p:spPr>
          <a:xfrm>
            <a:off x="841248" y="1828800"/>
            <a:ext cx="1051560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Rectangle 7"/>
          <p:cNvSpPr/>
          <p:nvPr/>
        </p:nvSpPr>
        <p:spPr>
          <a:xfrm>
            <a:off x="841248" y="1828800"/>
            <a:ext cx="45720" cy="768096"/>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60704" y="1938528"/>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7A8494"/>
                </a:solidFill>
                <a:latin typeface="Arial"/>
              </a:rPr>
              <a:t>1</a:t>
            </a:r>
          </a:p>
        </p:txBody>
      </p:sp>
      <p:sp>
        <p:nvSpPr>
          <p:cNvPr id="10" name="TextBox 9"/>
          <p:cNvSpPr txBox="1"/>
          <p:nvPr/>
        </p:nvSpPr>
        <p:spPr>
          <a:xfrm>
            <a:off x="1444752" y="1920240"/>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se fracturó el eje palier?</a:t>
            </a:r>
          </a:p>
          <a:p>
            <a:pPr algn="l">
              <a:lnSpc>
                <a:spcPct val="110000"/>
              </a:lnSpc>
              <a:spcBef>
                <a:spcPts val="0"/>
              </a:spcBef>
              <a:spcAft>
                <a:spcPts val="400"/>
              </a:spcAft>
            </a:pPr>
            <a:r>
              <a:rPr lang="es-PE" sz="950" b="0" i="0" noProof="0" dirty="0">
                <a:solidFill>
                  <a:srgbClr val="4A5568"/>
                </a:solidFill>
                <a:latin typeface="Arial"/>
              </a:rPr>
              <a:t>La raíz sin fusión concentra el esfuerzo y nuclea una grieta de fatiga bajo el par nominal.</a:t>
            </a:r>
          </a:p>
        </p:txBody>
      </p:sp>
      <p:sp>
        <p:nvSpPr>
          <p:cNvPr id="11" name="TextBox 10"/>
          <p:cNvSpPr txBox="1"/>
          <p:nvPr/>
        </p:nvSpPr>
        <p:spPr>
          <a:xfrm>
            <a:off x="5733288" y="1920240"/>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Rediseño de la unión: penetración completa y mayor sección resistente.</a:t>
            </a:r>
          </a:p>
        </p:txBody>
      </p:sp>
      <p:sp>
        <p:nvSpPr>
          <p:cNvPr id="12" name="Rectangle 11"/>
          <p:cNvSpPr/>
          <p:nvPr/>
        </p:nvSpPr>
        <p:spPr>
          <a:xfrm>
            <a:off x="9756648" y="2048256"/>
            <a:ext cx="1298448" cy="3291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4A5568"/>
                </a:solidFill>
                <a:latin typeface="Arial"/>
              </a:rPr>
              <a:t>FÍSICO</a:t>
            </a:r>
          </a:p>
        </p:txBody>
      </p:sp>
      <p:sp>
        <p:nvSpPr>
          <p:cNvPr id="13" name="Rectangle 12"/>
          <p:cNvSpPr/>
          <p:nvPr/>
        </p:nvSpPr>
        <p:spPr>
          <a:xfrm>
            <a:off x="841248" y="2670048"/>
            <a:ext cx="1051560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Rectangle 13"/>
          <p:cNvSpPr/>
          <p:nvPr/>
        </p:nvSpPr>
        <p:spPr>
          <a:xfrm>
            <a:off x="841248" y="2670048"/>
            <a:ext cx="45720" cy="768096"/>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1060704" y="2779776"/>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7A8494"/>
                </a:solidFill>
                <a:latin typeface="Arial"/>
              </a:rPr>
              <a:t>2</a:t>
            </a:r>
          </a:p>
        </p:txBody>
      </p:sp>
      <p:sp>
        <p:nvSpPr>
          <p:cNvPr id="16" name="TextBox 15"/>
          <p:cNvSpPr txBox="1"/>
          <p:nvPr/>
        </p:nvSpPr>
        <p:spPr>
          <a:xfrm>
            <a:off x="1444752" y="2761488"/>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permaneció en servicio una unión que no alcanza la vida planificada?</a:t>
            </a:r>
          </a:p>
          <a:p>
            <a:pPr algn="l">
              <a:lnSpc>
                <a:spcPct val="110000"/>
              </a:lnSpc>
              <a:spcBef>
                <a:spcPts val="0"/>
              </a:spcBef>
              <a:spcAft>
                <a:spcPts val="400"/>
              </a:spcAft>
            </a:pPr>
            <a:r>
              <a:rPr lang="es-PE" sz="950" b="0" i="0" noProof="0" dirty="0">
                <a:solidFill>
                  <a:srgbClr val="4A5568"/>
                </a:solidFill>
                <a:latin typeface="Arial"/>
              </a:rPr>
              <a:t>El componente se recibe con el diseño predeterminado y no se verifica.</a:t>
            </a:r>
          </a:p>
        </p:txBody>
      </p:sp>
      <p:sp>
        <p:nvSpPr>
          <p:cNvPr id="17" name="TextBox 16"/>
          <p:cNvSpPr txBox="1"/>
          <p:nvPr/>
        </p:nvSpPr>
        <p:spPr>
          <a:xfrm>
            <a:off x="5733288" y="2761488"/>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Verificación de resistencia del N/P frente al par nominal antes de aceptarlo.</a:t>
            </a:r>
          </a:p>
        </p:txBody>
      </p:sp>
      <p:sp>
        <p:nvSpPr>
          <p:cNvPr id="18" name="Rectangle 17"/>
          <p:cNvSpPr/>
          <p:nvPr/>
        </p:nvSpPr>
        <p:spPr>
          <a:xfrm>
            <a:off x="9756648" y="2889504"/>
            <a:ext cx="1298448" cy="3291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4A5568"/>
                </a:solidFill>
                <a:latin typeface="Arial"/>
              </a:rPr>
              <a:t>HUMANO</a:t>
            </a:r>
          </a:p>
        </p:txBody>
      </p:sp>
      <p:sp>
        <p:nvSpPr>
          <p:cNvPr id="19" name="Rectangle 18"/>
          <p:cNvSpPr/>
          <p:nvPr/>
        </p:nvSpPr>
        <p:spPr>
          <a:xfrm>
            <a:off x="841248" y="3511296"/>
            <a:ext cx="10515600" cy="76809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Rectangle 19"/>
          <p:cNvSpPr/>
          <p:nvPr/>
        </p:nvSpPr>
        <p:spPr>
          <a:xfrm>
            <a:off x="841248" y="3511296"/>
            <a:ext cx="45720" cy="76809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1" name="TextBox 20"/>
          <p:cNvSpPr txBox="1"/>
          <p:nvPr/>
        </p:nvSpPr>
        <p:spPr>
          <a:xfrm>
            <a:off x="1060704" y="3621024"/>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C3094A"/>
                </a:solidFill>
                <a:latin typeface="Arial"/>
              </a:rPr>
              <a:t>3</a:t>
            </a:r>
          </a:p>
        </p:txBody>
      </p:sp>
      <p:sp>
        <p:nvSpPr>
          <p:cNvPr id="22" name="TextBox 21"/>
          <p:cNvSpPr txBox="1"/>
          <p:nvPr/>
        </p:nvSpPr>
        <p:spPr>
          <a:xfrm>
            <a:off x="1444752" y="3602736"/>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no se detectó que la falla era recurrente?</a:t>
            </a:r>
          </a:p>
          <a:p>
            <a:pPr algn="l">
              <a:lnSpc>
                <a:spcPct val="110000"/>
              </a:lnSpc>
              <a:spcBef>
                <a:spcPts val="0"/>
              </a:spcBef>
              <a:spcAft>
                <a:spcPts val="400"/>
              </a:spcAft>
            </a:pPr>
            <a:r>
              <a:rPr lang="es-PE" sz="950" b="0" i="0" noProof="0" dirty="0">
                <a:solidFill>
                  <a:srgbClr val="4A5568"/>
                </a:solidFill>
                <a:latin typeface="Arial"/>
              </a:rPr>
              <a:t>Cada análisis de falla se ejecutó por evento y ninguno consolidó el conjunto de casos.</a:t>
            </a:r>
          </a:p>
        </p:txBody>
      </p:sp>
      <p:sp>
        <p:nvSpPr>
          <p:cNvPr id="23" name="TextBox 22"/>
          <p:cNvSpPr txBox="1"/>
          <p:nvPr/>
        </p:nvSpPr>
        <p:spPr>
          <a:xfrm>
            <a:off x="5733288" y="3602736"/>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Consolidación periódica de los análisis por modo de falla, no por evento.</a:t>
            </a:r>
          </a:p>
        </p:txBody>
      </p:sp>
      <p:sp>
        <p:nvSpPr>
          <p:cNvPr id="24" name="Rectangle 23"/>
          <p:cNvSpPr/>
          <p:nvPr/>
        </p:nvSpPr>
        <p:spPr>
          <a:xfrm>
            <a:off x="9756648" y="3730752"/>
            <a:ext cx="1298448" cy="3291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FFFFFF"/>
                </a:solidFill>
                <a:latin typeface="Arial"/>
              </a:rPr>
              <a:t>LATENTE</a:t>
            </a:r>
          </a:p>
        </p:txBody>
      </p:sp>
      <p:sp>
        <p:nvSpPr>
          <p:cNvPr id="25" name="Rectangle 24"/>
          <p:cNvSpPr/>
          <p:nvPr/>
        </p:nvSpPr>
        <p:spPr>
          <a:xfrm>
            <a:off x="841248" y="4352544"/>
            <a:ext cx="10515600" cy="76809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6" name="Rectangle 25"/>
          <p:cNvSpPr/>
          <p:nvPr/>
        </p:nvSpPr>
        <p:spPr>
          <a:xfrm>
            <a:off x="841248" y="4352544"/>
            <a:ext cx="45720" cy="76809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7" name="TextBox 26"/>
          <p:cNvSpPr txBox="1"/>
          <p:nvPr/>
        </p:nvSpPr>
        <p:spPr>
          <a:xfrm>
            <a:off x="1060704" y="4462272"/>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C3094A"/>
                </a:solidFill>
                <a:latin typeface="Arial"/>
              </a:rPr>
              <a:t>4</a:t>
            </a:r>
          </a:p>
        </p:txBody>
      </p:sp>
      <p:sp>
        <p:nvSpPr>
          <p:cNvPr id="28" name="TextBox 27"/>
          <p:cNvSpPr txBox="1"/>
          <p:nvPr/>
        </p:nvSpPr>
        <p:spPr>
          <a:xfrm>
            <a:off x="1444752" y="4443983"/>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las recomendaciones de los análisis no se ejecutaron?</a:t>
            </a:r>
          </a:p>
          <a:p>
            <a:pPr algn="l">
              <a:lnSpc>
                <a:spcPct val="110000"/>
              </a:lnSpc>
              <a:spcBef>
                <a:spcPts val="0"/>
              </a:spcBef>
              <a:spcAft>
                <a:spcPts val="400"/>
              </a:spcAft>
            </a:pPr>
            <a:r>
              <a:rPr lang="es-PE" sz="950" b="0" i="0" noProof="0" dirty="0">
                <a:solidFill>
                  <a:srgbClr val="4A5568"/>
                </a:solidFill>
                <a:latin typeface="Arial"/>
              </a:rPr>
              <a:t>No existía un proceso que asignara responsable, plazo ni cierre verificado.</a:t>
            </a:r>
          </a:p>
        </p:txBody>
      </p:sp>
      <p:sp>
        <p:nvSpPr>
          <p:cNvPr id="29" name="TextBox 28"/>
          <p:cNvSpPr txBox="1"/>
          <p:nvPr/>
        </p:nvSpPr>
        <p:spPr>
          <a:xfrm>
            <a:off x="5733288" y="4443983"/>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Proceso de gestión de hallazgos con responsable, plazo y cierre verificado.</a:t>
            </a:r>
          </a:p>
        </p:txBody>
      </p:sp>
      <p:sp>
        <p:nvSpPr>
          <p:cNvPr id="30" name="Rectangle 29"/>
          <p:cNvSpPr/>
          <p:nvPr/>
        </p:nvSpPr>
        <p:spPr>
          <a:xfrm>
            <a:off x="9756648" y="4572000"/>
            <a:ext cx="1298448" cy="3291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FFFFFF"/>
                </a:solidFill>
                <a:latin typeface="Arial"/>
              </a:rPr>
              <a:t>LATENTE</a:t>
            </a:r>
          </a:p>
        </p:txBody>
      </p:sp>
      <p:sp>
        <p:nvSpPr>
          <p:cNvPr id="31" name="Rectangle 30"/>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2" name="TextBox 31"/>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Causa raíz latente: la ausencia de un mecanismo que convierta el hallazgo de un análisis de falla en un cambio del diseño del componente.</a:t>
            </a:r>
          </a:p>
        </p:txBody>
      </p:sp>
      <p:pic>
        <p:nvPicPr>
          <p:cNvPr id="33" name="Imagen 32">
            <a:extLst>
              <a:ext uri="{FF2B5EF4-FFF2-40B4-BE49-F238E27FC236}">
                <a16:creationId xmlns:a16="http://schemas.microsoft.com/office/drawing/2014/main" id="{6A70E9B0-85ED-7947-5ABB-9FE744523619}"/>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4" name="TextBox 33"/>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Preguntas 4 y 5: efectos y consecuencias de la falla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15</a:t>
            </a:r>
          </a:p>
        </p:txBody>
      </p:sp>
      <p:pic>
        <p:nvPicPr>
          <p:cNvPr id="33" name="Imagen 32">
            <a:extLst>
              <a:ext uri="{FF2B5EF4-FFF2-40B4-BE49-F238E27FC236}">
                <a16:creationId xmlns:a16="http://schemas.microsoft.com/office/drawing/2014/main" id="{6A70E9B0-85ED-7947-5ABB-9FE744523619}"/>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4" name="TextBox 33"/>
          <p:cNvSpPr txBox="1"/>
          <p:nvPr/>
        </p:nvSpPr>
        <p:spPr>
          <a:xfrm>
            <a:off x="841248" y="128016"/>
            <a:ext cx="7315200" cy="201168"/>
          </a:xfrm>
          <a:prstGeom prst="rect">
            <a:avLst/>
          </a:prstGeom>
          <a:noFill/>
        </p:spPr>
        <p:txBody>
          <a:bodyPr wrap="square" lIns="0" rIns="0" t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
        <p:nvSpPr>
          <p:cNvPr id="35" name="TextBox 34"/>
          <p:cNvSpPr txBox="1"/>
          <p:nvPr/>
        </p:nvSpPr>
        <p:spPr>
          <a:xfrm>
            <a:off x="841248" y="1389888"/>
            <a:ext cx="6355080" cy="256032"/>
          </a:xfrm>
          <a:prstGeom prst="rect">
            <a:avLst/>
          </a:prstGeom>
          <a:noFill/>
        </p:spPr>
        <p:txBody>
          <a:bodyPr wrap="square" lIns="0" rIns="0" tIns="0" bIns="0" anchor="t">
            <a:spAutoFit/>
          </a:bodyPr>
          <a:lstStyle/>
          <a:p>
            <a:pPr algn="l">
              <a:lnSpc>
                <a:spcPct val="110000"/>
              </a:lnSpc>
              <a:spcBef>
                <a:spcPts val="0"/>
              </a:spcBef>
              <a:spcAft>
                <a:spcPts val="300"/>
              </a:spcAft>
            </a:pPr>
            <a:r>
              <a:rPr sz="950" b="1" i="0">
                <a:solidFill>
                  <a:srgbClr val="4A5568"/>
                </a:solidFill>
                <a:latin typeface="Arial"/>
              </a:rPr>
              <a:t>P4 · EFECTOS: QUÉ SUCEDE CUANDO OCURRE LA FALLA</a:t>
            </a:r>
          </a:p>
        </p:txBody>
      </p:sp>
      <p:sp>
        <p:nvSpPr>
          <p:cNvPr id="36" name="Rectangle 35"/>
          <p:cNvSpPr/>
          <p:nvPr/>
        </p:nvSpPr>
        <p:spPr>
          <a:xfrm>
            <a:off x="841248" y="1682496"/>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987552" y="1883664"/>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87552" y="1883664"/>
            <a:ext cx="365760" cy="365760"/>
          </a:xfrm>
          <a:prstGeom prst="rect">
            <a:avLst/>
          </a:prstGeom>
          <a:noFill/>
        </p:spPr>
        <p:txBody>
          <a:bodyPr wrap="square" lIns="0" rIns="0" tIns="0" bIns="0" anchor="ctr">
            <a:spAutoFit/>
          </a:bodyPr>
          <a:lstStyle/>
          <a:p>
            <a:pPr algn="ctr">
              <a:lnSpc>
                <a:spcPct val="110000"/>
              </a:lnSpc>
              <a:spcBef>
                <a:spcPts val="0"/>
              </a:spcBef>
              <a:spcAft>
                <a:spcPts val="0"/>
              </a:spcAft>
            </a:pPr>
            <a:r>
              <a:rPr sz="1200" b="1" i="0">
                <a:solidFill>
                  <a:srgbClr val="FFFFFF"/>
                </a:solidFill>
                <a:latin typeface="Arial"/>
              </a:rPr>
              <a:t>1</a:t>
            </a:r>
          </a:p>
        </p:txBody>
      </p:sp>
      <p:sp>
        <p:nvSpPr>
          <p:cNvPr id="39" name="TextBox 38"/>
          <p:cNvSpPr txBox="1"/>
          <p:nvPr/>
        </p:nvSpPr>
        <p:spPr>
          <a:xfrm>
            <a:off x="1517904" y="1682496"/>
            <a:ext cx="5532120" cy="768096"/>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4A5568"/>
                </a:solidFill>
                <a:latin typeface="Arial"/>
              </a:rPr>
              <a:t>SIN AVISO</a:t>
            </a:r>
          </a:p>
          <a:p>
            <a:pPr algn="l">
              <a:lnSpc>
                <a:spcPct val="108000"/>
              </a:lnSpc>
              <a:spcBef>
                <a:spcPts val="0"/>
              </a:spcBef>
              <a:spcAft>
                <a:spcPts val="0"/>
              </a:spcAft>
            </a:pPr>
            <a:r>
              <a:rPr sz="950" b="0" i="0">
                <a:solidFill>
                  <a:srgbClr val="191919"/>
                </a:solidFill>
                <a:latin typeface="Arial"/>
              </a:rPr>
              <a:t>Ninguna tarea vigente la anticipa: el operador reporta pérdida de propulsión y la rueda queda en giro libre. 10 de los 13 eventos se detectaron en operación.</a:t>
            </a:r>
          </a:p>
        </p:txBody>
      </p:sp>
      <p:sp>
        <p:nvSpPr>
          <p:cNvPr id="40" name="Rectangle 39"/>
          <p:cNvSpPr/>
          <p:nvPr/>
        </p:nvSpPr>
        <p:spPr>
          <a:xfrm>
            <a:off x="841248" y="2523744"/>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987552" y="2724911"/>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87552" y="2724911"/>
            <a:ext cx="365760" cy="365760"/>
          </a:xfrm>
          <a:prstGeom prst="rect">
            <a:avLst/>
          </a:prstGeom>
          <a:noFill/>
        </p:spPr>
        <p:txBody>
          <a:bodyPr wrap="square" lIns="0" rIns="0" tIns="0" bIns="0" anchor="ctr">
            <a:spAutoFit/>
          </a:bodyPr>
          <a:lstStyle/>
          <a:p>
            <a:pPr algn="ctr">
              <a:lnSpc>
                <a:spcPct val="110000"/>
              </a:lnSpc>
              <a:spcBef>
                <a:spcPts val="0"/>
              </a:spcBef>
              <a:spcAft>
                <a:spcPts val="0"/>
              </a:spcAft>
            </a:pPr>
            <a:r>
              <a:rPr sz="1200" b="1" i="0">
                <a:solidFill>
                  <a:srgbClr val="FFFFFF"/>
                </a:solidFill>
                <a:latin typeface="Arial"/>
              </a:rPr>
              <a:t>2</a:t>
            </a:r>
          </a:p>
        </p:txBody>
      </p:sp>
      <p:sp>
        <p:nvSpPr>
          <p:cNvPr id="43" name="TextBox 42"/>
          <p:cNvSpPr txBox="1"/>
          <p:nvPr/>
        </p:nvSpPr>
        <p:spPr>
          <a:xfrm>
            <a:off x="1517904" y="2523744"/>
            <a:ext cx="5532120" cy="768096"/>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4A5568"/>
                </a:solidFill>
                <a:latin typeface="Arial"/>
              </a:rPr>
              <a:t>SEGURIDAD</a:t>
            </a:r>
          </a:p>
          <a:p>
            <a:pPr algn="l">
              <a:lnSpc>
                <a:spcPct val="108000"/>
              </a:lnSpc>
              <a:spcBef>
                <a:spcPts val="0"/>
              </a:spcBef>
              <a:spcAft>
                <a:spcPts val="0"/>
              </a:spcAft>
            </a:pPr>
            <a:r>
              <a:rPr sz="950" b="0" i="0">
                <a:solidFill>
                  <a:srgbClr val="191919"/>
                </a:solidFill>
                <a:latin typeface="Arial"/>
              </a:rPr>
              <a:t>Se pierden a la vez la tracción y el retardo dinámico: el frenado eléctrico queda en una sola posición, en el descenso cargado de un equipo de 628 t.</a:t>
            </a:r>
          </a:p>
        </p:txBody>
      </p:sp>
      <p:sp>
        <p:nvSpPr>
          <p:cNvPr id="44" name="Rectangle 43"/>
          <p:cNvSpPr/>
          <p:nvPr/>
        </p:nvSpPr>
        <p:spPr>
          <a:xfrm>
            <a:off x="841248" y="3364991"/>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987552" y="3566159"/>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87552" y="3566159"/>
            <a:ext cx="365760" cy="365760"/>
          </a:xfrm>
          <a:prstGeom prst="rect">
            <a:avLst/>
          </a:prstGeom>
          <a:noFill/>
        </p:spPr>
        <p:txBody>
          <a:bodyPr wrap="square" lIns="0" rIns="0" tIns="0" bIns="0" anchor="ctr">
            <a:spAutoFit/>
          </a:bodyPr>
          <a:lstStyle/>
          <a:p>
            <a:pPr algn="ctr">
              <a:lnSpc>
                <a:spcPct val="110000"/>
              </a:lnSpc>
              <a:spcBef>
                <a:spcPts val="0"/>
              </a:spcBef>
              <a:spcAft>
                <a:spcPts val="0"/>
              </a:spcAft>
            </a:pPr>
            <a:r>
              <a:rPr sz="1200" b="1" i="0">
                <a:solidFill>
                  <a:srgbClr val="FFFFFF"/>
                </a:solidFill>
                <a:latin typeface="Arial"/>
              </a:rPr>
              <a:t>3</a:t>
            </a:r>
          </a:p>
        </p:txBody>
      </p:sp>
      <p:sp>
        <p:nvSpPr>
          <p:cNvPr id="47" name="TextBox 46"/>
          <p:cNvSpPr txBox="1"/>
          <p:nvPr/>
        </p:nvSpPr>
        <p:spPr>
          <a:xfrm>
            <a:off x="1517904" y="3364991"/>
            <a:ext cx="5532120" cy="768096"/>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4A5568"/>
                </a:solidFill>
                <a:latin typeface="Arial"/>
              </a:rPr>
              <a:t>OPERACIÓN</a:t>
            </a:r>
          </a:p>
          <a:p>
            <a:pPr algn="l">
              <a:lnSpc>
                <a:spcPct val="108000"/>
              </a:lnSpc>
              <a:spcBef>
                <a:spcPts val="0"/>
              </a:spcBef>
              <a:spcAft>
                <a:spcPts val="0"/>
              </a:spcAft>
            </a:pPr>
            <a:r>
              <a:rPr sz="950" b="0" i="0">
                <a:solidFill>
                  <a:srgbClr val="191919"/>
                </a:solidFill>
                <a:latin typeface="Arial"/>
              </a:rPr>
              <a:t>La unidad sale del ciclo de acarreo 59,3 h en promedio: no hay reparación en campo y se sustituye el motor de tracción completo.</a:t>
            </a:r>
          </a:p>
        </p:txBody>
      </p:sp>
      <p:sp>
        <p:nvSpPr>
          <p:cNvPr id="48" name="Rectangle 47"/>
          <p:cNvSpPr/>
          <p:nvPr/>
        </p:nvSpPr>
        <p:spPr>
          <a:xfrm>
            <a:off x="841248" y="4206240"/>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987552" y="4407407"/>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87552" y="4407407"/>
            <a:ext cx="365760" cy="365760"/>
          </a:xfrm>
          <a:prstGeom prst="rect">
            <a:avLst/>
          </a:prstGeom>
          <a:noFill/>
        </p:spPr>
        <p:txBody>
          <a:bodyPr wrap="square" lIns="0" rIns="0" tIns="0" bIns="0" anchor="ctr">
            <a:spAutoFit/>
          </a:bodyPr>
          <a:lstStyle/>
          <a:p>
            <a:pPr algn="ctr">
              <a:lnSpc>
                <a:spcPct val="110000"/>
              </a:lnSpc>
              <a:spcBef>
                <a:spcPts val="0"/>
              </a:spcBef>
              <a:spcAft>
                <a:spcPts val="0"/>
              </a:spcAft>
            </a:pPr>
            <a:r>
              <a:rPr sz="1200" b="1" i="0">
                <a:solidFill>
                  <a:srgbClr val="FFFFFF"/>
                </a:solidFill>
                <a:latin typeface="Arial"/>
              </a:rPr>
              <a:t>4</a:t>
            </a:r>
          </a:p>
        </p:txBody>
      </p:sp>
      <p:sp>
        <p:nvSpPr>
          <p:cNvPr id="51" name="TextBox 50"/>
          <p:cNvSpPr txBox="1"/>
          <p:nvPr/>
        </p:nvSpPr>
        <p:spPr>
          <a:xfrm>
            <a:off x="1517904" y="4206240"/>
            <a:ext cx="5532120" cy="768096"/>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4A5568"/>
                </a:solidFill>
                <a:latin typeface="Arial"/>
              </a:rPr>
              <a:t>DAÑO FÍSICO</a:t>
            </a:r>
          </a:p>
          <a:p>
            <a:pPr algn="l">
              <a:lnSpc>
                <a:spcPct val="108000"/>
              </a:lnSpc>
              <a:spcBef>
                <a:spcPts val="0"/>
              </a:spcBef>
              <a:spcAft>
                <a:spcPts val="0"/>
              </a:spcAft>
            </a:pPr>
            <a:r>
              <a:rPr sz="950" b="0" i="0">
                <a:solidFill>
                  <a:srgbClr val="191919"/>
                </a:solidFill>
                <a:latin typeface="Arial"/>
              </a:rPr>
              <a:t>El eje roto sigue girando y daña el estriado, los planetarios, la placa de acople, el piñón solar, la corona y los rodamientos.</a:t>
            </a:r>
          </a:p>
        </p:txBody>
      </p:sp>
      <p:sp>
        <p:nvSpPr>
          <p:cNvPr id="52" name="TextBox 51"/>
          <p:cNvSpPr txBox="1"/>
          <p:nvPr/>
        </p:nvSpPr>
        <p:spPr>
          <a:xfrm>
            <a:off x="7470648" y="1389888"/>
            <a:ext cx="3886200" cy="256032"/>
          </a:xfrm>
          <a:prstGeom prst="rect">
            <a:avLst/>
          </a:prstGeom>
          <a:noFill/>
        </p:spPr>
        <p:txBody>
          <a:bodyPr wrap="square" lIns="0" rIns="0" tIns="0" bIns="0" anchor="t">
            <a:spAutoFit/>
          </a:bodyPr>
          <a:lstStyle/>
          <a:p>
            <a:pPr algn="l">
              <a:lnSpc>
                <a:spcPct val="110000"/>
              </a:lnSpc>
              <a:spcBef>
                <a:spcPts val="0"/>
              </a:spcBef>
              <a:spcAft>
                <a:spcPts val="300"/>
              </a:spcAft>
            </a:pPr>
            <a:r>
              <a:rPr sz="950" b="1" i="0">
                <a:solidFill>
                  <a:srgbClr val="4A5568"/>
                </a:solidFill>
                <a:latin typeface="Arial"/>
              </a:rPr>
              <a:t>P5 · CONSECUENCIAS (SAE JA1011)</a:t>
            </a:r>
          </a:p>
        </p:txBody>
      </p:sp>
      <p:sp>
        <p:nvSpPr>
          <p:cNvPr id="53" name="Rectangle 52"/>
          <p:cNvSpPr/>
          <p:nvPr/>
        </p:nvSpPr>
        <p:spPr>
          <a:xfrm>
            <a:off x="7470648" y="1682496"/>
            <a:ext cx="3886200" cy="65836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635240" y="1682496"/>
            <a:ext cx="3611880" cy="658368"/>
          </a:xfrm>
          <a:prstGeom prst="rect">
            <a:avLst/>
          </a:prstGeom>
          <a:noFill/>
        </p:spPr>
        <p:txBody>
          <a:bodyPr wrap="square" lIns="0" rIns="0" tIns="0" bIns="0" anchor="ctr">
            <a:spAutoFit/>
          </a:bodyPr>
          <a:lstStyle/>
          <a:p>
            <a:pPr algn="l">
              <a:lnSpc>
                <a:spcPct val="110000"/>
              </a:lnSpc>
              <a:spcBef>
                <a:spcPts val="0"/>
              </a:spcBef>
              <a:spcAft>
                <a:spcPts val="200"/>
              </a:spcAft>
            </a:pPr>
            <a:r>
              <a:rPr sz="800" b="1" i="0">
                <a:solidFill>
                  <a:srgbClr val="9FB3D9"/>
                </a:solidFill>
                <a:latin typeface="Arial"/>
              </a:rPr>
              <a:t>CLASIFICACIÓN</a:t>
            </a:r>
          </a:p>
          <a:p>
            <a:pPr algn="l">
              <a:lnSpc>
                <a:spcPct val="105000"/>
              </a:lnSpc>
              <a:spcBef>
                <a:spcPts val="0"/>
              </a:spcBef>
              <a:spcAft>
                <a:spcPts val="0"/>
              </a:spcAft>
            </a:pPr>
            <a:r>
              <a:rPr sz="1050" b="1" i="0">
                <a:solidFill>
                  <a:srgbClr val="FFFFFF"/>
                </a:solidFill>
                <a:latin typeface="Arial"/>
              </a:rPr>
              <a:t>Operacional, con implicación de seguridad y efecto contractual</a:t>
            </a:r>
          </a:p>
        </p:txBody>
      </p:sp>
      <p:sp>
        <p:nvSpPr>
          <p:cNvPr id="55" name="Rectangle 54"/>
          <p:cNvSpPr/>
          <p:nvPr/>
        </p:nvSpPr>
        <p:spPr>
          <a:xfrm>
            <a:off x="7470648" y="2414016"/>
            <a:ext cx="3886200" cy="80467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7470648" y="2414016"/>
            <a:ext cx="45720" cy="804672"/>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635240" y="2414016"/>
            <a:ext cx="3611880" cy="804672"/>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C3094A"/>
                </a:solidFill>
                <a:latin typeface="Arial"/>
              </a:rPr>
              <a:t>OPERACIONAL</a:t>
            </a:r>
          </a:p>
          <a:p>
            <a:pPr algn="l">
              <a:lnSpc>
                <a:spcPct val="106000"/>
              </a:lnSpc>
              <a:spcBef>
                <a:spcPts val="0"/>
              </a:spcBef>
              <a:spcAft>
                <a:spcPts val="0"/>
              </a:spcAft>
            </a:pPr>
            <a:r>
              <a:rPr sz="900" b="0" i="0">
                <a:solidFill>
                  <a:srgbClr val="191919"/>
                </a:solidFill>
                <a:latin typeface="Arial"/>
              </a:rPr>
              <a:t>59,3 h por evento, reparación mayor del motor y retiro antes de las 20 000 h de TBO.</a:t>
            </a:r>
          </a:p>
        </p:txBody>
      </p:sp>
      <p:sp>
        <p:nvSpPr>
          <p:cNvPr id="58" name="Rectangle 57"/>
          <p:cNvSpPr/>
          <p:nvPr/>
        </p:nvSpPr>
        <p:spPr>
          <a:xfrm>
            <a:off x="7470648" y="3291840"/>
            <a:ext cx="3886200" cy="80467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7470648" y="3291840"/>
            <a:ext cx="45720" cy="80467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635240" y="3291840"/>
            <a:ext cx="3611880" cy="804672"/>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042354"/>
                </a:solidFill>
                <a:latin typeface="Arial"/>
              </a:rPr>
              <a:t>IMPLICACIÓN DE SEGURIDAD</a:t>
            </a:r>
          </a:p>
          <a:p>
            <a:pPr algn="l">
              <a:lnSpc>
                <a:spcPct val="106000"/>
              </a:lnSpc>
              <a:spcBef>
                <a:spcPts val="0"/>
              </a:spcBef>
              <a:spcAft>
                <a:spcPts val="0"/>
              </a:spcAft>
            </a:pPr>
            <a:r>
              <a:rPr sz="900" b="0" i="0">
                <a:solidFill>
                  <a:srgbClr val="191919"/>
                </a:solidFill>
                <a:latin typeface="Arial"/>
              </a:rPr>
              <a:t>Compromete el control de velocidad en descenso. Sin daños a personas en 13 eventos, pero la norma evalúa la consecuencia potencial.</a:t>
            </a:r>
          </a:p>
        </p:txBody>
      </p:sp>
      <p:sp>
        <p:nvSpPr>
          <p:cNvPr id="61" name="Rectangle 60"/>
          <p:cNvSpPr/>
          <p:nvPr/>
        </p:nvSpPr>
        <p:spPr>
          <a:xfrm>
            <a:off x="7470648" y="4169664"/>
            <a:ext cx="3886200" cy="80467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7470648" y="4169664"/>
            <a:ext cx="45720" cy="804672"/>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635240" y="4169664"/>
            <a:ext cx="3611880" cy="804672"/>
          </a:xfrm>
          <a:prstGeom prst="rect">
            <a:avLst/>
          </a:prstGeom>
          <a:noFill/>
        </p:spPr>
        <p:txBody>
          <a:bodyPr wrap="square" lIns="0" rIns="0" tIns="0" bIns="0" anchor="ctr">
            <a:spAutoFit/>
          </a:bodyPr>
          <a:lstStyle/>
          <a:p>
            <a:pPr algn="l">
              <a:lnSpc>
                <a:spcPct val="110000"/>
              </a:lnSpc>
              <a:spcBef>
                <a:spcPts val="0"/>
              </a:spcBef>
              <a:spcAft>
                <a:spcPts val="200"/>
              </a:spcAft>
            </a:pPr>
            <a:r>
              <a:rPr sz="850" b="1" i="0">
                <a:solidFill>
                  <a:srgbClr val="2841DD"/>
                </a:solidFill>
                <a:latin typeface="Arial"/>
              </a:rPr>
              <a:t>EFECTO CONTRACTUAL</a:t>
            </a:r>
          </a:p>
          <a:p>
            <a:pPr algn="l">
              <a:lnSpc>
                <a:spcPct val="106000"/>
              </a:lnSpc>
              <a:spcBef>
                <a:spcPts val="0"/>
              </a:spcBef>
              <a:spcAft>
                <a:spcPts val="0"/>
              </a:spcAft>
            </a:pPr>
            <a:r>
              <a:rPr sz="900" b="0" i="0">
                <a:solidFill>
                  <a:srgbClr val="191919"/>
                </a:solidFill>
                <a:latin typeface="Arial"/>
              </a:rPr>
              <a:t>Las horas fuera de servicio erosionan la disponibilidad y el MTBF comprometidos.</a:t>
            </a:r>
          </a:p>
        </p:txBody>
      </p:sp>
      <p:sp>
        <p:nvSpPr>
          <p:cNvPr id="64" name="Rectangle 6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024128" y="5157216"/>
            <a:ext cx="10277856" cy="493776"/>
          </a:xfrm>
          <a:prstGeom prst="rect">
            <a:avLst/>
          </a:prstGeom>
          <a:noFill/>
        </p:spPr>
        <p:txBody>
          <a:bodyPr wrap="square" lIns="0" rIns="0" tIns="0" bIns="0" anchor="t">
            <a:spAutoFit/>
          </a:bodyPr>
          <a:lstStyle/>
          <a:p>
            <a:pPr algn="l">
              <a:lnSpc>
                <a:spcPct val="114000"/>
              </a:lnSpc>
              <a:spcBef>
                <a:spcPts val="0"/>
              </a:spcBef>
              <a:spcAft>
                <a:spcPts val="300"/>
              </a:spcAft>
            </a:pPr>
            <a:r>
              <a:rPr sz="1150" b="1" i="0">
                <a:solidFill>
                  <a:srgbClr val="042354"/>
                </a:solidFill>
                <a:latin typeface="Arial"/>
              </a:rPr>
              <a:t>La clasificación es determinante: sin tarea proactiva aplicable, una consecuencia operacional con implicación de seguridad lleva la norma a prescribir el rediseño.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Preguntas 6 y 7: ninguna tarea proactiva cumple ambos criterios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16</a:t>
            </a:r>
          </a:p>
        </p:txBody>
      </p:sp>
      <p:sp>
        <p:nvSpPr>
          <p:cNvPr id="6" name="TextBox 5"/>
          <p:cNvSpPr txBox="1"/>
          <p:nvPr/>
        </p:nvSpPr>
        <p:spPr>
          <a:xfrm>
            <a:off x="841248" y="1444752"/>
            <a:ext cx="10515600" cy="457200"/>
          </a:xfrm>
          <a:prstGeom prst="rect">
            <a:avLst/>
          </a:prstGeom>
          <a:noFill/>
        </p:spPr>
        <p:txBody>
          <a:bodyPr wrap="square" lIns="0" tIns="0" rIns="0" bIns="0" anchor="t">
            <a:spAutoFit/>
          </a:bodyPr>
          <a:lstStyle/>
          <a:p>
            <a:pPr algn="l">
              <a:lnSpc>
                <a:spcPct val="116000"/>
              </a:lnSpc>
              <a:spcBef>
                <a:spcPts val="0"/>
              </a:spcBef>
              <a:spcAft>
                <a:spcPts val="400"/>
              </a:spcAft>
            </a:pPr>
            <a:r>
              <a:rPr lang="es-PE" sz="1200" b="0" i="0" noProof="0" dirty="0">
                <a:solidFill>
                  <a:srgbClr val="4A5568"/>
                </a:solidFill>
                <a:latin typeface="Arial"/>
              </a:rPr>
              <a:t>Una tarea proactiva se adopta solo si es técnicamente factible y si el costo de ejecutarla es menor que el de las consecuencias que evita.</a:t>
            </a:r>
          </a:p>
        </p:txBody>
      </p:sp>
      <p:pic>
        <p:nvPicPr>
          <p:cNvPr id="7" name="Picture 6" descr="pu_g8_logica.png"/>
          <p:cNvPicPr>
            <a:picLocks noChangeAspect="1"/>
          </p:cNvPicPr>
          <p:nvPr/>
        </p:nvPicPr>
        <p:blipFill>
          <a:blip r:embed="rId2"/>
          <a:stretch>
            <a:fillRect/>
          </a:stretch>
        </p:blipFill>
        <p:spPr>
          <a:xfrm>
            <a:off x="2368296" y="1883664"/>
            <a:ext cx="7461503" cy="2331720"/>
          </a:xfrm>
          <a:prstGeom prst="rect">
            <a:avLst/>
          </a:prstGeom>
        </p:spPr>
      </p:pic>
      <p:sp>
        <p:nvSpPr>
          <p:cNvPr id="8" name="Rectangle 7"/>
          <p:cNvSpPr/>
          <p:nvPr/>
        </p:nvSpPr>
        <p:spPr>
          <a:xfrm>
            <a:off x="841248" y="4352544"/>
            <a:ext cx="10515600" cy="80467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841248" y="4352544"/>
            <a:ext cx="45720" cy="804672"/>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1078992" y="4462272"/>
            <a:ext cx="10040112" cy="603504"/>
          </a:xfrm>
          <a:prstGeom prst="rect">
            <a:avLst/>
          </a:prstGeom>
          <a:noFill/>
        </p:spPr>
        <p:txBody>
          <a:bodyPr wrap="square" lIns="0" tIns="0" rIns="0" bIns="0" anchor="t">
            <a:spAutoFit/>
          </a:bodyPr>
          <a:lstStyle/>
          <a:p>
            <a:pPr algn="l">
              <a:lnSpc>
                <a:spcPct val="114000"/>
              </a:lnSpc>
              <a:spcBef>
                <a:spcPts val="0"/>
              </a:spcBef>
              <a:spcAft>
                <a:spcPts val="400"/>
              </a:spcAft>
            </a:pPr>
            <a:r>
              <a:rPr lang="es-PE" sz="1200" b="1" i="0" noProof="0" dirty="0">
                <a:solidFill>
                  <a:srgbClr val="2841DD"/>
                </a:solidFill>
                <a:latin typeface="Arial"/>
              </a:rPr>
              <a:t>El rediseño es el resultado del proceso RCM, no su punto de partida.</a:t>
            </a:r>
          </a:p>
          <a:p>
            <a:pPr algn="l">
              <a:lnSpc>
                <a:spcPct val="114000"/>
              </a:lnSpc>
              <a:spcBef>
                <a:spcPts val="0"/>
              </a:spcBef>
              <a:spcAft>
                <a:spcPts val="400"/>
              </a:spcAft>
            </a:pPr>
            <a:r>
              <a:rPr lang="es-PE" sz="1000" b="0" i="0" noProof="0" dirty="0">
                <a:solidFill>
                  <a:srgbClr val="191919"/>
                </a:solidFill>
                <a:latin typeface="Arial"/>
              </a:rPr>
              <a:t>Se siguió la secuencia completa, incluso se realizó el cambio de componente ( ejecución de la tarea disponible) y la comprobación de que la falla volvió a presentarse, se llegó al rediseño solo después de haber agotado y documentado las demás alternativas.</a:t>
            </a:r>
          </a:p>
        </p:txBody>
      </p:sp>
      <p:sp>
        <p:nvSpPr>
          <p:cNvPr id="11" name="TextBox 10"/>
          <p:cNvSpPr txBox="1"/>
          <p:nvPr/>
        </p:nvSpPr>
        <p:spPr>
          <a:xfrm>
            <a:off x="841248" y="5303520"/>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Umbral de indiferencia declarado: si el costo de una reparación mayor programada bajara de US$ 424 mil, la sustitución cíclica sí sería conveniente.</a:t>
            </a:r>
          </a:p>
        </p:txBody>
      </p:sp>
      <p:pic>
        <p:nvPicPr>
          <p:cNvPr id="12" name="Imagen 11">
            <a:extLst>
              <a:ext uri="{FF2B5EF4-FFF2-40B4-BE49-F238E27FC236}">
                <a16:creationId xmlns:a16="http://schemas.microsoft.com/office/drawing/2014/main" id="{01F7DA6E-4097-00ED-42AE-00EE20CCF02C}"/>
              </a:ext>
            </a:extLst>
          </p:cNvPr>
          <p:cNvPicPr>
            <a:picLocks noChangeAspect="1"/>
          </p:cNvPicPr>
          <p:nvPr/>
        </p:nvPicPr>
        <p:blipFill>
          <a:blip r:embed="rId3"/>
          <a:stretch>
            <a:fillRect/>
          </a:stretch>
        </p:blipFill>
        <p:spPr>
          <a:xfrm>
            <a:off x="158617" y="5943600"/>
            <a:ext cx="5620013" cy="550672"/>
          </a:xfrm>
          <a:prstGeom prst="rect">
            <a:avLst/>
          </a:prstGeom>
        </p:spPr>
      </p:pic>
      <p:sp>
        <p:nvSpPr>
          <p:cNvPr id="13" name="TextBox 12"/>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04 · DESARROLLO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La solución: rediseño de la unión soldada y su implementación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17</a:t>
            </a:r>
          </a:p>
        </p:txBody>
      </p:sp>
      <p:pic>
        <p:nvPicPr>
          <p:cNvPr id="19" name="Imagen 18">
            <a:extLst>
              <a:ext uri="{FF2B5EF4-FFF2-40B4-BE49-F238E27FC236}">
                <a16:creationId xmlns:a16="http://schemas.microsoft.com/office/drawing/2014/main" id="{96A3C54D-2A70-4746-BEA4-6D4F03EB5F6D}"/>
              </a:ext>
            </a:extLst>
          </p:cNvPr>
          <p:cNvPicPr>
            <a:picLocks noChangeAspect="1"/>
          </p:cNvPicPr>
          <p:nvPr/>
        </p:nvPicPr>
        <p:blipFill>
          <a:blip r:embed="rId3"/>
          <a:stretch>
            <a:fillRect/>
          </a:stretch>
        </p:blipFill>
        <p:spPr>
          <a:xfrm>
            <a:off x="158617" y="5943600"/>
            <a:ext cx="5620013" cy="550672"/>
          </a:xfrm>
          <a:prstGeom prst="rect">
            <a:avLst/>
          </a:prstGeom>
        </p:spPr>
      </p:pic>
      <p:pic>
        <p:nvPicPr>
          <p:cNvPr id="20" name="Picture 19" descr="crop_union_ab.png"/>
          <p:cNvPicPr>
            <a:picLocks noChangeAspect="1"/>
          </p:cNvPicPr>
          <p:nvPr/>
        </p:nvPicPr>
        <p:blipFill>
          <a:blip r:embed="rId4"/>
          <a:stretch>
            <a:fillRect/>
          </a:stretch>
        </p:blipFill>
        <p:spPr>
          <a:xfrm>
            <a:off x="841248" y="1481328"/>
            <a:ext cx="5577840" cy="2980944"/>
          </a:xfrm>
          <a:prstGeom prst="rect">
            <a:avLst/>
          </a:prstGeom>
        </p:spPr>
      </p:pic>
      <p:sp>
        <p:nvSpPr>
          <p:cNvPr id="21" name="TextBox 20"/>
          <p:cNvSpPr txBox="1"/>
          <p:nvPr/>
        </p:nvSpPr>
        <p:spPr>
          <a:xfrm>
            <a:off x="841248" y="4517136"/>
            <a:ext cx="5577840" cy="36576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Comparación de la unión soldada: (a) original y (b) modificada. Media sección longitudinal. Elaboración propia.</a:t>
            </a:r>
          </a:p>
        </p:txBody>
      </p:sp>
      <p:sp>
        <p:nvSpPr>
          <p:cNvPr id="22" name="TextBox 21"/>
          <p:cNvSpPr txBox="1"/>
          <p:nvPr/>
        </p:nvSpPr>
        <p:spPr>
          <a:xfrm>
            <a:off x="6675120" y="1389888"/>
            <a:ext cx="4681728"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CONTROL DE CONFIGURACIÓN DEL NÚMERO DE PARTE</a:t>
            </a:r>
          </a:p>
        </p:txBody>
      </p:sp>
      <p:sp>
        <p:nvSpPr>
          <p:cNvPr id="23" name="Rectangle 22"/>
          <p:cNvSpPr/>
          <p:nvPr/>
        </p:nvSpPr>
        <p:spPr>
          <a:xfrm>
            <a:off x="6675120" y="1700784"/>
            <a:ext cx="2272284" cy="1188720"/>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6675120" y="1700784"/>
            <a:ext cx="2272284"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803136" y="1828800"/>
            <a:ext cx="2034539" cy="1005840"/>
          </a:xfrm>
          <a:prstGeom prst="rect">
            <a:avLst/>
          </a:prstGeom>
          <a:noFill/>
        </p:spPr>
        <p:txBody>
          <a:bodyPr wrap="square" lIns="0" tIns="0" rIns="0" bIns="0" anchor="t">
            <a:spAutoFit/>
          </a:bodyPr>
          <a:lstStyle/>
          <a:p>
            <a:pPr algn="l">
              <a:lnSpc>
                <a:spcPct val="110000"/>
              </a:lnSpc>
              <a:spcBef>
                <a:spcPts val="0"/>
              </a:spcBef>
              <a:spcAft>
                <a:spcPts val="300"/>
              </a:spcAft>
            </a:pPr>
            <a:r>
              <a:rPr sz="1050" b="1" i="0">
                <a:solidFill>
                  <a:srgbClr val="C3094A"/>
                </a:solidFill>
                <a:latin typeface="Arial"/>
              </a:rPr>
              <a:t>Componente obsoleto</a:t>
            </a:r>
          </a:p>
          <a:p>
            <a:pPr algn="l">
              <a:lnSpc>
                <a:spcPct val="108000"/>
              </a:lnSpc>
              <a:spcBef>
                <a:spcPts val="0"/>
              </a:spcBef>
              <a:spcAft>
                <a:spcPts val="400"/>
              </a:spcAft>
            </a:pPr>
            <a:r>
              <a:rPr sz="900" b="0" i="0">
                <a:solidFill>
                  <a:srgbClr val="191919"/>
                </a:solidFill>
                <a:latin typeface="Arial"/>
              </a:rPr>
              <a:t>Penetración parcial; raíz sin fusión en el diámetro interior</a:t>
            </a:r>
          </a:p>
          <a:p>
            <a:pPr algn="l">
              <a:lnSpc>
                <a:spcPct val="110000"/>
              </a:lnSpc>
              <a:spcBef>
                <a:spcPts val="0"/>
              </a:spcBef>
              <a:spcAft>
                <a:spcPts val="0"/>
              </a:spcAft>
            </a:pPr>
            <a:r>
              <a:rPr sz="1500" b="1" i="0">
                <a:solidFill>
                  <a:srgbClr val="C3094A"/>
                </a:solidFill>
                <a:latin typeface="Arial"/>
              </a:rPr>
              <a:t>FS = 0,31</a:t>
            </a:r>
          </a:p>
        </p:txBody>
      </p:sp>
      <p:sp>
        <p:nvSpPr>
          <p:cNvPr id="26" name="Rectangle 25"/>
          <p:cNvSpPr/>
          <p:nvPr/>
        </p:nvSpPr>
        <p:spPr>
          <a:xfrm>
            <a:off x="9084563" y="1700784"/>
            <a:ext cx="2272284" cy="11887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9084563" y="1700784"/>
            <a:ext cx="2272284" cy="45720"/>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212580" y="1828800"/>
            <a:ext cx="2034539" cy="1005840"/>
          </a:xfrm>
          <a:prstGeom prst="rect">
            <a:avLst/>
          </a:prstGeom>
          <a:noFill/>
        </p:spPr>
        <p:txBody>
          <a:bodyPr wrap="square" lIns="0" tIns="0" rIns="0" bIns="0" anchor="t">
            <a:spAutoFit/>
          </a:bodyPr>
          <a:lstStyle/>
          <a:p>
            <a:pPr algn="l">
              <a:lnSpc>
                <a:spcPct val="110000"/>
              </a:lnSpc>
              <a:spcBef>
                <a:spcPts val="0"/>
              </a:spcBef>
              <a:spcAft>
                <a:spcPts val="300"/>
              </a:spcAft>
            </a:pPr>
            <a:r>
              <a:rPr sz="1050" b="1" i="0">
                <a:solidFill>
                  <a:srgbClr val="2841DD"/>
                </a:solidFill>
                <a:latin typeface="Arial"/>
              </a:rPr>
              <a:t>Componente mejorado</a:t>
            </a:r>
          </a:p>
          <a:p>
            <a:pPr algn="l">
              <a:lnSpc>
                <a:spcPct val="108000"/>
              </a:lnSpc>
              <a:spcBef>
                <a:spcPts val="0"/>
              </a:spcBef>
              <a:spcAft>
                <a:spcPts val="400"/>
              </a:spcAft>
            </a:pPr>
            <a:r>
              <a:rPr sz="900" b="0" i="0">
                <a:solidFill>
                  <a:srgbClr val="191919"/>
                </a:solidFill>
                <a:latin typeface="Arial"/>
              </a:rPr>
              <a:t>Penetración completa sobre sección mayor; sin cambio de material</a:t>
            </a:r>
          </a:p>
          <a:p>
            <a:pPr algn="l">
              <a:lnSpc>
                <a:spcPct val="110000"/>
              </a:lnSpc>
              <a:spcBef>
                <a:spcPts val="0"/>
              </a:spcBef>
              <a:spcAft>
                <a:spcPts val="0"/>
              </a:spcAft>
            </a:pPr>
            <a:r>
              <a:rPr sz="1500" b="1" i="0">
                <a:solidFill>
                  <a:srgbClr val="2841DD"/>
                </a:solidFill>
                <a:latin typeface="Arial"/>
              </a:rPr>
              <a:t>FS = 2,23</a:t>
            </a:r>
          </a:p>
        </p:txBody>
      </p:sp>
      <p:sp>
        <p:nvSpPr>
          <p:cNvPr id="29" name="TextBox 28"/>
          <p:cNvSpPr txBox="1"/>
          <p:nvPr/>
        </p:nvSpPr>
        <p:spPr>
          <a:xfrm>
            <a:off x="6675120" y="3035808"/>
            <a:ext cx="4681728"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IMPLEMENTACIÓN COMO CAMBIO CONTROLADO</a:t>
            </a:r>
          </a:p>
        </p:txBody>
      </p:sp>
      <p:sp>
        <p:nvSpPr>
          <p:cNvPr id="30" name="Rectangle 29"/>
          <p:cNvSpPr/>
          <p:nvPr/>
        </p:nvSpPr>
        <p:spPr>
          <a:xfrm>
            <a:off x="6675120" y="3328416"/>
            <a:ext cx="4681728" cy="5120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784848" y="3328416"/>
            <a:ext cx="411480" cy="512064"/>
          </a:xfrm>
          <a:prstGeom prst="rect">
            <a:avLst/>
          </a:prstGeom>
          <a:noFill/>
        </p:spPr>
        <p:txBody>
          <a:bodyPr wrap="square" lIns="0" tIns="0" rIns="0" bIns="0" anchor="ctr">
            <a:spAutoFit/>
          </a:bodyPr>
          <a:lstStyle/>
          <a:p>
            <a:pPr algn="l">
              <a:lnSpc>
                <a:spcPct val="110000"/>
              </a:lnSpc>
              <a:spcBef>
                <a:spcPts val="0"/>
              </a:spcBef>
              <a:spcAft>
                <a:spcPts val="0"/>
              </a:spcAft>
            </a:pPr>
            <a:r>
              <a:rPr sz="1200" b="1" i="0">
                <a:solidFill>
                  <a:srgbClr val="C3094A"/>
                </a:solidFill>
                <a:latin typeface="Arial"/>
              </a:rPr>
              <a:t>01</a:t>
            </a:r>
          </a:p>
        </p:txBody>
      </p:sp>
      <p:sp>
        <p:nvSpPr>
          <p:cNvPr id="32" name="TextBox 31"/>
          <p:cNvSpPr txBox="1"/>
          <p:nvPr/>
        </p:nvSpPr>
        <p:spPr>
          <a:xfrm>
            <a:off x="7223759" y="3328416"/>
            <a:ext cx="4023360" cy="512064"/>
          </a:xfrm>
          <a:prstGeom prst="rect">
            <a:avLst/>
          </a:prstGeom>
          <a:noFill/>
        </p:spPr>
        <p:txBody>
          <a:bodyPr wrap="square" lIns="0" tIns="0" rIns="0" bIns="0" anchor="ctr">
            <a:spAutoFit/>
          </a:bodyPr>
          <a:lstStyle/>
          <a:p>
            <a:pPr algn="l">
              <a:lnSpc>
                <a:spcPct val="110000"/>
              </a:lnSpc>
              <a:spcBef>
                <a:spcPts val="0"/>
              </a:spcBef>
              <a:spcAft>
                <a:spcPts val="100"/>
              </a:spcAft>
            </a:pPr>
            <a:r>
              <a:rPr sz="950" b="1" i="0">
                <a:solidFill>
                  <a:srgbClr val="042354"/>
                </a:solidFill>
                <a:latin typeface="Arial"/>
              </a:rPr>
              <a:t>Priorización por horómetro y riesgo</a:t>
            </a:r>
          </a:p>
          <a:p>
            <a:pPr algn="l">
              <a:lnSpc>
                <a:spcPct val="105000"/>
              </a:lnSpc>
              <a:spcBef>
                <a:spcPts val="0"/>
              </a:spcBef>
              <a:spcAft>
                <a:spcPts val="0"/>
              </a:spcAft>
            </a:pPr>
            <a:r>
              <a:rPr sz="850" b="0" i="0">
                <a:solidFill>
                  <a:srgbClr val="191919"/>
                </a:solidFill>
                <a:latin typeface="Arial"/>
              </a:rPr>
              <a:t>Primero las posiciones con mayor vida acumulada, las más próximas al rango de fracturas.</a:t>
            </a:r>
          </a:p>
        </p:txBody>
      </p:sp>
      <p:sp>
        <p:nvSpPr>
          <p:cNvPr id="33" name="Rectangle 32"/>
          <p:cNvSpPr/>
          <p:nvPr/>
        </p:nvSpPr>
        <p:spPr>
          <a:xfrm>
            <a:off x="6675120" y="3895344"/>
            <a:ext cx="4681728" cy="5120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784848" y="3895344"/>
            <a:ext cx="411480" cy="512064"/>
          </a:xfrm>
          <a:prstGeom prst="rect">
            <a:avLst/>
          </a:prstGeom>
          <a:noFill/>
        </p:spPr>
        <p:txBody>
          <a:bodyPr wrap="square" lIns="0" tIns="0" rIns="0" bIns="0" anchor="ctr">
            <a:spAutoFit/>
          </a:bodyPr>
          <a:lstStyle/>
          <a:p>
            <a:pPr algn="l">
              <a:lnSpc>
                <a:spcPct val="110000"/>
              </a:lnSpc>
              <a:spcBef>
                <a:spcPts val="0"/>
              </a:spcBef>
              <a:spcAft>
                <a:spcPts val="0"/>
              </a:spcAft>
            </a:pPr>
            <a:r>
              <a:rPr sz="1200" b="1" i="0">
                <a:solidFill>
                  <a:srgbClr val="C3094A"/>
                </a:solidFill>
                <a:latin typeface="Arial"/>
              </a:rPr>
              <a:t>02</a:t>
            </a:r>
          </a:p>
        </p:txBody>
      </p:sp>
      <p:sp>
        <p:nvSpPr>
          <p:cNvPr id="35" name="TextBox 34"/>
          <p:cNvSpPr txBox="1"/>
          <p:nvPr/>
        </p:nvSpPr>
        <p:spPr>
          <a:xfrm>
            <a:off x="7223759" y="3895344"/>
            <a:ext cx="4023360" cy="512064"/>
          </a:xfrm>
          <a:prstGeom prst="rect">
            <a:avLst/>
          </a:prstGeom>
          <a:noFill/>
        </p:spPr>
        <p:txBody>
          <a:bodyPr wrap="square" lIns="0" tIns="0" rIns="0" bIns="0" anchor="ctr">
            <a:spAutoFit/>
          </a:bodyPr>
          <a:lstStyle/>
          <a:p>
            <a:pPr algn="l">
              <a:lnSpc>
                <a:spcPct val="110000"/>
              </a:lnSpc>
              <a:spcBef>
                <a:spcPts val="0"/>
              </a:spcBef>
              <a:spcAft>
                <a:spcPts val="100"/>
              </a:spcAft>
            </a:pPr>
            <a:r>
              <a:rPr sz="950" b="1" i="0">
                <a:solidFill>
                  <a:srgbClr val="042354"/>
                </a:solidFill>
                <a:latin typeface="Arial"/>
              </a:rPr>
              <a:t>Sustitución del conjunto</a:t>
            </a:r>
          </a:p>
          <a:p>
            <a:pPr algn="l">
              <a:lnSpc>
                <a:spcPct val="105000"/>
              </a:lnSpc>
              <a:spcBef>
                <a:spcPts val="0"/>
              </a:spcBef>
              <a:spcAft>
                <a:spcPts val="0"/>
              </a:spcAft>
            </a:pPr>
            <a:r>
              <a:rPr sz="850" b="0" i="0">
                <a:solidFill>
                  <a:srgbClr val="191919"/>
                </a:solidFill>
                <a:latin typeface="Arial"/>
              </a:rPr>
              <a:t>Reemplazo del motor de tracción por uno de intercambio con el P/N mejorado.</a:t>
            </a:r>
          </a:p>
        </p:txBody>
      </p:sp>
      <p:sp>
        <p:nvSpPr>
          <p:cNvPr id="36" name="Rectangle 35"/>
          <p:cNvSpPr/>
          <p:nvPr/>
        </p:nvSpPr>
        <p:spPr>
          <a:xfrm>
            <a:off x="6675120" y="4462272"/>
            <a:ext cx="4681728" cy="5120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784848" y="4462272"/>
            <a:ext cx="411480" cy="512064"/>
          </a:xfrm>
          <a:prstGeom prst="rect">
            <a:avLst/>
          </a:prstGeom>
          <a:noFill/>
        </p:spPr>
        <p:txBody>
          <a:bodyPr wrap="square" lIns="0" tIns="0" rIns="0" bIns="0" anchor="ctr">
            <a:spAutoFit/>
          </a:bodyPr>
          <a:lstStyle/>
          <a:p>
            <a:pPr algn="l">
              <a:lnSpc>
                <a:spcPct val="110000"/>
              </a:lnSpc>
              <a:spcBef>
                <a:spcPts val="0"/>
              </a:spcBef>
              <a:spcAft>
                <a:spcPts val="0"/>
              </a:spcAft>
            </a:pPr>
            <a:r>
              <a:rPr sz="1200" b="1" i="0">
                <a:solidFill>
                  <a:srgbClr val="C3094A"/>
                </a:solidFill>
                <a:latin typeface="Arial"/>
              </a:rPr>
              <a:t>03</a:t>
            </a:r>
          </a:p>
        </p:txBody>
      </p:sp>
      <p:sp>
        <p:nvSpPr>
          <p:cNvPr id="38" name="TextBox 37"/>
          <p:cNvSpPr txBox="1"/>
          <p:nvPr/>
        </p:nvSpPr>
        <p:spPr>
          <a:xfrm>
            <a:off x="7223759" y="4462272"/>
            <a:ext cx="4023360" cy="512064"/>
          </a:xfrm>
          <a:prstGeom prst="rect">
            <a:avLst/>
          </a:prstGeom>
          <a:noFill/>
        </p:spPr>
        <p:txBody>
          <a:bodyPr wrap="square" lIns="0" tIns="0" rIns="0" bIns="0" anchor="ctr">
            <a:spAutoFit/>
          </a:bodyPr>
          <a:lstStyle/>
          <a:p>
            <a:pPr algn="l">
              <a:lnSpc>
                <a:spcPct val="110000"/>
              </a:lnSpc>
              <a:spcBef>
                <a:spcPts val="0"/>
              </a:spcBef>
              <a:spcAft>
                <a:spcPts val="100"/>
              </a:spcAft>
            </a:pPr>
            <a:r>
              <a:rPr sz="950" b="1" i="0">
                <a:solidFill>
                  <a:srgbClr val="042354"/>
                </a:solidFill>
                <a:latin typeface="Arial"/>
              </a:rPr>
              <a:t>Control de la mejora instalada</a:t>
            </a:r>
          </a:p>
          <a:p>
            <a:pPr algn="l">
              <a:lnSpc>
                <a:spcPct val="105000"/>
              </a:lnSpc>
              <a:spcBef>
                <a:spcPts val="0"/>
              </a:spcBef>
              <a:spcAft>
                <a:spcPts val="0"/>
              </a:spcAft>
            </a:pPr>
            <a:r>
              <a:rPr sz="850" b="0" i="0">
                <a:solidFill>
                  <a:srgbClr val="191919"/>
                </a:solidFill>
                <a:latin typeface="Arial"/>
              </a:rPr>
              <a:t>Registro del P/N montado y su fecha por posición: impide reponer el obsoleto.</a:t>
            </a:r>
          </a:p>
        </p:txBody>
      </p:sp>
      <p:sp>
        <p:nvSpPr>
          <p:cNvPr id="39" name="Rectangle 38"/>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Una mejora OEM adoptada, no un desarrollo propio: surgió de las recomendaciones de los AFA y esta operación fue la primera en implementarla, en 2025.</a:t>
            </a:r>
          </a:p>
        </p:txBody>
      </p:sp>
      <p:sp>
        <p:nvSpPr>
          <p:cNvPr id="41" name="TextBox 40"/>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05 · SOLUCIÓN DE INGENIERÍA ADOPTADA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del componente: no recurrencia del modo de falla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18</a:t>
            </a:r>
          </a:p>
        </p:txBody>
      </p:sp>
      <p:pic>
        <p:nvPicPr>
          <p:cNvPr id="6" name="Picture 5" descr="pu_g4_norecurrencia.png"/>
          <p:cNvPicPr>
            <a:picLocks noChangeAspect="1"/>
          </p:cNvPicPr>
          <p:nvPr/>
        </p:nvPicPr>
        <p:blipFill>
          <a:blip r:embed="rId3"/>
          <a:stretch>
            <a:fillRect/>
          </a:stretch>
        </p:blipFill>
        <p:spPr>
          <a:xfrm>
            <a:off x="841248" y="1481328"/>
            <a:ext cx="5760720" cy="3257258"/>
          </a:xfrm>
          <a:prstGeom prst="rect">
            <a:avLst/>
          </a:prstGeom>
        </p:spPr>
      </p:pic>
      <p:pic>
        <p:nvPicPr>
          <p:cNvPr id="20" name="Imagen 19">
            <a:extLst>
              <a:ext uri="{FF2B5EF4-FFF2-40B4-BE49-F238E27FC236}">
                <a16:creationId xmlns:a16="http://schemas.microsoft.com/office/drawing/2014/main" id="{D9461018-720B-F8FC-DBE1-205133E6BF15}"/>
              </a:ext>
            </a:extLst>
          </p:cNvPr>
          <p:cNvPicPr>
            <a:picLocks noChangeAspect="1"/>
          </p:cNvPicPr>
          <p:nvPr/>
        </p:nvPicPr>
        <p:blipFill>
          <a:blip r:embed="rId4"/>
          <a:stretch>
            <a:fillRect/>
          </a:stretch>
        </p:blipFill>
        <p:spPr>
          <a:xfrm>
            <a:off x="158617" y="5943600"/>
            <a:ext cx="5620013" cy="550672"/>
          </a:xfrm>
          <a:prstGeom prst="rect">
            <a:avLst/>
          </a:prstGeom>
        </p:spPr>
      </p:pic>
      <p:sp>
        <p:nvSpPr>
          <p:cNvPr id="21" name="TextBox 20"/>
          <p:cNvSpPr txBox="1"/>
          <p:nvPr/>
        </p:nvSpPr>
        <p:spPr>
          <a:xfrm>
            <a:off x="841248" y="4793450"/>
            <a:ext cx="5760720" cy="228600"/>
          </a:xfrm>
          <a:prstGeom prst="rect">
            <a:avLst/>
          </a:prstGeom>
          <a:noFill/>
        </p:spPr>
        <p:txBody>
          <a:bodyPr wrap="square" lIns="0" tIns="0" rIns="0" bIns="0" anchor="t">
            <a:spAutoFit/>
          </a:bodyPr>
          <a:lstStyle/>
          <a:p>
            <a:pPr algn="l">
              <a:lnSpc>
                <a:spcPct val="106000"/>
              </a:lnSpc>
              <a:spcBef>
                <a:spcPts val="0"/>
              </a:spcBef>
              <a:spcAft>
                <a:spcPts val="300"/>
              </a:spcAft>
            </a:pPr>
            <a:r>
              <a:rPr sz="900" b="0" i="0">
                <a:solidFill>
                  <a:srgbClr val="7A8494"/>
                </a:solidFill>
                <a:latin typeface="Arial"/>
              </a:rPr>
              <a:t>Verificación abierta hasta superar las 24 540 h, límite superior del rango de vidas observado.</a:t>
            </a:r>
          </a:p>
        </p:txBody>
      </p:sp>
      <p:sp>
        <p:nvSpPr>
          <p:cNvPr id="22" name="TextBox 21"/>
          <p:cNvSpPr txBox="1"/>
          <p:nvPr/>
        </p:nvSpPr>
        <p:spPr>
          <a:xfrm>
            <a:off x="7150608" y="1389888"/>
            <a:ext cx="420624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CRITERIO DE VERIFICACIÓN</a:t>
            </a:r>
          </a:p>
        </p:txBody>
      </p:sp>
      <p:sp>
        <p:nvSpPr>
          <p:cNvPr id="23" name="Rectangle 22"/>
          <p:cNvSpPr/>
          <p:nvPr/>
        </p:nvSpPr>
        <p:spPr>
          <a:xfrm>
            <a:off x="7150608" y="1700784"/>
            <a:ext cx="4206240" cy="67665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7150608" y="1700784"/>
            <a:ext cx="4206240" cy="36576"/>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296912" y="1700784"/>
            <a:ext cx="1417320" cy="676656"/>
          </a:xfrm>
          <a:prstGeom prst="rect">
            <a:avLst/>
          </a:prstGeom>
          <a:noFill/>
        </p:spPr>
        <p:txBody>
          <a:bodyPr wrap="square" lIns="0" tIns="0" rIns="0" bIns="0" anchor="ctr">
            <a:spAutoFit/>
          </a:bodyPr>
          <a:lstStyle/>
          <a:p>
            <a:pPr algn="l">
              <a:lnSpc>
                <a:spcPct val="110000"/>
              </a:lnSpc>
              <a:spcBef>
                <a:spcPts val="0"/>
              </a:spcBef>
              <a:spcAft>
                <a:spcPts val="0"/>
              </a:spcAft>
            </a:pPr>
            <a:r>
              <a:rPr sz="1500" b="1" i="0">
                <a:solidFill>
                  <a:srgbClr val="2841DD"/>
                </a:solidFill>
                <a:latin typeface="Arial"/>
              </a:rPr>
              <a:t>96 000 h</a:t>
            </a:r>
          </a:p>
        </p:txBody>
      </p:sp>
      <p:sp>
        <p:nvSpPr>
          <p:cNvPr id="26" name="TextBox 25"/>
          <p:cNvSpPr txBox="1"/>
          <p:nvPr/>
        </p:nvSpPr>
        <p:spPr>
          <a:xfrm>
            <a:off x="8723376" y="1700784"/>
            <a:ext cx="2505455" cy="676656"/>
          </a:xfrm>
          <a:prstGeom prst="rect">
            <a:avLst/>
          </a:prstGeom>
          <a:noFill/>
        </p:spPr>
        <p:txBody>
          <a:bodyPr wrap="square" lIns="0" tIns="0" rIns="0" bIns="0" anchor="ctr">
            <a:spAutoFit/>
          </a:bodyPr>
          <a:lstStyle/>
          <a:p>
            <a:pPr algn="l">
              <a:lnSpc>
                <a:spcPct val="108000"/>
              </a:lnSpc>
              <a:spcBef>
                <a:spcPts val="0"/>
              </a:spcBef>
              <a:spcAft>
                <a:spcPts val="0"/>
              </a:spcAft>
            </a:pPr>
            <a:r>
              <a:rPr sz="900" b="0" i="0">
                <a:solidFill>
                  <a:srgbClr val="191919"/>
                </a:solidFill>
                <a:latin typeface="Arial"/>
              </a:rPr>
              <a:t>de operación de flota acumuladas con el P/N mejorado</a:t>
            </a:r>
          </a:p>
        </p:txBody>
      </p:sp>
      <p:sp>
        <p:nvSpPr>
          <p:cNvPr id="27" name="Rectangle 26"/>
          <p:cNvSpPr/>
          <p:nvPr/>
        </p:nvSpPr>
        <p:spPr>
          <a:xfrm>
            <a:off x="7150608" y="2450592"/>
            <a:ext cx="4206240" cy="67665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150608" y="2450592"/>
            <a:ext cx="4206240" cy="36576"/>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296912" y="2450592"/>
            <a:ext cx="1417320" cy="676656"/>
          </a:xfrm>
          <a:prstGeom prst="rect">
            <a:avLst/>
          </a:prstGeom>
          <a:noFill/>
        </p:spPr>
        <p:txBody>
          <a:bodyPr wrap="square" lIns="0" tIns="0" rIns="0" bIns="0" anchor="ctr">
            <a:spAutoFit/>
          </a:bodyPr>
          <a:lstStyle/>
          <a:p>
            <a:pPr algn="l">
              <a:lnSpc>
                <a:spcPct val="110000"/>
              </a:lnSpc>
              <a:spcBef>
                <a:spcPts val="0"/>
              </a:spcBef>
              <a:spcAft>
                <a:spcPts val="0"/>
              </a:spcAft>
            </a:pPr>
            <a:r>
              <a:rPr sz="1500" b="1" i="0">
                <a:solidFill>
                  <a:srgbClr val="2841DD"/>
                </a:solidFill>
                <a:latin typeface="Arial"/>
              </a:rPr>
              <a:t>0</a:t>
            </a:r>
          </a:p>
        </p:txBody>
      </p:sp>
      <p:sp>
        <p:nvSpPr>
          <p:cNvPr id="30" name="TextBox 29"/>
          <p:cNvSpPr txBox="1"/>
          <p:nvPr/>
        </p:nvSpPr>
        <p:spPr>
          <a:xfrm>
            <a:off x="8723376" y="2450592"/>
            <a:ext cx="2505455" cy="676656"/>
          </a:xfrm>
          <a:prstGeom prst="rect">
            <a:avLst/>
          </a:prstGeom>
          <a:noFill/>
        </p:spPr>
        <p:txBody>
          <a:bodyPr wrap="square" lIns="0" tIns="0" rIns="0" bIns="0" anchor="ctr">
            <a:spAutoFit/>
          </a:bodyPr>
          <a:lstStyle/>
          <a:p>
            <a:pPr algn="l">
              <a:lnSpc>
                <a:spcPct val="108000"/>
              </a:lnSpc>
              <a:spcBef>
                <a:spcPts val="0"/>
              </a:spcBef>
              <a:spcAft>
                <a:spcPts val="0"/>
              </a:spcAft>
            </a:pPr>
            <a:r>
              <a:rPr sz="900" b="0" i="0">
                <a:solidFill>
                  <a:srgbClr val="191919"/>
                </a:solidFill>
                <a:latin typeface="Arial"/>
              </a:rPr>
              <a:t>fracturas del eje palier desde el 14 de diciembre de 2024</a:t>
            </a:r>
          </a:p>
        </p:txBody>
      </p:sp>
      <p:sp>
        <p:nvSpPr>
          <p:cNvPr id="31" name="Rectangle 30"/>
          <p:cNvSpPr/>
          <p:nvPr/>
        </p:nvSpPr>
        <p:spPr>
          <a:xfrm>
            <a:off x="7150608" y="3200400"/>
            <a:ext cx="4206240" cy="67665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150608" y="3200400"/>
            <a:ext cx="4206240"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296912" y="3200400"/>
            <a:ext cx="1417320" cy="676656"/>
          </a:xfrm>
          <a:prstGeom prst="rect">
            <a:avLst/>
          </a:prstGeom>
          <a:noFill/>
        </p:spPr>
        <p:txBody>
          <a:bodyPr wrap="square" lIns="0" tIns="0" rIns="0" bIns="0" anchor="ctr">
            <a:spAutoFit/>
          </a:bodyPr>
          <a:lstStyle/>
          <a:p>
            <a:pPr algn="l">
              <a:lnSpc>
                <a:spcPct val="110000"/>
              </a:lnSpc>
              <a:spcBef>
                <a:spcPts val="0"/>
              </a:spcBef>
              <a:spcAft>
                <a:spcPts val="0"/>
              </a:spcAft>
            </a:pPr>
            <a:r>
              <a:rPr sz="1500" b="1" i="0">
                <a:solidFill>
                  <a:srgbClr val="C3094A"/>
                </a:solidFill>
                <a:latin typeface="Arial"/>
              </a:rPr>
              <a:t>p = 0,0018</a:t>
            </a:r>
          </a:p>
        </p:txBody>
      </p:sp>
      <p:sp>
        <p:nvSpPr>
          <p:cNvPr id="34" name="TextBox 33"/>
          <p:cNvSpPr txBox="1"/>
          <p:nvPr/>
        </p:nvSpPr>
        <p:spPr>
          <a:xfrm>
            <a:off x="8723376" y="3200400"/>
            <a:ext cx="2505455" cy="676656"/>
          </a:xfrm>
          <a:prstGeom prst="rect">
            <a:avLst/>
          </a:prstGeom>
          <a:noFill/>
        </p:spPr>
        <p:txBody>
          <a:bodyPr wrap="square" lIns="0" tIns="0" rIns="0" bIns="0" anchor="ctr">
            <a:spAutoFit/>
          </a:bodyPr>
          <a:lstStyle/>
          <a:p>
            <a:pPr algn="l">
              <a:lnSpc>
                <a:spcPct val="108000"/>
              </a:lnSpc>
              <a:spcBef>
                <a:spcPts val="0"/>
              </a:spcBef>
              <a:spcAft>
                <a:spcPts val="0"/>
              </a:spcAft>
            </a:pPr>
            <a:r>
              <a:rPr sz="900" b="0" i="0">
                <a:solidFill>
                  <a:srgbClr val="191919"/>
                </a:solidFill>
                <a:latin typeface="Arial"/>
              </a:rPr>
              <a:t>probabilidad de observar cero si la tasa previa persistiera</a:t>
            </a:r>
          </a:p>
        </p:txBody>
      </p:sp>
      <p:sp>
        <p:nvSpPr>
          <p:cNvPr id="35" name="TextBox 34"/>
          <p:cNvSpPr txBox="1"/>
          <p:nvPr/>
        </p:nvSpPr>
        <p:spPr>
          <a:xfrm>
            <a:off x="7150608" y="4005072"/>
            <a:ext cx="420624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RECUPERACIÓN DE LOS INDICADORES</a:t>
            </a:r>
          </a:p>
        </p:txBody>
      </p:sp>
      <p:sp>
        <p:nvSpPr>
          <p:cNvPr id="36" name="Rectangle 35"/>
          <p:cNvSpPr/>
          <p:nvPr/>
        </p:nvSpPr>
        <p:spPr>
          <a:xfrm>
            <a:off x="7150608" y="4279392"/>
            <a:ext cx="2048255" cy="658367"/>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260336" y="4279392"/>
            <a:ext cx="1865375" cy="658367"/>
          </a:xfrm>
          <a:prstGeom prst="rect">
            <a:avLst/>
          </a:prstGeom>
          <a:noFill/>
        </p:spPr>
        <p:txBody>
          <a:bodyPr wrap="square" lIns="0" tIns="0" rIns="0" bIns="0" anchor="ctr">
            <a:spAutoFit/>
          </a:bodyPr>
          <a:lstStyle/>
          <a:p>
            <a:pPr algn="l">
              <a:lnSpc>
                <a:spcPct val="110000"/>
              </a:lnSpc>
              <a:spcBef>
                <a:spcPts val="0"/>
              </a:spcBef>
              <a:spcAft>
                <a:spcPts val="200"/>
              </a:spcAft>
            </a:pPr>
            <a:r>
              <a:rPr sz="800" b="1" i="0">
                <a:solidFill>
                  <a:srgbClr val="4A5568"/>
                </a:solidFill>
                <a:latin typeface="Arial"/>
              </a:rPr>
              <a:t>MTBF DEL MODO</a:t>
            </a:r>
          </a:p>
          <a:p>
            <a:pPr algn="l">
              <a:lnSpc>
                <a:spcPct val="110000"/>
              </a:lnSpc>
              <a:spcBef>
                <a:spcPts val="0"/>
              </a:spcBef>
              <a:spcAft>
                <a:spcPts val="200"/>
              </a:spcAft>
            </a:pPr>
            <a:r>
              <a:rPr sz="1150" b="1" i="0">
                <a:solidFill>
                  <a:srgbClr val="042354"/>
                </a:solidFill>
                <a:latin typeface="Arial"/>
              </a:rPr>
              <a:t>15 231 h → &gt; 32 046 h</a:t>
            </a:r>
          </a:p>
          <a:p>
            <a:pPr algn="l">
              <a:lnSpc>
                <a:spcPct val="105000"/>
              </a:lnSpc>
              <a:spcBef>
                <a:spcPts val="0"/>
              </a:spcBef>
              <a:spcAft>
                <a:spcPts val="0"/>
              </a:spcAft>
            </a:pPr>
            <a:r>
              <a:rPr sz="850" b="0" i="0">
                <a:solidFill>
                  <a:srgbClr val="4A5568"/>
                </a:solidFill>
                <a:latin typeface="Arial"/>
              </a:rPr>
              <a:t>sobre el TBO de 20 000 h</a:t>
            </a:r>
          </a:p>
        </p:txBody>
      </p:sp>
      <p:sp>
        <p:nvSpPr>
          <p:cNvPr id="38" name="Rectangle 37"/>
          <p:cNvSpPr/>
          <p:nvPr/>
        </p:nvSpPr>
        <p:spPr>
          <a:xfrm>
            <a:off x="9308592" y="4279392"/>
            <a:ext cx="2048255" cy="658367"/>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418319" y="4279392"/>
            <a:ext cx="1865375" cy="658367"/>
          </a:xfrm>
          <a:prstGeom prst="rect">
            <a:avLst/>
          </a:prstGeom>
          <a:noFill/>
        </p:spPr>
        <p:txBody>
          <a:bodyPr wrap="square" lIns="0" tIns="0" rIns="0" bIns="0" anchor="ctr">
            <a:spAutoFit/>
          </a:bodyPr>
          <a:lstStyle/>
          <a:p>
            <a:pPr algn="l">
              <a:lnSpc>
                <a:spcPct val="110000"/>
              </a:lnSpc>
              <a:spcBef>
                <a:spcPts val="0"/>
              </a:spcBef>
              <a:spcAft>
                <a:spcPts val="200"/>
              </a:spcAft>
            </a:pPr>
            <a:r>
              <a:rPr sz="800" b="1" i="0">
                <a:solidFill>
                  <a:srgbClr val="4A5568"/>
                </a:solidFill>
                <a:latin typeface="Arial"/>
              </a:rPr>
              <a:t>MTTR DEL SISTEMA</a:t>
            </a:r>
          </a:p>
          <a:p>
            <a:pPr algn="l">
              <a:lnSpc>
                <a:spcPct val="110000"/>
              </a:lnSpc>
              <a:spcBef>
                <a:spcPts val="0"/>
              </a:spcBef>
              <a:spcAft>
                <a:spcPts val="200"/>
              </a:spcAft>
            </a:pPr>
            <a:r>
              <a:rPr sz="1150" b="1" i="0">
                <a:solidFill>
                  <a:srgbClr val="042354"/>
                </a:solidFill>
                <a:latin typeface="Arial"/>
              </a:rPr>
              <a:t>6,2 h → 3,3 h</a:t>
            </a:r>
          </a:p>
          <a:p>
            <a:pPr algn="l">
              <a:lnSpc>
                <a:spcPct val="105000"/>
              </a:lnSpc>
              <a:spcBef>
                <a:spcPts val="0"/>
              </a:spcBef>
              <a:spcAft>
                <a:spcPts val="0"/>
              </a:spcAft>
            </a:pPr>
            <a:r>
              <a:rPr sz="850" b="0" i="0">
                <a:solidFill>
                  <a:srgbClr val="4A5568"/>
                </a:solidFill>
                <a:latin typeface="Arial"/>
              </a:rPr>
              <a:t>−46 % sin el modo de 59,3 h</a:t>
            </a:r>
          </a:p>
        </p:txBody>
      </p:sp>
      <p:sp>
        <p:nvSpPr>
          <p:cNvPr id="40" name="Rectangle 39"/>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Se rechaza con 95 % de confianza que el modo persista con su frecuencia anterior: el MTBF del modo supera las 32 046 h, por encima del TBO de referencia.</a:t>
            </a:r>
          </a:p>
        </p:txBody>
      </p:sp>
      <p:sp>
        <p:nvSpPr>
          <p:cNvPr id="42" name="TextBox 41"/>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06 · RESULTADOS Y VERIFICACIÓN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de la flota y costo evitado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19</a:t>
            </a:r>
          </a:p>
        </p:txBody>
      </p:sp>
      <p:pic>
        <p:nvPicPr>
          <p:cNvPr id="6" name="Picture 5" descr="pu_g6_contractuales.png"/>
          <p:cNvPicPr>
            <a:picLocks noChangeAspect="1"/>
          </p:cNvPicPr>
          <p:nvPr/>
        </p:nvPicPr>
        <p:blipFill>
          <a:blip r:embed="rId3"/>
          <a:stretch>
            <a:fillRect/>
          </a:stretch>
        </p:blipFill>
        <p:spPr>
          <a:xfrm>
            <a:off x="841248" y="1700784"/>
            <a:ext cx="6126480" cy="2503133"/>
          </a:xfrm>
          <a:prstGeom prst="rect">
            <a:avLst/>
          </a:prstGeom>
        </p:spPr>
      </p:pic>
      <p:pic>
        <p:nvPicPr>
          <p:cNvPr id="13" name="Imagen 12">
            <a:extLst>
              <a:ext uri="{FF2B5EF4-FFF2-40B4-BE49-F238E27FC236}">
                <a16:creationId xmlns:a16="http://schemas.microsoft.com/office/drawing/2014/main" id="{80B665C9-1153-4F4C-99AB-B3F4D252B2E5}"/>
              </a:ext>
            </a:extLst>
          </p:cNvPr>
          <p:cNvPicPr>
            <a:picLocks noChangeAspect="1"/>
          </p:cNvPicPr>
          <p:nvPr/>
        </p:nvPicPr>
        <p:blipFill>
          <a:blip r:embed="rId4"/>
          <a:stretch>
            <a:fillRect/>
          </a:stretch>
        </p:blipFill>
        <p:spPr>
          <a:xfrm>
            <a:off x="158617" y="5943600"/>
            <a:ext cx="5620013" cy="550672"/>
          </a:xfrm>
          <a:prstGeom prst="rect">
            <a:avLst/>
          </a:prstGeom>
        </p:spPr>
      </p:pic>
      <p:sp>
        <p:nvSpPr>
          <p:cNvPr id="14" name="TextBox 13"/>
          <p:cNvSpPr txBox="1"/>
          <p:nvPr/>
        </p:nvSpPr>
        <p:spPr>
          <a:xfrm>
            <a:off x="841248" y="1389888"/>
            <a:ext cx="612648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INDICADORES CONTRACTUALES DE LA FLOTA</a:t>
            </a:r>
          </a:p>
        </p:txBody>
      </p:sp>
      <p:sp>
        <p:nvSpPr>
          <p:cNvPr id="15" name="Rectangle 14"/>
          <p:cNvSpPr/>
          <p:nvPr/>
        </p:nvSpPr>
        <p:spPr>
          <a:xfrm>
            <a:off x="841248" y="4313645"/>
            <a:ext cx="6126480" cy="62411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4313645"/>
            <a:ext cx="45720" cy="62411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42416" y="4313645"/>
            <a:ext cx="5797296" cy="624114"/>
          </a:xfrm>
          <a:prstGeom prst="rect">
            <a:avLst/>
          </a:prstGeom>
          <a:noFill/>
        </p:spPr>
        <p:txBody>
          <a:bodyPr wrap="square" lIns="0" tIns="0" rIns="0" bIns="0" anchor="ctr">
            <a:spAutoFit/>
          </a:bodyPr>
          <a:lstStyle/>
          <a:p>
            <a:pPr algn="l">
              <a:lnSpc>
                <a:spcPct val="110000"/>
              </a:lnSpc>
              <a:spcBef>
                <a:spcPts val="0"/>
              </a:spcBef>
              <a:spcAft>
                <a:spcPts val="0"/>
              </a:spcAft>
            </a:pPr>
            <a:r>
              <a:rPr sz="950" b="1" i="0">
                <a:solidFill>
                  <a:srgbClr val="2841DD"/>
                </a:solidFill>
                <a:latin typeface="Arial"/>
              </a:rPr>
              <a:t>Atribución del efecto. </a:t>
            </a:r>
            <a:r>
              <a:rPr sz="950" b="0" i="0">
                <a:solidFill>
                  <a:srgbClr val="191919"/>
                </a:solidFill>
                <a:latin typeface="Arial"/>
              </a:rPr>
              <a:t>Una intervención concurrente sobre el motor diésel (fisura de culatas) explica parte de la recuperación; el eje palier aporta 0,36 puntos de disponibilidad. El rediseño se acredita en el nivel del componente, donde el efecto sí es atribuible.</a:t>
            </a:r>
          </a:p>
        </p:txBody>
      </p:sp>
      <p:sp>
        <p:nvSpPr>
          <p:cNvPr id="18" name="TextBox 17"/>
          <p:cNvSpPr txBox="1"/>
          <p:nvPr/>
        </p:nvSpPr>
        <p:spPr>
          <a:xfrm>
            <a:off x="7242048" y="1389888"/>
            <a:ext cx="4114800" cy="256032"/>
          </a:xfrm>
          <a:prstGeom prst="rect">
            <a:avLst/>
          </a:prstGeom>
          <a:noFill/>
        </p:spPr>
        <p:txBody>
          <a:bodyPr wrap="square" lIns="0" tIns="0" rIns="0" bIns="0" anchor="t">
            <a:spAutoFit/>
          </a:bodyPr>
          <a:lstStyle/>
          <a:p>
            <a:pPr algn="l">
              <a:lnSpc>
                <a:spcPct val="110000"/>
              </a:lnSpc>
              <a:spcBef>
                <a:spcPts val="0"/>
              </a:spcBef>
              <a:spcAft>
                <a:spcPts val="300"/>
              </a:spcAft>
            </a:pPr>
            <a:r>
              <a:rPr sz="950" b="1" i="0">
                <a:solidFill>
                  <a:srgbClr val="4A5568"/>
                </a:solidFill>
                <a:latin typeface="Arial"/>
              </a:rPr>
              <a:t>COSTO EVITADO</a:t>
            </a:r>
          </a:p>
        </p:txBody>
      </p:sp>
      <p:sp>
        <p:nvSpPr>
          <p:cNvPr id="19" name="Rectangle 18"/>
          <p:cNvSpPr/>
          <p:nvPr/>
        </p:nvSpPr>
        <p:spPr>
          <a:xfrm>
            <a:off x="7242048" y="1700784"/>
            <a:ext cx="4114800"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242048" y="1700784"/>
            <a:ext cx="411480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06640" y="1746504"/>
            <a:ext cx="3840480" cy="923544"/>
          </a:xfrm>
          <a:prstGeom prst="rect">
            <a:avLst/>
          </a:prstGeom>
          <a:noFill/>
        </p:spPr>
        <p:txBody>
          <a:bodyPr wrap="square" lIns="0" tIns="0" rIns="0" bIns="0" anchor="ctr">
            <a:spAutoFit/>
          </a:bodyPr>
          <a:lstStyle/>
          <a:p>
            <a:pPr algn="l">
              <a:lnSpc>
                <a:spcPct val="100000"/>
              </a:lnSpc>
              <a:spcBef>
                <a:spcPts val="0"/>
              </a:spcBef>
              <a:spcAft>
                <a:spcPts val="300"/>
              </a:spcAft>
            </a:pPr>
            <a:r>
              <a:rPr sz="1800" b="1" i="0">
                <a:solidFill>
                  <a:srgbClr val="C3094A"/>
                </a:solidFill>
                <a:latin typeface="Arial"/>
              </a:rPr>
              <a:t>US$ 3,05 M</a:t>
            </a:r>
          </a:p>
          <a:p>
            <a:pPr algn="l">
              <a:lnSpc>
                <a:spcPct val="105000"/>
              </a:lnSpc>
              <a:spcBef>
                <a:spcPts val="0"/>
              </a:spcBef>
              <a:spcAft>
                <a:spcPts val="0"/>
              </a:spcAft>
            </a:pPr>
            <a:r>
              <a:rPr sz="900" b="0" i="0">
                <a:solidFill>
                  <a:srgbClr val="4A5568"/>
                </a:solidFill>
                <a:latin typeface="Arial"/>
              </a:rPr>
              <a:t>costo recurrente anual del modo de falla eliminado</a:t>
            </a:r>
          </a:p>
        </p:txBody>
      </p:sp>
      <p:sp>
        <p:nvSpPr>
          <p:cNvPr id="22" name="Rectangle 21"/>
          <p:cNvSpPr/>
          <p:nvPr/>
        </p:nvSpPr>
        <p:spPr>
          <a:xfrm>
            <a:off x="7242048" y="2798064"/>
            <a:ext cx="4114800"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242048" y="2798064"/>
            <a:ext cx="411480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406640" y="2843784"/>
            <a:ext cx="3840480" cy="923544"/>
          </a:xfrm>
          <a:prstGeom prst="rect">
            <a:avLst/>
          </a:prstGeom>
          <a:noFill/>
        </p:spPr>
        <p:txBody>
          <a:bodyPr wrap="square" lIns="0" tIns="0" rIns="0" bIns="0" anchor="ctr">
            <a:spAutoFit/>
          </a:bodyPr>
          <a:lstStyle/>
          <a:p>
            <a:pPr algn="l">
              <a:lnSpc>
                <a:spcPct val="100000"/>
              </a:lnSpc>
              <a:spcBef>
                <a:spcPts val="0"/>
              </a:spcBef>
              <a:spcAft>
                <a:spcPts val="300"/>
              </a:spcAft>
            </a:pPr>
            <a:r>
              <a:rPr sz="1800" b="1" i="0">
                <a:solidFill>
                  <a:srgbClr val="C3094A"/>
                </a:solidFill>
                <a:latin typeface="Arial"/>
              </a:rPr>
              <a:t>12 eventos</a:t>
            </a:r>
          </a:p>
          <a:p>
            <a:pPr algn="l">
              <a:lnSpc>
                <a:spcPct val="105000"/>
              </a:lnSpc>
              <a:spcBef>
                <a:spcPts val="0"/>
              </a:spcBef>
              <a:spcAft>
                <a:spcPts val="0"/>
              </a:spcAft>
            </a:pPr>
            <a:r>
              <a:rPr sz="900" b="0" i="0">
                <a:solidFill>
                  <a:srgbClr val="4A5568"/>
                </a:solidFill>
                <a:latin typeface="Arial"/>
              </a:rPr>
              <a:t>detectados en operación en 36 meses</a:t>
            </a:r>
          </a:p>
        </p:txBody>
      </p:sp>
      <p:sp>
        <p:nvSpPr>
          <p:cNvPr id="25" name="Rectangle 24"/>
          <p:cNvSpPr/>
          <p:nvPr/>
        </p:nvSpPr>
        <p:spPr>
          <a:xfrm>
            <a:off x="7242048" y="3895344"/>
            <a:ext cx="4114800"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7242048" y="3895344"/>
            <a:ext cx="411480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406640" y="3941064"/>
            <a:ext cx="3840480" cy="923544"/>
          </a:xfrm>
          <a:prstGeom prst="rect">
            <a:avLst/>
          </a:prstGeom>
          <a:noFill/>
        </p:spPr>
        <p:txBody>
          <a:bodyPr wrap="square" lIns="0" tIns="0" rIns="0" bIns="0" anchor="ctr">
            <a:spAutoFit/>
          </a:bodyPr>
          <a:lstStyle/>
          <a:p>
            <a:pPr algn="l">
              <a:lnSpc>
                <a:spcPct val="100000"/>
              </a:lnSpc>
              <a:spcBef>
                <a:spcPts val="0"/>
              </a:spcBef>
              <a:spcAft>
                <a:spcPts val="300"/>
              </a:spcAft>
            </a:pPr>
            <a:r>
              <a:rPr sz="1800" b="1" i="0">
                <a:solidFill>
                  <a:srgbClr val="C3094A"/>
                </a:solidFill>
                <a:latin typeface="Arial"/>
              </a:rPr>
              <a:t>1,41 : 1</a:t>
            </a:r>
          </a:p>
          <a:p>
            <a:pPr algn="l">
              <a:lnSpc>
                <a:spcPct val="105000"/>
              </a:lnSpc>
              <a:spcBef>
                <a:spcPts val="0"/>
              </a:spcBef>
              <a:spcAft>
                <a:spcPts val="0"/>
              </a:spcAft>
            </a:pPr>
            <a:r>
              <a:rPr sz="900" b="0" i="0">
                <a:solidFill>
                  <a:srgbClr val="4A5568"/>
                </a:solidFill>
                <a:latin typeface="Arial"/>
              </a:rPr>
              <a:t>relación de costo de la alternativa descartada (sustitución cíclica)</a:t>
            </a:r>
          </a:p>
        </p:txBody>
      </p:sp>
      <p:sp>
        <p:nvSpPr>
          <p:cNvPr id="28" name="Rectangle 2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sz="1150" b="1" i="0">
                <a:solidFill>
                  <a:srgbClr val="042354"/>
                </a:solidFill>
                <a:latin typeface="Arial"/>
              </a:rPr>
              <a:t>2025 supera por primera vez en el período analizado ambos compromisos contractuales: 93,6 % de disponibilidad y 108,4 h de MTBF.</a:t>
            </a:r>
          </a:p>
        </p:txBody>
      </p:sp>
      <p:sp>
        <p:nvSpPr>
          <p:cNvPr id="30" name="TextBox 29"/>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06 · RESULTADOS Y VERIFICACIÓN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Conclusiones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20</a:t>
            </a:r>
          </a:p>
        </p:txBody>
      </p:sp>
      <p:sp>
        <p:nvSpPr>
          <p:cNvPr id="6" name="Rectangle 5"/>
          <p:cNvSpPr/>
          <p:nvPr/>
        </p:nvSpPr>
        <p:spPr>
          <a:xfrm>
            <a:off x="841248" y="1444752"/>
            <a:ext cx="10515600" cy="85953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444752"/>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TextBox 7"/>
          <p:cNvSpPr txBox="1"/>
          <p:nvPr/>
        </p:nvSpPr>
        <p:spPr>
          <a:xfrm>
            <a:off x="1078992" y="1554480"/>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01</a:t>
            </a:r>
          </a:p>
        </p:txBody>
      </p:sp>
      <p:sp>
        <p:nvSpPr>
          <p:cNvPr id="9" name="TextBox 8"/>
          <p:cNvSpPr txBox="1"/>
          <p:nvPr/>
        </p:nvSpPr>
        <p:spPr>
          <a:xfrm>
            <a:off x="1773936" y="1545336"/>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El modo de falla y su impacto</a:t>
            </a:r>
          </a:p>
          <a:p>
            <a:pPr algn="l">
              <a:lnSpc>
                <a:spcPct val="114000"/>
              </a:lnSpc>
              <a:spcBef>
                <a:spcPts val="0"/>
              </a:spcBef>
              <a:spcAft>
                <a:spcPts val="400"/>
              </a:spcAft>
            </a:pPr>
            <a:r>
              <a:rPr lang="es-PE" sz="1000" b="0" i="0" noProof="0" dirty="0">
                <a:solidFill>
                  <a:srgbClr val="4A5568"/>
                </a:solidFill>
                <a:latin typeface="Arial"/>
              </a:rPr>
              <a:t>Trece ocurrencias entre 2022 y 2024 (4,33 por año), con un MTBF del modo de 15 231 h, un MTTR de 59,3 h y 315 h anuales de indisponibilidad, equivalentes a 0,36 puntos de disponibilidad física.</a:t>
            </a:r>
          </a:p>
        </p:txBody>
      </p:sp>
      <p:sp>
        <p:nvSpPr>
          <p:cNvPr id="10" name="Rectangle 9"/>
          <p:cNvSpPr/>
          <p:nvPr/>
        </p:nvSpPr>
        <p:spPr>
          <a:xfrm>
            <a:off x="841248" y="2377440"/>
            <a:ext cx="10515600" cy="85953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841248" y="2377440"/>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1078992" y="2487168"/>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02</a:t>
            </a:r>
          </a:p>
        </p:txBody>
      </p:sp>
      <p:sp>
        <p:nvSpPr>
          <p:cNvPr id="13" name="TextBox 12"/>
          <p:cNvSpPr txBox="1"/>
          <p:nvPr/>
        </p:nvSpPr>
        <p:spPr>
          <a:xfrm>
            <a:off x="1773936" y="2478024"/>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Las causas latentes de la recurrencia</a:t>
            </a:r>
          </a:p>
          <a:p>
            <a:pPr algn="l">
              <a:lnSpc>
                <a:spcPct val="114000"/>
              </a:lnSpc>
              <a:spcBef>
                <a:spcPts val="0"/>
              </a:spcBef>
              <a:spcAft>
                <a:spcPts val="400"/>
              </a:spcAft>
            </a:pPr>
            <a:r>
              <a:rPr lang="es-PE" sz="1000" b="0" i="0" noProof="0" dirty="0">
                <a:solidFill>
                  <a:srgbClr val="4A5568"/>
                </a:solidFill>
                <a:latin typeface="Arial"/>
              </a:rPr>
              <a:t>La causa física es la nucleación en la raíz sin fusión, con FS = 0,31 bajo el par nominal de 17,81 </a:t>
            </a:r>
            <a:r>
              <a:rPr lang="es-PE" sz="1000" b="0" i="0" noProof="0" dirty="0" err="1">
                <a:solidFill>
                  <a:srgbClr val="4A5568"/>
                </a:solidFill>
                <a:latin typeface="Arial"/>
              </a:rPr>
              <a:t>kN·m</a:t>
            </a:r>
            <a:r>
              <a:rPr lang="es-PE" sz="1000" b="0" i="0" noProof="0" dirty="0">
                <a:solidFill>
                  <a:srgbClr val="4A5568"/>
                </a:solidFill>
                <a:latin typeface="Arial"/>
              </a:rPr>
              <a:t>. Por debajo de ella, tres causas de sistema: análisis por evento, taxonomía del registro y ausencia de cierre de los hallazgos.</a:t>
            </a:r>
          </a:p>
        </p:txBody>
      </p:sp>
      <p:sp>
        <p:nvSpPr>
          <p:cNvPr id="14" name="Rectangle 13"/>
          <p:cNvSpPr/>
          <p:nvPr/>
        </p:nvSpPr>
        <p:spPr>
          <a:xfrm>
            <a:off x="841248" y="3310128"/>
            <a:ext cx="10515600" cy="85953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Rectangle 14"/>
          <p:cNvSpPr/>
          <p:nvPr/>
        </p:nvSpPr>
        <p:spPr>
          <a:xfrm>
            <a:off x="841248" y="3310128"/>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1078992" y="3419856"/>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03</a:t>
            </a:r>
          </a:p>
        </p:txBody>
      </p:sp>
      <p:sp>
        <p:nvSpPr>
          <p:cNvPr id="17" name="TextBox 16"/>
          <p:cNvSpPr txBox="1"/>
          <p:nvPr/>
        </p:nvSpPr>
        <p:spPr>
          <a:xfrm>
            <a:off x="1773936" y="3410712"/>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El rediseño como desenlace de la lógica RCM</a:t>
            </a:r>
          </a:p>
          <a:p>
            <a:pPr algn="l">
              <a:lnSpc>
                <a:spcPct val="114000"/>
              </a:lnSpc>
              <a:spcBef>
                <a:spcPts val="0"/>
              </a:spcBef>
              <a:spcAft>
                <a:spcPts val="400"/>
              </a:spcAft>
            </a:pPr>
            <a:r>
              <a:rPr lang="es-PE" sz="1000" b="0" i="0" noProof="0" dirty="0">
                <a:solidFill>
                  <a:srgbClr val="4A5568"/>
                </a:solidFill>
                <a:latin typeface="Arial"/>
              </a:rPr>
              <a:t>Descartadas las tres familias de tareas proactivas y siendo la consecuencia operacional con implicación de seguridad, la norma prescribe el cambio de diseño. El FS se eleva de 0,31 a 2,23 sin modificar el material.</a:t>
            </a:r>
          </a:p>
        </p:txBody>
      </p:sp>
      <p:sp>
        <p:nvSpPr>
          <p:cNvPr id="18" name="Rectangle 17"/>
          <p:cNvSpPr/>
          <p:nvPr/>
        </p:nvSpPr>
        <p:spPr>
          <a:xfrm>
            <a:off x="841248" y="4242816"/>
            <a:ext cx="10515600" cy="85953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841248" y="4242816"/>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TextBox 19"/>
          <p:cNvSpPr txBox="1"/>
          <p:nvPr/>
        </p:nvSpPr>
        <p:spPr>
          <a:xfrm>
            <a:off x="1078992" y="4352544"/>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04</a:t>
            </a:r>
          </a:p>
        </p:txBody>
      </p:sp>
      <p:sp>
        <p:nvSpPr>
          <p:cNvPr id="21" name="TextBox 20"/>
          <p:cNvSpPr txBox="1"/>
          <p:nvPr/>
        </p:nvSpPr>
        <p:spPr>
          <a:xfrm>
            <a:off x="1773936" y="4343400"/>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La recuperación verificada</a:t>
            </a:r>
          </a:p>
          <a:p>
            <a:pPr algn="l">
              <a:lnSpc>
                <a:spcPct val="114000"/>
              </a:lnSpc>
              <a:spcBef>
                <a:spcPts val="0"/>
              </a:spcBef>
              <a:spcAft>
                <a:spcPts val="400"/>
              </a:spcAft>
            </a:pPr>
            <a:r>
              <a:rPr lang="es-PE" sz="1000" b="0" i="0" noProof="0" dirty="0">
                <a:solidFill>
                  <a:srgbClr val="4A5568"/>
                </a:solidFill>
                <a:latin typeface="Arial"/>
              </a:rPr>
              <a:t>96 000 h sin nuevas ocurrencias frente a las 6,3 que predecía la tasa previa (p = 0,0018). El MTTR del sistema desciende de 6,2 a 3,3 h y se recuperan 0,36 puntos de disponibilidad.</a:t>
            </a:r>
          </a:p>
        </p:txBody>
      </p:sp>
      <p:sp>
        <p:nvSpPr>
          <p:cNvPr id="22" name="Rectangle 21"/>
          <p:cNvSpPr/>
          <p:nvPr/>
        </p:nvSpPr>
        <p:spPr>
          <a:xfrm>
            <a:off x="841248" y="5193792"/>
            <a:ext cx="10515600" cy="45720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3" name="TextBox 22"/>
          <p:cNvSpPr txBox="1"/>
          <p:nvPr/>
        </p:nvSpPr>
        <p:spPr>
          <a:xfrm>
            <a:off x="1060704" y="5248656"/>
            <a:ext cx="10076688" cy="347472"/>
          </a:xfrm>
          <a:prstGeom prst="rect">
            <a:avLst/>
          </a:prstGeom>
          <a:noFill/>
        </p:spPr>
        <p:txBody>
          <a:bodyPr wrap="square" lIns="0" tIns="0" rIns="0" bIns="0" anchor="ctr">
            <a:spAutoFit/>
          </a:bodyPr>
          <a:lstStyle/>
          <a:p>
            <a:pPr algn="l">
              <a:lnSpc>
                <a:spcPct val="110000"/>
              </a:lnSpc>
              <a:spcBef>
                <a:spcPts val="0"/>
              </a:spcBef>
              <a:spcAft>
                <a:spcPts val="400"/>
              </a:spcAft>
            </a:pPr>
            <a:r>
              <a:rPr lang="es-PE" sz="1100" b="1" i="0" noProof="0" dirty="0">
                <a:solidFill>
                  <a:srgbClr val="FFFFFF"/>
                </a:solidFill>
                <a:latin typeface="Arial"/>
              </a:rPr>
              <a:t>El aporte de la ingeniería de confiabilidad no consistió en explicar por qué se fracturaba el eje, sino en eliminar el modo de falla usando la lógica de decisión del RCM.</a:t>
            </a:r>
          </a:p>
        </p:txBody>
      </p:sp>
      <p:pic>
        <p:nvPicPr>
          <p:cNvPr id="24" name="Imagen 23">
            <a:extLst>
              <a:ext uri="{FF2B5EF4-FFF2-40B4-BE49-F238E27FC236}">
                <a16:creationId xmlns:a16="http://schemas.microsoft.com/office/drawing/2014/main" id="{16E0653B-9B52-4D58-64D8-892AD9593C17}"/>
              </a:ext>
            </a:extLst>
          </p:cNvPr>
          <p:cNvPicPr>
            <a:picLocks noChangeAspect="1"/>
          </p:cNvPicPr>
          <p:nvPr/>
        </p:nvPicPr>
        <p:blipFill>
          <a:blip r:embed="rId2"/>
          <a:stretch>
            <a:fillRect/>
          </a:stretch>
        </p:blipFill>
        <p:spPr>
          <a:xfrm>
            <a:off x="158617" y="5943600"/>
            <a:ext cx="5620013" cy="550672"/>
          </a:xfrm>
          <a:prstGeom prst="rect">
            <a:avLst/>
          </a:prstGeom>
        </p:spPr>
      </p:pic>
      <p:sp>
        <p:nvSpPr>
          <p:cNvPr id="25" name="TextBox 24"/>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sz="900" b="1" i="0">
                <a:solidFill>
                  <a:srgbClr val="C3094A"/>
                </a:solidFill>
                <a:latin typeface="Arial"/>
              </a:rPr>
              <a:t>07 · CONCLUSIONES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 name="Rectangle 2"/>
          <p:cNvSpPr/>
          <p:nvPr/>
        </p:nvSpPr>
        <p:spPr>
          <a:xfrm>
            <a:off x="841248" y="2834640"/>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TextBox 3"/>
          <p:cNvSpPr txBox="1"/>
          <p:nvPr/>
        </p:nvSpPr>
        <p:spPr>
          <a:xfrm>
            <a:off x="841248" y="3127248"/>
            <a:ext cx="10515600" cy="914400"/>
          </a:xfrm>
          <a:prstGeom prst="rect">
            <a:avLst/>
          </a:prstGeom>
          <a:noFill/>
        </p:spPr>
        <p:txBody>
          <a:bodyPr wrap="square" lIns="0" tIns="0" rIns="0" bIns="0" anchor="t">
            <a:spAutoFit/>
          </a:bodyPr>
          <a:lstStyle/>
          <a:p>
            <a:pPr algn="l">
              <a:lnSpc>
                <a:spcPct val="100000"/>
              </a:lnSpc>
              <a:spcBef>
                <a:spcPts val="0"/>
              </a:spcBef>
              <a:spcAft>
                <a:spcPts val="400"/>
              </a:spcAft>
            </a:pPr>
            <a:r>
              <a:rPr lang="es-PE" sz="4200" b="1" i="0" noProof="0" dirty="0">
                <a:solidFill>
                  <a:srgbClr val="FFFFFF"/>
                </a:solidFill>
                <a:latin typeface="Arial"/>
              </a:rPr>
              <a:t>MUCHAS GRACIAS</a:t>
            </a:r>
          </a:p>
        </p:txBody>
      </p:sp>
      <p:sp>
        <p:nvSpPr>
          <p:cNvPr id="5" name="TextBox 4"/>
          <p:cNvSpPr txBox="1"/>
          <p:nvPr/>
        </p:nvSpPr>
        <p:spPr>
          <a:xfrm>
            <a:off x="841248" y="4187952"/>
            <a:ext cx="10515600" cy="289438"/>
          </a:xfrm>
          <a:prstGeom prst="rect">
            <a:avLst/>
          </a:prstGeom>
          <a:noFill/>
        </p:spPr>
        <p:txBody>
          <a:bodyPr wrap="square" lIns="0" tIns="0" rIns="0" bIns="0" anchor="t">
            <a:spAutoFit/>
          </a:bodyPr>
          <a:lstStyle/>
          <a:p>
            <a:pPr algn="l">
              <a:lnSpc>
                <a:spcPct val="114000"/>
              </a:lnSpc>
              <a:spcBef>
                <a:spcPts val="0"/>
              </a:spcBef>
              <a:spcAft>
                <a:spcPts val="400"/>
              </a:spcAft>
            </a:pPr>
            <a:r>
              <a:rPr lang="es-PE" sz="1800" b="0" i="0" noProof="0" dirty="0">
                <a:solidFill>
                  <a:srgbClr val="B9C6DC"/>
                </a:solidFill>
                <a:latin typeface="Arial"/>
              </a:rPr>
              <a:t>Preguntas y comentarios</a:t>
            </a:r>
          </a:p>
        </p:txBody>
      </p:sp>
      <p:pic>
        <p:nvPicPr>
          <p:cNvPr id="6" name="Picture 5"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theme/theme1.xml><?xml version="1.0" encoding="utf-8"?>
<a:theme xmlns:a="http://schemas.openxmlformats.org/drawingml/2006/main" name="Tema de Office">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1773</TotalTime>
  <Words>3659</Words>
  <Application>Microsoft Office PowerPoint</Application>
  <PresentationFormat>Panorámica</PresentationFormat>
  <Paragraphs>409</Paragraphs>
  <Slides>21</Slides>
  <Notes>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21</vt:i4>
      </vt:variant>
    </vt:vector>
  </HeadingPairs>
  <TitlesOfParts>
    <vt:vector size="24" baseType="lpstr">
      <vt:lpstr>Arial</vt:lpstr>
      <vt:lpstr>Calibri</vt:lpstr>
      <vt:lpstr>Tema de Office</vt:lpstr>
      <vt:lpstr>Presentación de PowerPoint</vt:lpstr>
      <vt:lpstr>Contenido</vt:lpstr>
      <vt:lpstr>Metas contractuales</vt:lpstr>
      <vt:lpstr>La falla más crítica: fractura por fatiga del eje palier</vt:lpstr>
      <vt:lpstr>Objetivos</vt:lpstr>
      <vt:lpstr>Etapas de la metodología</vt:lpstr>
      <vt:lpstr>Focalización</vt:lpstr>
      <vt:lpstr>Preguntas 1 y 2: función, estándar y falla funcional</vt:lpstr>
      <vt:lpstr>Evidencia de base: el aporte de cada análisis de falla (AFA)</vt:lpstr>
      <vt:lpstr>Verificación de la causa física: fractura y metalografía</vt:lpstr>
      <vt:lpstr>Descarte de la operación: la data del propio equipo</vt:lpstr>
      <vt:lpstr>Descarte de la fabricación: material conforme y recurrencia</vt:lpstr>
      <vt:lpstr>Verificación por resistencia de materiales</vt:lpstr>
      <vt:lpstr>Pregunta 3: hipótesis sometidas a verificación</vt:lpstr>
      <vt:lpstr>Del mecanismo físico a la causa latente</vt:lpstr>
      <vt:lpstr>Preguntas 6 y 7: ninguna tarea proactiva cumple ambos criterios</vt:lpstr>
      <vt:lpstr>La solución: rediseño de la unión soldada y su implementación</vt:lpstr>
      <vt:lpstr>Verificación del componente: no recurrencia del modo de falla</vt:lpstr>
      <vt:lpstr>Verificación de la flota y costo evitado</vt:lpstr>
      <vt:lpstr>Conclusiones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Samir Cedillo Preciado</cp:lastModifiedBy>
  <cp:revision>13</cp:revision>
  <dcterms:modified xsi:type="dcterms:W3CDTF">2026-09-27T16:28:34Z</dcterms:modified>
</cp:coreProperties>
</file>